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5429"/>
    <a:srgbClr val="050A44"/>
    <a:srgbClr val="0709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482A63-24B6-4388-BB00-5A971CFF4B58}" v="12" dt="2026-07-07T10:41:15.2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26B53-6FD0-39ED-70A8-E7EFD1823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936549"/>
            <a:ext cx="5294142" cy="2387600"/>
          </a:xfrm>
        </p:spPr>
        <p:txBody>
          <a:bodyPr anchor="ctr">
            <a:normAutofit/>
          </a:bodyPr>
          <a:lstStyle>
            <a:lvl1pPr algn="l">
              <a:defRPr sz="4000"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5A892-070D-20DA-EA6C-3721A3BC51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909" y="6345299"/>
            <a:ext cx="2743200" cy="365125"/>
          </a:xfrm>
        </p:spPr>
        <p:txBody>
          <a:bodyPr/>
          <a:lstStyle/>
          <a:p>
            <a:fld id="{480B317D-289E-4563-96F0-CF1D2E7EA850}" type="datetimeFigureOut">
              <a:rPr lang="en-IN" smtClean="0"/>
              <a:t>17-08-2026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C5C512-EB64-AF03-3975-6D8395829319}"/>
              </a:ext>
            </a:extLst>
          </p:cNvPr>
          <p:cNvCxnSpPr>
            <a:cxnSpLocks/>
          </p:cNvCxnSpPr>
          <p:nvPr userDrawn="1"/>
        </p:nvCxnSpPr>
        <p:spPr>
          <a:xfrm>
            <a:off x="5566611" y="1924734"/>
            <a:ext cx="0" cy="250561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3BA92DD-9E41-88C6-B3E4-AB11751E40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2532" y="2370483"/>
            <a:ext cx="3444817" cy="149110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0D26B53-6FD0-39ED-70A8-E7EFD18231C6}"/>
              </a:ext>
            </a:extLst>
          </p:cNvPr>
          <p:cNvSpPr txBox="1">
            <a:spLocks/>
          </p:cNvSpPr>
          <p:nvPr userDrawn="1"/>
        </p:nvSpPr>
        <p:spPr>
          <a:xfrm>
            <a:off x="5704115" y="6345299"/>
            <a:ext cx="648788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Rubik" pitchFamily="2" charset="-79"/>
                <a:ea typeface="+mj-ea"/>
                <a:cs typeface="Rubik" pitchFamily="2" charset="-79"/>
              </a:defRPr>
            </a:lvl1pPr>
          </a:lstStyle>
          <a:p>
            <a:pPr algn="r"/>
            <a:r>
              <a:rPr lang="en-US" sz="2400" b="1" dirty="0"/>
              <a:t>BAJAJ FINSERV LTD.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574532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787C1-E33A-F463-3AFA-79B72023E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7" y="174818"/>
            <a:ext cx="11028218" cy="842169"/>
          </a:xfrm>
        </p:spPr>
        <p:txBody>
          <a:bodyPr>
            <a:noAutofit/>
          </a:bodyPr>
          <a:lstStyle>
            <a:lvl1pPr>
              <a:defRPr sz="3600"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F7E4-AEDA-9F0E-362D-23D42820D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582" y="1511166"/>
            <a:ext cx="11028218" cy="436337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33F52-DD64-F749-0ED3-B6E88CAC08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347980"/>
            <a:ext cx="2743200" cy="365125"/>
          </a:xfrm>
        </p:spPr>
        <p:txBody>
          <a:bodyPr/>
          <a:lstStyle/>
          <a:p>
            <a:fld id="{480B317D-289E-4563-96F0-CF1D2E7EA850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81530-8625-11C8-72A2-2AB2846E7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5536" y="6347980"/>
            <a:ext cx="2743200" cy="365125"/>
          </a:xfrm>
        </p:spPr>
        <p:txBody>
          <a:bodyPr/>
          <a:lstStyle/>
          <a:p>
            <a:fld id="{EE3099D7-5D36-4709-96D0-8DA0B8D9B5B0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CB0973-97B7-CE31-8C34-1788657D1F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71635" y="223295"/>
            <a:ext cx="1376460" cy="59580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0D26B53-6FD0-39ED-70A8-E7EFD18231C6}"/>
              </a:ext>
            </a:extLst>
          </p:cNvPr>
          <p:cNvSpPr txBox="1">
            <a:spLocks/>
          </p:cNvSpPr>
          <p:nvPr userDrawn="1"/>
        </p:nvSpPr>
        <p:spPr>
          <a:xfrm>
            <a:off x="231647" y="6530542"/>
            <a:ext cx="6178061" cy="1741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Rubik" pitchFamily="2" charset="-79"/>
                <a:ea typeface="+mj-ea"/>
                <a:cs typeface="Rubik" pitchFamily="2" charset="-79"/>
              </a:defRPr>
            </a:lvl1pPr>
          </a:lstStyle>
          <a:p>
            <a:pPr algn="l"/>
            <a:r>
              <a:rPr lang="en-US" sz="1600" b="1" dirty="0"/>
              <a:t>BAJAJ FINSERV LTD.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186792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D70B6-EA25-FBD2-9EF8-D37AC6CE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582" y="1928813"/>
            <a:ext cx="6772108" cy="1500187"/>
          </a:xfrm>
        </p:spPr>
        <p:txBody>
          <a:bodyPr anchor="ctr">
            <a:normAutofit/>
          </a:bodyPr>
          <a:lstStyle>
            <a:lvl1pPr>
              <a:defRPr sz="3600"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02F1F-45C3-A649-CF61-8D2C2C1D1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582" y="3429000"/>
            <a:ext cx="677210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Rubik" pitchFamily="2" charset="-79"/>
                <a:cs typeface="Rubik" pitchFamily="2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7BFD3-477C-EAFC-73D2-A3373B5EE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317D-289E-4563-96F0-CF1D2E7EA850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AD34E-E80A-BAD5-AC88-8EC398A00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099D7-5D36-4709-96D0-8DA0B8D9B5B0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CB0973-97B7-CE31-8C34-1788657D1F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71635" y="223295"/>
            <a:ext cx="1376460" cy="59580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0D26B53-6FD0-39ED-70A8-E7EFD18231C6}"/>
              </a:ext>
            </a:extLst>
          </p:cNvPr>
          <p:cNvSpPr txBox="1">
            <a:spLocks/>
          </p:cNvSpPr>
          <p:nvPr userDrawn="1"/>
        </p:nvSpPr>
        <p:spPr>
          <a:xfrm>
            <a:off x="231647" y="6530542"/>
            <a:ext cx="6178061" cy="1741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Rubik" pitchFamily="2" charset="-79"/>
                <a:ea typeface="+mj-ea"/>
                <a:cs typeface="Rubik" pitchFamily="2" charset="-79"/>
              </a:defRPr>
            </a:lvl1pPr>
          </a:lstStyle>
          <a:p>
            <a:pPr algn="l"/>
            <a:r>
              <a:rPr lang="en-US" sz="1600" b="1" dirty="0"/>
              <a:t>BAJAJ FINSERV LTD.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3766602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DF488-709D-F864-E753-185817235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582" y="1491916"/>
            <a:ext cx="5181600" cy="46193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B5F84D-D393-CF43-3AEB-381183391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1916"/>
            <a:ext cx="5181600" cy="4685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5E0C6-BAEB-7124-C536-FC97C2980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317D-289E-4563-96F0-CF1D2E7EA850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C5B4A-FAEE-C14D-2928-E992A54FD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099D7-5D36-4709-96D0-8DA0B8D9B5B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DFB8EBF-B3CC-0E2A-C495-C79FEF7A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21" y="204916"/>
            <a:ext cx="11028218" cy="842169"/>
          </a:xfrm>
        </p:spPr>
        <p:txBody>
          <a:bodyPr>
            <a:noAutofit/>
          </a:bodyPr>
          <a:lstStyle>
            <a:lvl1pPr>
              <a:defRPr sz="3600"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CB0973-97B7-CE31-8C34-1788657D1F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71635" y="223295"/>
            <a:ext cx="1376460" cy="59580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0D26B53-6FD0-39ED-70A8-E7EFD18231C6}"/>
              </a:ext>
            </a:extLst>
          </p:cNvPr>
          <p:cNvSpPr txBox="1">
            <a:spLocks/>
          </p:cNvSpPr>
          <p:nvPr userDrawn="1"/>
        </p:nvSpPr>
        <p:spPr>
          <a:xfrm>
            <a:off x="231647" y="6530542"/>
            <a:ext cx="6178061" cy="1741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Rubik" pitchFamily="2" charset="-79"/>
                <a:ea typeface="+mj-ea"/>
                <a:cs typeface="Rubik" pitchFamily="2" charset="-79"/>
              </a:defRPr>
            </a:lvl1pPr>
          </a:lstStyle>
          <a:p>
            <a:pPr algn="l"/>
            <a:r>
              <a:rPr lang="en-US" sz="1600" b="1" dirty="0"/>
              <a:t>BAJAJ FINSERV LTD.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2928079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E03D15-FFBE-054F-84B9-EB8547921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317D-289E-4563-96F0-CF1D2E7EA850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AC160-0208-AC13-182D-BCDE5807A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099D7-5D36-4709-96D0-8DA0B8D9B5B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341C73-AA38-2232-C31E-DE322CB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7" y="265656"/>
            <a:ext cx="11028218" cy="842169"/>
          </a:xfrm>
        </p:spPr>
        <p:txBody>
          <a:bodyPr>
            <a:noAutofit/>
          </a:bodyPr>
          <a:lstStyle>
            <a:lvl1pPr>
              <a:defRPr sz="3600"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CB0973-97B7-CE31-8C34-1788657D1F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71635" y="223295"/>
            <a:ext cx="1376460" cy="59580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0D26B53-6FD0-39ED-70A8-E7EFD18231C6}"/>
              </a:ext>
            </a:extLst>
          </p:cNvPr>
          <p:cNvSpPr txBox="1">
            <a:spLocks/>
          </p:cNvSpPr>
          <p:nvPr userDrawn="1"/>
        </p:nvSpPr>
        <p:spPr>
          <a:xfrm>
            <a:off x="231647" y="6530542"/>
            <a:ext cx="6178061" cy="1741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Rubik" pitchFamily="2" charset="-79"/>
                <a:ea typeface="+mj-ea"/>
                <a:cs typeface="Rubik" pitchFamily="2" charset="-79"/>
              </a:defRPr>
            </a:lvl1pPr>
          </a:lstStyle>
          <a:p>
            <a:pPr algn="l"/>
            <a:r>
              <a:rPr lang="en-US" sz="1600" b="1" dirty="0"/>
              <a:t>BAJAJ FINSERV LTD.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2470590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FDDA38-1CE7-F768-927C-4914D755D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317D-289E-4563-96F0-CF1D2E7EA850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9547C-0B9D-CDA9-E1A9-D6131AA0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099D7-5D36-4709-96D0-8DA0B8D9B5B0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CB0973-97B7-CE31-8C34-1788657D1F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71635" y="223295"/>
            <a:ext cx="1376460" cy="59580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0D26B53-6FD0-39ED-70A8-E7EFD18231C6}"/>
              </a:ext>
            </a:extLst>
          </p:cNvPr>
          <p:cNvSpPr txBox="1">
            <a:spLocks/>
          </p:cNvSpPr>
          <p:nvPr userDrawn="1"/>
        </p:nvSpPr>
        <p:spPr>
          <a:xfrm>
            <a:off x="231647" y="6530542"/>
            <a:ext cx="6178061" cy="1741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Rubik" pitchFamily="2" charset="-79"/>
                <a:ea typeface="+mj-ea"/>
                <a:cs typeface="Rubik" pitchFamily="2" charset="-79"/>
              </a:defRPr>
            </a:lvl1pPr>
          </a:lstStyle>
          <a:p>
            <a:pPr algn="l"/>
            <a:r>
              <a:rPr lang="en-US" sz="1600" b="1" dirty="0"/>
              <a:t>BAJAJ FINSERV LTD.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3325512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95AA4-3387-3756-0736-8BBA51BF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317D-289E-4563-96F0-CF1D2E7EA850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F362F-5D4D-FE93-A442-6ACF16DB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099D7-5D36-4709-96D0-8DA0B8D9B5B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AB3564C-3092-0DB0-AA9A-024961A67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7" y="222021"/>
            <a:ext cx="11028218" cy="842169"/>
          </a:xfrm>
        </p:spPr>
        <p:txBody>
          <a:bodyPr>
            <a:noAutofit/>
          </a:bodyPr>
          <a:lstStyle>
            <a:lvl1pPr>
              <a:defRPr sz="3600"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5E838A2-0CEC-52A4-43FF-ED9E67F1D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5582" y="1540043"/>
            <a:ext cx="5770418" cy="4483456"/>
          </a:xfrm>
        </p:spPr>
        <p:txBody>
          <a:bodyPr/>
          <a:lstStyle>
            <a:lvl1pPr marL="0" indent="0">
              <a:buNone/>
              <a:defRPr sz="1600">
                <a:latin typeface="Rubik" pitchFamily="2" charset="-79"/>
                <a:cs typeface="Rubik" pitchFamily="2" charset="-79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38ED9738-7741-4824-85DB-73A8393A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24336" y="1540043"/>
            <a:ext cx="5556985" cy="4483456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Rubik" pitchFamily="2" charset="-79"/>
                <a:cs typeface="Rubik" pitchFamily="2" charset="-79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CB0973-97B7-CE31-8C34-1788657D1F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71635" y="223295"/>
            <a:ext cx="1376460" cy="59580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0D26B53-6FD0-39ED-70A8-E7EFD18231C6}"/>
              </a:ext>
            </a:extLst>
          </p:cNvPr>
          <p:cNvSpPr txBox="1">
            <a:spLocks/>
          </p:cNvSpPr>
          <p:nvPr userDrawn="1"/>
        </p:nvSpPr>
        <p:spPr>
          <a:xfrm>
            <a:off x="231647" y="6530542"/>
            <a:ext cx="6178061" cy="1741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Rubik" pitchFamily="2" charset="-79"/>
                <a:ea typeface="+mj-ea"/>
                <a:cs typeface="Rubik" pitchFamily="2" charset="-79"/>
              </a:defRPr>
            </a:lvl1pPr>
          </a:lstStyle>
          <a:p>
            <a:pPr algn="l"/>
            <a:r>
              <a:rPr lang="en-US" sz="1600" b="1" dirty="0"/>
              <a:t>BAJAJ FINSERV LTD.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982656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BC16E5-DB51-48E3-4D2A-5CAFF90CE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7A2AD-DC17-CDB8-C8A6-52F328826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DE75-6199-33B9-C9AE-C14559CB9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633960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fld id="{480B317D-289E-4563-96F0-CF1D2E7EA850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279B6-751A-82BA-E0B8-339051340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5553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fld id="{EE3099D7-5D36-4709-96D0-8DA0B8D9B5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6244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Rubik" pitchFamily="2" charset="-79"/>
          <a:ea typeface="+mj-ea"/>
          <a:cs typeface="Rubik" pitchFamily="2" charset="-79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ubik" pitchFamily="2" charset="-79"/>
          <a:ea typeface="+mn-ea"/>
          <a:cs typeface="Rubik" pitchFamily="2" charset="-79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ubik" pitchFamily="2" charset="-79"/>
          <a:ea typeface="+mn-ea"/>
          <a:cs typeface="Rubik" pitchFamily="2" charset="-79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ubik" pitchFamily="2" charset="-79"/>
          <a:ea typeface="+mn-ea"/>
          <a:cs typeface="Rubik" pitchFamily="2" charset="-79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ubik" pitchFamily="2" charset="-79"/>
          <a:ea typeface="+mn-ea"/>
          <a:cs typeface="Rubik" pitchFamily="2" charset="-79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ubik" pitchFamily="2" charset="-79"/>
          <a:ea typeface="+mn-ea"/>
          <a:cs typeface="Rubik" pitchFamily="2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laimpulse-simulation.vercel.app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hyperlink" Target="https://github.com/PratyushMathur2000/claimpulse-simul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BC43D-27F6-70CE-862B-03A903AE3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5C09BF-BBAA-506C-60A4-474BA3E11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296940"/>
              </p:ext>
            </p:extLst>
          </p:nvPr>
        </p:nvGraphicFramePr>
        <p:xfrm>
          <a:off x="425395" y="2260640"/>
          <a:ext cx="10894170" cy="3422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447085">
                  <a:extLst>
                    <a:ext uri="{9D8B030D-6E8A-4147-A177-3AD203B41FA5}">
                      <a16:colId xmlns:a16="http://schemas.microsoft.com/office/drawing/2014/main" val="3630218146"/>
                    </a:ext>
                  </a:extLst>
                </a:gridCol>
                <a:gridCol w="5447085">
                  <a:extLst>
                    <a:ext uri="{9D8B030D-6E8A-4147-A177-3AD203B41FA5}">
                      <a16:colId xmlns:a16="http://schemas.microsoft.com/office/drawing/2014/main" val="2433386600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r>
                        <a:rPr lang="en-US" sz="1800" b="1" dirty="0"/>
                        <a:t>Team Name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FINSIGHTERS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23862817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en-US" sz="1800" b="1" dirty="0"/>
                        <a:t>Campus Name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NARSEE MONJEE INSTITUTE </a:t>
                      </a:r>
                      <a:r>
                        <a:rPr lang="en-US" sz="1600" b="0"/>
                        <a:t>OF MANAGEMENT STUDIES, </a:t>
                      </a:r>
                      <a:r>
                        <a:rPr lang="en-US" sz="1600" b="0" dirty="0"/>
                        <a:t>MUMBAI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6518413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en-US" sz="1800" b="1" dirty="0"/>
                        <a:t>PGP Year </a:t>
                      </a:r>
                      <a:r>
                        <a:rPr lang="en-US" sz="1800" b="0" i="1" dirty="0"/>
                        <a:t>(1</a:t>
                      </a:r>
                      <a:r>
                        <a:rPr lang="en-US" sz="1800" b="0" i="1" baseline="30000" dirty="0"/>
                        <a:t>st</a:t>
                      </a:r>
                      <a:r>
                        <a:rPr lang="en-US" sz="1800" b="0" i="1" dirty="0"/>
                        <a:t> Year/ 2</a:t>
                      </a:r>
                      <a:r>
                        <a:rPr lang="en-US" sz="1800" b="0" i="1" baseline="30000" dirty="0"/>
                        <a:t>nd</a:t>
                      </a:r>
                      <a:r>
                        <a:rPr lang="en-US" sz="1800" b="0" i="1" dirty="0"/>
                        <a:t> Year)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2</a:t>
                      </a:r>
                      <a:r>
                        <a:rPr lang="en-US" sz="1600" b="0" baseline="30000" dirty="0"/>
                        <a:t>nd</a:t>
                      </a:r>
                      <a:r>
                        <a:rPr lang="en-US" sz="1600" b="0" dirty="0"/>
                        <a:t> Year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9250961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en-US" sz="1800" b="1" dirty="0"/>
                        <a:t>Problem Statement </a:t>
                      </a:r>
                      <a:r>
                        <a:rPr lang="en-US" sz="1800" b="0" i="1" dirty="0"/>
                        <a:t>(PS_BFL/BLIL/BGIL/BFHL</a:t>
                      </a:r>
                      <a:r>
                        <a:rPr lang="en-US" sz="1800" b="0" i="1"/>
                        <a:t>/BFAML/</a:t>
                      </a:r>
                      <a:r>
                        <a:rPr lang="en-US" sz="1800" b="0" i="1" dirty="0"/>
                        <a:t>BFDL)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F2F6FC"/>
                          </a:solidFill>
                          <a:latin typeface="Calibri"/>
                        </a:rPr>
                        <a:t>PS_BFDL — Motor Insurance Claims TAT Reduction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26409248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Team Member1 Name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Sai Mahima K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438552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Team Member2 Name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Sonakshi Mathur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4143729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Team Member3 Name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Pratyush Mathur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147536696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Team Member4 Name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Itishree Agarwal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16274021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16F7513F-8D9C-A357-4050-1FFAB41EA4B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088353" y="111760"/>
            <a:ext cx="4015294" cy="1603300"/>
            <a:chOff x="4061906" y="233680"/>
            <a:chExt cx="4015294" cy="1603300"/>
          </a:xfrm>
        </p:grpSpPr>
        <p:pic>
          <p:nvPicPr>
            <p:cNvPr id="6" name="Picture 5" descr="A logo with a silver ball&#10;&#10;AI-generated content may be incorrect.">
              <a:extLst>
                <a:ext uri="{FF2B5EF4-FFF2-40B4-BE49-F238E27FC236}">
                  <a16:creationId xmlns:a16="http://schemas.microsoft.com/office/drawing/2014/main" id="{F1AB4327-D6A0-0AD5-775D-D8EBA2DE31D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1906" y="233680"/>
              <a:ext cx="1616665" cy="1603300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5AE79F-35E3-3543-2F69-D3F4FB1FA93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819586" y="436880"/>
              <a:ext cx="0" cy="11074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6F9E8D9D-9A01-58D8-A641-D45CEAB57CB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5999" y="556104"/>
              <a:ext cx="1981201" cy="857570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57B6C9C-6B00-0DC9-A2DE-34B9A7EE7064}"/>
              </a:ext>
            </a:extLst>
          </p:cNvPr>
          <p:cNvSpPr/>
          <p:nvPr/>
        </p:nvSpPr>
        <p:spPr>
          <a:xfrm>
            <a:off x="10393680" y="132080"/>
            <a:ext cx="1717040" cy="857570"/>
          </a:xfrm>
          <a:prstGeom prst="rect">
            <a:avLst/>
          </a:prstGeom>
          <a:solidFill>
            <a:srgbClr val="070946"/>
          </a:solidFill>
          <a:ln>
            <a:solidFill>
              <a:srgbClr val="050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10FC81E-ED48-D257-A223-3A87D4057028}"/>
              </a:ext>
            </a:extLst>
          </p:cNvPr>
          <p:cNvGraphicFramePr>
            <a:graphicFrameLocks noGrp="1"/>
          </p:cNvGraphicFramePr>
          <p:nvPr/>
        </p:nvGraphicFramePr>
        <p:xfrm>
          <a:off x="4977352" y="1652123"/>
          <a:ext cx="1737361" cy="367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737361">
                  <a:extLst>
                    <a:ext uri="{9D8B030D-6E8A-4147-A177-3AD203B41FA5}">
                      <a16:colId xmlns:a16="http://schemas.microsoft.com/office/drawing/2014/main" val="3630218146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ATOM Season 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62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7381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ilver ball&#10;&#10;AI-generated content may be incorrect.">
            <a:extLst>
              <a:ext uri="{FF2B5EF4-FFF2-40B4-BE49-F238E27FC236}">
                <a16:creationId xmlns:a16="http://schemas.microsoft.com/office/drawing/2014/main" id="{AA8F0D40-C15D-3B12-9CF1-161189F383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720" y="-40640"/>
            <a:ext cx="1198562" cy="11969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8BA445-9BD5-115F-F169-06BD74FC91BA}"/>
              </a:ext>
            </a:extLst>
          </p:cNvPr>
          <p:cNvCxnSpPr/>
          <p:nvPr/>
        </p:nvCxnSpPr>
        <p:spPr>
          <a:xfrm>
            <a:off x="10373360" y="172720"/>
            <a:ext cx="0" cy="701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A171F58-431B-95E6-7E67-26C77D78A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652303"/>
              </p:ext>
            </p:extLst>
          </p:nvPr>
        </p:nvGraphicFramePr>
        <p:xfrm>
          <a:off x="436879" y="1093606"/>
          <a:ext cx="11338557" cy="178945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338557">
                  <a:extLst>
                    <a:ext uri="{9D8B030D-6E8A-4147-A177-3AD203B41FA5}">
                      <a16:colId xmlns:a16="http://schemas.microsoft.com/office/drawing/2014/main" val="3630218146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r>
                        <a:rPr lang="en-US" dirty="0"/>
                        <a:t>Problem Statement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62817"/>
                  </a:ext>
                </a:extLst>
              </a:tr>
              <a:tr h="14222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13151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0F23294-9CDD-959C-0F87-CA972B59E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645111"/>
              </p:ext>
            </p:extLst>
          </p:nvPr>
        </p:nvGraphicFramePr>
        <p:xfrm>
          <a:off x="436879" y="2983366"/>
          <a:ext cx="11338557" cy="322902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338557">
                  <a:extLst>
                    <a:ext uri="{9D8B030D-6E8A-4147-A177-3AD203B41FA5}">
                      <a16:colId xmlns:a16="http://schemas.microsoft.com/office/drawing/2014/main" val="3630218146"/>
                    </a:ext>
                  </a:extLst>
                </a:gridCol>
              </a:tblGrid>
              <a:tr h="328794">
                <a:tc>
                  <a:txBody>
                    <a:bodyPr/>
                    <a:lstStyle/>
                    <a:p>
                      <a:r>
                        <a:rPr lang="en-US" dirty="0"/>
                        <a:t>Problem Statement Appreciation (Context and Understanding)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62817"/>
                  </a:ext>
                </a:extLst>
              </a:tr>
              <a:tr h="286326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131517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66928" y="164592"/>
            <a:ext cx="1988672" cy="237744"/>
          </a:xfrm>
          <a:prstGeom prst="roundRect">
            <a:avLst>
              <a:gd name="adj" fmla="val 30000"/>
            </a:avLst>
          </a:prstGeom>
          <a:solidFill>
            <a:srgbClr val="9DD3FF">
              <a:alpha val="2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164592"/>
            <a:ext cx="1988672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PROBLEM   01 / 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57200"/>
            <a:ext cx="4572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402336"/>
            <a:ext cx="8357616" cy="6583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</a:rPr>
              <a:t>A Motor OD claim takes 9.8 days and ₹1,750 to settle — inside a book already running at 104.7%. On this book TAT is not a service metric. It is cash.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554480"/>
            <a:ext cx="6713524" cy="78638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9BD5"/>
                </a:solidFill>
                <a:latin typeface="Calibri"/>
              </a:rPr>
              <a:t>Reduce Motor OD claims TAT end-to-end</a:t>
            </a:r>
            <a:r>
              <a:rPr sz="900" b="0">
                <a:solidFill>
                  <a:srgbClr val="E4EAF4"/>
                </a:solidFill>
                <a:latin typeface="Calibri"/>
              </a:rPr>
              <a:t> — document verification, fraud detection, damage assessment, repair costing and coverage validation — </a:t>
            </a:r>
            <a:r>
              <a:rPr sz="1000" b="1">
                <a:solidFill>
                  <a:srgbClr val="5B9BD5"/>
                </a:solidFill>
                <a:latin typeface="Calibri"/>
              </a:rPr>
              <a:t>without trading away accuracy, transparency or scale.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340864"/>
            <a:ext cx="6713524" cy="438912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E4EAF4"/>
                </a:solidFill>
                <a:latin typeface="Calibri"/>
              </a:rPr>
              <a:t>The delay is not one broken stage. It is seven manual touches and a physical survey on 55% of claims, </a:t>
            </a:r>
            <a:r>
              <a:rPr sz="900" b="1">
                <a:solidFill>
                  <a:srgbClr val="E4EAF4"/>
                </a:solidFill>
                <a:latin typeface="Calibri"/>
              </a:rPr>
              <a:t>reconciled by people because nothing today decides which claims need reconciling.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9908" y="1783080"/>
            <a:ext cx="1291742" cy="798271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99908" y="1783080"/>
            <a:ext cx="1291742" cy="798271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7608539" y="2089678"/>
            <a:ext cx="185074" cy="185074"/>
          </a:xfrm>
          <a:prstGeom prst="ellipse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95041" y="2129911"/>
            <a:ext cx="12070" cy="60350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95041" y="2178192"/>
            <a:ext cx="56327" cy="12070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83956" y="1810512"/>
            <a:ext cx="816254" cy="743407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CLAIM TAT TODAY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9.8 days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28811" y="1783080"/>
            <a:ext cx="1291742" cy="798271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928811" y="1783080"/>
            <a:ext cx="1291742" cy="798271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9037441" y="2089678"/>
            <a:ext cx="185074" cy="185074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92819" y="2049627"/>
            <a:ext cx="274320" cy="265176"/>
          </a:xfrm>
          <a:prstGeom prst="rect">
            <a:avLst/>
          </a:prstGeom>
          <a:noFill/>
        </p:spPr>
        <p:txBody>
          <a:bodyPr wrap="square" lIns="0" tIns="13716" rIns="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2859" y="1810512"/>
            <a:ext cx="816254" cy="743407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COST TO SERVE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₹1,750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57713" y="1783080"/>
            <a:ext cx="1291742" cy="798271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357713" y="1783080"/>
            <a:ext cx="1291742" cy="798271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462320" y="2093701"/>
            <a:ext cx="68397" cy="64373"/>
          </a:xfrm>
          <a:prstGeom prst="rect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587045" y="2093701"/>
            <a:ext cx="68397" cy="64373"/>
          </a:xfrm>
          <a:prstGeom prst="rect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524683" y="2206355"/>
            <a:ext cx="68397" cy="64373"/>
          </a:xfrm>
          <a:prstGeom prst="rect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526694" y="2121865"/>
            <a:ext cx="60350" cy="10058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552846" y="2154052"/>
            <a:ext cx="10058" cy="56327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741761" y="1810512"/>
            <a:ext cx="816254" cy="743407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MANUAL TOUCHES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7.0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9908" y="2651760"/>
            <a:ext cx="4149547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per claim, today  ·  9.8 days is the industry-typical band for non-complex motor</a:t>
            </a:r>
          </a:p>
        </p:txBody>
      </p:sp>
      <p:sp>
        <p:nvSpPr>
          <p:cNvPr id="41" name="Diamond 40"/>
          <p:cNvSpPr/>
          <p:nvPr/>
        </p:nvSpPr>
        <p:spPr>
          <a:xfrm>
            <a:off x="570585" y="3444544"/>
            <a:ext cx="175564" cy="43891"/>
          </a:xfrm>
          <a:prstGeom prst="diamond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74243" y="3514039"/>
            <a:ext cx="168249" cy="109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74243" y="3554272"/>
            <a:ext cx="168249" cy="109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7" y="3419856"/>
            <a:ext cx="6439204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FROM FILED PREMIUM TO THE CLAIMS POOL CLAIMPULSE ACTS 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3730752"/>
            <a:ext cx="4617720" cy="384048"/>
          </a:xfrm>
          <a:prstGeom prst="roundRect">
            <a:avLst>
              <a:gd name="adj" fmla="val 16000"/>
            </a:avLst>
          </a:prstGeom>
          <a:solidFill>
            <a:srgbClr val="5B9BD5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6656" y="3730752"/>
            <a:ext cx="4398264" cy="38404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Motor OD gross direct premium, FY2025-26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94376" y="3730752"/>
            <a:ext cx="1783080" cy="38404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₹3,317.3 Cr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4279392"/>
            <a:ext cx="2304288" cy="384048"/>
          </a:xfrm>
          <a:prstGeom prst="roundRect">
            <a:avLst>
              <a:gd name="adj" fmla="val 16000"/>
            </a:avLst>
          </a:prstGeom>
          <a:solidFill>
            <a:srgbClr val="5B9BD5">
              <a:alpha val="38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6656" y="4279392"/>
            <a:ext cx="2084832" cy="38404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Motor OD net earned premium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80944" y="4279392"/>
            <a:ext cx="1783080" cy="38404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₹1,654.67 Cr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4828032"/>
            <a:ext cx="1719072" cy="384048"/>
          </a:xfrm>
          <a:prstGeom prst="roundRect">
            <a:avLst>
              <a:gd name="adj" fmla="val 16000"/>
            </a:avLst>
          </a:prstGeom>
          <a:solidFill>
            <a:srgbClr val="5B9BD5">
              <a:alpha val="26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76656" y="4828032"/>
            <a:ext cx="1499616" cy="38404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Annual incurred claims pool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95728" y="4828032"/>
            <a:ext cx="1783080" cy="38404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₹1,234.38 Cr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" y="5394960"/>
            <a:ext cx="6713524" cy="38404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66928" y="5394960"/>
            <a:ext cx="6713524" cy="384048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Document 55"/>
          <p:cNvSpPr/>
          <p:nvPr/>
        </p:nvSpPr>
        <p:spPr>
          <a:xfrm>
            <a:off x="723107" y="5494446"/>
            <a:ext cx="144840" cy="185074"/>
          </a:xfrm>
          <a:prstGeom prst="flowChartDocument">
            <a:avLst/>
          </a:prstGeom>
          <a:noFill/>
          <a:ln w="1397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51271" y="5546750"/>
            <a:ext cx="88513" cy="1207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51271" y="5578937"/>
            <a:ext cx="88513" cy="1207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51271" y="5611124"/>
            <a:ext cx="56327" cy="1207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87552" y="5394960"/>
            <a:ext cx="6164884" cy="38404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274,307 Motor OD claims a year</a:t>
            </a:r>
            <a:r>
              <a:rPr sz="900" b="0">
                <a:solidFill>
                  <a:srgbClr val="E4EAF4"/>
                </a:solidFill>
                <a:latin typeface="Calibri"/>
              </a:rPr>
              <a:t>     at a ₹45,000 average claim</a:t>
            </a:r>
          </a:p>
        </p:txBody>
      </p:sp>
      <p:sp>
        <p:nvSpPr>
          <p:cNvPr id="61" name="Isosceles Triangle 60"/>
          <p:cNvSpPr/>
          <p:nvPr/>
        </p:nvSpPr>
        <p:spPr>
          <a:xfrm>
            <a:off x="7503566" y="3444544"/>
            <a:ext cx="175564" cy="160934"/>
          </a:xfrm>
          <a:prstGeom prst="triangle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585862" y="3499408"/>
            <a:ext cx="10972" cy="51206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585862" y="3561588"/>
            <a:ext cx="10972" cy="12801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774228" y="3419856"/>
            <a:ext cx="3875227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THE FILED FINANCIAL CONTEXT  ·  why now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499908" y="3675887"/>
            <a:ext cx="4149547" cy="351129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7499908" y="3675887"/>
            <a:ext cx="4149547" cy="351129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616586" y="3893149"/>
            <a:ext cx="159837" cy="1042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627010" y="3854927"/>
            <a:ext cx="10424" cy="4169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7661757" y="3827129"/>
            <a:ext cx="10424" cy="6949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696504" y="3844503"/>
            <a:ext cx="10424" cy="5212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7731251" y="3792382"/>
            <a:ext cx="10424" cy="104241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847380" y="3675887"/>
            <a:ext cx="2560320" cy="351129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E4EAF4"/>
                </a:solidFill>
                <a:latin typeface="Calibri"/>
              </a:rPr>
              <a:t>Group combined ratio, Q1 FY27 — from 103.6%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89412" y="3675887"/>
            <a:ext cx="1150315" cy="351129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104.7%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499908" y="4118457"/>
            <a:ext cx="4149547" cy="351129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7499908" y="4118457"/>
            <a:ext cx="4149547" cy="351129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7613111" y="4238426"/>
            <a:ext cx="166786" cy="111191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582204" y="4175150"/>
            <a:ext cx="228600" cy="237744"/>
          </a:xfrm>
          <a:prstGeom prst="rect">
            <a:avLst/>
          </a:prstGeom>
          <a:noFill/>
        </p:spPr>
        <p:txBody>
          <a:bodyPr wrap="square" lIns="0" tIns="13716" rIns="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₹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47380" y="4118457"/>
            <a:ext cx="2560320" cy="351129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E4EAF4"/>
                </a:solidFill>
                <a:latin typeface="Calibri"/>
              </a:rPr>
              <a:t>Q1 FY27 underwriting loss — ₹520 Cr annualised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89412" y="4118457"/>
            <a:ext cx="1150315" cy="351129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₹130 Cr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499908" y="4561027"/>
            <a:ext cx="4149547" cy="351129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7499908" y="4561027"/>
            <a:ext cx="4149547" cy="351129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Isosceles Triangle 81"/>
          <p:cNvSpPr/>
          <p:nvPr/>
        </p:nvSpPr>
        <p:spPr>
          <a:xfrm>
            <a:off x="7613111" y="4660148"/>
            <a:ext cx="166786" cy="152887"/>
          </a:xfrm>
          <a:prstGeom prst="triangl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7691292" y="4712268"/>
            <a:ext cx="10424" cy="4864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691292" y="4771339"/>
            <a:ext cx="10424" cy="12161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847380" y="4561027"/>
            <a:ext cx="2560320" cy="351129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E4EAF4"/>
                </a:solidFill>
                <a:latin typeface="Calibri"/>
              </a:rPr>
              <a:t>Net incurred claims ratio — up from 71.1%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89412" y="4561027"/>
            <a:ext cx="1150315" cy="351129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74.3%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499908" y="5003596"/>
            <a:ext cx="4149547" cy="351129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7499908" y="5003596"/>
            <a:ext cx="4149547" cy="351129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Oval 88"/>
          <p:cNvSpPr/>
          <p:nvPr/>
        </p:nvSpPr>
        <p:spPr>
          <a:xfrm>
            <a:off x="7613111" y="5095768"/>
            <a:ext cx="166786" cy="166786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Oval 89"/>
          <p:cNvSpPr/>
          <p:nvPr/>
        </p:nvSpPr>
        <p:spPr>
          <a:xfrm>
            <a:off x="7661757" y="5144414"/>
            <a:ext cx="69494" cy="69494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847380" y="5003596"/>
            <a:ext cx="2560320" cy="351129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E4EAF4"/>
                </a:solidFill>
                <a:latin typeface="Calibri"/>
              </a:rPr>
              <a:t>Motor OD premium at risk, per 1 pp of share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89412" y="5003596"/>
            <a:ext cx="1150315" cy="351129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₹427.5 Cr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499908" y="5446166"/>
            <a:ext cx="4149547" cy="351129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7499908" y="5446166"/>
            <a:ext cx="4149547" cy="351129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Oval 94"/>
          <p:cNvSpPr/>
          <p:nvPr/>
        </p:nvSpPr>
        <p:spPr>
          <a:xfrm>
            <a:off x="7620060" y="5545287"/>
            <a:ext cx="55595" cy="55595"/>
          </a:xfrm>
          <a:prstGeom prst="ellipse">
            <a:avLst/>
          </a:prstGeom>
          <a:noFill/>
          <a:ln w="1397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6" name="Oval 95"/>
          <p:cNvSpPr/>
          <p:nvPr/>
        </p:nvSpPr>
        <p:spPr>
          <a:xfrm>
            <a:off x="7713878" y="5545287"/>
            <a:ext cx="55595" cy="55595"/>
          </a:xfrm>
          <a:prstGeom prst="ellipse">
            <a:avLst/>
          </a:prstGeom>
          <a:noFill/>
          <a:ln w="1397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7609636" y="5614781"/>
            <a:ext cx="76443" cy="76443"/>
          </a:xfrm>
          <a:prstGeom prst="roundRect">
            <a:avLst>
              <a:gd name="adj" fmla="val 35000"/>
            </a:avLst>
          </a:prstGeom>
          <a:noFill/>
          <a:ln w="1397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7703454" y="5614781"/>
            <a:ext cx="76443" cy="76443"/>
          </a:xfrm>
          <a:prstGeom prst="roundRect">
            <a:avLst>
              <a:gd name="adj" fmla="val 35000"/>
            </a:avLst>
          </a:prstGeom>
          <a:noFill/>
          <a:ln w="1397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847380" y="5446166"/>
            <a:ext cx="2560320" cy="351129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E4EAF4"/>
                </a:solidFill>
                <a:latin typeface="Calibri"/>
              </a:rPr>
              <a:t>GI grievances — +20% </a:t>
            </a:r>
            <a:r>
              <a:rPr sz="900" b="1" dirty="0" err="1">
                <a:solidFill>
                  <a:srgbClr val="E4EAF4"/>
                </a:solidFill>
                <a:latin typeface="Calibri"/>
              </a:rPr>
              <a:t>YoY</a:t>
            </a:r>
            <a:r>
              <a:rPr sz="900" b="1" dirty="0">
                <a:solidFill>
                  <a:srgbClr val="E4EAF4"/>
                </a:solidFill>
                <a:latin typeface="Calibri"/>
              </a:rPr>
              <a:t>, 69% claims-related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389412" y="5446166"/>
            <a:ext cx="1150315" cy="351129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257,790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66928" y="5870448"/>
            <a:ext cx="11082528" cy="292608"/>
          </a:xfrm>
          <a:prstGeom prst="roundRect">
            <a:avLst>
              <a:gd name="adj" fmla="val 30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66928" y="5870448"/>
            <a:ext cx="45720" cy="29260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13232" y="5870448"/>
            <a:ext cx="10808207" cy="29260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INSIGHT   </a:t>
            </a:r>
            <a:r>
              <a:rPr sz="900" b="0">
                <a:solidFill>
                  <a:srgbClr val="E4EAF4"/>
                </a:solidFill>
                <a:latin typeface="Calibri"/>
              </a:rPr>
              <a:t>Every day of TAT is carried in the expense ratio and every undetected claim in the loss ratio — on a book already underwriting at a loss, both are cash, not service quality.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377440" y="6345936"/>
            <a:ext cx="9290304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Source   </a:t>
            </a:r>
            <a:r>
              <a:rPr sz="900" b="0">
                <a:solidFill>
                  <a:srgbClr val="C2CDE0"/>
                </a:solidFill>
                <a:latin typeface="Calibri"/>
              </a:rPr>
              <a:t>ClaimPulse Investor Dashboard R5 — Sheet 3 Workings (Part A, W-01 to W-05); Sheet 1 Assumptions and Sources (Tables A, B, K). Directly verifiable in the submitted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ilver ball&#10;&#10;AI-generated content may be incorrect.">
            <a:extLst>
              <a:ext uri="{FF2B5EF4-FFF2-40B4-BE49-F238E27FC236}">
                <a16:creationId xmlns:a16="http://schemas.microsoft.com/office/drawing/2014/main" id="{AA8F0D40-C15D-3B12-9CF1-161189F383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720" y="-40640"/>
            <a:ext cx="1198562" cy="11969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8BA445-9BD5-115F-F169-06BD74FC91BA}"/>
              </a:ext>
            </a:extLst>
          </p:cNvPr>
          <p:cNvCxnSpPr/>
          <p:nvPr/>
        </p:nvCxnSpPr>
        <p:spPr>
          <a:xfrm>
            <a:off x="10373360" y="172720"/>
            <a:ext cx="0" cy="701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A171F58-431B-95E6-7E67-26C77D78A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652303"/>
              </p:ext>
            </p:extLst>
          </p:nvPr>
        </p:nvGraphicFramePr>
        <p:xfrm>
          <a:off x="436879" y="1093606"/>
          <a:ext cx="11338557" cy="178945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338557">
                  <a:extLst>
                    <a:ext uri="{9D8B030D-6E8A-4147-A177-3AD203B41FA5}">
                      <a16:colId xmlns:a16="http://schemas.microsoft.com/office/drawing/2014/main" val="3630218146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r>
                        <a:rPr lang="en-US" dirty="0"/>
                        <a:t>Problem Statement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62817"/>
                  </a:ext>
                </a:extLst>
              </a:tr>
              <a:tr h="14222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13151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0F23294-9CDD-959C-0F87-CA972B59E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645111"/>
              </p:ext>
            </p:extLst>
          </p:nvPr>
        </p:nvGraphicFramePr>
        <p:xfrm>
          <a:off x="436879" y="2983366"/>
          <a:ext cx="11338557" cy="322902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338557">
                  <a:extLst>
                    <a:ext uri="{9D8B030D-6E8A-4147-A177-3AD203B41FA5}">
                      <a16:colId xmlns:a16="http://schemas.microsoft.com/office/drawing/2014/main" val="3630218146"/>
                    </a:ext>
                  </a:extLst>
                </a:gridCol>
              </a:tblGrid>
              <a:tr h="328794">
                <a:tc>
                  <a:txBody>
                    <a:bodyPr/>
                    <a:lstStyle/>
                    <a:p>
                      <a:r>
                        <a:rPr lang="en-US" dirty="0"/>
                        <a:t>Problem Statement Appreciation (Context and Understanding)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62817"/>
                  </a:ext>
                </a:extLst>
              </a:tr>
              <a:tr h="286326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131517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66928" y="164592"/>
            <a:ext cx="1988672" cy="237744"/>
          </a:xfrm>
          <a:prstGeom prst="roundRect">
            <a:avLst>
              <a:gd name="adj" fmla="val 30000"/>
            </a:avLst>
          </a:prstGeom>
          <a:solidFill>
            <a:srgbClr val="9DD3FF">
              <a:alpha val="2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164592"/>
            <a:ext cx="1988672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PROBLEM   02 / 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57200"/>
            <a:ext cx="4572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402336"/>
            <a:ext cx="8357616" cy="6583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The delay is not just inside the insurer — it gets stuck across the claims ecosystem.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554480"/>
            <a:ext cx="6713524" cy="69494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9BD5"/>
                </a:solidFill>
                <a:latin typeface="Calibri"/>
              </a:rPr>
              <a:t>9.8 days is not one broken department.</a:t>
            </a:r>
            <a:r>
              <a:rPr sz="900" b="0">
                <a:solidFill>
                  <a:srgbClr val="E4EAF4"/>
                </a:solidFill>
                <a:latin typeface="Calibri"/>
              </a:rPr>
              <a:t> It is the cumulative effect of external dependencies, physical assessment, manual reconciliation and multiple handoffs — and three of the seven handoffs in a Motor OD claim sit outside Bajaj's direct control.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249424"/>
            <a:ext cx="6713524" cy="566928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E4EAF4"/>
                </a:solidFill>
                <a:latin typeface="Calibri"/>
              </a:rPr>
              <a:t>Digitising any single step leaves the waiting in the steps around it.</a:t>
            </a:r>
            <a:r>
              <a:rPr sz="900" b="0">
                <a:solidFill>
                  <a:srgbClr val="E4EAF4"/>
                </a:solidFill>
                <a:latin typeface="Calibri"/>
              </a:rPr>
              <a:t> A faster document reader does not shorten a claim that is waiting on an FIR, a garage estimate or a surveyor's diary.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9908" y="1554480"/>
            <a:ext cx="4149547" cy="36576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99908" y="1554480"/>
            <a:ext cx="4149547" cy="36576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7616586" y="1657441"/>
            <a:ext cx="159837" cy="159837"/>
          </a:xfrm>
          <a:prstGeom prst="ellipse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91292" y="1692188"/>
            <a:ext cx="10424" cy="52120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91292" y="1733885"/>
            <a:ext cx="48646" cy="10424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47380" y="1554480"/>
            <a:ext cx="2468880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E4EAF4"/>
                </a:solidFill>
                <a:latin typeface="Calibri"/>
              </a:rPr>
              <a:t>Claims-handling hours a year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6260" y="1554480"/>
            <a:ext cx="1223467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384,030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9908" y="2011680"/>
            <a:ext cx="4149547" cy="36576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499908" y="2011680"/>
            <a:ext cx="4149547" cy="36576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620060" y="2135489"/>
            <a:ext cx="152887" cy="118140"/>
          </a:xfrm>
          <a:prstGeom prst="roundRect">
            <a:avLst>
              <a:gd name="adj" fmla="val 18000"/>
            </a:avLst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37434" y="2189347"/>
            <a:ext cx="118140" cy="12161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47380" y="2011680"/>
            <a:ext cx="2468880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E4EAF4"/>
                </a:solidFill>
                <a:latin typeface="Calibri"/>
              </a:rPr>
              <a:t>Claims that get a physical survey today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16260" y="2011680"/>
            <a:ext cx="1223467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55%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9908" y="2468880"/>
            <a:ext cx="4149547" cy="36576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499908" y="2468880"/>
            <a:ext cx="4149547" cy="36576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Gear 6 35"/>
          <p:cNvSpPr/>
          <p:nvPr/>
        </p:nvSpPr>
        <p:spPr>
          <a:xfrm>
            <a:off x="7613111" y="2568366"/>
            <a:ext cx="166786" cy="166786"/>
          </a:xfrm>
          <a:prstGeom prst="gear6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47380" y="2468880"/>
            <a:ext cx="2468880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E4EAF4"/>
                </a:solidFill>
                <a:latin typeface="Calibri"/>
              </a:rPr>
              <a:t>Garage estimate to approval, today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16260" y="2468880"/>
            <a:ext cx="1223467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4 days</a:t>
            </a:r>
          </a:p>
        </p:txBody>
      </p:sp>
      <p:sp>
        <p:nvSpPr>
          <p:cNvPr id="39" name="Oval 38"/>
          <p:cNvSpPr/>
          <p:nvPr/>
        </p:nvSpPr>
        <p:spPr>
          <a:xfrm>
            <a:off x="570585" y="3477463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Oval 39"/>
          <p:cNvSpPr/>
          <p:nvPr/>
        </p:nvSpPr>
        <p:spPr>
          <a:xfrm>
            <a:off x="691286" y="3422599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Oval 40"/>
          <p:cNvSpPr/>
          <p:nvPr/>
        </p:nvSpPr>
        <p:spPr>
          <a:xfrm>
            <a:off x="691286" y="3532327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5449" y="3501237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58368" y="3448202"/>
            <a:ext cx="9144" cy="113385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8368" y="3444544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8368" y="3554272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1247" y="3401568"/>
            <a:ext cx="649224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WHERE THE 9.8 DAYS ACCUMULATE  ·  one claim, seven handoffs, three of them outside our control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3639312"/>
            <a:ext cx="4697403" cy="182880"/>
          </a:xfrm>
          <a:prstGeom prst="roundRect">
            <a:avLst>
              <a:gd name="adj" fmla="val 30000"/>
            </a:avLst>
          </a:prstGeom>
          <a:solidFill>
            <a:srgbClr val="FFC000">
              <a:alpha val="16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6928" y="3639312"/>
            <a:ext cx="4697403" cy="18288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C000"/>
                </a:solidFill>
                <a:latin typeface="Calibri"/>
              </a:rPr>
              <a:t>OUTSIDE BAJAJ'S DIRECT CONTROL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55771" y="3639312"/>
            <a:ext cx="6293684" cy="182880"/>
          </a:xfrm>
          <a:prstGeom prst="roundRect">
            <a:avLst>
              <a:gd name="adj" fmla="val 30000"/>
            </a:avLst>
          </a:prstGeom>
          <a:solidFill>
            <a:srgbClr val="5B9BD5">
              <a:alpha val="16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55771" y="3639312"/>
            <a:ext cx="6293684" cy="18288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INSIDE BAJAJ'S PROCESS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3895344"/>
            <a:ext cx="1504841" cy="310896"/>
          </a:xfrm>
          <a:prstGeom prst="roundRect">
            <a:avLst>
              <a:gd name="adj" fmla="val 20000"/>
            </a:avLst>
          </a:prstGeom>
          <a:solidFill>
            <a:srgbClr val="33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Oval 51"/>
          <p:cNvSpPr/>
          <p:nvPr/>
        </p:nvSpPr>
        <p:spPr>
          <a:xfrm>
            <a:off x="640811" y="3969227"/>
            <a:ext cx="52669" cy="52669"/>
          </a:xfrm>
          <a:prstGeom prst="ellipse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Oval 52"/>
          <p:cNvSpPr/>
          <p:nvPr/>
        </p:nvSpPr>
        <p:spPr>
          <a:xfrm>
            <a:off x="729691" y="3969227"/>
            <a:ext cx="52669" cy="52669"/>
          </a:xfrm>
          <a:prstGeom prst="ellipse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30936" y="4035064"/>
            <a:ext cx="72420" cy="72420"/>
          </a:xfrm>
          <a:prstGeom prst="roundRect">
            <a:avLst>
              <a:gd name="adj" fmla="val 35000"/>
            </a:avLst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719815" y="4035064"/>
            <a:ext cx="72420" cy="72420"/>
          </a:xfrm>
          <a:prstGeom prst="roundRect">
            <a:avLst>
              <a:gd name="adj" fmla="val 35000"/>
            </a:avLst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2960" y="3895344"/>
            <a:ext cx="1193945" cy="31089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CUSTOMER
ACCIDENT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6928" y="4242816"/>
            <a:ext cx="1504841" cy="74980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566928" y="4242816"/>
            <a:ext cx="1504841" cy="749808"/>
          </a:xfrm>
          <a:prstGeom prst="roundRect">
            <a:avLst>
              <a:gd name="adj" fmla="val 7000"/>
            </a:avLst>
          </a:prstGeom>
          <a:solidFill>
            <a:srgbClr val="FFC000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0936" y="4261104"/>
            <a:ext cx="1376825" cy="71323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Reports, then chases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apps abandoned after two to three silent visits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5010912"/>
            <a:ext cx="1504841" cy="14630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BDC76"/>
                </a:solidFill>
                <a:latin typeface="Calibri"/>
              </a:rPr>
              <a:t>FIELD RESEARCH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71769" y="3895344"/>
            <a:ext cx="91440" cy="31089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›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163209" y="3895344"/>
            <a:ext cx="1504841" cy="310896"/>
          </a:xfrm>
          <a:prstGeom prst="roundRect">
            <a:avLst>
              <a:gd name="adj" fmla="val 20000"/>
            </a:avLst>
          </a:prstGeom>
          <a:solidFill>
            <a:srgbClr val="33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2243676" y="4025188"/>
            <a:ext cx="131673" cy="92171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Oval 63"/>
          <p:cNvSpPr/>
          <p:nvPr/>
        </p:nvSpPr>
        <p:spPr>
          <a:xfrm>
            <a:off x="2270011" y="3969227"/>
            <a:ext cx="79004" cy="85587"/>
          </a:xfrm>
          <a:prstGeom prst="ellipse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419241" y="3895344"/>
            <a:ext cx="1193945" cy="31089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POLICE / FIR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163209" y="4242816"/>
            <a:ext cx="1504841" cy="74980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2163209" y="4242816"/>
            <a:ext cx="1504841" cy="749808"/>
          </a:xfrm>
          <a:prstGeom prst="roundRect">
            <a:avLst>
              <a:gd name="adj" fmla="val 7000"/>
            </a:avLst>
          </a:prstGeom>
          <a:solidFill>
            <a:srgbClr val="FFC000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227217" y="4261104"/>
            <a:ext cx="1376825" cy="71323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Where an FIR is required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documentation timing sits outside our control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63209" y="5010912"/>
            <a:ext cx="1504841" cy="14630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C000"/>
                </a:solidFill>
                <a:latin typeface="Calibri"/>
              </a:rPr>
              <a:t>FIELD OBSERVATION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68050" y="3895344"/>
            <a:ext cx="91440" cy="31089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›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759490" y="3895344"/>
            <a:ext cx="1504841" cy="310896"/>
          </a:xfrm>
          <a:prstGeom prst="roundRect">
            <a:avLst>
              <a:gd name="adj" fmla="val 20000"/>
            </a:avLst>
          </a:prstGeom>
          <a:solidFill>
            <a:srgbClr val="33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Gear 6 71"/>
          <p:cNvSpPr/>
          <p:nvPr/>
        </p:nvSpPr>
        <p:spPr>
          <a:xfrm>
            <a:off x="3826790" y="3962643"/>
            <a:ext cx="158008" cy="158008"/>
          </a:xfrm>
          <a:prstGeom prst="gear6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015522" y="3895344"/>
            <a:ext cx="1193945" cy="31089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GARAGE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759490" y="4242816"/>
            <a:ext cx="1504841" cy="74980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3759490" y="4242816"/>
            <a:ext cx="1504841" cy="749808"/>
          </a:xfrm>
          <a:prstGeom prst="roundRect">
            <a:avLst>
              <a:gd name="adj" fmla="val 7000"/>
            </a:avLst>
          </a:prstGeom>
          <a:solidFill>
            <a:srgbClr val="FFC000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823498" y="4261104"/>
            <a:ext cx="1376825" cy="71323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Estimate raised, then waits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may deprioritise claim paperwork  ·  4 days to approval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59490" y="5010912"/>
            <a:ext cx="1504841" cy="14630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C000"/>
                </a:solidFill>
                <a:latin typeface="Calibri"/>
              </a:rPr>
              <a:t>FIELD OBS. + MODEL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64331" y="3895344"/>
            <a:ext cx="91440" cy="31089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›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355771" y="3895344"/>
            <a:ext cx="1504841" cy="310896"/>
          </a:xfrm>
          <a:prstGeom prst="roundRect">
            <a:avLst>
              <a:gd name="adj" fmla="val 20000"/>
            </a:avLst>
          </a:prstGeom>
          <a:solidFill>
            <a:srgbClr val="33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Document 79"/>
          <p:cNvSpPr/>
          <p:nvPr/>
        </p:nvSpPr>
        <p:spPr>
          <a:xfrm>
            <a:off x="5442822" y="3965935"/>
            <a:ext cx="118506" cy="151424"/>
          </a:xfrm>
          <a:prstGeom prst="flowChartDocument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5465865" y="4008729"/>
            <a:ext cx="72420" cy="9875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5465865" y="4035064"/>
            <a:ext cx="72420" cy="9875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5465865" y="4061399"/>
            <a:ext cx="46085" cy="9875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11803" y="3895344"/>
            <a:ext cx="1193945" cy="31089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DOCUMENTS
+ EVIDENCE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355771" y="4242816"/>
            <a:ext cx="1504841" cy="74980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5355771" y="4242816"/>
            <a:ext cx="1504841" cy="749808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419779" y="4261104"/>
            <a:ext cx="1376825" cy="71323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Collected, verified and reconciled by hand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7 touches × 20 min = 384,030 hours a year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55771" y="5010912"/>
            <a:ext cx="1504841" cy="14630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MODEL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60612" y="3895344"/>
            <a:ext cx="91440" cy="31089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›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952052" y="3895344"/>
            <a:ext cx="1504841" cy="310896"/>
          </a:xfrm>
          <a:prstGeom prst="roundRect">
            <a:avLst>
              <a:gd name="adj" fmla="val 20000"/>
            </a:avLst>
          </a:prstGeom>
          <a:solidFill>
            <a:srgbClr val="33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7025936" y="3985686"/>
            <a:ext cx="144840" cy="111922"/>
          </a:xfrm>
          <a:prstGeom prst="roundRect">
            <a:avLst>
              <a:gd name="adj" fmla="val 18000"/>
            </a:avLst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7042395" y="4036710"/>
            <a:ext cx="111922" cy="11521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208084" y="3895344"/>
            <a:ext cx="1193945" cy="31089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SURVEY /
ASSESSMENT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952052" y="4242816"/>
            <a:ext cx="1504841" cy="74980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6952052" y="4242816"/>
            <a:ext cx="1504841" cy="749808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016060" y="4261104"/>
            <a:ext cx="1376825" cy="71323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Physical survey is the default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55% surveyed against 10% structurally required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952052" y="5010912"/>
            <a:ext cx="1504841" cy="14630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MODEL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56893" y="3895344"/>
            <a:ext cx="91440" cy="31089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›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548333" y="3895344"/>
            <a:ext cx="1504841" cy="310896"/>
          </a:xfrm>
          <a:prstGeom prst="roundRect">
            <a:avLst>
              <a:gd name="adj" fmla="val 20000"/>
            </a:avLst>
          </a:prstGeom>
          <a:solidFill>
            <a:srgbClr val="33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8615633" y="3969227"/>
            <a:ext cx="55961" cy="52669"/>
          </a:xfrm>
          <a:prstGeom prst="rect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8717680" y="3969227"/>
            <a:ext cx="55961" cy="52669"/>
          </a:xfrm>
          <a:prstGeom prst="rect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666657" y="4061399"/>
            <a:ext cx="55961" cy="52669"/>
          </a:xfrm>
          <a:prstGeom prst="rect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668302" y="3992270"/>
            <a:ext cx="49377" cy="8229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689699" y="4018605"/>
            <a:ext cx="8229" cy="46085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804365" y="3895344"/>
            <a:ext cx="1193945" cy="31089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BAJAJ CLAIMS
PROCESSING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548333" y="4242816"/>
            <a:ext cx="1504841" cy="74980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8548333" y="4242816"/>
            <a:ext cx="1504841" cy="749808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8612341" y="4261104"/>
            <a:ext cx="1376825" cy="71323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Rules catch 62% of fraud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the rest returns as rework  ·  exception capacity binds first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48333" y="5010912"/>
            <a:ext cx="1504841" cy="14630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MODEL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053174" y="3895344"/>
            <a:ext cx="91440" cy="31089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›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0144614" y="3895344"/>
            <a:ext cx="1504841" cy="310896"/>
          </a:xfrm>
          <a:prstGeom prst="roundRect">
            <a:avLst>
              <a:gd name="adj" fmla="val 2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0211914" y="3962643"/>
            <a:ext cx="158008" cy="158008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0181190" y="3927348"/>
            <a:ext cx="219456" cy="228600"/>
          </a:xfrm>
          <a:prstGeom prst="rect">
            <a:avLst/>
          </a:prstGeom>
          <a:noFill/>
        </p:spPr>
        <p:txBody>
          <a:bodyPr wrap="square" lIns="0" tIns="13716" rIns="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400646" y="3895344"/>
            <a:ext cx="1193945" cy="31089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SETTLEMENT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144614" y="4242816"/>
            <a:ext cx="1504841" cy="74980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10144614" y="4242816"/>
            <a:ext cx="1504841" cy="749808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208622" y="4261104"/>
            <a:ext cx="1376825" cy="71323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9.8 days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a mean, not a distribution — P90 needs pilot data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144614" y="5010912"/>
            <a:ext cx="1504841" cy="14630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MODEL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66928" y="5212080"/>
            <a:ext cx="11082528" cy="329184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566928" y="5212080"/>
            <a:ext cx="11082528" cy="329184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94944" y="5212080"/>
            <a:ext cx="10826496" cy="32918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EVIDENCE CLASS   </a:t>
            </a:r>
            <a:r>
              <a:rPr sz="900" b="1">
                <a:solidFill>
                  <a:srgbClr val="9DD3FF"/>
                </a:solidFill>
                <a:latin typeface="Calibri"/>
              </a:rPr>
              <a:t>MODEL</a:t>
            </a:r>
            <a:r>
              <a:rPr sz="900" b="0">
                <a:solidFill>
                  <a:srgbClr val="C2CDE0"/>
                </a:solidFill>
                <a:latin typeface="Calibri"/>
              </a:rPr>
              <a:t> = quantified in the submitted Excel     </a:t>
            </a:r>
            <a:r>
              <a:rPr sz="900" b="1">
                <a:solidFill>
                  <a:srgbClr val="9BDC76"/>
                </a:solidFill>
                <a:latin typeface="Calibri"/>
              </a:rPr>
              <a:t>FIELD RESEARCH</a:t>
            </a:r>
            <a:r>
              <a:rPr sz="900" b="0">
                <a:solidFill>
                  <a:srgbClr val="C2CDE0"/>
                </a:solidFill>
                <a:latin typeface="Calibri"/>
              </a:rPr>
              <a:t> = our own claimant and surveyor conversations     </a:t>
            </a:r>
            <a:r>
              <a:rPr sz="900" b="1">
                <a:solidFill>
                  <a:srgbClr val="FFC000"/>
                </a:solidFill>
                <a:latin typeface="Calibri"/>
              </a:rPr>
              <a:t>FIELD OBSERVATION</a:t>
            </a:r>
            <a:r>
              <a:rPr sz="900" b="0">
                <a:solidFill>
                  <a:srgbClr val="C2CDE0"/>
                </a:solidFill>
                <a:latin typeface="Calibri"/>
              </a:rPr>
              <a:t> = qualitative, not quantified — to be validated during the 90-day pilot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66928" y="5870448"/>
            <a:ext cx="11082528" cy="292608"/>
          </a:xfrm>
          <a:prstGeom prst="roundRect">
            <a:avLst>
              <a:gd name="adj" fmla="val 30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566928" y="5870448"/>
            <a:ext cx="45720" cy="29260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713232" y="5870448"/>
            <a:ext cx="10808207" cy="29260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INSIGHT   </a:t>
            </a:r>
            <a:r>
              <a:rPr sz="900" b="0">
                <a:solidFill>
                  <a:srgbClr val="E4EAF4"/>
                </a:solidFill>
                <a:latin typeface="Calibri"/>
              </a:rPr>
              <a:t>Motor OD TAT is an ecosystem problem — every external dependency and manual handoff compounds the time to settlement, which is why the answer has to be orchestration, not another point automation.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377440" y="6345936"/>
            <a:ext cx="9290304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Source   </a:t>
            </a:r>
            <a:r>
              <a:rPr sz="900" b="0">
                <a:solidFill>
                  <a:srgbClr val="C2CDE0"/>
                </a:solidFill>
                <a:latin typeface="Calibri"/>
              </a:rPr>
              <a:t>ClaimPulse Investor Dashboard R5 — Sheet 3 Workings (W-88 handling hours); Sheet 1 Assumptions (J-01, J-03, J-06, B-02, B-13); Sheet 10 breakpoint H*; Sheet 7 U-08.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ilver ball&#10;&#10;AI-generated content may be incorrect.">
            <a:extLst>
              <a:ext uri="{FF2B5EF4-FFF2-40B4-BE49-F238E27FC236}">
                <a16:creationId xmlns:a16="http://schemas.microsoft.com/office/drawing/2014/main" id="{E3E13CBA-F77B-037F-63F0-F10665D9F1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720" y="-40640"/>
            <a:ext cx="1198562" cy="11969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6AE118-C64A-022B-9DE3-62556F76630E}"/>
              </a:ext>
            </a:extLst>
          </p:cNvPr>
          <p:cNvCxnSpPr/>
          <p:nvPr/>
        </p:nvCxnSpPr>
        <p:spPr>
          <a:xfrm>
            <a:off x="10373360" y="172720"/>
            <a:ext cx="0" cy="701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F0B4ACA-771C-3226-150D-54C0B5B7B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177875"/>
              </p:ext>
            </p:extLst>
          </p:nvPr>
        </p:nvGraphicFramePr>
        <p:xfrm>
          <a:off x="436879" y="1093606"/>
          <a:ext cx="11338557" cy="5191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338557">
                  <a:extLst>
                    <a:ext uri="{9D8B030D-6E8A-4147-A177-3AD203B41FA5}">
                      <a16:colId xmlns:a16="http://schemas.microsoft.com/office/drawing/2014/main" val="3630218146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r>
                        <a:rPr lang="en-US" dirty="0"/>
                        <a:t>Analysis: Key Insights/Opportunities/Challenges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62817"/>
                  </a:ext>
                </a:extLst>
              </a:tr>
              <a:tr h="4824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131517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6928" y="164592"/>
            <a:ext cx="2083062" cy="237744"/>
          </a:xfrm>
          <a:prstGeom prst="roundRect">
            <a:avLst>
              <a:gd name="adj" fmla="val 30000"/>
            </a:avLst>
          </a:prstGeom>
          <a:solidFill>
            <a:srgbClr val="9DD3FF">
              <a:alpha val="2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64592"/>
            <a:ext cx="2083062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ANALYSIS   01 / 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4572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402336"/>
            <a:ext cx="8357616" cy="6583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TAT is not one broken step. It is seven manual touches and a physical survey on 55% of claims — 82% of which are structurally unnecessary.</a:t>
            </a:r>
          </a:p>
        </p:txBody>
      </p:sp>
      <p:sp>
        <p:nvSpPr>
          <p:cNvPr id="17" name="Isosceles Triangle 16"/>
          <p:cNvSpPr/>
          <p:nvPr/>
        </p:nvSpPr>
        <p:spPr>
          <a:xfrm>
            <a:off x="570585" y="1634032"/>
            <a:ext cx="175564" cy="160934"/>
          </a:xfrm>
          <a:prstGeom prst="triangle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2881" y="1688896"/>
            <a:ext cx="10972" cy="51206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2881" y="1751076"/>
            <a:ext cx="10972" cy="12801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1609344"/>
            <a:ext cx="6439204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ROOT CAUSE  ·  five drivers, each a costed line in the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1883664"/>
            <a:ext cx="6713524" cy="391363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6928" y="1883664"/>
            <a:ext cx="6713524" cy="391363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66928" y="1883664"/>
            <a:ext cx="310896" cy="391363"/>
          </a:xfrm>
          <a:prstGeom prst="roundRect">
            <a:avLst>
              <a:gd name="adj" fmla="val 2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1883664"/>
            <a:ext cx="310896" cy="391363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1F3A"/>
                </a:solidFill>
                <a:latin typeface="Calibri"/>
              </a:rPr>
              <a:t>1</a:t>
            </a:r>
          </a:p>
        </p:txBody>
      </p:sp>
      <p:sp>
        <p:nvSpPr>
          <p:cNvPr id="25" name="Document 24"/>
          <p:cNvSpPr/>
          <p:nvPr/>
        </p:nvSpPr>
        <p:spPr>
          <a:xfrm>
            <a:off x="1015715" y="1986808"/>
            <a:ext cx="144840" cy="185074"/>
          </a:xfrm>
          <a:prstGeom prst="flowChartDocument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43879" y="2039112"/>
            <a:ext cx="88513" cy="1207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43879" y="2071298"/>
            <a:ext cx="88513" cy="1207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43879" y="2103485"/>
            <a:ext cx="56327" cy="1207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80160" y="1901952"/>
            <a:ext cx="5890564" cy="354787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Manual, document-heavy verification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7 touches per claim × 20 minutes = 384,030 handling hours a year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2357323"/>
            <a:ext cx="6713524" cy="391363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66928" y="2357323"/>
            <a:ext cx="6713524" cy="391363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66928" y="2357323"/>
            <a:ext cx="310896" cy="391363"/>
          </a:xfrm>
          <a:prstGeom prst="roundRect">
            <a:avLst>
              <a:gd name="adj" fmla="val 2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2357323"/>
            <a:ext cx="310896" cy="391363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1F3A"/>
                </a:solidFill>
                <a:latin typeface="Calibri"/>
              </a:rPr>
              <a:t>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9622" y="2484607"/>
            <a:ext cx="177027" cy="136794"/>
          </a:xfrm>
          <a:prstGeom prst="roundRect">
            <a:avLst>
              <a:gd name="adj" fmla="val 18000"/>
            </a:avLst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19738" y="2546969"/>
            <a:ext cx="136794" cy="14081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80160" y="2375611"/>
            <a:ext cx="5890564" cy="354787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Physical inspection as the default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55% surveyed today vs 10% structurally required  ·  surveyors' top complaint is re-inspection from poor images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2830982"/>
            <a:ext cx="6713524" cy="391363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66928" y="2830982"/>
            <a:ext cx="6713524" cy="391363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66928" y="2830982"/>
            <a:ext cx="310896" cy="391363"/>
          </a:xfrm>
          <a:prstGeom prst="roundRect">
            <a:avLst>
              <a:gd name="adj" fmla="val 2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2830982"/>
            <a:ext cx="310896" cy="391363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1F3A"/>
                </a:solidFill>
                <a:latin typeface="Calibri"/>
              </a:rPr>
              <a:t>3</a:t>
            </a:r>
          </a:p>
        </p:txBody>
      </p:sp>
      <p:sp>
        <p:nvSpPr>
          <p:cNvPr id="41" name="Oval 40"/>
          <p:cNvSpPr/>
          <p:nvPr/>
        </p:nvSpPr>
        <p:spPr>
          <a:xfrm>
            <a:off x="991575" y="2930103"/>
            <a:ext cx="193121" cy="193121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47902" y="2986430"/>
            <a:ext cx="80467" cy="80467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80160" y="2849270"/>
            <a:ext cx="5890564" cy="354787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Rule-based fraud detection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62% recall — 38% of fraudulent claims pass straight through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3304641"/>
            <a:ext cx="6713524" cy="391363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66928" y="3304641"/>
            <a:ext cx="6713524" cy="391363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66928" y="3304641"/>
            <a:ext cx="310896" cy="391363"/>
          </a:xfrm>
          <a:prstGeom prst="roundRect">
            <a:avLst>
              <a:gd name="adj" fmla="val 2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66928" y="3304641"/>
            <a:ext cx="310896" cy="391363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1F3A"/>
                </a:solidFill>
                <a:latin typeface="Calibri"/>
              </a:rPr>
              <a:t>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1575" y="3435949"/>
            <a:ext cx="193121" cy="128747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60120" y="3367735"/>
            <a:ext cx="256032" cy="265176"/>
          </a:xfrm>
          <a:prstGeom prst="rect">
            <a:avLst/>
          </a:prstGeom>
          <a:noFill/>
        </p:spPr>
        <p:txBody>
          <a:bodyPr wrap="square" lIns="0" tIns="13716" rIns="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3322929"/>
            <a:ext cx="5890564" cy="354787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Leakage pool on claims value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3.15% of claims value, from the 8–10% industry benchmark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3778300"/>
            <a:ext cx="6713524" cy="391363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66928" y="3778300"/>
            <a:ext cx="6713524" cy="391363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66928" y="3778300"/>
            <a:ext cx="310896" cy="391363"/>
          </a:xfrm>
          <a:prstGeom prst="roundRect">
            <a:avLst>
              <a:gd name="adj" fmla="val 2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8" y="3778300"/>
            <a:ext cx="310896" cy="391363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1F3A"/>
                </a:solidFill>
                <a:latin typeface="Calibri"/>
              </a:rPr>
              <a:t>5</a:t>
            </a:r>
          </a:p>
        </p:txBody>
      </p:sp>
      <p:sp>
        <p:nvSpPr>
          <p:cNvPr id="55" name="Oval 54"/>
          <p:cNvSpPr/>
          <p:nvPr/>
        </p:nvSpPr>
        <p:spPr>
          <a:xfrm>
            <a:off x="1055949" y="3877421"/>
            <a:ext cx="64373" cy="64373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Oval 55"/>
          <p:cNvSpPr/>
          <p:nvPr/>
        </p:nvSpPr>
        <p:spPr>
          <a:xfrm>
            <a:off x="991575" y="3998122"/>
            <a:ext cx="64373" cy="64373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Oval 56"/>
          <p:cNvSpPr/>
          <p:nvPr/>
        </p:nvSpPr>
        <p:spPr>
          <a:xfrm>
            <a:off x="1120322" y="3998122"/>
            <a:ext cx="64373" cy="64373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047902" y="3933748"/>
            <a:ext cx="44256" cy="1005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92159" y="3933748"/>
            <a:ext cx="44256" cy="1005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082100" y="3937772"/>
            <a:ext cx="10058" cy="68397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280160" y="3796588"/>
            <a:ext cx="5890564" cy="354787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 new, wholly undefended vector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Synthetic claim media at 1.0% of value — no published incidence exists</a:t>
            </a:r>
          </a:p>
        </p:txBody>
      </p:sp>
      <p:sp>
        <p:nvSpPr>
          <p:cNvPr id="62" name="Oval 61"/>
          <p:cNvSpPr/>
          <p:nvPr/>
        </p:nvSpPr>
        <p:spPr>
          <a:xfrm>
            <a:off x="7503566" y="1685239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Oval 62"/>
          <p:cNvSpPr/>
          <p:nvPr/>
        </p:nvSpPr>
        <p:spPr>
          <a:xfrm>
            <a:off x="7624267" y="1630375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Oval 63"/>
          <p:cNvSpPr/>
          <p:nvPr/>
        </p:nvSpPr>
        <p:spPr>
          <a:xfrm>
            <a:off x="7624267" y="1740103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7558430" y="1709013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591348" y="1655978"/>
            <a:ext cx="9144" cy="113385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591348" y="1652320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591348" y="1762048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774228" y="1609344"/>
            <a:ext cx="3875227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THE ADDRESSABILITY TEST  ·  what routing has to decide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99908" y="1883664"/>
            <a:ext cx="2006193" cy="1074419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7499908" y="1883664"/>
            <a:ext cx="2006193" cy="1074419"/>
          </a:xfrm>
          <a:prstGeom prst="roundRect">
            <a:avLst>
              <a:gd name="adj" fmla="val 7000"/>
            </a:avLst>
          </a:prstGeom>
          <a:solidFill>
            <a:srgbClr val="70AD47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7499908" y="1883664"/>
            <a:ext cx="2006193" cy="219456"/>
          </a:xfrm>
          <a:prstGeom prst="roundRect">
            <a:avLst>
              <a:gd name="adj" fmla="val 22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54772" y="1883664"/>
            <a:ext cx="1896465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STRUCTURED  ·  DETERMINISTIC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82204" y="2139696"/>
            <a:ext cx="1841601" cy="763523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GREEN — auto-settle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65%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0.2 touches   ·   1.5 days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643262" y="1883664"/>
            <a:ext cx="2006193" cy="1074419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9643262" y="1883664"/>
            <a:ext cx="2006193" cy="1074419"/>
          </a:xfrm>
          <a:prstGeom prst="roundRect">
            <a:avLst>
              <a:gd name="adj" fmla="val 7000"/>
            </a:avLst>
          </a:prstGeom>
          <a:solidFill>
            <a:srgbClr val="FFC000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9643262" y="1883664"/>
            <a:ext cx="2006193" cy="219456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698126" y="1883664"/>
            <a:ext cx="1896465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STRUCTURED  ·  JUDGEMENTAL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25558" y="2139696"/>
            <a:ext cx="1841601" cy="763523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AMBER — assisted review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25%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2 touches   ·   3.5 days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499908" y="3095244"/>
            <a:ext cx="2006193" cy="1074419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7499908" y="3095244"/>
            <a:ext cx="2006193" cy="1074419"/>
          </a:xfrm>
          <a:prstGeom prst="roundRect">
            <a:avLst>
              <a:gd name="adj" fmla="val 7000"/>
            </a:avLst>
          </a:prstGeom>
          <a:solidFill>
            <a:srgbClr val="E06666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7499908" y="3095244"/>
            <a:ext cx="2006193" cy="219456"/>
          </a:xfrm>
          <a:prstGeom prst="roundRect">
            <a:avLst>
              <a:gd name="adj" fmla="val 22000"/>
            </a:avLst>
          </a:prstGeom>
          <a:solidFill>
            <a:srgbClr val="E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554772" y="3095244"/>
            <a:ext cx="1896465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AMBIGUOUS  ·  JUDGEMENTAL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82204" y="3351276"/>
            <a:ext cx="1841601" cy="763523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RED — investigate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10%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6 touches   ·   7.0 days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643262" y="3095244"/>
            <a:ext cx="2006193" cy="1074419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9643262" y="3095244"/>
            <a:ext cx="2006193" cy="1074419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9643262" y="3095244"/>
            <a:ext cx="2006193" cy="219456"/>
          </a:xfrm>
          <a:prstGeom prst="roundRect">
            <a:avLst>
              <a:gd name="adj" fmla="val 2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698126" y="3095244"/>
            <a:ext cx="1896465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INTEGRITY FAILS AT INTAKE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725558" y="3351276"/>
            <a:ext cx="1841601" cy="763523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GATE 00 — screened first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100%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EXIF · GPS · diffusion screen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66928" y="4306824"/>
            <a:ext cx="11082528" cy="1490472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566928" y="4306824"/>
            <a:ext cx="11082528" cy="1490472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Oval 91"/>
          <p:cNvSpPr/>
          <p:nvPr/>
        </p:nvSpPr>
        <p:spPr>
          <a:xfrm>
            <a:off x="720547" y="4446727"/>
            <a:ext cx="168249" cy="168249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799185" y="4483303"/>
            <a:ext cx="10972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799185" y="4527194"/>
            <a:ext cx="51206" cy="109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87552" y="4425696"/>
            <a:ext cx="484632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THE SAME CLAIM, BEFORE AND AFTER  ·  green lane, 65% of claims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973568" y="4370831"/>
            <a:ext cx="1700784" cy="237744"/>
          </a:xfrm>
          <a:prstGeom prst="roundRect">
            <a:avLst>
              <a:gd name="adj" fmla="val 30000"/>
            </a:avLst>
          </a:prstGeom>
          <a:solidFill>
            <a:srgbClr val="9DD3FF">
              <a:alpha val="2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973568" y="4370831"/>
            <a:ext cx="1700784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−82.4%  MANUAL TOUCHES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802368" y="4370831"/>
            <a:ext cx="1847088" cy="237744"/>
          </a:xfrm>
          <a:prstGeom prst="roundRect">
            <a:avLst>
              <a:gd name="adj" fmla="val 30000"/>
            </a:avLst>
          </a:prstGeom>
          <a:solidFill>
            <a:srgbClr val="9DD3FF">
              <a:alpha val="2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802368" y="4370831"/>
            <a:ext cx="1847088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−72.3%  TAT ON PLATFORM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13232" y="4736592"/>
            <a:ext cx="45720" cy="365760"/>
          </a:xfrm>
          <a:prstGeom prst="rect">
            <a:avLst/>
          </a:prstGeom>
          <a:solidFill>
            <a:srgbClr val="C2C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41247" y="4718304"/>
            <a:ext cx="1060704" cy="40233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TODAY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manual reconcile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975104" y="4736592"/>
            <a:ext cx="1193292" cy="36576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1975104" y="4736592"/>
            <a:ext cx="1193292" cy="36576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029968" y="4736592"/>
            <a:ext cx="1083564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FNOL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168396" y="4736592"/>
            <a:ext cx="82296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›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250692" y="4736592"/>
            <a:ext cx="1193292" cy="36576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3250692" y="4736592"/>
            <a:ext cx="1193292" cy="36576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305556" y="4736592"/>
            <a:ext cx="1083564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Documents collected
and verified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443984" y="4736592"/>
            <a:ext cx="82296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›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526280" y="4736592"/>
            <a:ext cx="1193292" cy="36576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4526280" y="4736592"/>
            <a:ext cx="1193292" cy="36576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581144" y="4736592"/>
            <a:ext cx="1083564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Physical survey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19572" y="4736592"/>
            <a:ext cx="82296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›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801868" y="4736592"/>
            <a:ext cx="1193292" cy="36576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5801868" y="4736592"/>
            <a:ext cx="1193292" cy="36576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856732" y="4736592"/>
            <a:ext cx="1083564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Repair estimate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4736592"/>
            <a:ext cx="82296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›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077456" y="4736592"/>
            <a:ext cx="1193292" cy="36576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7077456" y="4736592"/>
            <a:ext cx="1193292" cy="36576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132320" y="4736592"/>
            <a:ext cx="1083564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Approval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270748" y="4736592"/>
            <a:ext cx="82296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›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353044" y="4736592"/>
            <a:ext cx="1193292" cy="36576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8353044" y="4736592"/>
            <a:ext cx="1193292" cy="36576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407908" y="4736592"/>
            <a:ext cx="1083564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Settlement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9674352" y="4736592"/>
            <a:ext cx="1975104" cy="36576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9674352" y="4736592"/>
            <a:ext cx="1975104" cy="36576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710928" y="4736592"/>
            <a:ext cx="1901952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9.8 days   ·   7 touches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13232" y="5175504"/>
            <a:ext cx="45720" cy="365760"/>
          </a:xfrm>
          <a:prstGeom prst="rect">
            <a:avLst/>
          </a:prstGeom>
          <a:solidFill>
            <a:srgbClr val="9BD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841247" y="5157216"/>
            <a:ext cx="1060704" cy="40233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BDC76"/>
                </a:solidFill>
                <a:latin typeface="Calibri"/>
              </a:rPr>
              <a:t>CLAIMPULSE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gated, then routed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975104" y="5175504"/>
            <a:ext cx="1831086" cy="36576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" name="Rounded Rectangle 130"/>
          <p:cNvSpPr/>
          <p:nvPr/>
        </p:nvSpPr>
        <p:spPr>
          <a:xfrm>
            <a:off x="1975104" y="5175504"/>
            <a:ext cx="1831086" cy="365760"/>
          </a:xfrm>
          <a:prstGeom prst="roundRect">
            <a:avLst>
              <a:gd name="adj" fmla="val 7000"/>
            </a:avLst>
          </a:prstGeom>
          <a:solidFill>
            <a:srgbClr val="70AD47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2029968" y="5175504"/>
            <a:ext cx="1721357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FNOL with guided
live capture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806189" y="5175504"/>
            <a:ext cx="82296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›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888485" y="5175504"/>
            <a:ext cx="1831086" cy="36576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3888485" y="5175504"/>
            <a:ext cx="1831086" cy="365760"/>
          </a:xfrm>
          <a:prstGeom prst="roundRect">
            <a:avLst>
              <a:gd name="adj" fmla="val 7000"/>
            </a:avLst>
          </a:prstGeom>
          <a:solidFill>
            <a:srgbClr val="70AD47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3943349" y="5175504"/>
            <a:ext cx="1721357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Gate 00 screens
the evidence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719571" y="5175504"/>
            <a:ext cx="82296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›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801868" y="5175504"/>
            <a:ext cx="1831086" cy="36576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Rounded Rectangle 138"/>
          <p:cNvSpPr/>
          <p:nvPr/>
        </p:nvSpPr>
        <p:spPr>
          <a:xfrm>
            <a:off x="5801868" y="5175504"/>
            <a:ext cx="1831086" cy="365760"/>
          </a:xfrm>
          <a:prstGeom prst="roundRect">
            <a:avLst>
              <a:gd name="adj" fmla="val 7000"/>
            </a:avLst>
          </a:prstGeom>
          <a:solidFill>
            <a:srgbClr val="70AD47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5856731" y="5175504"/>
            <a:ext cx="1721357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Five engines score
in parallel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632954" y="5175504"/>
            <a:ext cx="82296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›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715250" y="5175504"/>
            <a:ext cx="1831086" cy="36576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3" name="Rounded Rectangle 142"/>
          <p:cNvSpPr/>
          <p:nvPr/>
        </p:nvSpPr>
        <p:spPr>
          <a:xfrm>
            <a:off x="7715250" y="5175504"/>
            <a:ext cx="1831086" cy="365760"/>
          </a:xfrm>
          <a:prstGeom prst="roundRect">
            <a:avLst>
              <a:gd name="adj" fmla="val 7000"/>
            </a:avLst>
          </a:prstGeom>
          <a:solidFill>
            <a:srgbClr val="70AD47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7770114" y="5175504"/>
            <a:ext cx="1721357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Trust Score
auto-settles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9674352" y="5175504"/>
            <a:ext cx="1975104" cy="36576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6" name="Rounded Rectangle 145"/>
          <p:cNvSpPr/>
          <p:nvPr/>
        </p:nvSpPr>
        <p:spPr>
          <a:xfrm>
            <a:off x="9674352" y="5175504"/>
            <a:ext cx="1975104" cy="365760"/>
          </a:xfrm>
          <a:prstGeom prst="roundRect">
            <a:avLst>
              <a:gd name="adj" fmla="val 7000"/>
            </a:avLst>
          </a:prstGeom>
          <a:solidFill>
            <a:srgbClr val="70AD47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9710928" y="5175504"/>
            <a:ext cx="1901952" cy="3657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1.5 days   ·   0.2 touches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13232" y="5596127"/>
            <a:ext cx="10789919" cy="164592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Green lane only. Amber settles in 3.5 days, red in 7.0. Blended on-platform TAT 2.71 days; blended across the whole Motor OD book at 60% rollout, 5.55 days from 9.8.</a:t>
            </a:r>
            <a:r>
              <a:rPr sz="900" b="1">
                <a:solidFill>
                  <a:srgbClr val="C2CDE0"/>
                </a:solidFill>
                <a:latin typeface="Calibri"/>
              </a:rPr>
              <a:t>   Stage map from team workflow mapping.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66928" y="5907024"/>
            <a:ext cx="11082528" cy="292608"/>
          </a:xfrm>
          <a:prstGeom prst="roundRect">
            <a:avLst>
              <a:gd name="adj" fmla="val 30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566928" y="5907024"/>
            <a:ext cx="45720" cy="29260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13232" y="5907024"/>
            <a:ext cx="10808207" cy="29260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INSIGHT   </a:t>
            </a:r>
            <a:r>
              <a:rPr sz="900" b="0">
                <a:solidFill>
                  <a:srgbClr val="E4EAF4"/>
                </a:solidFill>
                <a:latin typeface="Calibri"/>
              </a:rPr>
              <a:t>65% of Motor OD claims are structurally deterministic — the delay is not difficulty, it is that nothing today decides which claims are which.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377440" y="6345936"/>
            <a:ext cx="9290304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Source   </a:t>
            </a:r>
            <a:r>
              <a:rPr sz="900" b="0">
                <a:solidFill>
                  <a:srgbClr val="C2CDE0"/>
                </a:solidFill>
                <a:latin typeface="Calibri"/>
              </a:rPr>
              <a:t>ClaimPulse Investor Dashboard R5 — Sheet 3 Workings (Part B, W-10 to W-17); Sheet 1 Assumptions and Sources (Tables B and J).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ilver ball&#10;&#10;AI-generated content may be incorrect.">
            <a:extLst>
              <a:ext uri="{FF2B5EF4-FFF2-40B4-BE49-F238E27FC236}">
                <a16:creationId xmlns:a16="http://schemas.microsoft.com/office/drawing/2014/main" id="{E3E13CBA-F77B-037F-63F0-F10665D9F1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720" y="-40640"/>
            <a:ext cx="1198562" cy="11969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6AE118-C64A-022B-9DE3-62556F76630E}"/>
              </a:ext>
            </a:extLst>
          </p:cNvPr>
          <p:cNvCxnSpPr/>
          <p:nvPr/>
        </p:nvCxnSpPr>
        <p:spPr>
          <a:xfrm>
            <a:off x="10373360" y="172720"/>
            <a:ext cx="0" cy="701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F0B4ACA-771C-3226-150D-54C0B5B7B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177875"/>
              </p:ext>
            </p:extLst>
          </p:nvPr>
        </p:nvGraphicFramePr>
        <p:xfrm>
          <a:off x="436879" y="1093606"/>
          <a:ext cx="11338557" cy="5191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338557">
                  <a:extLst>
                    <a:ext uri="{9D8B030D-6E8A-4147-A177-3AD203B41FA5}">
                      <a16:colId xmlns:a16="http://schemas.microsoft.com/office/drawing/2014/main" val="3630218146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r>
                        <a:rPr lang="en-US" dirty="0"/>
                        <a:t>Analysis: Key Insights/Opportunities/Challenges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62817"/>
                  </a:ext>
                </a:extLst>
              </a:tr>
              <a:tr h="4824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131517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6928" y="164592"/>
            <a:ext cx="2083062" cy="237744"/>
          </a:xfrm>
          <a:prstGeom prst="roundRect">
            <a:avLst>
              <a:gd name="adj" fmla="val 30000"/>
            </a:avLst>
          </a:prstGeom>
          <a:solidFill>
            <a:srgbClr val="9DD3FF">
              <a:alpha val="2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64592"/>
            <a:ext cx="2083062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ANALYSIS   02 / 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4572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402336"/>
            <a:ext cx="8357616" cy="6583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Four trend domains converge on one conclusion: digital evidence is now abundant and cheap to fabricate, so speed is only bankable if integrity is verified first.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4243" y="1740103"/>
            <a:ext cx="168249" cy="109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5216" y="1699869"/>
            <a:ext cx="10972" cy="43891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" y="1670608"/>
            <a:ext cx="10972" cy="7315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" y="1688896"/>
            <a:ext cx="10972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4944" y="1634032"/>
            <a:ext cx="10972" cy="10972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1591056"/>
            <a:ext cx="832104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THE TREND FIELD  ·  21 trends, four domains, each with a named publisher, a date and an evidence class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1847088"/>
            <a:ext cx="2670048" cy="256032"/>
          </a:xfrm>
          <a:prstGeom prst="roundRect">
            <a:avLst>
              <a:gd name="adj" fmla="val 26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669340" y="1894636"/>
            <a:ext cx="58521" cy="58521"/>
          </a:xfrm>
          <a:prstGeom prst="ellipse">
            <a:avLst/>
          </a:prstGeom>
          <a:noFill/>
          <a:ln w="13970">
            <a:solidFill>
              <a:srgbClr val="14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768096" y="1894636"/>
            <a:ext cx="58521" cy="58521"/>
          </a:xfrm>
          <a:prstGeom prst="ellipse">
            <a:avLst/>
          </a:prstGeom>
          <a:noFill/>
          <a:ln w="13970">
            <a:solidFill>
              <a:srgbClr val="14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8368" y="1967788"/>
            <a:ext cx="80467" cy="80467"/>
          </a:xfrm>
          <a:prstGeom prst="roundRect">
            <a:avLst>
              <a:gd name="adj" fmla="val 35000"/>
            </a:avLst>
          </a:prstGeom>
          <a:noFill/>
          <a:ln w="13970">
            <a:solidFill>
              <a:srgbClr val="14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57123" y="1967788"/>
            <a:ext cx="80467" cy="80467"/>
          </a:xfrm>
          <a:prstGeom prst="roundRect">
            <a:avLst>
              <a:gd name="adj" fmla="val 35000"/>
            </a:avLst>
          </a:prstGeom>
          <a:noFill/>
          <a:ln w="13970">
            <a:solidFill>
              <a:srgbClr val="14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1847088"/>
            <a:ext cx="2286000" cy="25603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CONSUMER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2157984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66928" y="2157984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2176272"/>
            <a:ext cx="2487168" cy="6949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Claims dominate GI grievances, and the pool is growing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257,790 grievances, +20% YoY, 69% claims-related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IRDAI Annual Report 2024-25  ·  FACT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2953512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66928" y="2953512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2971800"/>
            <a:ext cx="2487168" cy="6949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Low comfort with unaided AI claim decisions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only 22% comfortable with AI filing a claim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Insurity, Feb 2026 fieldwork  ·  BENCHMARK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64992" y="1847088"/>
            <a:ext cx="2670048" cy="256032"/>
          </a:xfrm>
          <a:prstGeom prst="roundRect">
            <a:avLst>
              <a:gd name="adj" fmla="val 26000"/>
            </a:avLst>
          </a:prstGeom>
          <a:solidFill>
            <a:srgbClr val="7C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Oval 35"/>
          <p:cNvSpPr/>
          <p:nvPr/>
        </p:nvSpPr>
        <p:spPr>
          <a:xfrm>
            <a:off x="3460089" y="1887321"/>
            <a:ext cx="175564" cy="175564"/>
          </a:xfrm>
          <a:prstGeom prst="ellipse">
            <a:avLst/>
          </a:prstGeom>
          <a:noFill/>
          <a:ln w="13970">
            <a:solidFill>
              <a:srgbClr val="14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Oval 36"/>
          <p:cNvSpPr/>
          <p:nvPr/>
        </p:nvSpPr>
        <p:spPr>
          <a:xfrm>
            <a:off x="3511296" y="1938528"/>
            <a:ext cx="73152" cy="73152"/>
          </a:xfrm>
          <a:prstGeom prst="ellipse">
            <a:avLst/>
          </a:prstGeom>
          <a:solidFill>
            <a:srgbClr val="14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94176" y="1847088"/>
            <a:ext cx="2286000" cy="25603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SOCIAL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64992" y="2157984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364992" y="2157984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56432" y="2176272"/>
            <a:ext cx="2487168" cy="6949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Claims experience ranks second only to price for retention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~1 pp of retention per 5-point NPS gain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Retently / CustomerGauge  ·  BENCHMARK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64992" y="2953512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3364992" y="2953512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56432" y="2971800"/>
            <a:ext cx="2487168" cy="6949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The speed benchmark is set outside insurance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UPI and e-commerce reset the reference point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Direction only, not monetised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63056" y="1847088"/>
            <a:ext cx="2670048" cy="256032"/>
          </a:xfrm>
          <a:prstGeom prst="roundRect">
            <a:avLst>
              <a:gd name="adj" fmla="val 26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Oval 45"/>
          <p:cNvSpPr/>
          <p:nvPr/>
        </p:nvSpPr>
        <p:spPr>
          <a:xfrm>
            <a:off x="6316675" y="1887321"/>
            <a:ext cx="58521" cy="58521"/>
          </a:xfrm>
          <a:prstGeom prst="ellipse">
            <a:avLst/>
          </a:prstGeom>
          <a:noFill/>
          <a:ln w="13970">
            <a:solidFill>
              <a:srgbClr val="14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Oval 46"/>
          <p:cNvSpPr/>
          <p:nvPr/>
        </p:nvSpPr>
        <p:spPr>
          <a:xfrm>
            <a:off x="6258153" y="1997049"/>
            <a:ext cx="58521" cy="58521"/>
          </a:xfrm>
          <a:prstGeom prst="ellipse">
            <a:avLst/>
          </a:prstGeom>
          <a:noFill/>
          <a:ln w="13970">
            <a:solidFill>
              <a:srgbClr val="14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Oval 47"/>
          <p:cNvSpPr/>
          <p:nvPr/>
        </p:nvSpPr>
        <p:spPr>
          <a:xfrm>
            <a:off x="6375196" y="1997049"/>
            <a:ext cx="58521" cy="58521"/>
          </a:xfrm>
          <a:prstGeom prst="ellipse">
            <a:avLst/>
          </a:prstGeom>
          <a:noFill/>
          <a:ln w="13970">
            <a:solidFill>
              <a:srgbClr val="14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309359" y="1938528"/>
            <a:ext cx="40233" cy="9144"/>
          </a:xfrm>
          <a:prstGeom prst="rect">
            <a:avLst/>
          </a:prstGeom>
          <a:solidFill>
            <a:srgbClr val="14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349593" y="1938528"/>
            <a:ext cx="40233" cy="9144"/>
          </a:xfrm>
          <a:prstGeom prst="rect">
            <a:avLst/>
          </a:prstGeom>
          <a:solidFill>
            <a:srgbClr val="14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340449" y="1942185"/>
            <a:ext cx="9144" cy="62179"/>
          </a:xfrm>
          <a:prstGeom prst="rect">
            <a:avLst/>
          </a:prstGeom>
          <a:solidFill>
            <a:srgbClr val="14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92240" y="1847088"/>
            <a:ext cx="2286000" cy="25603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TECHNOLOGY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63056" y="2157984"/>
            <a:ext cx="2670048" cy="65836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163056" y="2157984"/>
            <a:ext cx="2670048" cy="658368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54496" y="2176272"/>
            <a:ext cx="2487168" cy="62179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Photographic evidence is cheap to fabricate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95% manipulated-image detection in 3 seconds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NVIDIA / ControlExpert  ·  BENCHMARK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63056" y="2880360"/>
            <a:ext cx="2670048" cy="65836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163056" y="2880360"/>
            <a:ext cx="2670048" cy="658368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54496" y="2898648"/>
            <a:ext cx="2487168" cy="62179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Graph methods lift fraud detection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+10 to 20 pp — below our +28 pp target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Systematic review 2025  ·  TIER 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63056" y="3602736"/>
            <a:ext cx="2670048" cy="65836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6163056" y="3602736"/>
            <a:ext cx="2670048" cy="658368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54496" y="3621024"/>
            <a:ext cx="2487168" cy="62179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Inference is priced per token, and falling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batch −50%, cached input −90%, now standard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Vendor pricing pages, 12 Aug 2026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61119" y="1847088"/>
            <a:ext cx="2670048" cy="256032"/>
          </a:xfrm>
          <a:prstGeom prst="roundRect">
            <a:avLst>
              <a:gd name="adj" fmla="val 2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059875" y="2018995"/>
            <a:ext cx="168249" cy="10972"/>
          </a:xfrm>
          <a:prstGeom prst="rect">
            <a:avLst/>
          </a:prstGeom>
          <a:solidFill>
            <a:srgbClr val="14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070847" y="1978761"/>
            <a:ext cx="10972" cy="43891"/>
          </a:xfrm>
          <a:prstGeom prst="rect">
            <a:avLst/>
          </a:prstGeom>
          <a:solidFill>
            <a:srgbClr val="14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07424" y="1949500"/>
            <a:ext cx="10972" cy="73152"/>
          </a:xfrm>
          <a:prstGeom prst="rect">
            <a:avLst/>
          </a:prstGeom>
          <a:solidFill>
            <a:srgbClr val="14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143999" y="1967788"/>
            <a:ext cx="10972" cy="54864"/>
          </a:xfrm>
          <a:prstGeom prst="rect">
            <a:avLst/>
          </a:prstGeom>
          <a:solidFill>
            <a:srgbClr val="14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180576" y="1912924"/>
            <a:ext cx="10972" cy="109728"/>
          </a:xfrm>
          <a:prstGeom prst="rect">
            <a:avLst/>
          </a:prstGeom>
          <a:solidFill>
            <a:srgbClr val="14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90303" y="1847088"/>
            <a:ext cx="2286000" cy="25603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INDUSTRY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961119" y="2157984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8961119" y="2157984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52559" y="2176272"/>
            <a:ext cx="2487168" cy="6949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Soft motor pricing, stressed underwriting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combined ratio 104.7%, GWP +11.3%, solvency 254%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Bajaj Q1 FY27, 31 Jul 2026  ·  FACT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961119" y="2953512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8961119" y="2953512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052559" y="2971800"/>
            <a:ext cx="2487168" cy="6949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Leakage concentrated in the mid-ticket band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₹8,000–10,000 Cr a year, ₹50k–₹2.5L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BCG &amp; Medi Assist, Nov 2025  ·  PROXY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74243" y="4519879"/>
            <a:ext cx="168249" cy="149961"/>
          </a:xfrm>
          <a:prstGeom prst="roundRect">
            <a:avLst>
              <a:gd name="adj" fmla="val 12000"/>
            </a:avLst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74243" y="4556455"/>
            <a:ext cx="168249" cy="9144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14476" y="4501591"/>
            <a:ext cx="10972" cy="32918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91286" y="4501591"/>
            <a:ext cx="10972" cy="32918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1247" y="4480560"/>
            <a:ext cx="557784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THREE OBLIGATIONS LAND INSIDE THE INVESTMENT WINDOW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41247" y="4828032"/>
            <a:ext cx="5989320" cy="32004"/>
          </a:xfrm>
          <a:prstGeom prst="rect">
            <a:avLst/>
          </a:prstGeom>
          <a:solidFill>
            <a:srgbClr val="FFFFFF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Oval 80"/>
          <p:cNvSpPr/>
          <p:nvPr/>
        </p:nvSpPr>
        <p:spPr>
          <a:xfrm>
            <a:off x="786384" y="4754880"/>
            <a:ext cx="182880" cy="18288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66928" y="4937760"/>
            <a:ext cx="2139696" cy="69494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1 APR 2026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IRDAI Fraud Monitoring Framework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board-governed fraud monitoring becomes compulsory</a:t>
            </a:r>
          </a:p>
        </p:txBody>
      </p:sp>
      <p:sp>
        <p:nvSpPr>
          <p:cNvPr id="83" name="Oval 82"/>
          <p:cNvSpPr/>
          <p:nvPr/>
        </p:nvSpPr>
        <p:spPr>
          <a:xfrm>
            <a:off x="2999232" y="4754880"/>
            <a:ext cx="182880" cy="18288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779776" y="4937760"/>
            <a:ext cx="2139696" cy="69494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JUN 2026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IRDAI AI Working Group constituted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governance, safeguards and an AI audit framework</a:t>
            </a:r>
          </a:p>
        </p:txBody>
      </p:sp>
      <p:sp>
        <p:nvSpPr>
          <p:cNvPr id="85" name="Oval 84"/>
          <p:cNvSpPr/>
          <p:nvPr/>
        </p:nvSpPr>
        <p:spPr>
          <a:xfrm>
            <a:off x="5212080" y="4754880"/>
            <a:ext cx="182880" cy="18288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992624" y="4937760"/>
            <a:ext cx="2139696" cy="69494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13 MAY 2027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DPDP Rules 2025 — full compliance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penalties to ₹250 Cr, with no grace period</a:t>
            </a:r>
          </a:p>
        </p:txBody>
      </p:sp>
      <p:sp>
        <p:nvSpPr>
          <p:cNvPr id="87" name="Oval 86"/>
          <p:cNvSpPr/>
          <p:nvPr/>
        </p:nvSpPr>
        <p:spPr>
          <a:xfrm>
            <a:off x="7227417" y="4497933"/>
            <a:ext cx="175564" cy="175564"/>
          </a:xfrm>
          <a:prstGeom prst="ellipse">
            <a:avLst/>
          </a:prstGeom>
          <a:noFill/>
          <a:ln w="13970">
            <a:solidFill>
              <a:srgbClr val="9BDC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196328" y="4462272"/>
            <a:ext cx="237744" cy="246888"/>
          </a:xfrm>
          <a:prstGeom prst="rect">
            <a:avLst/>
          </a:prstGeom>
          <a:noFill/>
        </p:spPr>
        <p:txBody>
          <a:bodyPr wrap="square" lIns="0" tIns="13716" rIns="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BDC76"/>
                </a:solidFill>
                <a:latin typeface="Calibri"/>
              </a:rPr>
              <a:t>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98080" y="4480560"/>
            <a:ext cx="4151375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BDC76"/>
                </a:solidFill>
                <a:latin typeface="Calibri"/>
              </a:rPr>
              <a:t>EVIDENCE DISCIPLINE  ·  every figure classified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223760" y="4736592"/>
            <a:ext cx="1371600" cy="56692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7223760" y="4736592"/>
            <a:ext cx="1371600" cy="566928"/>
          </a:xfrm>
          <a:prstGeom prst="roundRect">
            <a:avLst>
              <a:gd name="adj" fmla="val 7000"/>
            </a:avLst>
          </a:prstGeom>
          <a:solidFill>
            <a:srgbClr val="70AD47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296912" y="4736592"/>
            <a:ext cx="1225296" cy="56692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BDC76"/>
                </a:solidFill>
                <a:latin typeface="Calibri"/>
              </a:rPr>
              <a:t>18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verified clean and quotable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705088" y="4736592"/>
            <a:ext cx="1371600" cy="56692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8705088" y="4736592"/>
            <a:ext cx="1371600" cy="566928"/>
          </a:xfrm>
          <a:prstGeom prst="roundRect">
            <a:avLst>
              <a:gd name="adj" fmla="val 7000"/>
            </a:avLst>
          </a:prstGeom>
          <a:solidFill>
            <a:srgbClr val="FFC000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778240" y="4736592"/>
            <a:ext cx="1225296" cy="56692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9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carried at a stated lower tier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186416" y="4736592"/>
            <a:ext cx="1371600" cy="56692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10186416" y="4736592"/>
            <a:ext cx="1371600" cy="566928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259568" y="4736592"/>
            <a:ext cx="1225296" cy="56692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8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gaps declared, none load-bearing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223760" y="5394960"/>
            <a:ext cx="4425696" cy="36576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7223760" y="5394960"/>
            <a:ext cx="4425696" cy="365760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Isosceles Triangle 100"/>
          <p:cNvSpPr/>
          <p:nvPr/>
        </p:nvSpPr>
        <p:spPr>
          <a:xfrm>
            <a:off x="7319223" y="5480182"/>
            <a:ext cx="193121" cy="177027"/>
          </a:xfrm>
          <a:prstGeom prst="triangl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7409748" y="5540532"/>
            <a:ext cx="12070" cy="563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7409748" y="5608929"/>
            <a:ext cx="12070" cy="140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607808" y="5376672"/>
            <a:ext cx="3968496" cy="40233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No published incidence of synthetic claim media exists anywhere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E4EAF4"/>
                </a:solidFill>
                <a:latin typeface="Calibri"/>
              </a:rPr>
              <a:t>— and it is the only vector that threatens this case.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66928" y="5907024"/>
            <a:ext cx="11082528" cy="292608"/>
          </a:xfrm>
          <a:prstGeom prst="roundRect">
            <a:avLst>
              <a:gd name="adj" fmla="val 30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566928" y="5907024"/>
            <a:ext cx="45720" cy="29260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13232" y="5907024"/>
            <a:ext cx="10808207" cy="29260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INSIGHT   </a:t>
            </a:r>
            <a:r>
              <a:rPr sz="900" b="0">
                <a:solidFill>
                  <a:srgbClr val="E4EAF4"/>
                </a:solidFill>
                <a:latin typeface="Calibri"/>
              </a:rPr>
              <a:t>We built the architecture around the one threat nobody has measured — then capped our own fraud target and kept repair-network gains out of the case entirely. The trend work constrained the model rather than decorating it.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377440" y="6345936"/>
            <a:ext cx="9290304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Source   </a:t>
            </a:r>
            <a:r>
              <a:rPr sz="900" b="0">
                <a:solidFill>
                  <a:srgbClr val="C2CDE0"/>
                </a:solidFill>
                <a:latin typeface="Calibri"/>
              </a:rPr>
              <a:t>ClaimPulse Investor Dashboard R5 — Sheet 7 Trend Analysis (Part 1 trend field, Part 3 evidence gaps, Part 5 evidence classes).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ilver ball&#10;&#10;AI-generated content may be incorrect.">
            <a:extLst>
              <a:ext uri="{FF2B5EF4-FFF2-40B4-BE49-F238E27FC236}">
                <a16:creationId xmlns:a16="http://schemas.microsoft.com/office/drawing/2014/main" id="{8D6844B5-87C1-8654-913E-7E29397C9A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720" y="-40640"/>
            <a:ext cx="1198562" cy="11969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650EC-1D30-597C-1158-9B8915C7DC0E}"/>
              </a:ext>
            </a:extLst>
          </p:cNvPr>
          <p:cNvCxnSpPr/>
          <p:nvPr/>
        </p:nvCxnSpPr>
        <p:spPr>
          <a:xfrm>
            <a:off x="10373360" y="172720"/>
            <a:ext cx="0" cy="701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283025B-4C80-2949-50DA-CA5414A1E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080002"/>
              </p:ext>
            </p:extLst>
          </p:nvPr>
        </p:nvGraphicFramePr>
        <p:xfrm>
          <a:off x="436879" y="1093606"/>
          <a:ext cx="11338557" cy="5191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338557">
                  <a:extLst>
                    <a:ext uri="{9D8B030D-6E8A-4147-A177-3AD203B41FA5}">
                      <a16:colId xmlns:a16="http://schemas.microsoft.com/office/drawing/2014/main" val="3630218146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r>
                        <a:rPr lang="en-US" dirty="0"/>
                        <a:t>Solution Proposed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62817"/>
                  </a:ext>
                </a:extLst>
              </a:tr>
              <a:tr h="4824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131517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6928" y="164592"/>
            <a:ext cx="2083062" cy="237744"/>
          </a:xfrm>
          <a:prstGeom prst="roundRect">
            <a:avLst>
              <a:gd name="adj" fmla="val 30000"/>
            </a:avLst>
          </a:prstGeom>
          <a:solidFill>
            <a:srgbClr val="9DD3FF">
              <a:alpha val="2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64592"/>
            <a:ext cx="2083062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SOLUTION   01 / 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4572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402336"/>
            <a:ext cx="8357616" cy="6583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We gate the evidence before we trust it, then route by Trust Score — 65% of claims settle with no GenAI call at 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0585" y="1615744"/>
            <a:ext cx="62179" cy="58521"/>
          </a:xfrm>
          <a:prstGeom prst="rect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3971" y="1615744"/>
            <a:ext cx="62179" cy="58521"/>
          </a:xfrm>
          <a:prstGeom prst="rect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7278" y="1718157"/>
            <a:ext cx="62179" cy="58521"/>
          </a:xfrm>
          <a:prstGeom prst="rect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9107" y="1641348"/>
            <a:ext cx="54864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2881" y="1670608"/>
            <a:ext cx="9144" cy="5120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1591056"/>
            <a:ext cx="8503919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HYBRID ARCHITECTURE  ·  deterministic and specialised ML on 100% of claims  ·  selective GenAI orchestration on 35%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1865376"/>
            <a:ext cx="1051560" cy="131673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66928" y="1865376"/>
            <a:ext cx="1051560" cy="1316736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Document 24"/>
          <p:cNvSpPr/>
          <p:nvPr/>
        </p:nvSpPr>
        <p:spPr>
          <a:xfrm>
            <a:off x="1015715" y="2001438"/>
            <a:ext cx="144840" cy="185074"/>
          </a:xfrm>
          <a:prstGeom prst="flowChartDocument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43879" y="2053742"/>
            <a:ext cx="88513" cy="1207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43879" y="2085929"/>
            <a:ext cx="88513" cy="1207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43879" y="2118116"/>
            <a:ext cx="56327" cy="1207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2648" y="2231136"/>
            <a:ext cx="960120" cy="89611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ALL CLAIMS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100%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of intake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700784" y="2432304"/>
            <a:ext cx="201168" cy="182880"/>
          </a:xfrm>
          <a:prstGeom prst="rightArrow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975104" y="1865376"/>
            <a:ext cx="1920240" cy="131673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975104" y="1865376"/>
            <a:ext cx="1920240" cy="1316736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Pentagon 32"/>
          <p:cNvSpPr/>
          <p:nvPr/>
        </p:nvSpPr>
        <p:spPr>
          <a:xfrm rot="10800000">
            <a:off x="2077516" y="1942185"/>
            <a:ext cx="160934" cy="175564"/>
          </a:xfrm>
          <a:prstGeom prst="homePlate">
            <a:avLst/>
          </a:prstGeom>
          <a:noFill/>
          <a:ln w="1397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86000" y="1901952"/>
            <a:ext cx="155448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GATE 00 · ZERO-TRUST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48256" y="2139696"/>
            <a:ext cx="1792224" cy="9875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Capture Integrity Gate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Guided live capture, gallery disabled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EXIF · GPS · camera metadata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Diffusion / GAN artefact screen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Build ₹1.91 Cr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3986784" y="2432304"/>
            <a:ext cx="201168" cy="182880"/>
          </a:xfrm>
          <a:prstGeom prst="rightArrow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261104" y="1865376"/>
            <a:ext cx="1399032" cy="131673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261104" y="1865376"/>
            <a:ext cx="1399032" cy="1316736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Document 38"/>
          <p:cNvSpPr/>
          <p:nvPr/>
        </p:nvSpPr>
        <p:spPr>
          <a:xfrm>
            <a:off x="4357298" y="1926823"/>
            <a:ext cx="118506" cy="151424"/>
          </a:xfrm>
          <a:prstGeom prst="flowChartDocument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380341" y="1969617"/>
            <a:ext cx="72420" cy="9875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380341" y="1995952"/>
            <a:ext cx="72420" cy="9875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380341" y="2022287"/>
            <a:ext cx="46085" cy="9875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35424" y="1883664"/>
            <a:ext cx="1078992" cy="2011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ENGINE 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25112" y="2103120"/>
            <a:ext cx="1271016" cy="102412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Document AI + OCR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VAHAN cross-check.
OCR before any
multimodal call.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51576" y="1865376"/>
            <a:ext cx="1399032" cy="131673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751576" y="1865376"/>
            <a:ext cx="1399032" cy="1316736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834603" y="1946574"/>
            <a:ext cx="144840" cy="111922"/>
          </a:xfrm>
          <a:prstGeom prst="roundRect">
            <a:avLst>
              <a:gd name="adj" fmla="val 18000"/>
            </a:avLst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51062" y="1997598"/>
            <a:ext cx="111922" cy="11521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25896" y="1883664"/>
            <a:ext cx="1078992" cy="2011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ENGINE 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15584" y="2103120"/>
            <a:ext cx="1271016" cy="102412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CV damage assessment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360° video + depth.
Selective damage
frames only.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42048" y="1865376"/>
            <a:ext cx="1399032" cy="131673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242048" y="1865376"/>
            <a:ext cx="1399032" cy="1316736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Oval 52"/>
          <p:cNvSpPr/>
          <p:nvPr/>
        </p:nvSpPr>
        <p:spPr>
          <a:xfrm>
            <a:off x="7318491" y="1976201"/>
            <a:ext cx="49377" cy="49377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Oval 53"/>
          <p:cNvSpPr/>
          <p:nvPr/>
        </p:nvSpPr>
        <p:spPr>
          <a:xfrm>
            <a:off x="7427122" y="1926823"/>
            <a:ext cx="49377" cy="49377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Oval 54"/>
          <p:cNvSpPr/>
          <p:nvPr/>
        </p:nvSpPr>
        <p:spPr>
          <a:xfrm>
            <a:off x="7427122" y="2025578"/>
            <a:ext cx="49377" cy="49377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367869" y="1997598"/>
            <a:ext cx="32918" cy="8229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397496" y="1949866"/>
            <a:ext cx="8229" cy="102047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397496" y="1946574"/>
            <a:ext cx="32918" cy="8229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97496" y="2045329"/>
            <a:ext cx="32918" cy="8229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516368" y="1883664"/>
            <a:ext cx="1078992" cy="2011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ENGINE 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06056" y="2103120"/>
            <a:ext cx="1271016" cy="102412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Fraud + duplicate graph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Ring detection,
batch-scored in
10-minute clusters.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32520" y="1865376"/>
            <a:ext cx="1399032" cy="131673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732520" y="1865376"/>
            <a:ext cx="1399032" cy="1316736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808963" y="1949866"/>
            <a:ext cx="158008" cy="10533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778240" y="1888236"/>
            <a:ext cx="219456" cy="228600"/>
          </a:xfrm>
          <a:prstGeom prst="rect">
            <a:avLst/>
          </a:prstGeom>
          <a:noFill/>
        </p:spPr>
        <p:txBody>
          <a:bodyPr wrap="square" lIns="0" tIns="13716" rIns="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06840" y="1883664"/>
            <a:ext cx="1078992" cy="2011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ENGINE 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96528" y="2103120"/>
            <a:ext cx="1271016" cy="102412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Repair cost estimation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Parts catalogue and
live garage feeds.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222992" y="1865376"/>
            <a:ext cx="1399032" cy="131673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10222992" y="1865376"/>
            <a:ext cx="1399032" cy="1316736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Diamond 69"/>
          <p:cNvSpPr/>
          <p:nvPr/>
        </p:nvSpPr>
        <p:spPr>
          <a:xfrm>
            <a:off x="10299435" y="1930115"/>
            <a:ext cx="158008" cy="39502"/>
          </a:xfrm>
          <a:prstGeom prst="diamond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0302727" y="1992660"/>
            <a:ext cx="151424" cy="9875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302727" y="2028870"/>
            <a:ext cx="151424" cy="9875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497312" y="1883664"/>
            <a:ext cx="1078992" cy="2011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ENGINE 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87000" y="2103120"/>
            <a:ext cx="1271016" cy="102412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Policy validation RAG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Wording parsed once
offline. Zero per-claim
LLM at run time.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61104" y="3218688"/>
            <a:ext cx="3931920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Conventional and specialised-ML processing  ·  100% of claims  ·  zero GenAI tokens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93024" y="3218688"/>
            <a:ext cx="3456432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Our primary research:</a:t>
            </a:r>
            <a:r>
              <a:rPr sz="900" b="0">
                <a:solidFill>
                  <a:srgbClr val="C2CDE0"/>
                </a:solidFill>
                <a:latin typeface="Calibri"/>
              </a:rPr>
              <a:t> gallery uploads silently break metadata forensics — so capture is live-only.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66928" y="3493008"/>
            <a:ext cx="2377440" cy="113385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566928" y="3493008"/>
            <a:ext cx="2377440" cy="1133856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Gear 6 78"/>
          <p:cNvSpPr/>
          <p:nvPr/>
        </p:nvSpPr>
        <p:spPr>
          <a:xfrm>
            <a:off x="680313" y="3569817"/>
            <a:ext cx="175564" cy="175564"/>
          </a:xfrm>
          <a:prstGeom prst="gear6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14400" y="3529584"/>
            <a:ext cx="192024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ORCHESTRATION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" y="3767328"/>
            <a:ext cx="2212848" cy="82296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Trust Score Fusion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Fuses five signals into one routing decision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₹1.88 Cr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3054096" y="3968496"/>
            <a:ext cx="201168" cy="182880"/>
          </a:xfrm>
          <a:prstGeom prst="rightArrow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3456432" y="3493008"/>
            <a:ext cx="2633472" cy="113385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3456432" y="3493008"/>
            <a:ext cx="2633472" cy="1133856"/>
          </a:xfrm>
          <a:prstGeom prst="roundRect">
            <a:avLst>
              <a:gd name="adj" fmla="val 7000"/>
            </a:avLst>
          </a:prstGeom>
          <a:solidFill>
            <a:srgbClr val="70AD47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3456432" y="3493008"/>
            <a:ext cx="2633472" cy="219456"/>
          </a:xfrm>
          <a:prstGeom prst="roundRect">
            <a:avLst>
              <a:gd name="adj" fmla="val 22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529584" y="3493008"/>
            <a:ext cx="2487168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GREEN LANE — AUTO-SETTLE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47872" y="3730752"/>
            <a:ext cx="2450592" cy="87782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65%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0.2 touches   ·   1.5 days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NO GenAI CALL  ·  ₹0 in tokens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08775" y="3493008"/>
            <a:ext cx="2633472" cy="113385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6208775" y="3493008"/>
            <a:ext cx="2633472" cy="1133856"/>
          </a:xfrm>
          <a:prstGeom prst="roundRect">
            <a:avLst>
              <a:gd name="adj" fmla="val 7000"/>
            </a:avLst>
          </a:prstGeom>
          <a:solidFill>
            <a:srgbClr val="FFC000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6208775" y="3493008"/>
            <a:ext cx="2633472" cy="219456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81927" y="3493008"/>
            <a:ext cx="2487168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AMBER LANE — ASSIST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0215" y="3730752"/>
            <a:ext cx="2450592" cy="87782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25%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2 touches   ·   3.5 days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Targeted GenAI on a pre-built dossier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961119" y="3493008"/>
            <a:ext cx="2633472" cy="113385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8961119" y="3493008"/>
            <a:ext cx="2633472" cy="1133856"/>
          </a:xfrm>
          <a:prstGeom prst="roundRect">
            <a:avLst>
              <a:gd name="adj" fmla="val 7000"/>
            </a:avLst>
          </a:prstGeom>
          <a:solidFill>
            <a:srgbClr val="E06666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8961119" y="3493008"/>
            <a:ext cx="2633472" cy="219456"/>
          </a:xfrm>
          <a:prstGeom prst="roundRect">
            <a:avLst>
              <a:gd name="adj" fmla="val 22000"/>
            </a:avLst>
          </a:prstGeom>
          <a:solidFill>
            <a:srgbClr val="E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034272" y="3493008"/>
            <a:ext cx="2487168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RED LANE — INVESTIGATE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52559" y="3730752"/>
            <a:ext cx="2450592" cy="87782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10%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6 touches   ·   7.0 days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Deep forensics + SIU custody pack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66928" y="4681728"/>
            <a:ext cx="11082528" cy="1170432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566928" y="4681728"/>
            <a:ext cx="11082528" cy="1170432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Oval 99"/>
          <p:cNvSpPr/>
          <p:nvPr/>
        </p:nvSpPr>
        <p:spPr>
          <a:xfrm>
            <a:off x="716889" y="4812487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837590" y="4757623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837590" y="4867351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771753" y="4836261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04672" y="4783226"/>
            <a:ext cx="9144" cy="113385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04672" y="4779568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804672" y="4889296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87552" y="4736592"/>
            <a:ext cx="667512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THE ESCALATION CASCADE  ·  GenAI runs only when the deterministic engines cannot resolve the claim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052560" y="4690872"/>
            <a:ext cx="2596896" cy="237744"/>
          </a:xfrm>
          <a:prstGeom prst="roundRect">
            <a:avLst>
              <a:gd name="adj" fmla="val 30000"/>
            </a:avLst>
          </a:prstGeom>
          <a:solidFill>
            <a:srgbClr val="9DD3FF">
              <a:alpha val="2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052560" y="4690872"/>
            <a:ext cx="2596896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dirty="0">
                <a:solidFill>
                  <a:srgbClr val="9DD3FF"/>
                </a:solidFill>
                <a:latin typeface="Calibri"/>
              </a:rPr>
              <a:t>▶  LIVE DEMO OF THIS PIPELINE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13232" y="4974336"/>
            <a:ext cx="2615184" cy="49377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713232" y="4974336"/>
            <a:ext cx="2615184" cy="493776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04672" y="4974336"/>
            <a:ext cx="2432303" cy="49377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STEP 1  ·  100% OF CLAIMS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Deterministic checks — OCR, VAHAN, rules, EXIF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₹0 in GenAI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438144" y="4974336"/>
            <a:ext cx="2615184" cy="49377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3438144" y="4974336"/>
            <a:ext cx="2615184" cy="493776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3529584" y="4974336"/>
            <a:ext cx="2432303" cy="49377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STEP 2  ·  100% OF CLAIMS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Specialised ML scores it — fraud graph, CV depth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self-hosted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163056" y="4974336"/>
            <a:ext cx="2615184" cy="49377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6163056" y="4974336"/>
            <a:ext cx="2615184" cy="493776"/>
          </a:xfrm>
          <a:prstGeom prst="roundRect">
            <a:avLst>
              <a:gd name="adj" fmla="val 7000"/>
            </a:avLst>
          </a:prstGeom>
          <a:solidFill>
            <a:srgbClr val="70AD47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254496" y="4974336"/>
            <a:ext cx="2432303" cy="49377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RESOLVED?  ·  65%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Signals agree → auto-settle, no model call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₹0 in GenAI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887967" y="4974336"/>
            <a:ext cx="2615184" cy="49377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8887967" y="4974336"/>
            <a:ext cx="2615184" cy="493776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979407" y="4974336"/>
            <a:ext cx="2432303" cy="49377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FFFFFF"/>
                </a:solidFill>
                <a:latin typeface="Calibri"/>
              </a:rPr>
              <a:t>NOT RESOLVED?  ·  35%</a:t>
            </a:r>
          </a:p>
          <a:p>
            <a:pPr algn="l">
              <a:spcAft>
                <a:spcPts val="0"/>
              </a:spcAft>
            </a:pPr>
            <a:r>
              <a:rPr sz="900" b="0" dirty="0" err="1">
                <a:solidFill>
                  <a:srgbClr val="C2CDE0"/>
                </a:solidFill>
                <a:latin typeface="Calibri"/>
              </a:rPr>
              <a:t>GenAI</a:t>
            </a:r>
            <a:r>
              <a:rPr sz="900" b="0" dirty="0">
                <a:solidFill>
                  <a:srgbClr val="C2CDE0"/>
                </a:solidFill>
                <a:latin typeface="Calibri"/>
              </a:rPr>
              <a:t> reasons over the file → a human decides</a:t>
            </a:r>
          </a:p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FFFFFF"/>
                </a:solidFill>
                <a:latin typeface="Calibri"/>
              </a:rPr>
              <a:t>tokens spent only here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13232" y="5522976"/>
            <a:ext cx="10789919" cy="27432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713232" y="5522976"/>
            <a:ext cx="10789919" cy="274320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713232" y="5522976"/>
            <a:ext cx="45720" cy="274320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844905" y="5572353"/>
            <a:ext cx="175564" cy="175564"/>
          </a:xfrm>
          <a:prstGeom prst="ellipse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13815" y="5536692"/>
            <a:ext cx="237744" cy="246888"/>
          </a:xfrm>
          <a:prstGeom prst="rect">
            <a:avLst/>
          </a:prstGeom>
          <a:noFill/>
        </p:spPr>
        <p:txBody>
          <a:bodyPr wrap="square" lIns="0" tIns="13716" rIns="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✓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7280" y="5522976"/>
            <a:ext cx="10369296" cy="27432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RESULT</a:t>
            </a:r>
            <a:r>
              <a:rPr sz="900" b="1">
                <a:solidFill>
                  <a:srgbClr val="FFFFFF"/>
                </a:solidFill>
                <a:latin typeface="Calibri"/>
              </a:rPr>
              <a:t>      1.23 blended manual touches, from 7.0</a:t>
            </a:r>
            <a:r>
              <a:rPr sz="900" b="0">
                <a:solidFill>
                  <a:srgbClr val="C2CDE0"/>
                </a:solidFill>
                <a:latin typeface="Calibri"/>
              </a:rPr>
              <a:t>      ·      </a:t>
            </a:r>
            <a:r>
              <a:rPr sz="900" b="1">
                <a:solidFill>
                  <a:srgbClr val="FFFFFF"/>
                </a:solidFill>
                <a:latin typeface="Calibri"/>
              </a:rPr>
              <a:t>2.71-day TAT on platform, from 9.8</a:t>
            </a:r>
            <a:r>
              <a:rPr sz="900" b="0">
                <a:solidFill>
                  <a:srgbClr val="C2CDE0"/>
                </a:solidFill>
                <a:latin typeface="Calibri"/>
              </a:rPr>
              <a:t>      ·      </a:t>
            </a:r>
            <a:r>
              <a:rPr sz="900" b="1">
                <a:solidFill>
                  <a:srgbClr val="FFFFFF"/>
                </a:solidFill>
                <a:latin typeface="Calibri"/>
              </a:rPr>
              <a:t>5.55-day blended TAT across the whole Motor OD book at 60% rollout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66928" y="5907024"/>
            <a:ext cx="11082528" cy="292608"/>
          </a:xfrm>
          <a:prstGeom prst="roundRect">
            <a:avLst>
              <a:gd name="adj" fmla="val 30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566928" y="5907024"/>
            <a:ext cx="45720" cy="29260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13232" y="5907024"/>
            <a:ext cx="10808207" cy="29260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INSIGHT   </a:t>
            </a:r>
            <a:r>
              <a:rPr sz="900" b="0">
                <a:solidFill>
                  <a:srgbClr val="E4EAF4"/>
                </a:solidFill>
                <a:latin typeface="Calibri"/>
              </a:rPr>
              <a:t>The cheapest inference is the one never run — 65% of claims clear on rules and integrity checks without a single model call.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377440" y="6345936"/>
            <a:ext cx="9290304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Source   </a:t>
            </a:r>
            <a:r>
              <a:rPr sz="900" b="0">
                <a:solidFill>
                  <a:srgbClr val="C2CDE0"/>
                </a:solidFill>
                <a:latin typeface="Calibri"/>
              </a:rPr>
              <a:t>ClaimPulse Investor Dashboard R5 — Sheet 3 Workings (Parts B and D); Sheet 1 Assumptions and Sources (Tables B and 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ilver ball&#10;&#10;AI-generated content may be incorrect.">
            <a:extLst>
              <a:ext uri="{FF2B5EF4-FFF2-40B4-BE49-F238E27FC236}">
                <a16:creationId xmlns:a16="http://schemas.microsoft.com/office/drawing/2014/main" id="{8D6844B5-87C1-8654-913E-7E29397C9A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720" y="-40640"/>
            <a:ext cx="1198562" cy="11969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650EC-1D30-597C-1158-9B8915C7DC0E}"/>
              </a:ext>
            </a:extLst>
          </p:cNvPr>
          <p:cNvCxnSpPr/>
          <p:nvPr/>
        </p:nvCxnSpPr>
        <p:spPr>
          <a:xfrm>
            <a:off x="10373360" y="172720"/>
            <a:ext cx="0" cy="701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283025B-4C80-2949-50DA-CA5414A1E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080002"/>
              </p:ext>
            </p:extLst>
          </p:nvPr>
        </p:nvGraphicFramePr>
        <p:xfrm>
          <a:off x="436879" y="1093606"/>
          <a:ext cx="11338557" cy="5191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338557">
                  <a:extLst>
                    <a:ext uri="{9D8B030D-6E8A-4147-A177-3AD203B41FA5}">
                      <a16:colId xmlns:a16="http://schemas.microsoft.com/office/drawing/2014/main" val="3630218146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r>
                        <a:rPr lang="en-US" dirty="0"/>
                        <a:t>Solution Proposed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62817"/>
                  </a:ext>
                </a:extLst>
              </a:tr>
              <a:tr h="4824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131517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6928" y="164592"/>
            <a:ext cx="2083062" cy="237744"/>
          </a:xfrm>
          <a:prstGeom prst="roundRect">
            <a:avLst>
              <a:gd name="adj" fmla="val 30000"/>
            </a:avLst>
          </a:prstGeom>
          <a:solidFill>
            <a:srgbClr val="9DD3FF">
              <a:alpha val="2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64592"/>
            <a:ext cx="2083062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SOLUTION   02 / 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4572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402336"/>
            <a:ext cx="8357616" cy="6583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GenAI runs only where the deterministic engines cannot resolve the claim — and because inference cost cannot break this case at any plausible volume, we can put it there without cost risk.</a:t>
            </a:r>
          </a:p>
        </p:txBody>
      </p:sp>
      <p:sp>
        <p:nvSpPr>
          <p:cNvPr id="17" name="Oval 16"/>
          <p:cNvSpPr/>
          <p:nvPr/>
        </p:nvSpPr>
        <p:spPr>
          <a:xfrm>
            <a:off x="577900" y="1604772"/>
            <a:ext cx="160934" cy="62179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577900" y="1666951"/>
            <a:ext cx="160934" cy="62179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7900" y="1634032"/>
            <a:ext cx="9144" cy="6583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9691" y="1634032"/>
            <a:ext cx="9144" cy="6583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1572768"/>
            <a:ext cx="9418319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TOKEN ECONOMICS AND WORKLOAD ROUTING  ·  every rate taken from the vendor's own published pricing page, retrieved 12 Aug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6188" y="1890064"/>
            <a:ext cx="124358" cy="124358"/>
          </a:xfrm>
          <a:prstGeom prst="rect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7395" y="1864461"/>
            <a:ext cx="10972" cy="25603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7395" y="2014423"/>
            <a:ext cx="10972" cy="25603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0585" y="1941271"/>
            <a:ext cx="25603" cy="109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0547" y="1941271"/>
            <a:ext cx="25603" cy="109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7" y="1847088"/>
            <a:ext cx="283464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GPU-HOUR ALLOCATION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121408"/>
            <a:ext cx="777240" cy="274320"/>
          </a:xfrm>
          <a:prstGeom prst="rect">
            <a:avLst/>
          </a:prstGeom>
          <a:solidFill>
            <a:srgbClr val="C2C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2121408"/>
            <a:ext cx="777240" cy="27432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25%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44168" y="2121408"/>
            <a:ext cx="932688" cy="27432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44168" y="2121408"/>
            <a:ext cx="932688" cy="27432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30%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76856" y="2121408"/>
            <a:ext cx="1399032" cy="2743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76856" y="2121408"/>
            <a:ext cx="1399032" cy="27432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45%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2487168"/>
            <a:ext cx="3108960" cy="56692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66928" y="2487168"/>
            <a:ext cx="3108960" cy="566928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66928" y="2487168"/>
            <a:ext cx="64008" cy="566928"/>
          </a:xfrm>
          <a:prstGeom prst="rect">
            <a:avLst/>
          </a:prstGeom>
          <a:solidFill>
            <a:srgbClr val="C2C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2496312"/>
            <a:ext cx="2889504" cy="54864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25%   BASELINE CONVENTIONAL ML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Bajaj runs rule-based fraud at 62% today. Needed either way — netted out.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3108960"/>
            <a:ext cx="3108960" cy="56692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66928" y="3108960"/>
            <a:ext cx="3108960" cy="566928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66928" y="3108960"/>
            <a:ext cx="64008" cy="56692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" y="3118104"/>
            <a:ext cx="2889504" cy="54864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30%   THE MOAT — SELF-HOSTED REGARDLESS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Synthetic-media classifier trained on our own claim media. No API sells it.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3730752"/>
            <a:ext cx="3108960" cy="56692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66928" y="3730752"/>
            <a:ext cx="3108960" cy="566928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66928" y="3730752"/>
            <a:ext cx="64008" cy="56692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" y="3739896"/>
            <a:ext cx="2889504" cy="54864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45%   IN SCOPE FOR BUILD vs BUY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Document extraction, policy reasoning, explanation drafting.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334256"/>
            <a:ext cx="3108960" cy="1444752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66928" y="4334256"/>
            <a:ext cx="3108960" cy="1444752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Oval 47"/>
          <p:cNvSpPr/>
          <p:nvPr/>
        </p:nvSpPr>
        <p:spPr>
          <a:xfrm>
            <a:off x="738835" y="4401921"/>
            <a:ext cx="58521" cy="58521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680313" y="4511649"/>
            <a:ext cx="58521" cy="58521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Oval 49"/>
          <p:cNvSpPr/>
          <p:nvPr/>
        </p:nvSpPr>
        <p:spPr>
          <a:xfrm>
            <a:off x="797356" y="4511649"/>
            <a:ext cx="58521" cy="58521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31520" y="4453127"/>
            <a:ext cx="40233" cy="9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71753" y="4453127"/>
            <a:ext cx="40233" cy="9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62609" y="4456785"/>
            <a:ext cx="9144" cy="621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2688" y="4361688"/>
            <a:ext cx="26517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WHY GenAI AT ALL — AND ONLY HERE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" y="4590288"/>
            <a:ext cx="2889504" cy="115214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Deterministic engines run first on every claim. When the five signals agree, it settles with no model call.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When they are inconclusive — not contradictory — no rule resolves it. That is the amber 25%: matching a damage description to a policy clause, and drafting the explanation IRDAI requires.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A hallucination cannot mis-settle a claim. The auto-settle lane never calls a model.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50208" y="1847088"/>
            <a:ext cx="384048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TOKENS PER CLAIM  ·  bounded, not point-estimated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950208" y="2121408"/>
            <a:ext cx="3840480" cy="131673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3950208" y="2121408"/>
            <a:ext cx="3840480" cy="1316736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023360" y="2157984"/>
            <a:ext cx="1572768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577840" y="2157984"/>
            <a:ext cx="713232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LOW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59" y="2157984"/>
            <a:ext cx="713232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CENTRAL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0879" y="2157984"/>
            <a:ext cx="713232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HIGH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23360" y="2450591"/>
            <a:ext cx="3694176" cy="10972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023360" y="2478024"/>
            <a:ext cx="1572768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E4EAF4"/>
                </a:solidFill>
                <a:latin typeface="Calibri"/>
              </a:rPr>
              <a:t>Input tokens per claim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77840" y="2478024"/>
            <a:ext cx="713232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4,962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9359" y="2478024"/>
            <a:ext cx="713232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25,084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40879" y="2478024"/>
            <a:ext cx="713232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88,720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23360" y="2798063"/>
            <a:ext cx="1572768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E4EAF4"/>
                </a:solidFill>
                <a:latin typeface="Calibri"/>
              </a:rPr>
              <a:t>Mid-tier cost per claim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77840" y="2798063"/>
            <a:ext cx="713232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₹1.16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59" y="2798063"/>
            <a:ext cx="713232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₹5.56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40879" y="2798063"/>
            <a:ext cx="713232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₹19.41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23360" y="3118103"/>
            <a:ext cx="1572768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E4EAF4"/>
                </a:solidFill>
                <a:latin typeface="Calibri"/>
              </a:rPr>
              <a:t>Economy tier + batch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77840" y="3118103"/>
            <a:ext cx="713232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₹0.16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9359" y="3118103"/>
            <a:ext cx="713232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₹0.76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79" y="3118103"/>
            <a:ext cx="713232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₹2.67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950208" y="3529584"/>
            <a:ext cx="3840480" cy="74980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3950208" y="3529584"/>
            <a:ext cx="3840480" cy="749808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Oval 77"/>
          <p:cNvSpPr/>
          <p:nvPr/>
        </p:nvSpPr>
        <p:spPr>
          <a:xfrm>
            <a:off x="4045305" y="3606393"/>
            <a:ext cx="175564" cy="175564"/>
          </a:xfrm>
          <a:prstGeom prst="ellipse">
            <a:avLst/>
          </a:prstGeom>
          <a:noFill/>
          <a:ln w="1397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014215" y="3570732"/>
            <a:ext cx="237744" cy="246888"/>
          </a:xfrm>
          <a:prstGeom prst="rect">
            <a:avLst/>
          </a:prstGeom>
          <a:noFill/>
        </p:spPr>
        <p:txBody>
          <a:bodyPr wrap="square" lIns="0" tIns="13716" rIns="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ED7D31"/>
                </a:solidFill>
                <a:latin typeface="Calibri"/>
              </a:rPr>
              <a:t>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79392" y="3557016"/>
            <a:ext cx="3438144" cy="6949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PAYBACK MOVES 0.02 MONTHS ACROSS THE FULL 18× RANGE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LOW to HIGH is an eighteen-fold swing in tokens per claim.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So we place GenAI where reasoning is required, not where volume is — the bill cannot surprise us.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50208" y="4425696"/>
            <a:ext cx="384048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BREAKEVEN  ·  how large would inference have to become?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950208" y="4681728"/>
            <a:ext cx="3840480" cy="82296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3950208" y="4681728"/>
            <a:ext cx="3840480" cy="82296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023360" y="4718304"/>
            <a:ext cx="1828800" cy="74980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A ClaimPulse claim carries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5B9BD5"/>
                </a:solidFill>
                <a:latin typeface="Calibri"/>
              </a:rPr>
              <a:t>40 seconds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of video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5870448" y="5001768"/>
            <a:ext cx="201168" cy="182880"/>
          </a:xfrm>
          <a:prstGeom prst="rightArrow">
            <a:avLst/>
          </a:prstGeom>
          <a:solidFill>
            <a:srgbClr val="C2C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126480" y="4718304"/>
            <a:ext cx="1609344" cy="74980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It would need 150,000 tokens —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10 minutes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to reach 1% of net annual benefit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50208" y="5559552"/>
            <a:ext cx="3840480" cy="164592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Batch (−50%) and cached-input (−90%) discounts withheld from the buy case.</a:t>
            </a:r>
          </a:p>
        </p:txBody>
      </p:sp>
      <p:sp>
        <p:nvSpPr>
          <p:cNvPr id="88" name="Oval 87"/>
          <p:cNvSpPr/>
          <p:nvPr/>
        </p:nvSpPr>
        <p:spPr>
          <a:xfrm>
            <a:off x="7885785" y="1922983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Oval 88"/>
          <p:cNvSpPr/>
          <p:nvPr/>
        </p:nvSpPr>
        <p:spPr>
          <a:xfrm>
            <a:off x="8006486" y="1868119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Oval 89"/>
          <p:cNvSpPr/>
          <p:nvPr/>
        </p:nvSpPr>
        <p:spPr>
          <a:xfrm>
            <a:off x="8006486" y="1977847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7940649" y="1946757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7973567" y="1893722"/>
            <a:ext cx="9144" cy="113385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7973567" y="1890064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7973567" y="1999792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156448" y="1847088"/>
            <a:ext cx="3493007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GenAI BUILD vs BUY  ·  on the in-scope 45% only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882127" y="2121408"/>
            <a:ext cx="1810512" cy="84124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7882127" y="2121408"/>
            <a:ext cx="1810512" cy="841248"/>
          </a:xfrm>
          <a:prstGeom prst="roundRect">
            <a:avLst>
              <a:gd name="adj" fmla="val 7000"/>
            </a:avLst>
          </a:prstGeom>
          <a:solidFill>
            <a:srgbClr val="70AD47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955279" y="2148840"/>
            <a:ext cx="1664208" cy="78638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BDC76"/>
                </a:solidFill>
                <a:latin typeface="Calibri"/>
              </a:rPr>
              <a:t>BUY  ·  5-YEAR NPV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9BDC76"/>
                </a:solidFill>
                <a:latin typeface="Calibri"/>
              </a:rPr>
              <a:t>₹0.24 Cr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blended mid-tier API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838944" y="2121408"/>
            <a:ext cx="1810512" cy="84124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9838944" y="2121408"/>
            <a:ext cx="1810512" cy="841248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912096" y="2148840"/>
            <a:ext cx="1664208" cy="78638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BUILD  ·  5-YEAR NPV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₹2.94 Cr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self-host, compute only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882127" y="3054096"/>
            <a:ext cx="3767328" cy="38404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7882127" y="3054096"/>
            <a:ext cx="3767328" cy="384048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991856" y="3054096"/>
            <a:ext cx="3566160" cy="38404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NPV advantage to buying</a:t>
            </a:r>
            <a:r>
              <a:rPr sz="1000" b="1">
                <a:solidFill>
                  <a:srgbClr val="FFFFFF"/>
                </a:solidFill>
                <a:latin typeface="Calibri"/>
              </a:rPr>
              <a:t>      ₹2.70 Cr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82127" y="3584448"/>
            <a:ext cx="3767328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THE DECISION TURNS ON GPU-SECONDS, NOT VOLUME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882127" y="3840480"/>
            <a:ext cx="3767328" cy="73152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7882127" y="3840480"/>
            <a:ext cx="3767328" cy="73152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991856" y="4151376"/>
            <a:ext cx="3547872" cy="182880"/>
          </a:xfrm>
          <a:prstGeom prst="roundRect">
            <a:avLst>
              <a:gd name="adj" fmla="val 40000"/>
            </a:avLst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991856" y="4151376"/>
            <a:ext cx="420624" cy="182880"/>
          </a:xfrm>
          <a:prstGeom prst="roundRect">
            <a:avLst>
              <a:gd name="adj" fmla="val 40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991856" y="3877056"/>
            <a:ext cx="1645920" cy="25603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BDC76"/>
                </a:solidFill>
                <a:latin typeface="Calibri"/>
              </a:rPr>
              <a:t>77 s  breakeven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930384" y="3877056"/>
            <a:ext cx="1609344" cy="25603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648 s assumed today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91856" y="4352544"/>
            <a:ext cx="3547872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8.4× over breakeven — self-hosting loses on compute alone.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882127" y="4590288"/>
            <a:ext cx="3767328" cy="530352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7882127" y="4590288"/>
            <a:ext cx="3767328" cy="530352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7980517" y="4660331"/>
            <a:ext cx="159837" cy="142463"/>
          </a:xfrm>
          <a:prstGeom prst="roundRect">
            <a:avLst>
              <a:gd name="adj" fmla="val 12000"/>
            </a:avLst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7980517" y="4695078"/>
            <a:ext cx="159837" cy="8686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8018739" y="4642957"/>
            <a:ext cx="10424" cy="31272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8091708" y="4642957"/>
            <a:ext cx="10424" cy="31272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8193024" y="4599432"/>
            <a:ext cx="3383280" cy="51206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PRICE-CURRENCY TEST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On the rate card effective 1 Sep 2026, build costs 7.1× buy — the verdict is unchanged.</a:t>
            </a:r>
          </a:p>
        </p:txBody>
      </p:sp>
      <p:sp>
        <p:nvSpPr>
          <p:cNvPr id="120" name="Diamond 119"/>
          <p:cNvSpPr/>
          <p:nvPr/>
        </p:nvSpPr>
        <p:spPr>
          <a:xfrm>
            <a:off x="7885785" y="5218480"/>
            <a:ext cx="175564" cy="43891"/>
          </a:xfrm>
          <a:prstGeom prst="diamond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7889443" y="5287975"/>
            <a:ext cx="168249" cy="109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7889443" y="5328208"/>
            <a:ext cx="168249" cy="109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156448" y="5193792"/>
            <a:ext cx="3493007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AT SCALE  ·  46.5% of run cost does not scale at all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882127" y="5394960"/>
            <a:ext cx="1194816" cy="29260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7882127" y="5394960"/>
            <a:ext cx="1194816" cy="292608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936992" y="5394960"/>
            <a:ext cx="1085087" cy="29260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1× VOLUME</a:t>
            </a:r>
            <a:r>
              <a:rPr sz="900" b="1">
                <a:solidFill>
                  <a:srgbClr val="9DD3FF"/>
                </a:solidFill>
                <a:latin typeface="Calibri"/>
              </a:rPr>
              <a:t>   ₹237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9168383" y="5394960"/>
            <a:ext cx="1194816" cy="29260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9168383" y="5394960"/>
            <a:ext cx="1194816" cy="292608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9223248" y="5394960"/>
            <a:ext cx="1085087" cy="29260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2× VOLUME</a:t>
            </a:r>
            <a:r>
              <a:rPr sz="900" b="1">
                <a:solidFill>
                  <a:srgbClr val="9DD3FF"/>
                </a:solidFill>
                <a:latin typeface="Calibri"/>
              </a:rPr>
              <a:t>   ₹182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0454640" y="5394960"/>
            <a:ext cx="1194816" cy="29260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" name="Rounded Rectangle 130"/>
          <p:cNvSpPr/>
          <p:nvPr/>
        </p:nvSpPr>
        <p:spPr>
          <a:xfrm>
            <a:off x="10454640" y="5394960"/>
            <a:ext cx="1194816" cy="292608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0509504" y="5394960"/>
            <a:ext cx="1085087" cy="29260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3× VOLUME   ₹164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882127" y="5687568"/>
            <a:ext cx="3767328" cy="13716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Sheet 3 Part E structure — only GPU and storage scale.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66928" y="5907024"/>
            <a:ext cx="11082528" cy="292608"/>
          </a:xfrm>
          <a:prstGeom prst="roundRect">
            <a:avLst>
              <a:gd name="adj" fmla="val 30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566928" y="5907024"/>
            <a:ext cx="45720" cy="29260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13232" y="5907024"/>
            <a:ext cx="10808207" cy="29260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INSIGHT   </a:t>
            </a:r>
            <a:r>
              <a:rPr sz="900" b="0">
                <a:solidFill>
                  <a:srgbClr val="E4EAF4"/>
                </a:solidFill>
                <a:latin typeface="Calibri"/>
              </a:rPr>
              <a:t>Buy the commodity, build the moat — GenAI is deployed where ambiguity lives, not where volume is, and the answer holds on both published rate cards.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377440" y="6345936"/>
            <a:ext cx="9290304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Source   </a:t>
            </a:r>
            <a:r>
              <a:rPr sz="900" b="0">
                <a:solidFill>
                  <a:srgbClr val="C2CDE0"/>
                </a:solidFill>
                <a:latin typeface="Calibri"/>
              </a:rPr>
              <a:t>ClaimPulse Investor Dashboard R5 — Sheet 12 Cost Architecture (Part D); Sheet 13 GenAI Build vs Buy (Parts B–G); Sheet 1 Table M rate card.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ilver ball&#10;&#10;AI-generated content may be incorrect.">
            <a:extLst>
              <a:ext uri="{FF2B5EF4-FFF2-40B4-BE49-F238E27FC236}">
                <a16:creationId xmlns:a16="http://schemas.microsoft.com/office/drawing/2014/main" id="{8D6844B5-87C1-8654-913E-7E29397C9A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720" y="-40640"/>
            <a:ext cx="1198562" cy="11969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650EC-1D30-597C-1158-9B8915C7DC0E}"/>
              </a:ext>
            </a:extLst>
          </p:cNvPr>
          <p:cNvCxnSpPr/>
          <p:nvPr/>
        </p:nvCxnSpPr>
        <p:spPr>
          <a:xfrm>
            <a:off x="10373360" y="172720"/>
            <a:ext cx="0" cy="701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283025B-4C80-2949-50DA-CA5414A1E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080002"/>
              </p:ext>
            </p:extLst>
          </p:nvPr>
        </p:nvGraphicFramePr>
        <p:xfrm>
          <a:off x="436879" y="1093606"/>
          <a:ext cx="11338557" cy="5191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338557">
                  <a:extLst>
                    <a:ext uri="{9D8B030D-6E8A-4147-A177-3AD203B41FA5}">
                      <a16:colId xmlns:a16="http://schemas.microsoft.com/office/drawing/2014/main" val="3630218146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r>
                        <a:rPr lang="en-US" dirty="0"/>
                        <a:t>Solution Proposed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62817"/>
                  </a:ext>
                </a:extLst>
              </a:tr>
              <a:tr h="4824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131517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6928" y="164592"/>
            <a:ext cx="1894282" cy="237744"/>
          </a:xfrm>
          <a:prstGeom prst="roundRect">
            <a:avLst>
              <a:gd name="adj" fmla="val 30000"/>
            </a:avLst>
          </a:prstGeom>
          <a:solidFill>
            <a:srgbClr val="9DD3FF">
              <a:alpha val="2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64592"/>
            <a:ext cx="1894282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IMPACT   01 / 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4572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402336"/>
            <a:ext cx="8357616" cy="6583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 9.8-day claim settles in 2.71 days — and that speed is worth ₹43.31 Cr a year and 2.58 pp of Motor OD combined ratio, on a ₹9.89 Cr build.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0585" y="1601114"/>
            <a:ext cx="175564" cy="117043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9496" y="1536192"/>
            <a:ext cx="237744" cy="246888"/>
          </a:xfrm>
          <a:prstGeom prst="rect">
            <a:avLst/>
          </a:prstGeom>
          <a:noFill/>
        </p:spPr>
        <p:txBody>
          <a:bodyPr wrap="square" lIns="0" tIns="13716" rIns="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1554480"/>
            <a:ext cx="658368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WHERE THE ANNUAL BENEFIT COMES FROM  ·  ₹ Cr a year, steady state, Base plan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" y="4462272"/>
            <a:ext cx="6492240" cy="12801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7879" y="3322609"/>
            <a:ext cx="475488" cy="113966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8151" y="3350041"/>
            <a:ext cx="694944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23.7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07992"/>
            <a:ext cx="831088" cy="402336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Labour
touches saved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93368" y="3322609"/>
            <a:ext cx="245871" cy="9144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539240" y="2792143"/>
            <a:ext cx="475488" cy="53046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92936" y="2581831"/>
            <a:ext cx="768096" cy="2011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0AD47"/>
                </a:solidFill>
                <a:latin typeface="Calibri"/>
              </a:rPr>
              <a:t>11.1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61440" y="4507992"/>
            <a:ext cx="831088" cy="402336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Fraud
graph engine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4728" y="2792143"/>
            <a:ext cx="245871" cy="9144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260600" y="2497386"/>
            <a:ext cx="475488" cy="29475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14296" y="2287074"/>
            <a:ext cx="768096" cy="2011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0AD47"/>
                </a:solidFill>
                <a:latin typeface="Calibri"/>
              </a:rPr>
              <a:t>6.1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82800" y="4507992"/>
            <a:ext cx="831088" cy="402336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Fraud
the Gate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36088" y="2497386"/>
            <a:ext cx="245871" cy="9144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981960" y="2194948"/>
            <a:ext cx="475488" cy="302437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35656" y="1984636"/>
            <a:ext cx="768096" cy="2011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0AD47"/>
                </a:solidFill>
                <a:latin typeface="Calibri"/>
              </a:rPr>
              <a:t>6.3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04160" y="4507992"/>
            <a:ext cx="831088" cy="402336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Synthetic
media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57448" y="2194948"/>
            <a:ext cx="245871" cy="9144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703320" y="2167105"/>
            <a:ext cx="475488" cy="27843"/>
          </a:xfrm>
          <a:prstGeom prst="rect">
            <a:avLst/>
          </a:prstGeom>
          <a:solidFill>
            <a:srgbClr val="7C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57015" y="1956793"/>
            <a:ext cx="768096" cy="2011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0.6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5520" y="4507992"/>
            <a:ext cx="831088" cy="402336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Renewal
retention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78807" y="2167105"/>
            <a:ext cx="245871" cy="9144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424680" y="2167105"/>
            <a:ext cx="475488" cy="28323"/>
          </a:xfrm>
          <a:prstGeom prst="rect">
            <a:avLst/>
          </a:prstGeom>
          <a:solidFill>
            <a:srgbClr val="E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78376" y="1956793"/>
            <a:ext cx="768096" cy="2011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E06666"/>
                </a:solidFill>
                <a:latin typeface="Calibri"/>
              </a:rPr>
              <a:t>−0.6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46880" y="4507992"/>
            <a:ext cx="831088" cy="402336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less
friction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46040" y="2195908"/>
            <a:ext cx="475488" cy="2266363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36311" y="2223340"/>
            <a:ext cx="694944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47.2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68240" y="4507992"/>
            <a:ext cx="831088" cy="402336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GROSS
BENEFIT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21527" y="2195908"/>
            <a:ext cx="245871" cy="9144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67399" y="2195908"/>
            <a:ext cx="475488" cy="187223"/>
          </a:xfrm>
          <a:prstGeom prst="rect">
            <a:avLst/>
          </a:prstGeom>
          <a:solidFill>
            <a:srgbClr val="C2C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21095" y="1985596"/>
            <a:ext cx="768096" cy="2011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−3.9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89600" y="4507992"/>
            <a:ext cx="831088" cy="402336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less
run cost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8759" y="2383132"/>
            <a:ext cx="475488" cy="2079139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79031" y="2410564"/>
            <a:ext cx="694944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43.3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0960" y="4507992"/>
            <a:ext cx="831088" cy="402336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NET ANNUAL
BENEFIT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54096" y="3017520"/>
            <a:ext cx="128016" cy="12801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55264" y="2962656"/>
            <a:ext cx="2057400" cy="2011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Expense ratio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54096" y="3246120"/>
            <a:ext cx="128016" cy="12801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255264" y="3191256"/>
            <a:ext cx="2057400" cy="2011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Loss ratio  ·  all three fraud lines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54096" y="3474720"/>
            <a:ext cx="128016" cy="128016"/>
          </a:xfrm>
          <a:prstGeom prst="rect">
            <a:avLst/>
          </a:prstGeom>
          <a:solidFill>
            <a:srgbClr val="7C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255264" y="3419856"/>
            <a:ext cx="2057400" cy="2011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Outside both ratios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54096" y="3703320"/>
            <a:ext cx="128016" cy="128016"/>
          </a:xfrm>
          <a:prstGeom prst="rect">
            <a:avLst/>
          </a:prstGeom>
          <a:solidFill>
            <a:srgbClr val="E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255264" y="3648456"/>
            <a:ext cx="2057400" cy="2011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The cost we carry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79792" y="1755648"/>
            <a:ext cx="2011680" cy="84124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7479792" y="1755648"/>
            <a:ext cx="2011680" cy="841248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7584399" y="1910730"/>
            <a:ext cx="193121" cy="128747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552944" y="1842515"/>
            <a:ext cx="256032" cy="265176"/>
          </a:xfrm>
          <a:prstGeom prst="rect">
            <a:avLst/>
          </a:prstGeom>
          <a:noFill/>
        </p:spPr>
        <p:txBody>
          <a:bodyPr wrap="square" lIns="0" tIns="13716" rIns="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63840" y="1783080"/>
            <a:ext cx="1536192" cy="78638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BUILD COST, ONE-OFF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₹9.89 Cr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fully loaded ₹11.37 Cr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601200" y="1755648"/>
            <a:ext cx="2011680" cy="84124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9601200" y="1755648"/>
            <a:ext cx="2011680" cy="841248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Oval 68"/>
          <p:cNvSpPr/>
          <p:nvPr/>
        </p:nvSpPr>
        <p:spPr>
          <a:xfrm>
            <a:off x="9709830" y="1882566"/>
            <a:ext cx="185074" cy="185074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796332" y="1922800"/>
            <a:ext cx="12070" cy="6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796332" y="1971080"/>
            <a:ext cx="56327" cy="120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985248" y="1783080"/>
            <a:ext cx="1536192" cy="78638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PAYBACK FROM KICKOFF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16.8 months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includes the 10-month build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479792" y="2688336"/>
            <a:ext cx="2011680" cy="84124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7479792" y="2688336"/>
            <a:ext cx="2011680" cy="841248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7588422" y="2956072"/>
            <a:ext cx="185074" cy="12070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7600492" y="2911815"/>
            <a:ext cx="12070" cy="48280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7640726" y="2879628"/>
            <a:ext cx="12070" cy="80467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7680959" y="2899745"/>
            <a:ext cx="12070" cy="60350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7721193" y="2839394"/>
            <a:ext cx="12070" cy="120700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863840" y="2715768"/>
            <a:ext cx="1536192" cy="78638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5-YEAR NPV AT 12%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₹145.94 Cr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three-year NPV ₹76.28 Cr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601200" y="2688336"/>
            <a:ext cx="2011680" cy="84124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9601200" y="2688336"/>
            <a:ext cx="2011680" cy="841248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Oval 82"/>
          <p:cNvSpPr/>
          <p:nvPr/>
        </p:nvSpPr>
        <p:spPr>
          <a:xfrm>
            <a:off x="9705807" y="2811231"/>
            <a:ext cx="193121" cy="193121"/>
          </a:xfrm>
          <a:prstGeom prst="ellipse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Oval 83"/>
          <p:cNvSpPr/>
          <p:nvPr/>
        </p:nvSpPr>
        <p:spPr>
          <a:xfrm>
            <a:off x="9762134" y="2867558"/>
            <a:ext cx="80467" cy="80467"/>
          </a:xfrm>
          <a:prstGeom prst="ellipse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985248" y="2715768"/>
            <a:ext cx="1536192" cy="78638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ROIC, QUOTED ON DOWNSIDE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1.41×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not on the headline case</a:t>
            </a:r>
          </a:p>
        </p:txBody>
      </p:sp>
      <p:sp>
        <p:nvSpPr>
          <p:cNvPr id="86" name="Diamond 85"/>
          <p:cNvSpPr/>
          <p:nvPr/>
        </p:nvSpPr>
        <p:spPr>
          <a:xfrm>
            <a:off x="7483449" y="3700576"/>
            <a:ext cx="175564" cy="43891"/>
          </a:xfrm>
          <a:prstGeom prst="diamond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7487107" y="3770071"/>
            <a:ext cx="168249" cy="109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7487107" y="3810304"/>
            <a:ext cx="168249" cy="109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754112" y="3675888"/>
            <a:ext cx="3895343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MOTOR OD COMBINED RATIO  ·  both halves move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479792" y="3931920"/>
            <a:ext cx="4169663" cy="85953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7479792" y="3931920"/>
            <a:ext cx="4169663" cy="859536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7580375" y="4206240"/>
            <a:ext cx="2181090" cy="274320"/>
          </a:xfrm>
          <a:prstGeom prst="roundRect">
            <a:avLst>
              <a:gd name="adj" fmla="val 30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9761466" y="4206240"/>
            <a:ext cx="1787559" cy="274320"/>
          </a:xfrm>
          <a:prstGeom prst="roundRect">
            <a:avLst>
              <a:gd name="adj" fmla="val 30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580375" y="3968496"/>
            <a:ext cx="3968496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DD3FF"/>
                </a:solidFill>
                <a:latin typeface="Calibri"/>
              </a:rPr>
              <a:t>2.58 pp</a:t>
            </a:r>
            <a:r>
              <a:rPr sz="900" b="0">
                <a:solidFill>
                  <a:srgbClr val="C2CDE0"/>
                </a:solidFill>
                <a:latin typeface="Calibri"/>
              </a:rPr>
              <a:t>   Motor OD basis   ·   0.42 pp on the group book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580375" y="4498848"/>
            <a:ext cx="201168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BDC76"/>
                </a:solidFill>
                <a:latin typeface="Calibri"/>
              </a:rPr>
              <a:t>Loss ratio   1.42 pp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326880" y="4498848"/>
            <a:ext cx="210312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Expense ratio   1.16 pp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66928" y="4901184"/>
            <a:ext cx="11082528" cy="93268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566928" y="4901184"/>
            <a:ext cx="11082528" cy="932688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42492" y="4999024"/>
            <a:ext cx="124358" cy="124358"/>
          </a:xfrm>
          <a:prstGeom prst="rect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793699" y="4973421"/>
            <a:ext cx="10972" cy="25603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793699" y="5123383"/>
            <a:ext cx="10972" cy="25603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716889" y="5050231"/>
            <a:ext cx="25603" cy="109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66851" y="5050231"/>
            <a:ext cx="25603" cy="109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87552" y="4956048"/>
            <a:ext cx="374904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UNIT ECONOMICS  ·  per claim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2960" y="5175504"/>
            <a:ext cx="1615440" cy="164592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COST TO SERVE, TODAY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2960" y="5321808"/>
            <a:ext cx="1615440" cy="201168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₹1,750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511552" y="5193792"/>
            <a:ext cx="10972" cy="310896"/>
          </a:xfrm>
          <a:prstGeom prst="rect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2621280" y="5175504"/>
            <a:ext cx="1615440" cy="164592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COST TO SERVE, AFTER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621280" y="5321808"/>
            <a:ext cx="1615440" cy="201168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₹307.50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309872" y="5193792"/>
            <a:ext cx="10972" cy="310896"/>
          </a:xfrm>
          <a:prstGeom prst="rect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419600" y="5175504"/>
            <a:ext cx="1615440" cy="164592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REDUCTION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419600" y="5321808"/>
            <a:ext cx="1615440" cy="201168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−82.4%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108192" y="5193792"/>
            <a:ext cx="10972" cy="310896"/>
          </a:xfrm>
          <a:prstGeom prst="rect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217920" y="5175504"/>
            <a:ext cx="1615440" cy="164592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RUN COST PER CLAIM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17920" y="5321808"/>
            <a:ext cx="1615440" cy="201168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₹237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906512" y="5193792"/>
            <a:ext cx="10972" cy="310896"/>
          </a:xfrm>
          <a:prstGeom prst="rect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016239" y="5175504"/>
            <a:ext cx="1615440" cy="164592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NET BENEFIT PER CLAIM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016239" y="5321808"/>
            <a:ext cx="1615440" cy="201168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₹2,631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704831" y="5193792"/>
            <a:ext cx="10972" cy="310896"/>
          </a:xfrm>
          <a:prstGeom prst="rect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9814559" y="5175504"/>
            <a:ext cx="1615440" cy="164592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BENEFIT PER ₹1 OF RUN COST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14559" y="5321808"/>
            <a:ext cx="1615440" cy="201168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₹12.1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13232" y="5541264"/>
            <a:ext cx="10789919" cy="256032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713232" y="5541264"/>
            <a:ext cx="10789919" cy="256032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713232" y="5541264"/>
            <a:ext cx="45720" cy="256032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844722" y="5609112"/>
            <a:ext cx="166786" cy="111191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13815" y="5545836"/>
            <a:ext cx="228600" cy="237744"/>
          </a:xfrm>
          <a:prstGeom prst="rect">
            <a:avLst/>
          </a:prstGeom>
          <a:noFill/>
        </p:spPr>
        <p:txBody>
          <a:bodyPr wrap="square" lIns="0" tIns="13716" rIns="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78992" y="5541264"/>
            <a:ext cx="10387584" cy="25603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REVENUE MODEL</a:t>
            </a:r>
            <a:r>
              <a:rPr sz="900" b="0">
                <a:solidFill>
                  <a:srgbClr val="FFFFFF"/>
                </a:solidFill>
                <a:latin typeface="Calibri"/>
              </a:rPr>
              <a:t>      BFDL deploys ₹9.89 Cr of capital   ·   Bajaj General books ₹42.73 Cr of underwriting value   ·   BFDL books ₹0.58 Cr of distribution value   ·   the group consolidates ₹43.31 Cr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66928" y="5907024"/>
            <a:ext cx="11082528" cy="292608"/>
          </a:xfrm>
          <a:prstGeom prst="roundRect">
            <a:avLst>
              <a:gd name="adj" fmla="val 30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566928" y="5907024"/>
            <a:ext cx="45720" cy="29260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13232" y="5907024"/>
            <a:ext cx="10808207" cy="29260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INSIGHT   </a:t>
            </a:r>
            <a:r>
              <a:rPr sz="900" b="0">
                <a:solidFill>
                  <a:srgbClr val="E4EAF4"/>
                </a:solidFill>
                <a:latin typeface="Calibri"/>
              </a:rPr>
              <a:t>Both sides of the combined ratio move and neither carries the case alone — strip out the entire fraud benefit and the labour engine still repays the build in 31 months.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377440" y="6345936"/>
            <a:ext cx="9290304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Source   </a:t>
            </a:r>
            <a:r>
              <a:rPr sz="900" b="0">
                <a:solidFill>
                  <a:srgbClr val="C2CDE0"/>
                </a:solidFill>
                <a:latin typeface="Calibri"/>
              </a:rPr>
              <a:t>ClaimPulse Investor Dashboard R5 — Sheet 2 Summary (Part 1B); Sheet 3 Workings (Parts C, E, F, G, I); Sheet 4 Forecast; Sheet 5 Investor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ilver ball&#10;&#10;AI-generated content may be incorrect.">
            <a:extLst>
              <a:ext uri="{FF2B5EF4-FFF2-40B4-BE49-F238E27FC236}">
                <a16:creationId xmlns:a16="http://schemas.microsoft.com/office/drawing/2014/main" id="{8D6844B5-87C1-8654-913E-7E29397C9A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720" y="-40640"/>
            <a:ext cx="1198562" cy="11969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650EC-1D30-597C-1158-9B8915C7DC0E}"/>
              </a:ext>
            </a:extLst>
          </p:cNvPr>
          <p:cNvCxnSpPr/>
          <p:nvPr/>
        </p:nvCxnSpPr>
        <p:spPr>
          <a:xfrm>
            <a:off x="10373360" y="172720"/>
            <a:ext cx="0" cy="701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283025B-4C80-2949-50DA-CA5414A1E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080002"/>
              </p:ext>
            </p:extLst>
          </p:nvPr>
        </p:nvGraphicFramePr>
        <p:xfrm>
          <a:off x="436879" y="1093606"/>
          <a:ext cx="11338557" cy="5191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338557">
                  <a:extLst>
                    <a:ext uri="{9D8B030D-6E8A-4147-A177-3AD203B41FA5}">
                      <a16:colId xmlns:a16="http://schemas.microsoft.com/office/drawing/2014/main" val="3630218146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r>
                        <a:rPr lang="en-US" dirty="0"/>
                        <a:t>Solution Proposed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62817"/>
                  </a:ext>
                </a:extLst>
              </a:tr>
              <a:tr h="4824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131517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6928" y="164592"/>
            <a:ext cx="1894282" cy="237744"/>
          </a:xfrm>
          <a:prstGeom prst="roundRect">
            <a:avLst>
              <a:gd name="adj" fmla="val 30000"/>
            </a:avLst>
          </a:prstGeom>
          <a:solidFill>
            <a:srgbClr val="9DD3FF">
              <a:alpha val="2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64592"/>
            <a:ext cx="1894282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IMPACT   02 / 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4572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402336"/>
            <a:ext cx="8357616" cy="6583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One routing decision, six stakeholder outcomes — and we name the group it costs.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572768"/>
            <a:ext cx="2667762" cy="438912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66928" y="1572768"/>
            <a:ext cx="2667762" cy="438912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684702" y="1690542"/>
            <a:ext cx="185074" cy="185074"/>
          </a:xfrm>
          <a:prstGeom prst="ellipse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1204" y="1730776"/>
            <a:ext cx="12070" cy="60350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1204" y="1779056"/>
            <a:ext cx="56327" cy="12070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1581912"/>
            <a:ext cx="2192274" cy="42062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1.17 M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claimant-days returned a year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71850" y="1572768"/>
            <a:ext cx="2667762" cy="438912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371850" y="1572768"/>
            <a:ext cx="2667762" cy="438912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3493648" y="1694566"/>
            <a:ext cx="64373" cy="64373"/>
          </a:xfrm>
          <a:prstGeom prst="ellipse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Oval 25"/>
          <p:cNvSpPr/>
          <p:nvPr/>
        </p:nvSpPr>
        <p:spPr>
          <a:xfrm>
            <a:off x="3602278" y="1694566"/>
            <a:ext cx="64373" cy="64373"/>
          </a:xfrm>
          <a:prstGeom prst="ellipse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481578" y="1775033"/>
            <a:ext cx="88513" cy="88513"/>
          </a:xfrm>
          <a:prstGeom prst="roundRect">
            <a:avLst>
              <a:gd name="adj" fmla="val 35000"/>
            </a:avLst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590208" y="1775033"/>
            <a:ext cx="88513" cy="88513"/>
          </a:xfrm>
          <a:prstGeom prst="roundRect">
            <a:avLst>
              <a:gd name="adj" fmla="val 35000"/>
            </a:avLst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55898" y="1581912"/>
            <a:ext cx="2192274" cy="42062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175.9 FTE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capacity released to complex claims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6772" y="1572768"/>
            <a:ext cx="2667762" cy="438912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176772" y="1572768"/>
            <a:ext cx="2667762" cy="438912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298570" y="1714682"/>
            <a:ext cx="177027" cy="136794"/>
          </a:xfrm>
          <a:prstGeom prst="roundRect">
            <a:avLst>
              <a:gd name="adj" fmla="val 18000"/>
            </a:avLst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18686" y="1777044"/>
            <a:ext cx="136794" cy="14081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60820" y="1581912"/>
            <a:ext cx="2192274" cy="42062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3FF"/>
                </a:solidFill>
                <a:latin typeface="Calibri"/>
              </a:rPr>
              <a:t>74,063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surveyor visits avoided a year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81694" y="1572768"/>
            <a:ext cx="2667762" cy="438912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981694" y="1572768"/>
            <a:ext cx="2667762" cy="438912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095445" y="1718706"/>
            <a:ext cx="193121" cy="128747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63990" y="1650492"/>
            <a:ext cx="256032" cy="265176"/>
          </a:xfrm>
          <a:prstGeom prst="rect">
            <a:avLst/>
          </a:prstGeom>
          <a:noFill/>
        </p:spPr>
        <p:txBody>
          <a:bodyPr wrap="square" lIns="0" tIns="13716" rIns="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5742" y="1581912"/>
            <a:ext cx="2192274" cy="42062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₹43.31 Cr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consolidated net annual benefit</a:t>
            </a:r>
          </a:p>
        </p:txBody>
      </p:sp>
      <p:sp>
        <p:nvSpPr>
          <p:cNvPr id="40" name="Oval 39"/>
          <p:cNvSpPr/>
          <p:nvPr/>
        </p:nvSpPr>
        <p:spPr>
          <a:xfrm>
            <a:off x="570585" y="2160727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Oval 40"/>
          <p:cNvSpPr/>
          <p:nvPr/>
        </p:nvSpPr>
        <p:spPr>
          <a:xfrm>
            <a:off x="691286" y="2105863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Oval 41"/>
          <p:cNvSpPr/>
          <p:nvPr/>
        </p:nvSpPr>
        <p:spPr>
          <a:xfrm>
            <a:off x="691286" y="2215591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5449" y="2184501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8368" y="2131466"/>
            <a:ext cx="9144" cy="113385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8368" y="2127808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58368" y="2237536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1247" y="2084831"/>
            <a:ext cx="86868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ONE CLAIMPULSE INTERVENTION  ·  each outcome traced to the mechanism that produces it  ·  Base plan, 60% rollout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2304288"/>
            <a:ext cx="1636776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STAKEHOLDER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41448" y="2304288"/>
            <a:ext cx="2002536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TODAY  →  CLAIMPULSE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90288" y="2304288"/>
            <a:ext cx="3922776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THE MECHANISM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67928" y="2304288"/>
            <a:ext cx="2935224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QUANTIFIED OUTCOME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2487168"/>
            <a:ext cx="11082528" cy="10972"/>
          </a:xfrm>
          <a:prstGeom prst="rect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66928" y="2542032"/>
            <a:ext cx="11082528" cy="45720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566928" y="2542032"/>
            <a:ext cx="11082528" cy="457200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66928" y="2542032"/>
            <a:ext cx="45720" cy="457200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Oval 55"/>
          <p:cNvSpPr/>
          <p:nvPr/>
        </p:nvSpPr>
        <p:spPr>
          <a:xfrm>
            <a:off x="702259" y="2686507"/>
            <a:ext cx="168249" cy="168249"/>
          </a:xfrm>
          <a:prstGeom prst="ellipse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80897" y="2723083"/>
            <a:ext cx="10972" cy="54864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80897" y="2766974"/>
            <a:ext cx="51206" cy="10972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32688" y="2542032"/>
            <a:ext cx="1362456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404872" y="2633472"/>
            <a:ext cx="882396" cy="274320"/>
          </a:xfrm>
          <a:prstGeom prst="roundRect">
            <a:avLst>
              <a:gd name="adj" fmla="val 3000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404872" y="2542032"/>
            <a:ext cx="882396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9.8 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87268" y="2542032"/>
            <a:ext cx="274320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→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561587" y="2633472"/>
            <a:ext cx="882396" cy="274320"/>
          </a:xfrm>
          <a:prstGeom prst="roundRect">
            <a:avLst>
              <a:gd name="adj" fmla="val 30000"/>
            </a:avLst>
          </a:prstGeom>
          <a:solidFill>
            <a:srgbClr val="9DD3FF">
              <a:alpha val="24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561587" y="2542032"/>
            <a:ext cx="882396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2.71 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90288" y="2542032"/>
            <a:ext cx="3886200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E4EAF4"/>
                </a:solidFill>
                <a:latin typeface="Calibri"/>
              </a:rPr>
              <a:t>Green-lane auto-settlement on clean, structured claims, with proactive status push instead of pull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67928" y="2560320"/>
            <a:ext cx="2971800" cy="42062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1,166,904 claimant-days returned</a:t>
            </a:r>
          </a:p>
          <a:p>
            <a:pPr algn="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106,980 claims settled with zero human touch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66928" y="3035808"/>
            <a:ext cx="11082528" cy="45720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566928" y="3035808"/>
            <a:ext cx="11082528" cy="457200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66928" y="3035808"/>
            <a:ext cx="45720" cy="457200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98601" y="3183940"/>
            <a:ext cx="62179" cy="58521"/>
          </a:xfrm>
          <a:prstGeom prst="rect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11987" y="3183940"/>
            <a:ext cx="62179" cy="58521"/>
          </a:xfrm>
          <a:prstGeom prst="rect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55294" y="3286353"/>
            <a:ext cx="62179" cy="58521"/>
          </a:xfrm>
          <a:prstGeom prst="rect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757123" y="3209544"/>
            <a:ext cx="54864" cy="9144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780897" y="3238804"/>
            <a:ext cx="9144" cy="51206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32688" y="3035808"/>
            <a:ext cx="1362456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Bajaj claims operations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404872" y="3127248"/>
            <a:ext cx="882396" cy="274320"/>
          </a:xfrm>
          <a:prstGeom prst="roundRect">
            <a:avLst>
              <a:gd name="adj" fmla="val 3000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404872" y="3035808"/>
            <a:ext cx="882396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7 touches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87268" y="3035808"/>
            <a:ext cx="274320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→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561587" y="3127248"/>
            <a:ext cx="882396" cy="274320"/>
          </a:xfrm>
          <a:prstGeom prst="roundRect">
            <a:avLst>
              <a:gd name="adj" fmla="val 30000"/>
            </a:avLst>
          </a:prstGeom>
          <a:solidFill>
            <a:srgbClr val="9DD3FF">
              <a:alpha val="24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561587" y="3035808"/>
            <a:ext cx="882396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1.23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90288" y="3035808"/>
            <a:ext cx="3886200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E4EAF4"/>
                </a:solidFill>
                <a:latin typeface="Calibri"/>
              </a:rPr>
              <a:t>Trust Score routes each claim to the lane it needs — 65% never reaches a queue at all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67928" y="3054096"/>
            <a:ext cx="2971800" cy="42062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949,652 touches avoided a year</a:t>
            </a:r>
          </a:p>
          <a:p>
            <a:pPr algn="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175.9 FTE released  ·  ₹23.15 Cr expense-ratio value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66928" y="3529584"/>
            <a:ext cx="11082528" cy="45720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566928" y="3529584"/>
            <a:ext cx="11082528" cy="45720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566928" y="3529584"/>
            <a:ext cx="45720" cy="457200"/>
          </a:xfrm>
          <a:prstGeom prst="rect">
            <a:avLst/>
          </a:prstGeom>
          <a:solidFill>
            <a:srgbClr val="C2C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705916" y="3696004"/>
            <a:ext cx="160934" cy="124358"/>
          </a:xfrm>
          <a:prstGeom prst="roundRect">
            <a:avLst>
              <a:gd name="adj" fmla="val 18000"/>
            </a:avLst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724204" y="3752697"/>
            <a:ext cx="124358" cy="12801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32688" y="3529584"/>
            <a:ext cx="1362456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Surveyors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404872" y="3621024"/>
            <a:ext cx="882396" cy="274320"/>
          </a:xfrm>
          <a:prstGeom prst="roundRect">
            <a:avLst>
              <a:gd name="adj" fmla="val 3000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404872" y="3529584"/>
            <a:ext cx="882396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90,521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87268" y="3529584"/>
            <a:ext cx="274320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→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561587" y="3621024"/>
            <a:ext cx="882396" cy="274320"/>
          </a:xfrm>
          <a:prstGeom prst="roundRect">
            <a:avLst>
              <a:gd name="adj" fmla="val 30000"/>
            </a:avLst>
          </a:prstGeom>
          <a:solidFill>
            <a:srgbClr val="9DD3FF">
              <a:alpha val="24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561587" y="3529584"/>
            <a:ext cx="882396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16,458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90288" y="3529584"/>
            <a:ext cx="3886200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E4EAF4"/>
                </a:solidFill>
                <a:latin typeface="Calibri"/>
              </a:rPr>
              <a:t>Green and amber sit inside the IRDAI ₹50,000 exemption corridor; surveyors move above it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67928" y="3547872"/>
            <a:ext cx="2971800" cy="42062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74,063 physical visits avoided</a:t>
            </a:r>
          </a:p>
          <a:p>
            <a:pPr algn="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surveyors redeployed, not displaced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66928" y="4023360"/>
            <a:ext cx="11082528" cy="45720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566928" y="4023360"/>
            <a:ext cx="11082528" cy="45720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566928" y="4023360"/>
            <a:ext cx="45720" cy="457200"/>
          </a:xfrm>
          <a:prstGeom prst="rect">
            <a:avLst/>
          </a:prstGeom>
          <a:solidFill>
            <a:srgbClr val="C2C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Gear 6 98"/>
          <p:cNvSpPr/>
          <p:nvPr/>
        </p:nvSpPr>
        <p:spPr>
          <a:xfrm>
            <a:off x="698601" y="4164177"/>
            <a:ext cx="175564" cy="175564"/>
          </a:xfrm>
          <a:prstGeom prst="gear6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32688" y="4023360"/>
            <a:ext cx="1362456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Garages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404872" y="4114800"/>
            <a:ext cx="882396" cy="274320"/>
          </a:xfrm>
          <a:prstGeom prst="roundRect">
            <a:avLst>
              <a:gd name="adj" fmla="val 3000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404872" y="4023360"/>
            <a:ext cx="882396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4 days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287268" y="4023360"/>
            <a:ext cx="274320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→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561587" y="4114800"/>
            <a:ext cx="882396" cy="274320"/>
          </a:xfrm>
          <a:prstGeom prst="roundRect">
            <a:avLst>
              <a:gd name="adj" fmla="val 30000"/>
            </a:avLst>
          </a:prstGeom>
          <a:solidFill>
            <a:srgbClr val="9DD3FF">
              <a:alpha val="24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561587" y="4023360"/>
            <a:ext cx="882396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1 day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90288" y="4023360"/>
            <a:ext cx="3886200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E4EAF4"/>
                </a:solidFill>
                <a:latin typeface="Calibri"/>
              </a:rPr>
              <a:t>Repair cost engine returns an indicative band at first notification, from settled claims and live parts feeds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67928" y="4041648"/>
            <a:ext cx="2971800" cy="42062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3 days cut from estimate to approval</a:t>
            </a:r>
          </a:p>
          <a:p>
            <a:pPr algn="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predictable estimates, faster turnaround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66928" y="4517136"/>
            <a:ext cx="11082528" cy="45720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566928" y="4517136"/>
            <a:ext cx="11082528" cy="457200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566928" y="4517136"/>
            <a:ext cx="45720" cy="457200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Pentagon 110"/>
          <p:cNvSpPr/>
          <p:nvPr/>
        </p:nvSpPr>
        <p:spPr>
          <a:xfrm rot="10800000">
            <a:off x="705916" y="4657953"/>
            <a:ext cx="160934" cy="175564"/>
          </a:xfrm>
          <a:prstGeom prst="homePlate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32688" y="4517136"/>
            <a:ext cx="1362456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Fraud / SIU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404872" y="4608575"/>
            <a:ext cx="882396" cy="274320"/>
          </a:xfrm>
          <a:prstGeom prst="roundRect">
            <a:avLst>
              <a:gd name="adj" fmla="val 3000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404872" y="4517136"/>
            <a:ext cx="882396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62%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287268" y="4517136"/>
            <a:ext cx="274320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→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561587" y="4608575"/>
            <a:ext cx="882396" cy="274320"/>
          </a:xfrm>
          <a:prstGeom prst="roundRect">
            <a:avLst>
              <a:gd name="adj" fmla="val 30000"/>
            </a:avLst>
          </a:prstGeom>
          <a:solidFill>
            <a:srgbClr val="9DD3FF">
              <a:alpha val="24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561587" y="4517136"/>
            <a:ext cx="882396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90%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590288" y="4517136"/>
            <a:ext cx="3886200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E4EAF4"/>
                </a:solidFill>
                <a:latin typeface="Calibri"/>
              </a:rPr>
              <a:t>Gate 00 screens evidence before any model runs; the graph batch-scores rings rather than claims one at a time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567928" y="4535423"/>
            <a:ext cx="2971800" cy="42062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undetected share 38% → 10%</a:t>
            </a:r>
          </a:p>
          <a:p>
            <a:pPr algn="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₹23.49 Cr of loss-ratio value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66928" y="5010912"/>
            <a:ext cx="11082528" cy="45720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566928" y="5010912"/>
            <a:ext cx="11082528" cy="45720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566928" y="5010912"/>
            <a:ext cx="45720" cy="457200"/>
          </a:xfrm>
          <a:prstGeom prst="rect">
            <a:avLst/>
          </a:prstGeom>
          <a:solidFill>
            <a:srgbClr val="C2C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713232" y="5221224"/>
            <a:ext cx="146304" cy="102412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742492" y="5159044"/>
            <a:ext cx="87782" cy="95097"/>
          </a:xfrm>
          <a:prstGeom prst="ellipse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32688" y="5010912"/>
            <a:ext cx="1362456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Regulator / governance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404872" y="5102352"/>
            <a:ext cx="882396" cy="274320"/>
          </a:xfrm>
          <a:prstGeom prst="roundRect">
            <a:avLst>
              <a:gd name="adj" fmla="val 3000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2404872" y="5010912"/>
            <a:ext cx="882396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assumed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287268" y="5010912"/>
            <a:ext cx="274320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→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561587" y="5102352"/>
            <a:ext cx="882396" cy="274320"/>
          </a:xfrm>
          <a:prstGeom prst="roundRect">
            <a:avLst>
              <a:gd name="adj" fmla="val 30000"/>
            </a:avLst>
          </a:prstGeom>
          <a:solidFill>
            <a:srgbClr val="9DD3FF">
              <a:alpha val="24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3561587" y="5010912"/>
            <a:ext cx="882396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costed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590288" y="5010912"/>
            <a:ext cx="3886200" cy="4572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E4EAF4"/>
                </a:solidFill>
                <a:latin typeface="Calibri"/>
              </a:rPr>
              <a:t>Human override, full audit trail and a per-decision explanation, built into production hardening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567928" y="5029200"/>
            <a:ext cx="2971800" cy="42062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₹1.00 Cr build + ₹0.37 Cr a year</a:t>
            </a:r>
          </a:p>
          <a:p>
            <a:pPr algn="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29.5% of the build buys defensibility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66928" y="5522976"/>
            <a:ext cx="11082528" cy="27432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4" name="Rounded Rectangle 133"/>
          <p:cNvSpPr/>
          <p:nvPr/>
        </p:nvSpPr>
        <p:spPr>
          <a:xfrm>
            <a:off x="566928" y="5522976"/>
            <a:ext cx="11082528" cy="274320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566928" y="5522976"/>
            <a:ext cx="45720" cy="2743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" name="Isosceles Triangle 135"/>
          <p:cNvSpPr/>
          <p:nvPr/>
        </p:nvSpPr>
        <p:spPr>
          <a:xfrm>
            <a:off x="698601" y="5579668"/>
            <a:ext cx="175564" cy="160934"/>
          </a:xfrm>
          <a:prstGeom prst="triangl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780897" y="5634532"/>
            <a:ext cx="10972" cy="512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780897" y="5696712"/>
            <a:ext cx="10972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950976" y="5522976"/>
            <a:ext cx="10570463" cy="27432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AND THE GROUP IT COSTS   </a:t>
            </a:r>
            <a:r>
              <a:rPr sz="900" b="0">
                <a:solidFill>
                  <a:srgbClr val="E4EAF4"/>
                </a:solidFill>
                <a:latin typeface="Calibri"/>
              </a:rPr>
              <a:t>13,167 honest claimants a year cannot use live capture and drop from green to amber. Still handled, just not auto-settled — ₹0.59 Cr a year, 1.26% of gross benefit, quoted unprompted.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66928" y="5907024"/>
            <a:ext cx="11082528" cy="292608"/>
          </a:xfrm>
          <a:prstGeom prst="roundRect">
            <a:avLst>
              <a:gd name="adj" fmla="val 30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566928" y="5907024"/>
            <a:ext cx="45720" cy="29260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713232" y="5907024"/>
            <a:ext cx="10808207" cy="29260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INSIGHT   </a:t>
            </a:r>
            <a:r>
              <a:rPr sz="900" b="0">
                <a:solidFill>
                  <a:srgbClr val="E4EAF4"/>
                </a:solidFill>
                <a:latin typeface="Calibri"/>
              </a:rPr>
              <a:t>Every outcome here is a formula reading the P&amp;L, not an assertion — including the one line that runs against us.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377440" y="6345936"/>
            <a:ext cx="9290304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Source   </a:t>
            </a:r>
            <a:r>
              <a:rPr sz="900" b="0">
                <a:solidFill>
                  <a:srgbClr val="C2CDE0"/>
                </a:solidFill>
                <a:latin typeface="Calibri"/>
              </a:rPr>
              <a:t>ClaimPulse Investor Dashboard R5 — Sheet 6 Stakeholder Analysis (Part C, SC-01 to SC-18); Sheet 3 Workings (Part I, W-56 to W-80); Sheet 1 Tables B, G and J.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ilver ball&#10;&#10;AI-generated content may be incorrect.">
            <a:extLst>
              <a:ext uri="{FF2B5EF4-FFF2-40B4-BE49-F238E27FC236}">
                <a16:creationId xmlns:a16="http://schemas.microsoft.com/office/drawing/2014/main" id="{E3E13CBA-F77B-037F-63F0-F10665D9F1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720" y="-40640"/>
            <a:ext cx="1198562" cy="11969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6AE118-C64A-022B-9DE3-62556F76630E}"/>
              </a:ext>
            </a:extLst>
          </p:cNvPr>
          <p:cNvCxnSpPr/>
          <p:nvPr/>
        </p:nvCxnSpPr>
        <p:spPr>
          <a:xfrm>
            <a:off x="10373360" y="172720"/>
            <a:ext cx="0" cy="701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F0B4ACA-771C-3226-150D-54C0B5B7B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177875"/>
              </p:ext>
            </p:extLst>
          </p:nvPr>
        </p:nvGraphicFramePr>
        <p:xfrm>
          <a:off x="436879" y="1093606"/>
          <a:ext cx="11338557" cy="5191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338557">
                  <a:extLst>
                    <a:ext uri="{9D8B030D-6E8A-4147-A177-3AD203B41FA5}">
                      <a16:colId xmlns:a16="http://schemas.microsoft.com/office/drawing/2014/main" val="3630218146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r>
                        <a:rPr lang="en-US" dirty="0"/>
                        <a:t>Analysis: Key Insights/Opportunities/Challenges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62817"/>
                  </a:ext>
                </a:extLst>
              </a:tr>
              <a:tr h="4824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131517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6928" y="164592"/>
            <a:ext cx="1422334" cy="237744"/>
          </a:xfrm>
          <a:prstGeom prst="roundRect">
            <a:avLst>
              <a:gd name="adj" fmla="val 30000"/>
            </a:avLst>
          </a:prstGeom>
          <a:solidFill>
            <a:srgbClr val="9DD3FF">
              <a:alpha val="2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64592"/>
            <a:ext cx="1422334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STRESS 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4572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402336"/>
            <a:ext cx="8357616" cy="6583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Five scenarios, three intensities and a correlated stress test: only one lever genuinely threatens the case, and even all three missing at once leaves NPV positive.</a:t>
            </a:r>
          </a:p>
        </p:txBody>
      </p:sp>
      <p:sp>
        <p:nvSpPr>
          <p:cNvPr id="17" name="Oval 16"/>
          <p:cNvSpPr/>
          <p:nvPr/>
        </p:nvSpPr>
        <p:spPr>
          <a:xfrm>
            <a:off x="570585" y="1630375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1286" y="1575511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691286" y="1685239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449" y="1654149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1601114"/>
            <a:ext cx="9144" cy="113385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1597456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" y="1707184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7" y="1554480"/>
            <a:ext cx="8138159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HOW CONFIDENT ARE WE IN THOSE NUMBERS?  ·  single-lever scenarios, each moving one lever and holding everything else at 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1773936"/>
            <a:ext cx="18288" cy="1920240"/>
          </a:xfrm>
          <a:prstGeom prst="rect">
            <a:avLst/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69480" y="3639312"/>
            <a:ext cx="1097280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1819656"/>
            <a:ext cx="2633472" cy="27432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E4EAF4"/>
                </a:solidFill>
                <a:latin typeface="Calibri"/>
              </a:rPr>
              <a:t>S1  ·  green lane widens to 78%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965960"/>
            <a:ext cx="2633472" cy="14630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auto-settlement accelerates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1847088"/>
            <a:ext cx="301334" cy="219456"/>
          </a:xfrm>
          <a:prstGeom prst="roundRect">
            <a:avLst>
              <a:gd name="adj" fmla="val 22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92606" y="1847088"/>
            <a:ext cx="109728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0AD47"/>
                </a:solidFill>
                <a:latin typeface="Calibri"/>
              </a:rPr>
              <a:t>+₹1.6 Cr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2121408"/>
            <a:ext cx="2633472" cy="27432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E4EAF4"/>
                </a:solidFill>
                <a:latin typeface="Calibri"/>
              </a:rPr>
              <a:t>S5  ·  AI governance, +20% 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2267712"/>
            <a:ext cx="2633472" cy="14630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payback 16.8 → 18.2 months</a:t>
            </a:r>
          </a:p>
        </p:txBody>
      </p:sp>
      <p:sp>
        <p:nvSpPr>
          <p:cNvPr id="33" name="Oval 32"/>
          <p:cNvSpPr/>
          <p:nvPr/>
        </p:nvSpPr>
        <p:spPr>
          <a:xfrm>
            <a:off x="7818120" y="2221992"/>
            <a:ext cx="91440" cy="73152"/>
          </a:xfrm>
          <a:prstGeom prst="ellipse">
            <a:avLst/>
          </a:prstGeom>
          <a:solidFill>
            <a:srgbClr val="C2C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01000" y="2148840"/>
            <a:ext cx="12801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no change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23160"/>
            <a:ext cx="2633472" cy="27432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E4EAF4"/>
                </a:solidFill>
                <a:latin typeface="Calibri"/>
              </a:rPr>
              <a:t>S4  ·  repair network 50% faster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2569464"/>
            <a:ext cx="2633472" cy="14630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claimant TAT 2.55 → 1.76 days</a:t>
            </a:r>
          </a:p>
        </p:txBody>
      </p:sp>
      <p:sp>
        <p:nvSpPr>
          <p:cNvPr id="37" name="Oval 36"/>
          <p:cNvSpPr/>
          <p:nvPr/>
        </p:nvSpPr>
        <p:spPr>
          <a:xfrm>
            <a:off x="7818120" y="2523744"/>
            <a:ext cx="91440" cy="73152"/>
          </a:xfrm>
          <a:prstGeom prst="ellipse">
            <a:avLst/>
          </a:prstGeom>
          <a:solidFill>
            <a:srgbClr val="C2C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01000" y="2450592"/>
            <a:ext cx="12801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no change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724912"/>
            <a:ext cx="2633472" cy="27432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E4EAF4"/>
                </a:solidFill>
                <a:latin typeface="Calibri"/>
              </a:rPr>
              <a:t>S1  ·  green lane narrows to 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2871215"/>
            <a:ext cx="2633472" cy="14630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adoption softens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85881" y="2752344"/>
            <a:ext cx="232238" cy="219456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25761" y="2752344"/>
            <a:ext cx="914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FFC000"/>
                </a:solidFill>
                <a:latin typeface="Calibri"/>
              </a:rPr>
              <a:t>−₹1.2 Cr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026664"/>
            <a:ext cx="2633472" cy="27432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E4EAF4"/>
                </a:solidFill>
                <a:latin typeface="Calibri"/>
              </a:rPr>
              <a:t>S2  ·  fraud detection erodes to 77%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3172968"/>
            <a:ext cx="2633472" cy="14630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synthetic media partly defeats the gate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26055" y="3054096"/>
            <a:ext cx="2092064" cy="219456"/>
          </a:xfrm>
          <a:prstGeom prst="roundRect">
            <a:avLst>
              <a:gd name="adj" fmla="val 22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817495" y="3054096"/>
            <a:ext cx="118872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−₹10.9 Cr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3328416"/>
            <a:ext cx="2633472" cy="27432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E4EAF4"/>
                </a:solidFill>
                <a:latin typeface="Calibri"/>
              </a:rPr>
              <a:t>S2  ·  detection reverts to 62%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474720"/>
            <a:ext cx="2633472" cy="14630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full reversion to the rule-based baseline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09624" y="3355848"/>
            <a:ext cx="4508495" cy="219456"/>
          </a:xfrm>
          <a:prstGeom prst="roundRect">
            <a:avLst>
              <a:gd name="adj" fmla="val 22000"/>
            </a:avLst>
          </a:prstGeom>
          <a:solidFill>
            <a:srgbClr val="E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01064" y="3355848"/>
            <a:ext cx="118872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−₹23.5 Cr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675887"/>
            <a:ext cx="2633472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Δ NET ANNUAL BENEFIT vs BASE  ·  ₹ Cr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35440" y="1810512"/>
            <a:ext cx="2414016" cy="137160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235440" y="1810512"/>
            <a:ext cx="2414016" cy="137160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Isosceles Triangle 53"/>
          <p:cNvSpPr/>
          <p:nvPr/>
        </p:nvSpPr>
        <p:spPr>
          <a:xfrm>
            <a:off x="9348825" y="1912924"/>
            <a:ext cx="175564" cy="160934"/>
          </a:xfrm>
          <a:prstGeom prst="triangle">
            <a:avLst/>
          </a:prstGeom>
          <a:noFill/>
          <a:ln w="1397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431121" y="1967788"/>
            <a:ext cx="10972" cy="5120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431121" y="2029968"/>
            <a:ext cx="10972" cy="12801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582912" y="1865376"/>
            <a:ext cx="192024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WHAT THIS RANKING SAYS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45168" y="2084831"/>
            <a:ext cx="2212848" cy="1042415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Only synthetic evidence moves the case materially — and it is the one vector with no published incidence anywhere.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Faster repair partners change our economics by nothing. A +20% governance overlay leaves net benefit untouched.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35440" y="3255264"/>
            <a:ext cx="2414016" cy="85953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Oval 60"/>
          <p:cNvSpPr/>
          <p:nvPr/>
        </p:nvSpPr>
        <p:spPr>
          <a:xfrm>
            <a:off x="9348459" y="3375233"/>
            <a:ext cx="49377" cy="49377"/>
          </a:xfrm>
          <a:prstGeom prst="ellipse">
            <a:avLst/>
          </a:prstGeom>
          <a:noFill/>
          <a:ln w="1397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Oval 61"/>
          <p:cNvSpPr/>
          <p:nvPr/>
        </p:nvSpPr>
        <p:spPr>
          <a:xfrm>
            <a:off x="9457090" y="3325855"/>
            <a:ext cx="49377" cy="49377"/>
          </a:xfrm>
          <a:prstGeom prst="ellipse">
            <a:avLst/>
          </a:prstGeom>
          <a:noFill/>
          <a:ln w="1397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Oval 62"/>
          <p:cNvSpPr/>
          <p:nvPr/>
        </p:nvSpPr>
        <p:spPr>
          <a:xfrm>
            <a:off x="9457090" y="3424610"/>
            <a:ext cx="49377" cy="49377"/>
          </a:xfrm>
          <a:prstGeom prst="ellipse">
            <a:avLst/>
          </a:prstGeom>
          <a:noFill/>
          <a:ln w="1397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397837" y="3396630"/>
            <a:ext cx="32918" cy="822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427464" y="3348898"/>
            <a:ext cx="8229" cy="102047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427464" y="3345606"/>
            <a:ext cx="32918" cy="822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427464" y="3444361"/>
            <a:ext cx="32918" cy="822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546336" y="3291840"/>
            <a:ext cx="2011680" cy="2011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C000"/>
                </a:solidFill>
                <a:latin typeface="Calibri"/>
              </a:rPr>
              <a:t>IF AUTONOMY IS RESTRICTED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45168" y="3511296"/>
            <a:ext cx="2212848" cy="384048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ClaimPulse becomes a decision-support platform, not an autonomous settlement engine. The intelligence layer still creates value.</a:t>
            </a:r>
          </a:p>
        </p:txBody>
      </p:sp>
      <p:sp>
        <p:nvSpPr>
          <p:cNvPr id="70" name="Diamond 69"/>
          <p:cNvSpPr/>
          <p:nvPr/>
        </p:nvSpPr>
        <p:spPr>
          <a:xfrm>
            <a:off x="570585" y="3920032"/>
            <a:ext cx="175564" cy="43891"/>
          </a:xfrm>
          <a:prstGeom prst="diamond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74243" y="3989527"/>
            <a:ext cx="168249" cy="10972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574243" y="4029760"/>
            <a:ext cx="168249" cy="10972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41247" y="3895344"/>
            <a:ext cx="704088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CORRELATED STRESS  ·  what is left when several assumptions miss at the same time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66928" y="4151376"/>
            <a:ext cx="1773936" cy="1261872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66928" y="4151376"/>
            <a:ext cx="1773936" cy="1261872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9224" y="4187952"/>
            <a:ext cx="1609344" cy="42062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AS MODELLED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Base plan on published assumptions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9224" y="4626864"/>
            <a:ext cx="1609344" cy="10972"/>
          </a:xfrm>
          <a:prstGeom prst="rect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9224" y="4663440"/>
            <a:ext cx="914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Net annual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435607" y="4663440"/>
            <a:ext cx="8229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₹43.31 Cr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9224" y="4901183"/>
            <a:ext cx="914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5-yr NPV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7" y="4901183"/>
            <a:ext cx="8229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₹145.94 Cr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9224" y="5138927"/>
            <a:ext cx="914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Payback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35607" y="5138927"/>
            <a:ext cx="8229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16.8 mo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423160" y="4151376"/>
            <a:ext cx="1773936" cy="1261872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2423160" y="4151376"/>
            <a:ext cx="1773936" cy="1261872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505456" y="4187952"/>
            <a:ext cx="1609344" cy="42062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 · OPERATING REALITY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In-house handling at ₹83 a touch, 5 baseline touches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05456" y="4626864"/>
            <a:ext cx="1609344" cy="10972"/>
          </a:xfrm>
          <a:prstGeom prst="rect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505456" y="4663440"/>
            <a:ext cx="914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Net annual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91839" y="4663440"/>
            <a:ext cx="8229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₹25.11 Cr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505456" y="4901183"/>
            <a:ext cx="914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5-yr NPV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91839" y="4901183"/>
            <a:ext cx="8229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₹79.55 Cr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505456" y="5138927"/>
            <a:ext cx="914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Payback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91839" y="5138927"/>
            <a:ext cx="8229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22.4 mo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279392" y="4151376"/>
            <a:ext cx="1773936" cy="1261872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4279392" y="4151376"/>
            <a:ext cx="1773936" cy="1261872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361688" y="4187952"/>
            <a:ext cx="1609344" cy="42062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 · FRAUD DISAPPOINTS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Detection at 82%, leakage halved, synthetic quartered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61688" y="4626864"/>
            <a:ext cx="1609344" cy="10972"/>
          </a:xfrm>
          <a:prstGeom prst="rect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361688" y="4663440"/>
            <a:ext cx="914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Net annual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148072" y="4663440"/>
            <a:ext cx="8229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₹27.25 Cr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361688" y="4901183"/>
            <a:ext cx="914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5-yr NPV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148072" y="4901183"/>
            <a:ext cx="8229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₹87.33 Cr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361688" y="5138927"/>
            <a:ext cx="914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Payback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148072" y="5138927"/>
            <a:ext cx="8229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21.7 mo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135624" y="4151376"/>
            <a:ext cx="1773936" cy="1261872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6135624" y="4151376"/>
            <a:ext cx="1773936" cy="1261872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217920" y="4187952"/>
            <a:ext cx="1609344" cy="42062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 · ADOPTION DRAGS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Rollout 35%, green lane 50%, friction doubled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217920" y="4626864"/>
            <a:ext cx="1609344" cy="10972"/>
          </a:xfrm>
          <a:prstGeom prst="rect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217920" y="4663440"/>
            <a:ext cx="914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Net annual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004304" y="4663440"/>
            <a:ext cx="8229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₹23.56 Cr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17920" y="4901183"/>
            <a:ext cx="914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5-yr NPV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004304" y="4901183"/>
            <a:ext cx="8229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₹74.36 Cr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17920" y="5138927"/>
            <a:ext cx="914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Payback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004304" y="5138927"/>
            <a:ext cx="8229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22.5 mo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991855" y="4151376"/>
            <a:ext cx="1773936" cy="1261872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7991855" y="4151376"/>
            <a:ext cx="1773936" cy="1261872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074151" y="4187952"/>
            <a:ext cx="1609344" cy="42062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 · ALL THREE AT ONCE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Every one of the above, applied together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074151" y="4626864"/>
            <a:ext cx="1609344" cy="10972"/>
          </a:xfrm>
          <a:prstGeom prst="rect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8074151" y="4663440"/>
            <a:ext cx="914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Net annual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860535" y="4663440"/>
            <a:ext cx="8229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₹4.21 Cr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074151" y="4901183"/>
            <a:ext cx="914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5-yr NPV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860535" y="4901183"/>
            <a:ext cx="8229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₹3.76 Cr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074151" y="5138927"/>
            <a:ext cx="914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Payback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860535" y="5138927"/>
            <a:ext cx="8229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47.7 mo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848087" y="4151376"/>
            <a:ext cx="1773936" cy="1261872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9848087" y="4151376"/>
            <a:ext cx="1773936" cy="1261872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9930383" y="4187952"/>
            <a:ext cx="1609344" cy="42062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FLOOR · LABOUR ONLY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Zero fraud, gate, synthetic and renewal value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930383" y="4626864"/>
            <a:ext cx="1609344" cy="10972"/>
          </a:xfrm>
          <a:prstGeom prst="rect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930383" y="4663440"/>
            <a:ext cx="914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Net annual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716767" y="4663440"/>
            <a:ext cx="8229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₹3.78 Cr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930383" y="4901183"/>
            <a:ext cx="914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5-yr NPV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716767" y="4901183"/>
            <a:ext cx="8229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—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930383" y="5138927"/>
            <a:ext cx="914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Payback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716767" y="5138927"/>
            <a:ext cx="82296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31.4 mo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66928" y="5486400"/>
            <a:ext cx="5468112" cy="31089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566928" y="5486400"/>
            <a:ext cx="5468112" cy="310896"/>
          </a:xfrm>
          <a:prstGeom prst="roundRect">
            <a:avLst>
              <a:gd name="adj" fmla="val 7000"/>
            </a:avLst>
          </a:prstGeom>
          <a:solidFill>
            <a:srgbClr val="70AD47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680679" y="5545287"/>
            <a:ext cx="193121" cy="193121"/>
          </a:xfrm>
          <a:prstGeom prst="ellipse">
            <a:avLst/>
          </a:prstGeom>
          <a:noFill/>
          <a:ln w="13970">
            <a:solidFill>
              <a:srgbClr val="9BDC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49224" y="5509259"/>
            <a:ext cx="256032" cy="265176"/>
          </a:xfrm>
          <a:prstGeom prst="rect">
            <a:avLst/>
          </a:prstGeom>
          <a:noFill/>
        </p:spPr>
        <p:txBody>
          <a:bodyPr wrap="square" lIns="0" tIns="13716" rIns="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BDC76"/>
                </a:solidFill>
                <a:latin typeface="Calibri"/>
              </a:rPr>
              <a:t>✓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69264" y="5486400"/>
            <a:ext cx="5010912" cy="31089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BDC76"/>
                </a:solidFill>
                <a:latin typeface="Calibri"/>
              </a:rPr>
              <a:t>INVESTOR GATE   </a:t>
            </a:r>
            <a:r>
              <a:rPr sz="900" b="0">
                <a:solidFill>
                  <a:srgbClr val="E4EAF4"/>
                </a:solidFill>
                <a:latin typeface="Calibri"/>
              </a:rPr>
              <a:t>Five-year NPV positive in every case, tested on the correlated case.</a:t>
            </a:r>
            <a:r>
              <a:rPr sz="900" b="1">
                <a:solidFill>
                  <a:srgbClr val="9BDC76"/>
                </a:solidFill>
                <a:latin typeface="Calibri"/>
              </a:rPr>
              <a:t>   PASS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144768" y="5486400"/>
            <a:ext cx="5504688" cy="31089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0" name="Rounded Rectangle 139"/>
          <p:cNvSpPr/>
          <p:nvPr/>
        </p:nvSpPr>
        <p:spPr>
          <a:xfrm>
            <a:off x="6144768" y="5486400"/>
            <a:ext cx="5504688" cy="310896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6258519" y="5545287"/>
            <a:ext cx="193121" cy="193121"/>
          </a:xfrm>
          <a:prstGeom prst="ellipse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6314846" y="5601614"/>
            <a:ext cx="80467" cy="80467"/>
          </a:xfrm>
          <a:prstGeom prst="ellipse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6547104" y="5486400"/>
            <a:ext cx="4992623" cy="31089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MODEL VALIDATION   </a:t>
            </a:r>
            <a:r>
              <a:rPr sz="900" b="0">
                <a:solidFill>
                  <a:srgbClr val="E4EAF4"/>
                </a:solidFill>
                <a:latin typeface="Calibri"/>
              </a:rPr>
              <a:t>9 breakpoints  ·  24 integrity checks PASS  ·  6 anchors TIE  ·  8 gaps declared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66928" y="5907024"/>
            <a:ext cx="11082528" cy="292608"/>
          </a:xfrm>
          <a:prstGeom prst="roundRect">
            <a:avLst>
              <a:gd name="adj" fmla="val 30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566928" y="5907024"/>
            <a:ext cx="45720" cy="29260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13232" y="5907024"/>
            <a:ext cx="10808207" cy="29260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INSIGHT   </a:t>
            </a:r>
            <a:r>
              <a:rPr sz="900" b="0">
                <a:solidFill>
                  <a:srgbClr val="E4EAF4"/>
                </a:solidFill>
                <a:latin typeface="Calibri"/>
              </a:rPr>
              <a:t>We recommend the Base plan at 60% rollout — below 32% the labour engine alone stops covering its run cost, and the pilot's green-lane gate is the trigger that releases the full book.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377440" y="6345936"/>
            <a:ext cx="9290304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Source   </a:t>
            </a:r>
            <a:r>
              <a:rPr sz="900" b="0">
                <a:solidFill>
                  <a:srgbClr val="C2CDE0"/>
                </a:solidFill>
                <a:latin typeface="Calibri"/>
              </a:rPr>
              <a:t>ClaimPulse Investor Dashboard R5 — Sheet 8 Scenario Simulation (Parts A and B); Sheet 3 Workings (Part L, L-01 to L-31).</a:t>
            </a:r>
          </a:p>
        </p:txBody>
      </p:sp>
      <p:sp>
        <p:nvSpPr>
          <p:cNvPr id="3" name="Rounded Rectangle 59">
            <a:extLst>
              <a:ext uri="{FF2B5EF4-FFF2-40B4-BE49-F238E27FC236}">
                <a16:creationId xmlns:a16="http://schemas.microsoft.com/office/drawing/2014/main" id="{88657223-BAF7-7565-C000-DA203230814C}"/>
              </a:ext>
            </a:extLst>
          </p:cNvPr>
          <p:cNvSpPr/>
          <p:nvPr/>
        </p:nvSpPr>
        <p:spPr>
          <a:xfrm>
            <a:off x="9235440" y="3255264"/>
            <a:ext cx="2414016" cy="859536"/>
          </a:xfrm>
          <a:prstGeom prst="roundRect">
            <a:avLst>
              <a:gd name="adj" fmla="val 7000"/>
            </a:avLst>
          </a:prstGeom>
          <a:solidFill>
            <a:srgbClr val="FFC000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ilver ball&#10;&#10;AI-generated content may be incorrect.">
            <a:extLst>
              <a:ext uri="{FF2B5EF4-FFF2-40B4-BE49-F238E27FC236}">
                <a16:creationId xmlns:a16="http://schemas.microsoft.com/office/drawing/2014/main" id="{8D6844B5-87C1-8654-913E-7E29397C9A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720" y="-40640"/>
            <a:ext cx="1198562" cy="11969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650EC-1D30-597C-1158-9B8915C7DC0E}"/>
              </a:ext>
            </a:extLst>
          </p:cNvPr>
          <p:cNvCxnSpPr/>
          <p:nvPr/>
        </p:nvCxnSpPr>
        <p:spPr>
          <a:xfrm>
            <a:off x="10373360" y="172720"/>
            <a:ext cx="0" cy="701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283025B-4C80-2949-50DA-CA5414A1E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080002"/>
              </p:ext>
            </p:extLst>
          </p:nvPr>
        </p:nvGraphicFramePr>
        <p:xfrm>
          <a:off x="436879" y="1093606"/>
          <a:ext cx="11338557" cy="5191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338557">
                  <a:extLst>
                    <a:ext uri="{9D8B030D-6E8A-4147-A177-3AD203B41FA5}">
                      <a16:colId xmlns:a16="http://schemas.microsoft.com/office/drawing/2014/main" val="3630218146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r>
                        <a:rPr lang="en-US" dirty="0"/>
                        <a:t>Solution Proposed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62817"/>
                  </a:ext>
                </a:extLst>
              </a:tr>
              <a:tr h="4824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131517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6928" y="164592"/>
            <a:ext cx="2460620" cy="237744"/>
          </a:xfrm>
          <a:prstGeom prst="roundRect">
            <a:avLst>
              <a:gd name="adj" fmla="val 30000"/>
            </a:avLst>
          </a:prstGeom>
          <a:solidFill>
            <a:srgbClr val="9DD3FF">
              <a:alpha val="2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64592"/>
            <a:ext cx="2460620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PILOT &amp; IMPLEMENTATION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4572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402336"/>
            <a:ext cx="8357616" cy="6583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Ten months to build, four phases, and four pilot gates that each carry a stated kill criterion — capital is released against measurements, not against this deck.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" y="1612087"/>
            <a:ext cx="168249" cy="149961"/>
          </a:xfrm>
          <a:prstGeom prst="roundRect">
            <a:avLst>
              <a:gd name="adj" fmla="val 12000"/>
            </a:avLst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4243" y="1648663"/>
            <a:ext cx="168249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4476" y="1593799"/>
            <a:ext cx="10972" cy="3291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1286" y="1593799"/>
            <a:ext cx="10972" cy="3291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1572768"/>
            <a:ext cx="777240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IMPLEMENTATION ROADMAP  ·  15 costed components  ·  ₹9.89 Cr  ·  10 months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1810512"/>
            <a:ext cx="2121408" cy="122529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66928" y="1810512"/>
            <a:ext cx="2121408" cy="1225296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66928" y="1810512"/>
            <a:ext cx="2121408" cy="237744"/>
          </a:xfrm>
          <a:prstGeom prst="roundRect">
            <a:avLst>
              <a:gd name="adj" fmla="val 24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Document 24"/>
          <p:cNvSpPr/>
          <p:nvPr/>
        </p:nvSpPr>
        <p:spPr>
          <a:xfrm>
            <a:off x="665683" y="1845259"/>
            <a:ext cx="131673" cy="168249"/>
          </a:xfrm>
          <a:prstGeom prst="flowChartDocument">
            <a:avLst/>
          </a:prstGeom>
          <a:noFill/>
          <a:ln w="13970">
            <a:solidFill>
              <a:srgbClr val="14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91286" y="1892807"/>
            <a:ext cx="80467" cy="10972"/>
          </a:xfrm>
          <a:prstGeom prst="rect">
            <a:avLst/>
          </a:prstGeom>
          <a:solidFill>
            <a:srgbClr val="14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1286" y="1922068"/>
            <a:ext cx="80467" cy="10972"/>
          </a:xfrm>
          <a:prstGeom prst="rect">
            <a:avLst/>
          </a:prstGeom>
          <a:solidFill>
            <a:srgbClr val="14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1286" y="1951329"/>
            <a:ext cx="51206" cy="10972"/>
          </a:xfrm>
          <a:prstGeom prst="rect">
            <a:avLst/>
          </a:prstGeom>
          <a:solidFill>
            <a:srgbClr val="14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7824" y="1810512"/>
            <a:ext cx="1755648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P1   ·   MONTHS 1–3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2084831"/>
            <a:ext cx="1956816" cy="9144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DD3FF"/>
                </a:solidFill>
                <a:latin typeface="Calibri"/>
              </a:rPr>
              <a:t>₹1.44 Cr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Document AI + OCR · Policy RAG
EXIF forensics · live-capture SDK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▸ Gate 00 live, extraction in shadow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98064" y="1810512"/>
            <a:ext cx="2121408" cy="122529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798064" y="1810512"/>
            <a:ext cx="2121408" cy="1225296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798064" y="1810512"/>
            <a:ext cx="2121408" cy="237744"/>
          </a:xfrm>
          <a:prstGeom prst="roundRect">
            <a:avLst>
              <a:gd name="adj" fmla="val 24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Pentagon 33"/>
          <p:cNvSpPr/>
          <p:nvPr/>
        </p:nvSpPr>
        <p:spPr>
          <a:xfrm rot="10800000">
            <a:off x="2882188" y="1841601"/>
            <a:ext cx="160934" cy="175564"/>
          </a:xfrm>
          <a:prstGeom prst="homePlate">
            <a:avLst/>
          </a:prstGeom>
          <a:noFill/>
          <a:ln w="13970">
            <a:solidFill>
              <a:srgbClr val="14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08960" y="1810512"/>
            <a:ext cx="1755648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P2   ·   MONTHS 3–6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2084831"/>
            <a:ext cx="1956816" cy="9144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DD3FF"/>
                </a:solidFill>
                <a:latin typeface="Calibri"/>
              </a:rPr>
              <a:t>₹2.73 Cr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Synthetic screening · CV damage
Repair cost · training data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▸ The moat trained on our own media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0" y="1810512"/>
            <a:ext cx="2121408" cy="122529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029200" y="1810512"/>
            <a:ext cx="2121408" cy="1225296"/>
          </a:xfrm>
          <a:prstGeom prst="roundRect">
            <a:avLst>
              <a:gd name="adj" fmla="val 7000"/>
            </a:avLst>
          </a:prstGeom>
          <a:solidFill>
            <a:srgbClr val="70AD47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29200" y="1810512"/>
            <a:ext cx="2121408" cy="237744"/>
          </a:xfrm>
          <a:prstGeom prst="roundRect">
            <a:avLst>
              <a:gd name="adj" fmla="val 24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Oval 39"/>
          <p:cNvSpPr/>
          <p:nvPr/>
        </p:nvSpPr>
        <p:spPr>
          <a:xfrm>
            <a:off x="5106009" y="1900123"/>
            <a:ext cx="54864" cy="54864"/>
          </a:xfrm>
          <a:prstGeom prst="ellipse">
            <a:avLst/>
          </a:prstGeom>
          <a:noFill/>
          <a:ln w="13970">
            <a:solidFill>
              <a:srgbClr val="14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Oval 40"/>
          <p:cNvSpPr/>
          <p:nvPr/>
        </p:nvSpPr>
        <p:spPr>
          <a:xfrm>
            <a:off x="5226710" y="1845259"/>
            <a:ext cx="54864" cy="54864"/>
          </a:xfrm>
          <a:prstGeom prst="ellipse">
            <a:avLst/>
          </a:prstGeom>
          <a:noFill/>
          <a:ln w="13970">
            <a:solidFill>
              <a:srgbClr val="14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Oval 41"/>
          <p:cNvSpPr/>
          <p:nvPr/>
        </p:nvSpPr>
        <p:spPr>
          <a:xfrm>
            <a:off x="5226710" y="1954987"/>
            <a:ext cx="54864" cy="54864"/>
          </a:xfrm>
          <a:prstGeom prst="ellipse">
            <a:avLst/>
          </a:prstGeom>
          <a:noFill/>
          <a:ln w="13970">
            <a:solidFill>
              <a:srgbClr val="14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160873" y="1923897"/>
            <a:ext cx="36576" cy="9144"/>
          </a:xfrm>
          <a:prstGeom prst="rect">
            <a:avLst/>
          </a:prstGeom>
          <a:solidFill>
            <a:srgbClr val="14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193792" y="1870862"/>
            <a:ext cx="9144" cy="113385"/>
          </a:xfrm>
          <a:prstGeom prst="rect">
            <a:avLst/>
          </a:prstGeom>
          <a:solidFill>
            <a:srgbClr val="14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193792" y="1867204"/>
            <a:ext cx="36576" cy="9144"/>
          </a:xfrm>
          <a:prstGeom prst="rect">
            <a:avLst/>
          </a:prstGeom>
          <a:solidFill>
            <a:srgbClr val="14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193792" y="1976932"/>
            <a:ext cx="36576" cy="9144"/>
          </a:xfrm>
          <a:prstGeom prst="rect">
            <a:avLst/>
          </a:prstGeom>
          <a:solidFill>
            <a:srgbClr val="14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40096" y="1810512"/>
            <a:ext cx="1755648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P3   ·   MONTHS 5–7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11496" y="2084831"/>
            <a:ext cx="1956816" cy="9144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DD3FF"/>
                </a:solidFill>
                <a:latin typeface="Calibri"/>
              </a:rPr>
              <a:t>₹1.00 Cr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Fraud and duplicate graph engine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▸ Ring detection in shadow mode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60336" y="1810512"/>
            <a:ext cx="2121408" cy="122529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260336" y="1810512"/>
            <a:ext cx="2121408" cy="1225296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260336" y="1810512"/>
            <a:ext cx="2121408" cy="237744"/>
          </a:xfrm>
          <a:prstGeom prst="roundRect">
            <a:avLst>
              <a:gd name="adj" fmla="val 24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Gear 6 51"/>
          <p:cNvSpPr/>
          <p:nvPr/>
        </p:nvSpPr>
        <p:spPr>
          <a:xfrm>
            <a:off x="7337145" y="1841601"/>
            <a:ext cx="175564" cy="175564"/>
          </a:xfrm>
          <a:prstGeom prst="gear6">
            <a:avLst/>
          </a:prstGeom>
          <a:noFill/>
          <a:ln w="13970">
            <a:solidFill>
              <a:srgbClr val="14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71232" y="1810512"/>
            <a:ext cx="1755648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P4   ·   MONTHS 7–10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42632" y="2084831"/>
            <a:ext cx="1956816" cy="9144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DD3FF"/>
                </a:solidFill>
                <a:latin typeface="Calibri"/>
              </a:rPr>
              <a:t>₹3.07 Cr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Trust Score core · hardening
claimant and garage consoles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▸ Routing live: audit, override, rollback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491472" y="1810512"/>
            <a:ext cx="2121408" cy="122529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9491472" y="1810512"/>
            <a:ext cx="2121408" cy="1225296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9491472" y="1810512"/>
            <a:ext cx="2121408" cy="237744"/>
          </a:xfrm>
          <a:prstGeom prst="roundRect">
            <a:avLst>
              <a:gd name="adj" fmla="val 24000"/>
            </a:avLst>
          </a:prstGeom>
          <a:solidFill>
            <a:srgbClr val="C2C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Diamond 57"/>
          <p:cNvSpPr/>
          <p:nvPr/>
        </p:nvSpPr>
        <p:spPr>
          <a:xfrm>
            <a:off x="9568281" y="1848916"/>
            <a:ext cx="175564" cy="43891"/>
          </a:xfrm>
          <a:prstGeom prst="diamond">
            <a:avLst/>
          </a:prstGeom>
          <a:noFill/>
          <a:ln w="13970">
            <a:solidFill>
              <a:srgbClr val="14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571939" y="1918411"/>
            <a:ext cx="168249" cy="10972"/>
          </a:xfrm>
          <a:prstGeom prst="rect">
            <a:avLst/>
          </a:prstGeom>
          <a:solidFill>
            <a:srgbClr val="14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571939" y="1958644"/>
            <a:ext cx="168249" cy="10972"/>
          </a:xfrm>
          <a:prstGeom prst="rect">
            <a:avLst/>
          </a:prstGeom>
          <a:solidFill>
            <a:srgbClr val="14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02367" y="1810512"/>
            <a:ext cx="1755648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CROSS   ·   MONTHS 1–10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73767" y="2084831"/>
            <a:ext cx="1956816" cy="9144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DD3FF"/>
                </a:solidFill>
                <a:latin typeface="Calibri"/>
              </a:rPr>
              <a:t>₹1.65 Cr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Systems integration · QC and UAT
security, DPDP, SOC2</a:t>
            </a:r>
          </a:p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▸ VAHAN, garage, policy DB, CRM live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4243" y="3258007"/>
            <a:ext cx="168249" cy="109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85216" y="3217773"/>
            <a:ext cx="10972" cy="43891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21792" y="3188512"/>
            <a:ext cx="10972" cy="7315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58368" y="3206800"/>
            <a:ext cx="10972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94944" y="3151936"/>
            <a:ext cx="10972" cy="10972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41247" y="3108960"/>
            <a:ext cx="484632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BENEFIT RAMP  ·  net benefit, ₹ Cr  ·  run cost charged in full from Year 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" y="4224528"/>
            <a:ext cx="5120640" cy="10972"/>
          </a:xfrm>
          <a:prstGeom prst="rect">
            <a:avLst/>
          </a:prstGeom>
          <a:solidFill>
            <a:srgbClr val="FFFFFF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66928" y="4023360"/>
            <a:ext cx="1170432" cy="201168"/>
          </a:xfrm>
          <a:prstGeom prst="rect">
            <a:avLst/>
          </a:prstGeom>
          <a:solidFill>
            <a:srgbClr val="C2C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66928" y="3803904"/>
            <a:ext cx="1170432" cy="2011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−₹9.89 Cr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4279392"/>
            <a:ext cx="1170432" cy="384048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YEAR 0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build · 0% realisation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65376" y="3913632"/>
            <a:ext cx="1170432" cy="31089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865376" y="3694176"/>
            <a:ext cx="1170432" cy="2011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₹17.34 Cr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65376" y="4279392"/>
            <a:ext cx="1170432" cy="384048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YEAR 1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45% realisation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63824" y="3639312"/>
            <a:ext cx="1170432" cy="58521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163824" y="3639312"/>
            <a:ext cx="1170432" cy="58521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₹42.97 Cr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63824" y="4279392"/>
            <a:ext cx="1170432" cy="384048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YEAR 2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92% realisation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462272" y="3511296"/>
            <a:ext cx="1170432" cy="71323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462272" y="3511296"/>
            <a:ext cx="1170432" cy="71323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1F3A"/>
                </a:solidFill>
                <a:latin typeface="Calibri"/>
              </a:rPr>
              <a:t>₹51.17 Cr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62272" y="4279392"/>
            <a:ext cx="1170432" cy="384048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YEAR 3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100% realisation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870448" y="3346704"/>
            <a:ext cx="5779008" cy="129844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5870448" y="3346704"/>
            <a:ext cx="5779008" cy="1298448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Oval 83"/>
          <p:cNvSpPr/>
          <p:nvPr/>
        </p:nvSpPr>
        <p:spPr>
          <a:xfrm>
            <a:off x="5987491" y="3445459"/>
            <a:ext cx="168249" cy="168249"/>
          </a:xfrm>
          <a:prstGeom prst="ellipse">
            <a:avLst/>
          </a:prstGeom>
          <a:noFill/>
          <a:ln w="1397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6066129" y="3482035"/>
            <a:ext cx="10972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6066129" y="3525926"/>
            <a:ext cx="51206" cy="1097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17920" y="3401568"/>
            <a:ext cx="5303520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DD3FF"/>
                </a:solidFill>
                <a:latin typeface="Calibri"/>
              </a:rPr>
              <a:t>PAYBACK FROM PROJECT KICKOFF   ·   MONTH 16.8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80176" y="3675887"/>
            <a:ext cx="5577840" cy="914400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Includes the ten-month build window, in which no benefit accrues.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3-YEAR POSITION, BASE PLAN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E4EAF4"/>
                </a:solidFill>
                <a:latin typeface="Calibri"/>
              </a:rPr>
              <a:t>Cumulative net benefit ₹111.49 Cr  ·  3-year NPV ₹76.28 Cr  ·  3-year TCO ₹22.64 Cr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THE COST OF WAITING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E4EAF4"/>
                </a:solidFill>
                <a:latin typeface="Calibri"/>
              </a:rPr>
              <a:t>Every month of delay forgoes ₹3.61 Cr. Six months costs ₹21.66 Cr — twice the build.</a:t>
            </a:r>
          </a:p>
        </p:txBody>
      </p:sp>
      <p:sp>
        <p:nvSpPr>
          <p:cNvPr id="89" name="Oval 88"/>
          <p:cNvSpPr/>
          <p:nvPr/>
        </p:nvSpPr>
        <p:spPr>
          <a:xfrm>
            <a:off x="570585" y="4699101"/>
            <a:ext cx="175564" cy="175564"/>
          </a:xfrm>
          <a:prstGeom prst="ellipse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Oval 89"/>
          <p:cNvSpPr/>
          <p:nvPr/>
        </p:nvSpPr>
        <p:spPr>
          <a:xfrm>
            <a:off x="621792" y="4750307"/>
            <a:ext cx="73152" cy="73152"/>
          </a:xfrm>
          <a:prstGeom prst="ellipse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41247" y="4681728"/>
            <a:ext cx="4663440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THE FOUR 90-DAY PILOT GATES  ·  each carries a kill criterion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94960" y="4690872"/>
            <a:ext cx="6254496" cy="2011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FIVE DATA REQUESTS FROM BAJAJ   </a:t>
            </a:r>
            <a:r>
              <a:rPr sz="900" b="0">
                <a:solidFill>
                  <a:srgbClr val="C2CDE0"/>
                </a:solidFill>
                <a:latin typeface="Calibri"/>
              </a:rPr>
              <a:t>touches per claim · claim count by band · fraud leakage · DPDP position · exception capacity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66928" y="4919472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66928" y="4919472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566928" y="4919472"/>
            <a:ext cx="54864" cy="7315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739566" y="5009814"/>
            <a:ext cx="111922" cy="111922"/>
          </a:xfrm>
          <a:prstGeom prst="rect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785652" y="4986771"/>
            <a:ext cx="9875" cy="2304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785652" y="5121737"/>
            <a:ext cx="9875" cy="2304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16523" y="5055900"/>
            <a:ext cx="23042" cy="9875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851489" y="5055900"/>
            <a:ext cx="23042" cy="9875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50976" y="4937760"/>
            <a:ext cx="2212848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MEASURED GPU-SECONDS PER CLAIM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13232" y="5157216"/>
            <a:ext cx="2432304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Target: below the 77-second breakeven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3232" y="5376672"/>
            <a:ext cx="2432304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E06666"/>
                </a:solidFill>
                <a:latin typeface="Calibri"/>
              </a:rPr>
              <a:t>KILL — above it, the GenAI layer is bought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364992" y="4919472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3364992" y="4919472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3364992" y="4919472"/>
            <a:ext cx="54864" cy="7315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Pentagon 106"/>
          <p:cNvSpPr/>
          <p:nvPr/>
        </p:nvSpPr>
        <p:spPr>
          <a:xfrm rot="10800000">
            <a:off x="3521171" y="4986771"/>
            <a:ext cx="144840" cy="158008"/>
          </a:xfrm>
          <a:prstGeom prst="homePlat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749040" y="4937760"/>
            <a:ext cx="2212848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SHADOW-MODE FRAUD DETECTION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511296" y="5157216"/>
            <a:ext cx="2432304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Target: 82% or better on held-out claims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511296" y="5376672"/>
            <a:ext cx="2432304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E06666"/>
                </a:solidFill>
                <a:latin typeface="Calibri"/>
              </a:rPr>
              <a:t>KILL — below 82%, fraud lines rebuilt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163056" y="4919472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6163056" y="4919472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6163056" y="4919472"/>
            <a:ext cx="54864" cy="7315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6312651" y="4993355"/>
            <a:ext cx="55961" cy="52669"/>
          </a:xfrm>
          <a:prstGeom prst="rect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6414698" y="4993355"/>
            <a:ext cx="55961" cy="52669"/>
          </a:xfrm>
          <a:prstGeom prst="rect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6363675" y="5085527"/>
            <a:ext cx="55961" cy="52669"/>
          </a:xfrm>
          <a:prstGeom prst="rect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6365321" y="5016398"/>
            <a:ext cx="49377" cy="8229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6386718" y="5042733"/>
            <a:ext cx="8229" cy="46085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547104" y="4937760"/>
            <a:ext cx="2212848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GREEN-LANE SHARE ON LIVE CLAIMS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309360" y="5157216"/>
            <a:ext cx="2432304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Target: 50% or better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309360" y="5376672"/>
            <a:ext cx="2432304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E06666"/>
                </a:solidFill>
                <a:latin typeface="Calibri"/>
              </a:rPr>
              <a:t>KILL — below 50%, rollout pauses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961119" y="4919472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8961119" y="4919472"/>
            <a:ext cx="2670048" cy="73152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8961119" y="4919472"/>
            <a:ext cx="54864" cy="7315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Isosceles Triangle 124"/>
          <p:cNvSpPr/>
          <p:nvPr/>
        </p:nvSpPr>
        <p:spPr>
          <a:xfrm>
            <a:off x="9110715" y="4993355"/>
            <a:ext cx="158008" cy="144840"/>
          </a:xfrm>
          <a:prstGeom prst="triangl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9184782" y="5042733"/>
            <a:ext cx="9875" cy="46085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9184782" y="5098694"/>
            <a:ext cx="9875" cy="11521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345167" y="4937760"/>
            <a:ext cx="2212848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EXCEPTION QUEUE DEPTH AND P90 TAT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107424" y="5157216"/>
            <a:ext cx="2432304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Target: within claims-operations capacity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107424" y="5376672"/>
            <a:ext cx="2432304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E06666"/>
                </a:solidFill>
                <a:latin typeface="Calibri"/>
              </a:rPr>
              <a:t>KILL — if P90 slips, rollout holds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66928" y="5907024"/>
            <a:ext cx="11082528" cy="292608"/>
          </a:xfrm>
          <a:prstGeom prst="roundRect">
            <a:avLst>
              <a:gd name="adj" fmla="val 30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566928" y="5907024"/>
            <a:ext cx="45720" cy="29260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713232" y="5907024"/>
            <a:ext cx="10808207" cy="29260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INSIGHT   </a:t>
            </a:r>
            <a:r>
              <a:rPr sz="900" b="0">
                <a:solidFill>
                  <a:srgbClr val="E4EAF4"/>
                </a:solidFill>
                <a:latin typeface="Calibri"/>
              </a:rPr>
              <a:t>The pilot converts every Tier 4 input into a measured one — capital beyond 90 days is released against gate results, not against this deck.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377440" y="6345936"/>
            <a:ext cx="9290304" cy="182880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Source   </a:t>
            </a:r>
            <a:r>
              <a:rPr sz="900" b="0">
                <a:solidFill>
                  <a:srgbClr val="C2CDE0"/>
                </a:solidFill>
                <a:latin typeface="Calibri"/>
              </a:rPr>
              <a:t>ClaimPulse Investor Dashboard R5 — Sheet 3 Workings (Part D build stack); Sheet 4 Forecast; Sheet 5 Investor Metrics (Part E); Sheet 0 Investment Committee (IC-31 to IC-34).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ilver ball&#10;&#10;AI-generated content may be incorrect.">
            <a:extLst>
              <a:ext uri="{FF2B5EF4-FFF2-40B4-BE49-F238E27FC236}">
                <a16:creationId xmlns:a16="http://schemas.microsoft.com/office/drawing/2014/main" id="{29D34E54-2A74-AD04-A6F8-40A8C925F4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720" y="-40640"/>
            <a:ext cx="1198562" cy="11969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798F74-D7DF-C57A-97F0-0C3B398DAA06}"/>
              </a:ext>
            </a:extLst>
          </p:cNvPr>
          <p:cNvCxnSpPr/>
          <p:nvPr/>
        </p:nvCxnSpPr>
        <p:spPr>
          <a:xfrm>
            <a:off x="10373360" y="172720"/>
            <a:ext cx="0" cy="701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C0B784F-80CD-3A2D-6F22-B96A41704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901255"/>
              </p:ext>
            </p:extLst>
          </p:nvPr>
        </p:nvGraphicFramePr>
        <p:xfrm>
          <a:off x="436879" y="1093606"/>
          <a:ext cx="11338557" cy="380351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338557">
                  <a:extLst>
                    <a:ext uri="{9D8B030D-6E8A-4147-A177-3AD203B41FA5}">
                      <a16:colId xmlns:a16="http://schemas.microsoft.com/office/drawing/2014/main" val="3630218146"/>
                    </a:ext>
                  </a:extLst>
                </a:gridCol>
              </a:tblGrid>
              <a:tr h="378136">
                <a:tc>
                  <a:txBody>
                    <a:bodyPr/>
                    <a:lstStyle/>
                    <a:p>
                      <a:r>
                        <a:rPr lang="en-US" dirty="0"/>
                        <a:t>Your Solution’s USP/Value Proposition: </a:t>
                      </a:r>
                      <a:r>
                        <a:rPr lang="en-US" b="1" i="1" dirty="0"/>
                        <a:t>Why should we consider you?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62817"/>
                  </a:ext>
                </a:extLst>
              </a:tr>
              <a:tr h="34253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131517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EA6A04-DF4D-4DD0-AC0D-DEAFA59EB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955320"/>
              </p:ext>
            </p:extLst>
          </p:nvPr>
        </p:nvGraphicFramePr>
        <p:xfrm>
          <a:off x="436879" y="4998101"/>
          <a:ext cx="11338557" cy="144753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338557">
                  <a:extLst>
                    <a:ext uri="{9D8B030D-6E8A-4147-A177-3AD203B41FA5}">
                      <a16:colId xmlns:a16="http://schemas.microsoft.com/office/drawing/2014/main" val="3630218146"/>
                    </a:ext>
                  </a:extLst>
                </a:gridCol>
              </a:tblGrid>
              <a:tr h="395976">
                <a:tc>
                  <a:txBody>
                    <a:bodyPr/>
                    <a:lstStyle/>
                    <a:p>
                      <a:r>
                        <a:rPr lang="en-US" dirty="0"/>
                        <a:t>References/ Source Citation</a:t>
                      </a:r>
                      <a:endParaRPr lang="en-US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62817"/>
                  </a:ext>
                </a:extLst>
              </a:tr>
              <a:tr h="1046533">
                <a:tc>
                  <a:txBody>
                    <a:bodyPr/>
                    <a:lstStyle/>
                    <a:p>
                      <a:r>
                        <a:rPr sz="900" b="1" dirty="0">
                          <a:solidFill>
                            <a:srgbClr val="9DD3FF"/>
                          </a:solidFill>
                          <a:latin typeface="Calibri"/>
                        </a:rPr>
                        <a:t>FILED AND REGULATORY   </a:t>
                      </a:r>
                      <a:r>
                        <a:rPr sz="900" b="0" dirty="0">
                          <a:solidFill>
                            <a:srgbClr val="C2CDE0"/>
                          </a:solidFill>
                          <a:latin typeface="Calibri"/>
                        </a:rPr>
                        <a:t>GI Council segment-wise GDPI filings Jun'25–Jun'26  ·  Bajaj </a:t>
                      </a:r>
                      <a:r>
                        <a:rPr sz="900" b="0" dirty="0" err="1">
                          <a:solidFill>
                            <a:srgbClr val="C2CDE0"/>
                          </a:solidFill>
                          <a:latin typeface="Calibri"/>
                        </a:rPr>
                        <a:t>Finserv</a:t>
                      </a:r>
                      <a:r>
                        <a:rPr sz="900" b="0" dirty="0">
                          <a:solidFill>
                            <a:srgbClr val="C2CDE0"/>
                          </a:solidFill>
                          <a:latin typeface="Calibri"/>
                        </a:rPr>
                        <a:t> Q1 FY2027 results and investor presentation, 31 Jul 2026  ·  Bajaj General FY26 investor presentation, 30 Apr 2026  ·  IRDAI Financial Highlights FY24-25  ·  IRDAI Annual Report 2024-25  ·  IRDAI (Insurance Fraud Monitoring Framework) Guidelines 2025, ref IRDAI/IID/GDL/MISC/112/10/2025 dated 09.10.2025  ·  IRDAI Master Circular on Protection of Policyholders' Interests, 11 Jun 2024  ·  IRDAI AI Working Group, 19 Jun 2026  ·  DPDP Rules 2025, notified 13 Nov 2025  ·  ICICI Lombard Q1 FY27 results  ·  Bima Sugam India Federation.</a:t>
                      </a:r>
                      <a:endParaRPr lang="en-US" dirty="0"/>
                    </a:p>
                    <a:p>
                      <a:r>
                        <a:rPr sz="900" b="1" dirty="0">
                          <a:solidFill>
                            <a:srgbClr val="9DD3FF"/>
                          </a:solidFill>
                          <a:latin typeface="Calibri"/>
                        </a:rPr>
                        <a:t>RESEARCH AND VENDOR   </a:t>
                      </a:r>
                      <a:r>
                        <a:rPr sz="900" b="0" dirty="0">
                          <a:solidFill>
                            <a:srgbClr val="C2CDE0"/>
                          </a:solidFill>
                          <a:latin typeface="Calibri"/>
                        </a:rPr>
                        <a:t>BCG &amp; Medi Assist, Nov 2025  ·  Mordor Intelligence  ·  </a:t>
                      </a:r>
                      <a:r>
                        <a:rPr sz="900" b="0" dirty="0" err="1">
                          <a:solidFill>
                            <a:srgbClr val="C2CDE0"/>
                          </a:solidFill>
                          <a:latin typeface="Calibri"/>
                        </a:rPr>
                        <a:t>Insurity</a:t>
                      </a:r>
                      <a:r>
                        <a:rPr sz="900" b="0" dirty="0">
                          <a:solidFill>
                            <a:srgbClr val="C2CDE0"/>
                          </a:solidFill>
                          <a:latin typeface="Calibri"/>
                        </a:rPr>
                        <a:t> Consumer Survey, Feb 2026 fieldwork  ·  NVIDIA / </a:t>
                      </a:r>
                      <a:r>
                        <a:rPr sz="900" b="0" dirty="0" err="1">
                          <a:solidFill>
                            <a:srgbClr val="C2CDE0"/>
                          </a:solidFill>
                          <a:latin typeface="Calibri"/>
                        </a:rPr>
                        <a:t>ControlExpert</a:t>
                      </a:r>
                      <a:r>
                        <a:rPr sz="900" b="0" dirty="0">
                          <a:solidFill>
                            <a:srgbClr val="C2CDE0"/>
                          </a:solidFill>
                          <a:latin typeface="Calibri"/>
                        </a:rPr>
                        <a:t>  ·  </a:t>
                      </a:r>
                      <a:r>
                        <a:rPr sz="900" b="0" dirty="0" err="1">
                          <a:solidFill>
                            <a:srgbClr val="C2CDE0"/>
                          </a:solidFill>
                          <a:latin typeface="Calibri"/>
                        </a:rPr>
                        <a:t>Retently</a:t>
                      </a:r>
                      <a:r>
                        <a:rPr sz="900" b="0" dirty="0">
                          <a:solidFill>
                            <a:srgbClr val="C2CDE0"/>
                          </a:solidFill>
                          <a:latin typeface="Calibri"/>
                        </a:rPr>
                        <a:t> and </a:t>
                      </a:r>
                      <a:r>
                        <a:rPr sz="900" b="0" dirty="0" err="1">
                          <a:solidFill>
                            <a:srgbClr val="C2CDE0"/>
                          </a:solidFill>
                          <a:latin typeface="Calibri"/>
                        </a:rPr>
                        <a:t>CustomerGauge</a:t>
                      </a:r>
                      <a:r>
                        <a:rPr sz="900" b="0" dirty="0">
                          <a:solidFill>
                            <a:srgbClr val="C2CDE0"/>
                          </a:solidFill>
                          <a:latin typeface="Calibri"/>
                        </a:rPr>
                        <a:t>  ·  systematic review of graph and GNN fraud detection, 2025  ·  Google, OpenAI and Anthropic published pricing pages, all retrieved 12 Aug 2026.</a:t>
                      </a:r>
                    </a:p>
                    <a:p>
                      <a:r>
                        <a:rPr lang="en-IN" sz="900" b="1" kern="1200" dirty="0">
                          <a:solidFill>
                            <a:srgbClr val="9DD3FF"/>
                          </a:solidFill>
                          <a:latin typeface="Calibri"/>
                          <a:ea typeface="+mn-ea"/>
                          <a:cs typeface="+mn-cs"/>
                        </a:rPr>
                        <a:t>EVIDENCE PACK </a:t>
                      </a:r>
                      <a:r>
                        <a:rPr lang="en-IN" sz="900" dirty="0"/>
                        <a:t>— Detailed numerical analysis, assumptions, calculations, sensitivity and scenario outputs are available as </a:t>
                      </a:r>
                      <a:r>
                        <a:rPr lang="en-IN" sz="900" b="1" dirty="0"/>
                        <a:t>downloadable Excel workings and a Detailed Report inside the </a:t>
                      </a:r>
                      <a:r>
                        <a:rPr lang="en-IN" sz="900" b="1" dirty="0" err="1"/>
                        <a:t>ClaimPulse</a:t>
                      </a:r>
                      <a:r>
                        <a:rPr lang="en-IN" sz="900" b="1" dirty="0"/>
                        <a:t> simulator. </a:t>
                      </a:r>
                      <a:r>
                        <a:rPr sz="900" b="0" dirty="0">
                          <a:solidFill>
                            <a:srgbClr val="C2CDE0"/>
                          </a:solidFill>
                          <a:latin typeface="Calibri"/>
                        </a:rPr>
                        <a:t>Every figure in this deck is a live formula reading Sheet 1, and the sheet and location is stated at the foot of each slide.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131517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6928" y="164592"/>
            <a:ext cx="2083062" cy="237744"/>
          </a:xfrm>
          <a:prstGeom prst="roundRect">
            <a:avLst>
              <a:gd name="adj" fmla="val 30000"/>
            </a:avLst>
          </a:prstGeom>
          <a:solidFill>
            <a:srgbClr val="9DD3FF">
              <a:alpha val="2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64592"/>
            <a:ext cx="2083062" cy="23774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dirty="0">
                <a:solidFill>
                  <a:srgbClr val="9DD3FF"/>
                </a:solidFill>
                <a:latin typeface="Calibri"/>
              </a:rPr>
              <a:t>WHY US  ·  EXPLORE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4572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402336"/>
            <a:ext cx="8357616" cy="65836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</a:rPr>
              <a:t>The orchestration is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copyable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. The Capture Integrity Gate and the fraud graph are not — and you can run the whole model yourself in sixty seconds.</a:t>
            </a:r>
          </a:p>
        </p:txBody>
      </p:sp>
      <p:sp>
        <p:nvSpPr>
          <p:cNvPr id="17" name="Oval 16"/>
          <p:cNvSpPr/>
          <p:nvPr/>
        </p:nvSpPr>
        <p:spPr>
          <a:xfrm>
            <a:off x="570585" y="1612087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1286" y="1557223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691286" y="1666951"/>
            <a:ext cx="54864" cy="54864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449" y="1635861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1582826"/>
            <a:ext cx="9144" cy="113385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1579168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" y="1688896"/>
            <a:ext cx="36576" cy="914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7" y="1536192"/>
            <a:ext cx="3875227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POINT SOLUTIONS  vs  ONE ROUTING DECISION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1755648"/>
            <a:ext cx="996238" cy="256032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66928" y="1755648"/>
            <a:ext cx="996238" cy="256032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1755648"/>
            <a:ext cx="941374" cy="25603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Document 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18030" y="1755648"/>
            <a:ext cx="996238" cy="256032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618030" y="1755648"/>
            <a:ext cx="996238" cy="256032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45462" y="1755648"/>
            <a:ext cx="941374" cy="25603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dirty="0">
                <a:solidFill>
                  <a:srgbClr val="C2CDE0"/>
                </a:solidFill>
                <a:latin typeface="Calibri"/>
              </a:rPr>
              <a:t>Damage 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69133" y="1755648"/>
            <a:ext cx="996238" cy="256032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669133" y="1755648"/>
            <a:ext cx="996238" cy="256032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96565" y="1755648"/>
            <a:ext cx="941374" cy="25603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Fraud 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20236" y="1755648"/>
            <a:ext cx="996238" cy="256032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720236" y="1755648"/>
            <a:ext cx="996238" cy="256032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47668" y="1755648"/>
            <a:ext cx="941374" cy="25603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Policy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2029968"/>
            <a:ext cx="4149547" cy="14630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each solves one signal, in isolation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2194560"/>
            <a:ext cx="4149547" cy="29260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66928" y="2194560"/>
            <a:ext cx="4149547" cy="292608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1792" y="2194560"/>
            <a:ext cx="4039819" cy="29260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CLAIMPULSE   </a:t>
            </a:r>
            <a:r>
              <a:rPr sz="900" b="1">
                <a:solidFill>
                  <a:srgbClr val="9DD3FF"/>
                </a:solidFill>
                <a:latin typeface="Calibri"/>
              </a:rPr>
              <a:t>Evidence → Intelligence → Trust Score → Routing decision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2505456"/>
            <a:ext cx="4149547" cy="146304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Excluded on capability before price — Sheet 5 Part D</a:t>
            </a:r>
          </a:p>
        </p:txBody>
      </p:sp>
      <p:sp>
        <p:nvSpPr>
          <p:cNvPr id="42" name="Diamond 41"/>
          <p:cNvSpPr/>
          <p:nvPr/>
        </p:nvSpPr>
        <p:spPr>
          <a:xfrm>
            <a:off x="570585" y="2713024"/>
            <a:ext cx="175564" cy="43891"/>
          </a:xfrm>
          <a:prstGeom prst="diamond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74243" y="2782519"/>
            <a:ext cx="168249" cy="109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74243" y="2822752"/>
            <a:ext cx="168249" cy="109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1247" y="2688336"/>
            <a:ext cx="3875227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WHERE THE DURABLE ADVANTAGE SITS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2907792"/>
            <a:ext cx="4149547" cy="283464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66928" y="2907792"/>
            <a:ext cx="4149547" cy="283464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66928" y="2907792"/>
            <a:ext cx="54864" cy="2834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Pentagon 48"/>
          <p:cNvSpPr/>
          <p:nvPr/>
        </p:nvSpPr>
        <p:spPr>
          <a:xfrm rot="10800000">
            <a:off x="695675" y="2965947"/>
            <a:ext cx="144840" cy="158008"/>
          </a:xfrm>
          <a:prstGeom prst="homePlat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96112" y="2907792"/>
            <a:ext cx="2103120" cy="28346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EVIDENCE INTEGRITY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99232" y="2907792"/>
            <a:ext cx="1644091" cy="28346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NOT BUYABLE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3218688"/>
            <a:ext cx="4149547" cy="283464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66928" y="3218688"/>
            <a:ext cx="4149547" cy="283464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3218688"/>
            <a:ext cx="54864" cy="2834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Oval 54"/>
          <p:cNvSpPr/>
          <p:nvPr/>
        </p:nvSpPr>
        <p:spPr>
          <a:xfrm>
            <a:off x="689091" y="3329513"/>
            <a:ext cx="49377" cy="49377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Oval 55"/>
          <p:cNvSpPr/>
          <p:nvPr/>
        </p:nvSpPr>
        <p:spPr>
          <a:xfrm>
            <a:off x="797722" y="3280135"/>
            <a:ext cx="49377" cy="49377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Oval 56"/>
          <p:cNvSpPr/>
          <p:nvPr/>
        </p:nvSpPr>
        <p:spPr>
          <a:xfrm>
            <a:off x="797722" y="3378890"/>
            <a:ext cx="49377" cy="49377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38469" y="3350910"/>
            <a:ext cx="32918" cy="82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68096" y="3303178"/>
            <a:ext cx="8229" cy="1020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68096" y="3299886"/>
            <a:ext cx="32918" cy="82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68096" y="3398641"/>
            <a:ext cx="32918" cy="82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96112" y="3218688"/>
            <a:ext cx="2103120" cy="28346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PROPRIETARY CLAIMS DATA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99232" y="3218688"/>
            <a:ext cx="1644091" cy="28346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NOT BUYABLE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3511296"/>
            <a:ext cx="4149547" cy="16459"/>
          </a:xfrm>
          <a:prstGeom prst="rect">
            <a:avLst/>
          </a:prstGeom>
          <a:solidFill>
            <a:srgbClr val="ED7D3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566928" y="3529584"/>
            <a:ext cx="4149547" cy="283464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566928" y="3529584"/>
            <a:ext cx="4149547" cy="283464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66928" y="3529584"/>
            <a:ext cx="54864" cy="2834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Gear 6 67"/>
          <p:cNvSpPr/>
          <p:nvPr/>
        </p:nvSpPr>
        <p:spPr>
          <a:xfrm>
            <a:off x="689091" y="3587739"/>
            <a:ext cx="158008" cy="158008"/>
          </a:xfrm>
          <a:prstGeom prst="gear6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96112" y="3529584"/>
            <a:ext cx="2103120" cy="28346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ORCHESTRATION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99232" y="3529584"/>
            <a:ext cx="1644091" cy="28346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COPYABLE ~18 MONTHS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66928" y="3840480"/>
            <a:ext cx="4149547" cy="283464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566928" y="3840480"/>
            <a:ext cx="4149547" cy="283464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66928" y="3840480"/>
            <a:ext cx="54864" cy="283464"/>
          </a:xfrm>
          <a:prstGeom prst="rect">
            <a:avLst/>
          </a:prstGeom>
          <a:solidFill>
            <a:srgbClr val="C2C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712134" y="3921678"/>
            <a:ext cx="111922" cy="111922"/>
          </a:xfrm>
          <a:prstGeom prst="rect">
            <a:avLst/>
          </a:prstGeom>
          <a:noFill/>
          <a:ln w="13970">
            <a:solidFill>
              <a:srgbClr val="C2C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758220" y="3898635"/>
            <a:ext cx="9875" cy="23042"/>
          </a:xfrm>
          <a:prstGeom prst="rect">
            <a:avLst/>
          </a:prstGeom>
          <a:solidFill>
            <a:srgbClr val="C2C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758220" y="4033601"/>
            <a:ext cx="9875" cy="23042"/>
          </a:xfrm>
          <a:prstGeom prst="rect">
            <a:avLst/>
          </a:prstGeom>
          <a:solidFill>
            <a:srgbClr val="C2C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89091" y="3967764"/>
            <a:ext cx="23042" cy="9875"/>
          </a:xfrm>
          <a:prstGeom prst="rect">
            <a:avLst/>
          </a:prstGeom>
          <a:solidFill>
            <a:srgbClr val="C2C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24057" y="3967764"/>
            <a:ext cx="23042" cy="9875"/>
          </a:xfrm>
          <a:prstGeom prst="rect">
            <a:avLst/>
          </a:prstGeom>
          <a:solidFill>
            <a:srgbClr val="C2C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96112" y="3840480"/>
            <a:ext cx="2103120" cy="28346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2CDE0"/>
                </a:solidFill>
                <a:latin typeface="Calibri"/>
              </a:rPr>
              <a:t>COMPONENT AI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99232" y="3840480"/>
            <a:ext cx="1644091" cy="28346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COMMODITY — WE BUY IT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935931" y="1755648"/>
            <a:ext cx="3247034" cy="2395728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4935931" y="1755648"/>
            <a:ext cx="3247034" cy="2395728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Oval 82"/>
          <p:cNvSpPr/>
          <p:nvPr/>
        </p:nvSpPr>
        <p:spPr>
          <a:xfrm>
            <a:off x="5067604" y="1576425"/>
            <a:ext cx="175564" cy="175564"/>
          </a:xfrm>
          <a:prstGeom prst="ellipse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Isosceles Triangle 83"/>
          <p:cNvSpPr/>
          <p:nvPr/>
        </p:nvSpPr>
        <p:spPr>
          <a:xfrm rot="5400000">
            <a:off x="5129783" y="1623974"/>
            <a:ext cx="65836" cy="80467"/>
          </a:xfrm>
          <a:prstGeom prst="triangle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301691" y="1571964"/>
            <a:ext cx="2734970" cy="166199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900" b="1" dirty="0">
                <a:solidFill>
                  <a:srgbClr val="9DD3FF"/>
                </a:solidFill>
                <a:latin typeface="Calibri"/>
              </a:rPr>
              <a:t>SCAN → RUN → DOWNLOAD</a:t>
            </a:r>
            <a:endParaRPr sz="900" b="1" dirty="0">
              <a:solidFill>
                <a:srgbClr val="9DD3FF"/>
              </a:solidFill>
              <a:latin typeface="Calibri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5800496" y="1865376"/>
            <a:ext cx="1517904" cy="1517904"/>
          </a:xfrm>
          <a:prstGeom prst="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800496" y="1865376"/>
            <a:ext cx="1517904" cy="1517904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8A93A6"/>
                </a:solidFill>
                <a:latin typeface="Calibri"/>
              </a:rPr>
              <a:t>[  QR CODE  ]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8A93A6"/>
                </a:solidFill>
                <a:latin typeface="Calibri"/>
              </a:rPr>
              <a:t>to be inserted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082235" y="3474720"/>
            <a:ext cx="2954426" cy="256032"/>
          </a:xfrm>
          <a:prstGeom prst="roundRect">
            <a:avLst>
              <a:gd name="adj" fmla="val 22000"/>
            </a:avLst>
          </a:prstGeom>
          <a:solidFill>
            <a:srgbClr val="FFFFFF">
              <a:alpha val="14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082235" y="3519636"/>
            <a:ext cx="2954426" cy="166199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dirty="0" err="1"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claimpulse-simulation.vercel.app</a:t>
            </a:r>
            <a:endParaRPr sz="900" b="1" dirty="0">
              <a:latin typeface="Calibri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935931" y="3767328"/>
            <a:ext cx="3247034" cy="304699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dirty="0" err="1">
                <a:solidFill>
                  <a:srgbClr val="FFFFFF"/>
                </a:solidFill>
                <a:latin typeface="Calibri"/>
              </a:rPr>
              <a:t>ClaimPulse</a:t>
            </a:r>
            <a:r>
              <a:rPr sz="900" b="1" dirty="0">
                <a:solidFill>
                  <a:srgbClr val="FFFFFF"/>
                </a:solidFill>
                <a:latin typeface="Calibri"/>
              </a:rPr>
              <a:t> Executive Decision Simulator</a:t>
            </a:r>
          </a:p>
          <a:p>
            <a:pPr algn="ctr">
              <a:spcAft>
                <a:spcPts val="0"/>
              </a:spcAft>
            </a:pPr>
            <a:r>
              <a:rPr lang="en-US" sz="900" b="1" dirty="0">
                <a:solidFill>
                  <a:srgbClr val="C2CDE0"/>
                </a:solidFill>
                <a:latin typeface="Calibri"/>
              </a:rPr>
              <a:t>RUN THE MODEL • DOWNLOAD EXCEL + DETAILED REPORT</a:t>
            </a:r>
            <a:endParaRPr sz="900" b="1" dirty="0">
              <a:solidFill>
                <a:srgbClr val="C2CDE0"/>
              </a:solidFill>
              <a:latin typeface="Calibri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8409736" y="1575511"/>
            <a:ext cx="168249" cy="168249"/>
          </a:xfrm>
          <a:prstGeom prst="ellipse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488375" y="1612087"/>
            <a:ext cx="10972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8488375" y="1655978"/>
            <a:ext cx="51206" cy="109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676741" y="1554480"/>
            <a:ext cx="2972714" cy="21945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9BD5"/>
                </a:solidFill>
                <a:latin typeface="Calibri"/>
              </a:rPr>
              <a:t>WHAT YOU CAN DO IN SIXTY SECONDS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402421" y="1755648"/>
            <a:ext cx="3247034" cy="32004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8402421" y="1755648"/>
            <a:ext cx="3247034" cy="320040"/>
          </a:xfrm>
          <a:prstGeom prst="roundRect">
            <a:avLst>
              <a:gd name="adj" fmla="val 7000"/>
            </a:avLst>
          </a:prstGeom>
          <a:solidFill>
            <a:srgbClr val="70AD47">
              <a:alpha val="12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8402421" y="1755648"/>
            <a:ext cx="54864" cy="347472"/>
          </a:xfrm>
          <a:prstGeom prst="rect">
            <a:avLst/>
          </a:prstGeom>
          <a:solidFill>
            <a:srgbClr val="9BD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8533912" y="1839224"/>
            <a:ext cx="59070" cy="55595"/>
          </a:xfrm>
          <a:prstGeom prst="rect">
            <a:avLst/>
          </a:prstGeom>
          <a:noFill/>
          <a:ln w="13970">
            <a:solidFill>
              <a:srgbClr val="9BDC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8641628" y="1839224"/>
            <a:ext cx="59070" cy="55595"/>
          </a:xfrm>
          <a:prstGeom prst="rect">
            <a:avLst/>
          </a:prstGeom>
          <a:noFill/>
          <a:ln w="13970">
            <a:solidFill>
              <a:srgbClr val="9BDC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8587770" y="1936516"/>
            <a:ext cx="59070" cy="55595"/>
          </a:xfrm>
          <a:prstGeom prst="rect">
            <a:avLst/>
          </a:prstGeom>
          <a:noFill/>
          <a:ln w="13970">
            <a:solidFill>
              <a:srgbClr val="9BDC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8589507" y="1863547"/>
            <a:ext cx="52120" cy="8686"/>
          </a:xfrm>
          <a:prstGeom prst="rect">
            <a:avLst/>
          </a:prstGeom>
          <a:solidFill>
            <a:srgbClr val="9BD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612093" y="1891344"/>
            <a:ext cx="8686" cy="48646"/>
          </a:xfrm>
          <a:prstGeom prst="rect">
            <a:avLst/>
          </a:prstGeom>
          <a:solidFill>
            <a:srgbClr val="9BD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768181" y="1764792"/>
            <a:ext cx="2789834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BDC76"/>
                </a:solidFill>
                <a:latin typeface="Calibri"/>
              </a:rPr>
              <a:t>Stream live claims</a:t>
            </a:r>
            <a:r>
              <a:rPr sz="900" b="0">
                <a:solidFill>
                  <a:srgbClr val="C2CDE0"/>
                </a:solidFill>
                <a:latin typeface="Calibri"/>
              </a:rPr>
              <a:t>     → slide 6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through Gate 00 — watch Trust Score route each one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402421" y="2121408"/>
            <a:ext cx="3247034" cy="32004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8402421" y="2121408"/>
            <a:ext cx="3247034" cy="320040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8402421" y="2121408"/>
            <a:ext cx="54864" cy="347472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8537387" y="2323124"/>
            <a:ext cx="159837" cy="10424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8547811" y="2284902"/>
            <a:ext cx="10424" cy="41696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8582558" y="2257104"/>
            <a:ext cx="10424" cy="69494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617305" y="2274478"/>
            <a:ext cx="10424" cy="52120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8652052" y="2222357"/>
            <a:ext cx="10424" cy="104241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768181" y="2130551"/>
            <a:ext cx="2789834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Switch the rollout</a:t>
            </a:r>
            <a:r>
              <a:rPr sz="900" b="0">
                <a:solidFill>
                  <a:srgbClr val="C2CDE0"/>
                </a:solidFill>
                <a:latin typeface="Calibri"/>
              </a:rPr>
              <a:t>     → slide 8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Conservative · Base · Aggressive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402421" y="2487168"/>
            <a:ext cx="3247034" cy="32004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8402421" y="2487168"/>
            <a:ext cx="3247034" cy="320040"/>
          </a:xfrm>
          <a:prstGeom prst="roundRect">
            <a:avLst>
              <a:gd name="adj" fmla="val 7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8402421" y="2487168"/>
            <a:ext cx="54864" cy="34747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" name="Isosceles Triangle 115"/>
          <p:cNvSpPr/>
          <p:nvPr/>
        </p:nvSpPr>
        <p:spPr>
          <a:xfrm>
            <a:off x="8533912" y="2570744"/>
            <a:ext cx="166786" cy="152887"/>
          </a:xfrm>
          <a:prstGeom prst="triangle">
            <a:avLst/>
          </a:prstGeom>
          <a:noFill/>
          <a:ln w="1397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8612093" y="2622864"/>
            <a:ext cx="10424" cy="4864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8612093" y="2681935"/>
            <a:ext cx="10424" cy="12161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8768181" y="2496311"/>
            <a:ext cx="2789834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Fire a shock</a:t>
            </a:r>
            <a:r>
              <a:rPr sz="900" b="0">
                <a:solidFill>
                  <a:srgbClr val="C2CDE0"/>
                </a:solidFill>
                <a:latin typeface="Calibri"/>
              </a:rPr>
              <a:t>     → slide 10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Competitor Parity · Fraud Surge · Autonomy Cap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402421" y="2852928"/>
            <a:ext cx="3247034" cy="320040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8402421" y="2852928"/>
            <a:ext cx="3247034" cy="320040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8402421" y="2852928"/>
            <a:ext cx="54864" cy="347472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8533912" y="2929554"/>
            <a:ext cx="166786" cy="166786"/>
          </a:xfrm>
          <a:prstGeom prst="ellipse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8582558" y="2978200"/>
            <a:ext cx="69494" cy="69494"/>
          </a:xfrm>
          <a:prstGeom prst="ellipse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768181" y="2862072"/>
            <a:ext cx="2789834" cy="301752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Inspect any module</a:t>
            </a:r>
            <a:r>
              <a:rPr sz="900" b="0">
                <a:solidFill>
                  <a:srgbClr val="C2CDE0"/>
                </a:solidFill>
                <a:latin typeface="Calibri"/>
              </a:rPr>
              <a:t>     → slides 6–7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C2CDE0"/>
                </a:solidFill>
                <a:latin typeface="Calibri"/>
              </a:rPr>
              <a:t>for its logic and its value attribution</a:t>
            </a:r>
          </a:p>
        </p:txBody>
      </p:sp>
      <p:sp>
        <p:nvSpPr>
          <p:cNvPr id="126" name="Document 125"/>
          <p:cNvSpPr/>
          <p:nvPr/>
        </p:nvSpPr>
        <p:spPr>
          <a:xfrm>
            <a:off x="8428024" y="3258007"/>
            <a:ext cx="131673" cy="168249"/>
          </a:xfrm>
          <a:prstGeom prst="flowChartDocument">
            <a:avLst/>
          </a:prstGeom>
          <a:noFill/>
          <a:ln w="1397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8453628" y="3305556"/>
            <a:ext cx="80467" cy="109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8453628" y="3334816"/>
            <a:ext cx="80467" cy="109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8453628" y="3364077"/>
            <a:ext cx="51206" cy="109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676741" y="3263604"/>
            <a:ext cx="2972714" cy="166199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900" b="1" dirty="0">
                <a:solidFill>
                  <a:srgbClr val="5B9BD5"/>
                </a:solidFill>
                <a:latin typeface="Calibri"/>
              </a:rPr>
              <a:t>GITHUB · ACCESS THE FULL EVIDENCE PACK</a:t>
            </a:r>
            <a:endParaRPr sz="900" b="1" dirty="0">
              <a:solidFill>
                <a:srgbClr val="5B9BD5"/>
              </a:solidFill>
              <a:latin typeface="Calibri"/>
            </a:endParaRPr>
          </a:p>
        </p:txBody>
      </p:sp>
      <p:sp>
        <p:nvSpPr>
          <p:cNvPr id="131" name="Rounded Rectangle 130"/>
          <p:cNvSpPr/>
          <p:nvPr/>
        </p:nvSpPr>
        <p:spPr>
          <a:xfrm>
            <a:off x="8402421" y="3456432"/>
            <a:ext cx="3247034" cy="256032"/>
          </a:xfrm>
          <a:prstGeom prst="roundRect">
            <a:avLst>
              <a:gd name="adj" fmla="val 22000"/>
            </a:avLst>
          </a:prstGeom>
          <a:solidFill>
            <a:srgbClr val="FFFFFF">
              <a:alpha val="14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402421" y="3501348"/>
            <a:ext cx="3247034" cy="166199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dirty="0"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github.com/PratyushMathur2000/</a:t>
            </a:r>
            <a:r>
              <a:rPr sz="900" b="1" dirty="0" err="1"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claimpulse</a:t>
            </a:r>
            <a:r>
              <a:rPr sz="900" b="1" dirty="0"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-simulation</a:t>
            </a:r>
            <a:endParaRPr sz="900" b="1" dirty="0">
              <a:latin typeface="Calibri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8402421" y="3749039"/>
            <a:ext cx="3247034" cy="310896"/>
          </a:xfrm>
          <a:prstGeom prst="rect">
            <a:avLst/>
          </a:prstGeom>
          <a:noFill/>
        </p:spPr>
        <p:txBody>
          <a:bodyPr wrap="square" lIns="45720" tIns="13716" rIns="45720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900" b="0" dirty="0">
                <a:solidFill>
                  <a:srgbClr val="C2CDE0"/>
                </a:solidFill>
                <a:latin typeface="Calibri"/>
              </a:rPr>
              <a:t>Download the implementation, Excel workings &amp; detailed report→ Open the repository and download any file you want </a:t>
            </a:r>
            <a:r>
              <a:rPr lang="en-US" sz="900" b="1" dirty="0">
                <a:solidFill>
                  <a:srgbClr val="9DD3FF"/>
                </a:solidFill>
                <a:latin typeface="Calibri"/>
              </a:rPr>
              <a:t>Runs offline.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66928" y="4206240"/>
            <a:ext cx="11082528" cy="310896"/>
          </a:xfrm>
          <a:prstGeom prst="roundRect">
            <a:avLst>
              <a:gd name="adj" fmla="val 7000"/>
            </a:avLst>
          </a:prstGeom>
          <a:solidFill>
            <a:srgbClr val="0B142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566928" y="4206240"/>
            <a:ext cx="11082528" cy="310896"/>
          </a:xfrm>
          <a:prstGeom prst="roundRect">
            <a:avLst>
              <a:gd name="adj" fmla="val 7000"/>
            </a:avLst>
          </a:prstGeom>
          <a:solidFill>
            <a:srgbClr val="5B9BD5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566928" y="4206240"/>
            <a:ext cx="45720" cy="310896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" name="Diamond 136"/>
          <p:cNvSpPr/>
          <p:nvPr/>
        </p:nvSpPr>
        <p:spPr>
          <a:xfrm>
            <a:off x="698601" y="4262932"/>
            <a:ext cx="175564" cy="43891"/>
          </a:xfrm>
          <a:prstGeom prst="diamond">
            <a:avLst/>
          </a:prstGeom>
          <a:noFill/>
          <a:ln w="13970">
            <a:solidFill>
              <a:srgbClr val="9D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702259" y="4332427"/>
            <a:ext cx="168249" cy="10972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702259" y="4372660"/>
            <a:ext cx="168249" cy="10972"/>
          </a:xfrm>
          <a:prstGeom prst="rect">
            <a:avLst/>
          </a:prstGeom>
          <a:solidFill>
            <a:srgbClr val="9D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50976" y="4206240"/>
            <a:ext cx="10570463" cy="310896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DD3FF"/>
                </a:solidFill>
                <a:latin typeface="Calibri"/>
              </a:rPr>
              <a:t>A PLATFORM, NOT A PROJECT   </a:t>
            </a:r>
            <a:r>
              <a:rPr sz="900" b="0">
                <a:solidFill>
                  <a:srgbClr val="E4EAF4"/>
                </a:solidFill>
                <a:latin typeface="Calibri"/>
              </a:rPr>
              <a:t>The architecture is designed to extend beyond Motor OD — to Health and Home — without a fundamental re-architecture. The same 90-day pilot also tells us whether Bajaj's two-decade claim-media archive is usable; the model values it at zero today.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66928" y="4572000"/>
            <a:ext cx="11082528" cy="292608"/>
          </a:xfrm>
          <a:prstGeom prst="roundRect">
            <a:avLst>
              <a:gd name="adj" fmla="val 30000"/>
            </a:avLst>
          </a:prstGeom>
          <a:solidFill>
            <a:srgbClr val="ED7D31">
              <a:alpha val="13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566928" y="4572000"/>
            <a:ext cx="45720" cy="29260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13232" y="4572000"/>
            <a:ext cx="10808207" cy="292608"/>
          </a:xfrm>
          <a:prstGeom prst="rect">
            <a:avLst/>
          </a:prstGeom>
          <a:noFill/>
        </p:spPr>
        <p:txBody>
          <a:bodyPr wrap="square" lIns="45720" tIns="13716" rIns="45720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INSIGHT   </a:t>
            </a:r>
            <a:r>
              <a:rPr sz="900" b="0">
                <a:solidFill>
                  <a:srgbClr val="E4EAF4"/>
                </a:solidFill>
                <a:latin typeface="Calibri"/>
              </a:rPr>
              <a:t>Scan it, break it, and check our arithmetic — the model is built to be challenged, not admired.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BE7C20-C223-802D-99A0-39E9E52B88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091" y="1918063"/>
            <a:ext cx="1448714" cy="1448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1873</TotalTime>
  <Words>4872</Words>
  <Application>Microsoft Office PowerPoint</Application>
  <PresentationFormat>Widescreen</PresentationFormat>
  <Paragraphs>671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Rubik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ClaimPulse - Motor Claims TAT Reduction</dc:title>
  <dc:creator>Team Finsighters</dc:creator>
  <cp:lastModifiedBy>Team Finsighters</cp:lastModifiedBy>
  <cp:revision>26</cp:revision>
  <dcterms:created xsi:type="dcterms:W3CDTF">2023-06-03T06:16:51Z</dcterms:created>
  <dcterms:modified xsi:type="dcterms:W3CDTF">2026-08-17T08:58:11Z</dcterms:modified>
</cp:coreProperties>
</file>