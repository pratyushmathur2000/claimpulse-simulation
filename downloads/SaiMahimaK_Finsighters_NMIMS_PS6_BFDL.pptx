
<file path=[Content_Types].xml><?xml version="1.0" encoding="utf-8"?>
<Types xmlns="http://schemas.openxmlformats.org/package/2006/content-types">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10"/>
  </p:normalViewPr>
  <p:slideViewPr>
    <p:cSldViewPr snapToGrid="0" snapToObjects="1">
      <p:cViewPr varScale="1">
        <p:scale>
          <a:sx n="82" d="100"/>
          <a:sy n="82" d="100"/>
        </p:scale>
        <p:origin x="55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857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104.7%. The book loses money before we say a word about AI. That reframes TAT from a service metric to an expense-ratio metric — and the funnel shows the pool ClaimPulse is acting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orange nodes are the ones a point solution cannot reach. The rail underneath is the whole argument: the days accumulate between the boxes, not inside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why-now slide. Three regulatory dates land inside the investment window, and the one threat that could break the case is the one with no published incidence. That is exactly why the gate comes first.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drivers, each a costed line — not a list of complaints. The right panel is the design brief: something has to decide which claims are which, before any of them is worked.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run once before speaking. Everything advances on one clock; the flags differ. Green is settled and sitting still while the current process is still in document chase. Do not explain the mechanism yet — that is the next three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animation play once. Top band is today. Everything below it is what we propose. The right rail is the dependency the animation cannot show: none of the five engines exists until the models are built, trained, validated and governed — and step 1 is the only step where ICE and EV diverge.
If asked about the figures on screen: cost-to-serve of ₹307.50 and fraud recall of 62% → 90% are unchanged in the current model. The ₹30.86 Cr on slide 12 is the R6 net annual benefit and nets off run cost and capture friction, which those two figures do not.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deterministic, so nobody has to be believed. Answer to "verified by whom" is: by the gate, not by a person.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 A: five of five agree, it settles. Claim B: the fraud graph flags a repairer cluster and the estimate is above band, so it lands in assisted review and a person decides.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Prelude first: AI is getting more expensive to reason with and the rate card moves. That is why we priced the inference before we bought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and renewal is the only row carried as a scenario assumption, and it is labelled as one. Everything above it is a formula reading the P&amp;L.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investor question directly: ₹9.89 Cr in, ₹30.86 Cr a year out, payback 20.1 months from kickoff. Then the bridge — plus signs are improvements. The expense ratio deliberately gets worse because we do not claim the labour saving.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risk-control slide. The stress test is not decoration: it names the three levers, moves them together, and shows the case failing — then points at the two gates that would catch it inside ninety days.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Top band answers "what did you actually build" — read it left to right, and note we are honest that two of the four columns are commodity. Bottom right is the ladder: orchestration is copyable in about eighteen months, and we say so. What is not copyable is evidence integrity at the point of capture and a fraud graph trained on Bajaj’s own archive. Then send them to the QR — the model is built to be challenged, not admired.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003014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1.xml"/><Relationship Id="rId7" Type="http://schemas.openxmlformats.org/officeDocument/2006/relationships/image" Target="../media/image1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1.xml"/><Relationship Id="rId7" Type="http://schemas.openxmlformats.org/officeDocument/2006/relationships/image" Target="../media/image12.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1.xml"/><Relationship Id="rId7" Type="http://schemas.openxmlformats.org/officeDocument/2006/relationships/image" Target="../media/image12.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1.xml"/><Relationship Id="rId7" Type="http://schemas.openxmlformats.org/officeDocument/2006/relationships/image" Target="../media/image12.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1.xml"/><Relationship Id="rId7" Type="http://schemas.openxmlformats.org/officeDocument/2006/relationships/image" Target="../media/image12.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6" b="-26"/>
            </a:stretch>
          </a:blipFill>
        </p:spPr>
        <p:txBody>
          <a:bodyPr/>
          <a:lstStyle/>
          <a:p>
            <a:endParaRPr lang="en-IN" sz="1200"/>
          </a:p>
        </p:txBody>
      </p:sp>
      <p:grpSp>
        <p:nvGrpSpPr>
          <p:cNvPr id="3" name="Group 3"/>
          <p:cNvGrpSpPr/>
          <p:nvPr/>
        </p:nvGrpSpPr>
        <p:grpSpPr>
          <a:xfrm>
            <a:off x="889809" y="3288745"/>
            <a:ext cx="10616391" cy="3165465"/>
            <a:chOff x="0" y="0"/>
            <a:chExt cx="21232781" cy="6330931"/>
          </a:xfrm>
        </p:grpSpPr>
        <p:grpSp>
          <p:nvGrpSpPr>
            <p:cNvPr id="4" name="Group 4"/>
            <p:cNvGrpSpPr/>
            <p:nvPr/>
          </p:nvGrpSpPr>
          <p:grpSpPr>
            <a:xfrm>
              <a:off x="138579" y="2311979"/>
              <a:ext cx="4697060" cy="3038886"/>
              <a:chOff x="0" y="0"/>
              <a:chExt cx="992525" cy="642140"/>
            </a:xfrm>
          </p:grpSpPr>
          <p:sp>
            <p:nvSpPr>
              <p:cNvPr id="5" name="Freeform 5"/>
              <p:cNvSpPr/>
              <p:nvPr/>
            </p:nvSpPr>
            <p:spPr>
              <a:xfrm>
                <a:off x="0" y="0"/>
                <a:ext cx="992525" cy="642140"/>
              </a:xfrm>
              <a:custGeom>
                <a:avLst/>
                <a:gdLst/>
                <a:ahLst/>
                <a:cxnLst/>
                <a:rect l="l" t="t" r="r" b="b"/>
                <a:pathLst>
                  <a:path w="992525" h="642140">
                    <a:moveTo>
                      <a:pt x="0" y="0"/>
                    </a:moveTo>
                    <a:lnTo>
                      <a:pt x="992525" y="0"/>
                    </a:lnTo>
                    <a:lnTo>
                      <a:pt x="992525" y="642140"/>
                    </a:lnTo>
                    <a:lnTo>
                      <a:pt x="0" y="642140"/>
                    </a:lnTo>
                    <a:close/>
                  </a:path>
                </a:pathLst>
              </a:custGeom>
              <a:gradFill rotWithShape="1">
                <a:gsLst>
                  <a:gs pos="0">
                    <a:srgbClr val="FFFFFF">
                      <a:alpha val="0"/>
                    </a:srgbClr>
                  </a:gs>
                  <a:gs pos="100000">
                    <a:srgbClr val="F05C3B">
                      <a:alpha val="100000"/>
                    </a:srgbClr>
                  </a:gs>
                </a:gsLst>
                <a:lin ang="5400000"/>
              </a:gradFill>
            </p:spPr>
            <p:txBody>
              <a:bodyPr/>
              <a:lstStyle/>
              <a:p>
                <a:endParaRPr lang="en-IN" sz="1200"/>
              </a:p>
            </p:txBody>
          </p:sp>
          <p:sp>
            <p:nvSpPr>
              <p:cNvPr id="6" name="TextBox 6"/>
              <p:cNvSpPr txBox="1"/>
              <p:nvPr/>
            </p:nvSpPr>
            <p:spPr>
              <a:xfrm>
                <a:off x="0" y="-38100"/>
                <a:ext cx="992525" cy="680240"/>
              </a:xfrm>
              <a:prstGeom prst="rect">
                <a:avLst/>
              </a:prstGeom>
            </p:spPr>
            <p:txBody>
              <a:bodyPr lIns="31659" tIns="31659" rIns="31659" bIns="31659" rtlCol="0" anchor="ctr"/>
              <a:lstStyle/>
              <a:p>
                <a:pPr algn="ctr">
                  <a:lnSpc>
                    <a:spcPts val="1773"/>
                  </a:lnSpc>
                </a:pPr>
                <a:endParaRPr sz="1200"/>
              </a:p>
            </p:txBody>
          </p:sp>
        </p:grpSp>
        <p:sp>
          <p:nvSpPr>
            <p:cNvPr id="7" name="Freeform 7"/>
            <p:cNvSpPr/>
            <p:nvPr/>
          </p:nvSpPr>
          <p:spPr>
            <a:xfrm>
              <a:off x="254000" y="715502"/>
              <a:ext cx="4510100" cy="4635363"/>
            </a:xfrm>
            <a:custGeom>
              <a:avLst/>
              <a:gdLst/>
              <a:ahLst/>
              <a:cxnLst/>
              <a:rect l="l" t="t" r="r" b="b"/>
              <a:pathLst>
                <a:path w="4510100" h="4635363">
                  <a:moveTo>
                    <a:pt x="0" y="0"/>
                  </a:moveTo>
                  <a:lnTo>
                    <a:pt x="4510100" y="0"/>
                  </a:lnTo>
                  <a:lnTo>
                    <a:pt x="4510100" y="4635363"/>
                  </a:lnTo>
                  <a:lnTo>
                    <a:pt x="0" y="4635363"/>
                  </a:lnTo>
                  <a:lnTo>
                    <a:pt x="0" y="0"/>
                  </a:lnTo>
                  <a:close/>
                </a:path>
              </a:pathLst>
            </a:custGeom>
            <a:blipFill>
              <a:blip r:embed="rId3"/>
              <a:stretch>
                <a:fillRect t="-14943" b="-14943"/>
              </a:stretch>
            </a:blipFill>
          </p:spPr>
          <p:txBody>
            <a:bodyPr/>
            <a:lstStyle/>
            <a:p>
              <a:endParaRPr lang="en-IN" sz="1200"/>
            </a:p>
          </p:txBody>
        </p:sp>
        <p:sp>
          <p:nvSpPr>
            <p:cNvPr id="8" name="Freeform 8"/>
            <p:cNvSpPr/>
            <p:nvPr/>
          </p:nvSpPr>
          <p:spPr>
            <a:xfrm>
              <a:off x="0" y="4370799"/>
              <a:ext cx="5025981" cy="1960132"/>
            </a:xfrm>
            <a:custGeom>
              <a:avLst/>
              <a:gdLst/>
              <a:ahLst/>
              <a:cxnLst/>
              <a:rect l="l" t="t" r="r" b="b"/>
              <a:pathLst>
                <a:path w="5025981" h="1960132">
                  <a:moveTo>
                    <a:pt x="0" y="0"/>
                  </a:moveTo>
                  <a:lnTo>
                    <a:pt x="5025981" y="0"/>
                  </a:lnTo>
                  <a:lnTo>
                    <a:pt x="5025981" y="1960132"/>
                  </a:lnTo>
                  <a:lnTo>
                    <a:pt x="0" y="1960132"/>
                  </a:lnTo>
                  <a:lnTo>
                    <a:pt x="0" y="0"/>
                  </a:lnTo>
                  <a:close/>
                </a:path>
              </a:pathLst>
            </a:custGeom>
            <a:blipFill>
              <a:blip r:embed="rId4"/>
              <a:stretch>
                <a:fillRect/>
              </a:stretch>
            </a:blipFill>
          </p:spPr>
          <p:txBody>
            <a:bodyPr/>
            <a:lstStyle/>
            <a:p>
              <a:endParaRPr lang="en-IN" sz="1200"/>
            </a:p>
          </p:txBody>
        </p:sp>
        <p:grpSp>
          <p:nvGrpSpPr>
            <p:cNvPr id="9" name="Group 9"/>
            <p:cNvGrpSpPr/>
            <p:nvPr/>
          </p:nvGrpSpPr>
          <p:grpSpPr>
            <a:xfrm>
              <a:off x="10958979" y="2311979"/>
              <a:ext cx="4697060" cy="3038886"/>
              <a:chOff x="0" y="0"/>
              <a:chExt cx="992525" cy="642140"/>
            </a:xfrm>
          </p:grpSpPr>
          <p:sp>
            <p:nvSpPr>
              <p:cNvPr id="10" name="Freeform 10"/>
              <p:cNvSpPr/>
              <p:nvPr/>
            </p:nvSpPr>
            <p:spPr>
              <a:xfrm>
                <a:off x="0" y="0"/>
                <a:ext cx="992525" cy="642140"/>
              </a:xfrm>
              <a:custGeom>
                <a:avLst/>
                <a:gdLst/>
                <a:ahLst/>
                <a:cxnLst/>
                <a:rect l="l" t="t" r="r" b="b"/>
                <a:pathLst>
                  <a:path w="992525" h="642140">
                    <a:moveTo>
                      <a:pt x="0" y="0"/>
                    </a:moveTo>
                    <a:lnTo>
                      <a:pt x="992525" y="0"/>
                    </a:lnTo>
                    <a:lnTo>
                      <a:pt x="992525" y="642140"/>
                    </a:lnTo>
                    <a:lnTo>
                      <a:pt x="0" y="642140"/>
                    </a:lnTo>
                    <a:close/>
                  </a:path>
                </a:pathLst>
              </a:custGeom>
              <a:gradFill rotWithShape="1">
                <a:gsLst>
                  <a:gs pos="0">
                    <a:srgbClr val="FFFFFF">
                      <a:alpha val="0"/>
                    </a:srgbClr>
                  </a:gs>
                  <a:gs pos="100000">
                    <a:srgbClr val="F05C3B">
                      <a:alpha val="100000"/>
                    </a:srgbClr>
                  </a:gs>
                </a:gsLst>
                <a:lin ang="5400000"/>
              </a:gradFill>
            </p:spPr>
            <p:txBody>
              <a:bodyPr/>
              <a:lstStyle/>
              <a:p>
                <a:endParaRPr lang="en-IN" sz="1200"/>
              </a:p>
            </p:txBody>
          </p:sp>
          <p:sp>
            <p:nvSpPr>
              <p:cNvPr id="11" name="TextBox 11"/>
              <p:cNvSpPr txBox="1"/>
              <p:nvPr/>
            </p:nvSpPr>
            <p:spPr>
              <a:xfrm>
                <a:off x="0" y="-38100"/>
                <a:ext cx="992525" cy="680240"/>
              </a:xfrm>
              <a:prstGeom prst="rect">
                <a:avLst/>
              </a:prstGeom>
            </p:spPr>
            <p:txBody>
              <a:bodyPr lIns="31659" tIns="31659" rIns="31659" bIns="31659" rtlCol="0" anchor="ctr"/>
              <a:lstStyle/>
              <a:p>
                <a:pPr algn="ctr">
                  <a:lnSpc>
                    <a:spcPts val="1773"/>
                  </a:lnSpc>
                </a:pPr>
                <a:endParaRPr sz="1200"/>
              </a:p>
            </p:txBody>
          </p:sp>
        </p:grpSp>
        <p:sp>
          <p:nvSpPr>
            <p:cNvPr id="12" name="Freeform 12"/>
            <p:cNvSpPr/>
            <p:nvPr/>
          </p:nvSpPr>
          <p:spPr>
            <a:xfrm>
              <a:off x="11300148" y="910141"/>
              <a:ext cx="3921361" cy="4440724"/>
            </a:xfrm>
            <a:custGeom>
              <a:avLst/>
              <a:gdLst/>
              <a:ahLst/>
              <a:cxnLst/>
              <a:rect l="l" t="t" r="r" b="b"/>
              <a:pathLst>
                <a:path w="3921361" h="4440724">
                  <a:moveTo>
                    <a:pt x="0" y="0"/>
                  </a:moveTo>
                  <a:lnTo>
                    <a:pt x="3921361" y="0"/>
                  </a:lnTo>
                  <a:lnTo>
                    <a:pt x="3921361" y="4440724"/>
                  </a:lnTo>
                  <a:lnTo>
                    <a:pt x="0" y="4440724"/>
                  </a:lnTo>
                  <a:lnTo>
                    <a:pt x="0" y="0"/>
                  </a:lnTo>
                  <a:close/>
                </a:path>
              </a:pathLst>
            </a:custGeom>
            <a:blipFill>
              <a:blip r:embed="rId5"/>
              <a:stretch>
                <a:fillRect t="-3253" b="-3253"/>
              </a:stretch>
            </a:blipFill>
          </p:spPr>
          <p:txBody>
            <a:bodyPr/>
            <a:lstStyle/>
            <a:p>
              <a:endParaRPr lang="en-IN" sz="1200"/>
            </a:p>
          </p:txBody>
        </p:sp>
        <p:sp>
          <p:nvSpPr>
            <p:cNvPr id="13" name="Freeform 13"/>
            <p:cNvSpPr/>
            <p:nvPr/>
          </p:nvSpPr>
          <p:spPr>
            <a:xfrm>
              <a:off x="10820400" y="4370799"/>
              <a:ext cx="5025981" cy="1960132"/>
            </a:xfrm>
            <a:custGeom>
              <a:avLst/>
              <a:gdLst/>
              <a:ahLst/>
              <a:cxnLst/>
              <a:rect l="l" t="t" r="r" b="b"/>
              <a:pathLst>
                <a:path w="5025981" h="1960132">
                  <a:moveTo>
                    <a:pt x="0" y="0"/>
                  </a:moveTo>
                  <a:lnTo>
                    <a:pt x="5025981" y="0"/>
                  </a:lnTo>
                  <a:lnTo>
                    <a:pt x="5025981" y="1960132"/>
                  </a:lnTo>
                  <a:lnTo>
                    <a:pt x="0" y="1960132"/>
                  </a:lnTo>
                  <a:lnTo>
                    <a:pt x="0" y="0"/>
                  </a:lnTo>
                  <a:close/>
                </a:path>
              </a:pathLst>
            </a:custGeom>
            <a:blipFill>
              <a:blip r:embed="rId4"/>
              <a:stretch>
                <a:fillRect/>
              </a:stretch>
            </a:blipFill>
          </p:spPr>
          <p:txBody>
            <a:bodyPr/>
            <a:lstStyle/>
            <a:p>
              <a:endParaRPr lang="en-IN" sz="1200"/>
            </a:p>
          </p:txBody>
        </p:sp>
        <p:grpSp>
          <p:nvGrpSpPr>
            <p:cNvPr id="14" name="Group 14"/>
            <p:cNvGrpSpPr/>
            <p:nvPr/>
          </p:nvGrpSpPr>
          <p:grpSpPr>
            <a:xfrm>
              <a:off x="5524979" y="2311979"/>
              <a:ext cx="4697060" cy="3038886"/>
              <a:chOff x="0" y="0"/>
              <a:chExt cx="992525" cy="642140"/>
            </a:xfrm>
          </p:grpSpPr>
          <p:sp>
            <p:nvSpPr>
              <p:cNvPr id="15" name="Freeform 15"/>
              <p:cNvSpPr/>
              <p:nvPr/>
            </p:nvSpPr>
            <p:spPr>
              <a:xfrm>
                <a:off x="0" y="0"/>
                <a:ext cx="992525" cy="642140"/>
              </a:xfrm>
              <a:custGeom>
                <a:avLst/>
                <a:gdLst/>
                <a:ahLst/>
                <a:cxnLst/>
                <a:rect l="l" t="t" r="r" b="b"/>
                <a:pathLst>
                  <a:path w="992525" h="642140">
                    <a:moveTo>
                      <a:pt x="0" y="0"/>
                    </a:moveTo>
                    <a:lnTo>
                      <a:pt x="992525" y="0"/>
                    </a:lnTo>
                    <a:lnTo>
                      <a:pt x="992525" y="642140"/>
                    </a:lnTo>
                    <a:lnTo>
                      <a:pt x="0" y="642140"/>
                    </a:lnTo>
                    <a:close/>
                  </a:path>
                </a:pathLst>
              </a:custGeom>
              <a:gradFill rotWithShape="1">
                <a:gsLst>
                  <a:gs pos="0">
                    <a:srgbClr val="FFFFFF">
                      <a:alpha val="0"/>
                    </a:srgbClr>
                  </a:gs>
                  <a:gs pos="100000">
                    <a:srgbClr val="F05C3B">
                      <a:alpha val="100000"/>
                    </a:srgbClr>
                  </a:gs>
                </a:gsLst>
                <a:lin ang="5400000"/>
              </a:gradFill>
            </p:spPr>
            <p:txBody>
              <a:bodyPr/>
              <a:lstStyle/>
              <a:p>
                <a:endParaRPr lang="en-IN" sz="1200"/>
              </a:p>
            </p:txBody>
          </p:sp>
          <p:sp>
            <p:nvSpPr>
              <p:cNvPr id="16" name="TextBox 16"/>
              <p:cNvSpPr txBox="1"/>
              <p:nvPr/>
            </p:nvSpPr>
            <p:spPr>
              <a:xfrm>
                <a:off x="0" y="-38100"/>
                <a:ext cx="992525" cy="680240"/>
              </a:xfrm>
              <a:prstGeom prst="rect">
                <a:avLst/>
              </a:prstGeom>
            </p:spPr>
            <p:txBody>
              <a:bodyPr lIns="31659" tIns="31659" rIns="31659" bIns="31659" rtlCol="0" anchor="ctr"/>
              <a:lstStyle/>
              <a:p>
                <a:pPr algn="ctr">
                  <a:lnSpc>
                    <a:spcPts val="1773"/>
                  </a:lnSpc>
                </a:pPr>
                <a:endParaRPr sz="1200"/>
              </a:p>
            </p:txBody>
          </p:sp>
        </p:grpSp>
        <p:sp>
          <p:nvSpPr>
            <p:cNvPr id="17" name="Freeform 17"/>
            <p:cNvSpPr/>
            <p:nvPr/>
          </p:nvSpPr>
          <p:spPr>
            <a:xfrm>
              <a:off x="5720107" y="452652"/>
              <a:ext cx="4038802" cy="4898213"/>
            </a:xfrm>
            <a:custGeom>
              <a:avLst/>
              <a:gdLst/>
              <a:ahLst/>
              <a:cxnLst/>
              <a:rect l="l" t="t" r="r" b="b"/>
              <a:pathLst>
                <a:path w="4038802" h="4898213">
                  <a:moveTo>
                    <a:pt x="0" y="0"/>
                  </a:moveTo>
                  <a:lnTo>
                    <a:pt x="4038802" y="0"/>
                  </a:lnTo>
                  <a:lnTo>
                    <a:pt x="4038802" y="4898213"/>
                  </a:lnTo>
                  <a:lnTo>
                    <a:pt x="0" y="4898213"/>
                  </a:lnTo>
                  <a:lnTo>
                    <a:pt x="0" y="0"/>
                  </a:lnTo>
                  <a:close/>
                </a:path>
              </a:pathLst>
            </a:custGeom>
            <a:blipFill>
              <a:blip r:embed="rId6"/>
              <a:stretch>
                <a:fillRect t="-5036" b="-5036"/>
              </a:stretch>
            </a:blipFill>
          </p:spPr>
          <p:txBody>
            <a:bodyPr/>
            <a:lstStyle/>
            <a:p>
              <a:endParaRPr lang="en-IN" sz="1200"/>
            </a:p>
          </p:txBody>
        </p:sp>
        <p:sp>
          <p:nvSpPr>
            <p:cNvPr id="18" name="Freeform 18"/>
            <p:cNvSpPr/>
            <p:nvPr/>
          </p:nvSpPr>
          <p:spPr>
            <a:xfrm>
              <a:off x="5386400" y="4370799"/>
              <a:ext cx="5025981" cy="1960132"/>
            </a:xfrm>
            <a:custGeom>
              <a:avLst/>
              <a:gdLst/>
              <a:ahLst/>
              <a:cxnLst/>
              <a:rect l="l" t="t" r="r" b="b"/>
              <a:pathLst>
                <a:path w="5025981" h="1960132">
                  <a:moveTo>
                    <a:pt x="0" y="0"/>
                  </a:moveTo>
                  <a:lnTo>
                    <a:pt x="5025981" y="0"/>
                  </a:lnTo>
                  <a:lnTo>
                    <a:pt x="5025981" y="1960132"/>
                  </a:lnTo>
                  <a:lnTo>
                    <a:pt x="0" y="1960132"/>
                  </a:lnTo>
                  <a:lnTo>
                    <a:pt x="0" y="0"/>
                  </a:lnTo>
                  <a:close/>
                </a:path>
              </a:pathLst>
            </a:custGeom>
            <a:blipFill>
              <a:blip r:embed="rId4"/>
              <a:stretch>
                <a:fillRect/>
              </a:stretch>
            </a:blipFill>
          </p:spPr>
          <p:txBody>
            <a:bodyPr/>
            <a:lstStyle/>
            <a:p>
              <a:endParaRPr lang="en-IN" sz="1200"/>
            </a:p>
          </p:txBody>
        </p:sp>
        <p:grpSp>
          <p:nvGrpSpPr>
            <p:cNvPr id="19" name="Group 19"/>
            <p:cNvGrpSpPr/>
            <p:nvPr/>
          </p:nvGrpSpPr>
          <p:grpSpPr>
            <a:xfrm>
              <a:off x="16345379" y="2311979"/>
              <a:ext cx="4697060" cy="3038886"/>
              <a:chOff x="0" y="0"/>
              <a:chExt cx="992525" cy="642140"/>
            </a:xfrm>
          </p:grpSpPr>
          <p:sp>
            <p:nvSpPr>
              <p:cNvPr id="20" name="Freeform 20"/>
              <p:cNvSpPr/>
              <p:nvPr/>
            </p:nvSpPr>
            <p:spPr>
              <a:xfrm>
                <a:off x="0" y="0"/>
                <a:ext cx="992525" cy="642140"/>
              </a:xfrm>
              <a:custGeom>
                <a:avLst/>
                <a:gdLst/>
                <a:ahLst/>
                <a:cxnLst/>
                <a:rect l="l" t="t" r="r" b="b"/>
                <a:pathLst>
                  <a:path w="992525" h="642140">
                    <a:moveTo>
                      <a:pt x="0" y="0"/>
                    </a:moveTo>
                    <a:lnTo>
                      <a:pt x="992525" y="0"/>
                    </a:lnTo>
                    <a:lnTo>
                      <a:pt x="992525" y="642140"/>
                    </a:lnTo>
                    <a:lnTo>
                      <a:pt x="0" y="642140"/>
                    </a:lnTo>
                    <a:close/>
                  </a:path>
                </a:pathLst>
              </a:custGeom>
              <a:gradFill rotWithShape="1">
                <a:gsLst>
                  <a:gs pos="0">
                    <a:srgbClr val="FFFFFF">
                      <a:alpha val="0"/>
                    </a:srgbClr>
                  </a:gs>
                  <a:gs pos="100000">
                    <a:srgbClr val="F05C3B">
                      <a:alpha val="100000"/>
                    </a:srgbClr>
                  </a:gs>
                </a:gsLst>
                <a:lin ang="5400000"/>
              </a:gradFill>
            </p:spPr>
            <p:txBody>
              <a:bodyPr/>
              <a:lstStyle/>
              <a:p>
                <a:endParaRPr lang="en-IN" sz="1200"/>
              </a:p>
            </p:txBody>
          </p:sp>
          <p:sp>
            <p:nvSpPr>
              <p:cNvPr id="21" name="TextBox 21"/>
              <p:cNvSpPr txBox="1"/>
              <p:nvPr/>
            </p:nvSpPr>
            <p:spPr>
              <a:xfrm>
                <a:off x="0" y="-38100"/>
                <a:ext cx="992525" cy="680240"/>
              </a:xfrm>
              <a:prstGeom prst="rect">
                <a:avLst/>
              </a:prstGeom>
            </p:spPr>
            <p:txBody>
              <a:bodyPr lIns="31659" tIns="31659" rIns="31659" bIns="31659" rtlCol="0" anchor="ctr"/>
              <a:lstStyle/>
              <a:p>
                <a:pPr algn="ctr">
                  <a:lnSpc>
                    <a:spcPts val="1773"/>
                  </a:lnSpc>
                </a:pPr>
                <a:endParaRPr sz="1200"/>
              </a:p>
            </p:txBody>
          </p:sp>
        </p:grpSp>
        <p:sp>
          <p:nvSpPr>
            <p:cNvPr id="22" name="Freeform 22"/>
            <p:cNvSpPr/>
            <p:nvPr/>
          </p:nvSpPr>
          <p:spPr>
            <a:xfrm>
              <a:off x="16544881" y="0"/>
              <a:ext cx="4568896" cy="5350865"/>
            </a:xfrm>
            <a:custGeom>
              <a:avLst/>
              <a:gdLst/>
              <a:ahLst/>
              <a:cxnLst/>
              <a:rect l="l" t="t" r="r" b="b"/>
              <a:pathLst>
                <a:path w="4568896" h="5350865">
                  <a:moveTo>
                    <a:pt x="0" y="0"/>
                  </a:moveTo>
                  <a:lnTo>
                    <a:pt x="4568896" y="0"/>
                  </a:lnTo>
                  <a:lnTo>
                    <a:pt x="4568896" y="5350865"/>
                  </a:lnTo>
                  <a:lnTo>
                    <a:pt x="0" y="5350865"/>
                  </a:lnTo>
                  <a:lnTo>
                    <a:pt x="0" y="0"/>
                  </a:lnTo>
                  <a:close/>
                </a:path>
              </a:pathLst>
            </a:custGeom>
            <a:blipFill>
              <a:blip r:embed="rId7"/>
              <a:stretch>
                <a:fillRect l="-13649" r="-13649"/>
              </a:stretch>
            </a:blipFill>
          </p:spPr>
          <p:txBody>
            <a:bodyPr/>
            <a:lstStyle/>
            <a:p>
              <a:endParaRPr lang="en-IN" sz="1200"/>
            </a:p>
          </p:txBody>
        </p:sp>
        <p:sp>
          <p:nvSpPr>
            <p:cNvPr id="23" name="Freeform 23"/>
            <p:cNvSpPr/>
            <p:nvPr/>
          </p:nvSpPr>
          <p:spPr>
            <a:xfrm>
              <a:off x="16206800" y="4370799"/>
              <a:ext cx="5025981" cy="1960132"/>
            </a:xfrm>
            <a:custGeom>
              <a:avLst/>
              <a:gdLst/>
              <a:ahLst/>
              <a:cxnLst/>
              <a:rect l="l" t="t" r="r" b="b"/>
              <a:pathLst>
                <a:path w="5025981" h="1960132">
                  <a:moveTo>
                    <a:pt x="0" y="0"/>
                  </a:moveTo>
                  <a:lnTo>
                    <a:pt x="5025981" y="0"/>
                  </a:lnTo>
                  <a:lnTo>
                    <a:pt x="5025981" y="1960132"/>
                  </a:lnTo>
                  <a:lnTo>
                    <a:pt x="0" y="1960132"/>
                  </a:lnTo>
                  <a:lnTo>
                    <a:pt x="0" y="0"/>
                  </a:lnTo>
                  <a:close/>
                </a:path>
              </a:pathLst>
            </a:custGeom>
            <a:blipFill>
              <a:blip r:embed="rId4"/>
              <a:stretch>
                <a:fillRect/>
              </a:stretch>
            </a:blipFill>
          </p:spPr>
          <p:txBody>
            <a:bodyPr/>
            <a:lstStyle/>
            <a:p>
              <a:endParaRPr lang="en-IN" sz="1200"/>
            </a:p>
          </p:txBody>
        </p:sp>
        <p:sp>
          <p:nvSpPr>
            <p:cNvPr id="24" name="TextBox 24"/>
            <p:cNvSpPr txBox="1"/>
            <p:nvPr/>
          </p:nvSpPr>
          <p:spPr>
            <a:xfrm>
              <a:off x="388404" y="5682249"/>
              <a:ext cx="4249172" cy="512960"/>
            </a:xfrm>
            <a:prstGeom prst="rect">
              <a:avLst/>
            </a:prstGeom>
          </p:spPr>
          <p:txBody>
            <a:bodyPr lIns="0" tIns="0" rIns="0" bIns="0" rtlCol="0" anchor="t">
              <a:spAutoFit/>
            </a:bodyPr>
            <a:lstStyle/>
            <a:p>
              <a:pPr algn="ctr">
                <a:lnSpc>
                  <a:spcPts val="2000"/>
                </a:lnSpc>
              </a:pPr>
              <a:r>
                <a:rPr lang="en-US" sz="2000">
                  <a:solidFill>
                    <a:srgbClr val="FFFFFF"/>
                  </a:solidFill>
                  <a:latin typeface="Rubik Light"/>
                  <a:ea typeface="Rubik Light"/>
                  <a:cs typeface="Rubik Light"/>
                  <a:sym typeface="Rubik Light"/>
                </a:rPr>
                <a:t>Itishree Agarwal </a:t>
              </a:r>
            </a:p>
          </p:txBody>
        </p:sp>
        <p:sp>
          <p:nvSpPr>
            <p:cNvPr id="25" name="TextBox 25"/>
            <p:cNvSpPr txBox="1"/>
            <p:nvPr/>
          </p:nvSpPr>
          <p:spPr>
            <a:xfrm>
              <a:off x="11551227" y="5682249"/>
              <a:ext cx="3716964" cy="512960"/>
            </a:xfrm>
            <a:prstGeom prst="rect">
              <a:avLst/>
            </a:prstGeom>
          </p:spPr>
          <p:txBody>
            <a:bodyPr lIns="0" tIns="0" rIns="0" bIns="0" rtlCol="0" anchor="t">
              <a:spAutoFit/>
            </a:bodyPr>
            <a:lstStyle/>
            <a:p>
              <a:pPr algn="ctr">
                <a:lnSpc>
                  <a:spcPts val="2000"/>
                </a:lnSpc>
              </a:pPr>
              <a:r>
                <a:rPr lang="en-US" sz="2000">
                  <a:solidFill>
                    <a:srgbClr val="FFFFFF"/>
                  </a:solidFill>
                  <a:latin typeface="Rubik Light"/>
                  <a:ea typeface="Rubik Light"/>
                  <a:cs typeface="Rubik Light"/>
                  <a:sym typeface="Rubik Light"/>
                </a:rPr>
                <a:t>Sai Mahima K</a:t>
              </a:r>
            </a:p>
          </p:txBody>
        </p:sp>
        <p:sp>
          <p:nvSpPr>
            <p:cNvPr id="26" name="TextBox 26"/>
            <p:cNvSpPr txBox="1"/>
            <p:nvPr/>
          </p:nvSpPr>
          <p:spPr>
            <a:xfrm>
              <a:off x="5955262" y="5682249"/>
              <a:ext cx="4104812" cy="512960"/>
            </a:xfrm>
            <a:prstGeom prst="rect">
              <a:avLst/>
            </a:prstGeom>
          </p:spPr>
          <p:txBody>
            <a:bodyPr lIns="0" tIns="0" rIns="0" bIns="0" rtlCol="0" anchor="t">
              <a:spAutoFit/>
            </a:bodyPr>
            <a:lstStyle/>
            <a:p>
              <a:pPr algn="ctr">
                <a:lnSpc>
                  <a:spcPts val="2000"/>
                </a:lnSpc>
              </a:pPr>
              <a:r>
                <a:rPr lang="en-US" sz="2000">
                  <a:solidFill>
                    <a:srgbClr val="FFFFFF"/>
                  </a:solidFill>
                  <a:latin typeface="Rubik Light"/>
                  <a:ea typeface="Rubik Light"/>
                  <a:cs typeface="Rubik Light"/>
                  <a:sym typeface="Rubik Light"/>
                </a:rPr>
                <a:t>Pratyush Mathur </a:t>
              </a:r>
            </a:p>
          </p:txBody>
        </p:sp>
        <p:sp>
          <p:nvSpPr>
            <p:cNvPr id="27" name="TextBox 27"/>
            <p:cNvSpPr txBox="1"/>
            <p:nvPr/>
          </p:nvSpPr>
          <p:spPr>
            <a:xfrm>
              <a:off x="16773481" y="5682249"/>
              <a:ext cx="4104812" cy="512960"/>
            </a:xfrm>
            <a:prstGeom prst="rect">
              <a:avLst/>
            </a:prstGeom>
          </p:spPr>
          <p:txBody>
            <a:bodyPr lIns="0" tIns="0" rIns="0" bIns="0" rtlCol="0" anchor="t">
              <a:spAutoFit/>
            </a:bodyPr>
            <a:lstStyle/>
            <a:p>
              <a:pPr algn="ctr">
                <a:lnSpc>
                  <a:spcPts val="2000"/>
                </a:lnSpc>
              </a:pPr>
              <a:r>
                <a:rPr lang="en-US" sz="2000">
                  <a:solidFill>
                    <a:srgbClr val="FFFFFF"/>
                  </a:solidFill>
                  <a:latin typeface="Rubik Light"/>
                  <a:ea typeface="Rubik Light"/>
                  <a:cs typeface="Rubik Light"/>
                  <a:sym typeface="Rubik Light"/>
                </a:rPr>
                <a:t>Sonakshi Mathur</a:t>
              </a:r>
            </a:p>
          </p:txBody>
        </p:sp>
      </p:grpSp>
      <p:sp>
        <p:nvSpPr>
          <p:cNvPr id="32" name="TextBox 32"/>
          <p:cNvSpPr txBox="1"/>
          <p:nvPr/>
        </p:nvSpPr>
        <p:spPr>
          <a:xfrm>
            <a:off x="2723549" y="1867569"/>
            <a:ext cx="7905735" cy="410369"/>
          </a:xfrm>
          <a:prstGeom prst="rect">
            <a:avLst/>
          </a:prstGeom>
        </p:spPr>
        <p:txBody>
          <a:bodyPr lIns="0" tIns="0" rIns="0" bIns="0" rtlCol="0" anchor="t">
            <a:spAutoFit/>
          </a:bodyPr>
          <a:lstStyle/>
          <a:p>
            <a:pPr>
              <a:lnSpc>
                <a:spcPts val="3165"/>
              </a:lnSpc>
            </a:pPr>
            <a:r>
              <a:rPr lang="en-US" sz="3165" dirty="0">
                <a:solidFill>
                  <a:srgbClr val="FFFFFF"/>
                </a:solidFill>
                <a:latin typeface="Rubik Light"/>
                <a:ea typeface="Rubik Light"/>
                <a:cs typeface="Rubik Light"/>
                <a:sym typeface="Rubik Light"/>
              </a:rPr>
              <a:t>College: NMIMS Mumbai</a:t>
            </a:r>
          </a:p>
        </p:txBody>
      </p:sp>
      <p:sp>
        <p:nvSpPr>
          <p:cNvPr id="33" name="TextBox 33"/>
          <p:cNvSpPr txBox="1"/>
          <p:nvPr/>
        </p:nvSpPr>
        <p:spPr>
          <a:xfrm>
            <a:off x="2723549" y="2831541"/>
            <a:ext cx="4706400" cy="410369"/>
          </a:xfrm>
          <a:prstGeom prst="rect">
            <a:avLst/>
          </a:prstGeom>
        </p:spPr>
        <p:txBody>
          <a:bodyPr lIns="0" tIns="0" rIns="0" bIns="0" rtlCol="0" anchor="t">
            <a:spAutoFit/>
          </a:bodyPr>
          <a:lstStyle/>
          <a:p>
            <a:pPr>
              <a:lnSpc>
                <a:spcPts val="3165"/>
              </a:lnSpc>
            </a:pPr>
            <a:r>
              <a:rPr lang="en-US" sz="3165">
                <a:solidFill>
                  <a:srgbClr val="FFFFFF"/>
                </a:solidFill>
                <a:latin typeface="Rubik Light"/>
                <a:ea typeface="Rubik Light"/>
                <a:cs typeface="Rubik Light"/>
                <a:sym typeface="Rubik Light"/>
              </a:rPr>
              <a:t>Team: Finsighters</a:t>
            </a:r>
          </a:p>
        </p:txBody>
      </p:sp>
      <p:sp>
        <p:nvSpPr>
          <p:cNvPr id="34" name="TextBox 34"/>
          <p:cNvSpPr txBox="1"/>
          <p:nvPr/>
        </p:nvSpPr>
        <p:spPr>
          <a:xfrm>
            <a:off x="2723549" y="2339989"/>
            <a:ext cx="3049501" cy="410369"/>
          </a:xfrm>
          <a:prstGeom prst="rect">
            <a:avLst/>
          </a:prstGeom>
        </p:spPr>
        <p:txBody>
          <a:bodyPr lIns="0" tIns="0" rIns="0" bIns="0" rtlCol="0" anchor="t">
            <a:spAutoFit/>
          </a:bodyPr>
          <a:lstStyle/>
          <a:p>
            <a:pPr>
              <a:lnSpc>
                <a:spcPts val="3165"/>
              </a:lnSpc>
            </a:pPr>
            <a:r>
              <a:rPr lang="en-US" sz="3165" dirty="0">
                <a:solidFill>
                  <a:srgbClr val="FFFFFF"/>
                </a:solidFill>
                <a:latin typeface="Rubik Light"/>
                <a:ea typeface="Rubik Light"/>
                <a:cs typeface="Rubik Light"/>
                <a:sym typeface="Rubik Light"/>
              </a:rPr>
              <a:t>PGP: 2nd Year</a:t>
            </a:r>
          </a:p>
        </p:txBody>
      </p:sp>
      <p:sp>
        <p:nvSpPr>
          <p:cNvPr id="35" name="Freeform 31">
            <a:extLst>
              <a:ext uri="{FF2B5EF4-FFF2-40B4-BE49-F238E27FC236}">
                <a16:creationId xmlns:a16="http://schemas.microsoft.com/office/drawing/2014/main" id="{26F125AE-B798-1155-DD73-BA9AB5D5A25D}"/>
              </a:ext>
            </a:extLst>
          </p:cNvPr>
          <p:cNvSpPr/>
          <p:nvPr/>
        </p:nvSpPr>
        <p:spPr>
          <a:xfrm>
            <a:off x="5426718" y="492418"/>
            <a:ext cx="1148222" cy="759593"/>
          </a:xfrm>
          <a:custGeom>
            <a:avLst/>
            <a:gdLst/>
            <a:ahLst/>
            <a:cxnLst/>
            <a:rect l="l" t="t" r="r" b="b"/>
            <a:pathLst>
              <a:path w="1833637" h="1213022">
                <a:moveTo>
                  <a:pt x="0" y="0"/>
                </a:moveTo>
                <a:lnTo>
                  <a:pt x="1833638" y="0"/>
                </a:lnTo>
                <a:lnTo>
                  <a:pt x="1833638" y="1213021"/>
                </a:lnTo>
                <a:lnTo>
                  <a:pt x="0" y="1213021"/>
                </a:lnTo>
                <a:lnTo>
                  <a:pt x="0" y="0"/>
                </a:lnTo>
                <a:close/>
              </a:path>
            </a:pathLst>
          </a:custGeom>
          <a:blipFill>
            <a:blip r:embed="rId8"/>
            <a:stretch>
              <a:fillRect/>
            </a:stretch>
          </a:blipFill>
        </p:spPr>
        <p:txBody>
          <a:bodyPr/>
          <a:lstStyle/>
          <a:p>
            <a:endParaRPr lang="en-IN" sz="1200"/>
          </a:p>
        </p:txBody>
      </p:sp>
      <p:grpSp>
        <p:nvGrpSpPr>
          <p:cNvPr id="36" name="Group 32">
            <a:extLst>
              <a:ext uri="{FF2B5EF4-FFF2-40B4-BE49-F238E27FC236}">
                <a16:creationId xmlns:a16="http://schemas.microsoft.com/office/drawing/2014/main" id="{5A1B48F7-F1A1-5027-3087-6FB07BBD6569}"/>
              </a:ext>
            </a:extLst>
          </p:cNvPr>
          <p:cNvGrpSpPr/>
          <p:nvPr/>
        </p:nvGrpSpPr>
        <p:grpSpPr>
          <a:xfrm>
            <a:off x="10363200" y="461968"/>
            <a:ext cx="1395128" cy="656591"/>
            <a:chOff x="0" y="0"/>
            <a:chExt cx="3340608" cy="1444752"/>
          </a:xfrm>
        </p:grpSpPr>
        <p:sp>
          <p:nvSpPr>
            <p:cNvPr id="37" name="Freeform 33">
              <a:extLst>
                <a:ext uri="{FF2B5EF4-FFF2-40B4-BE49-F238E27FC236}">
                  <a16:creationId xmlns:a16="http://schemas.microsoft.com/office/drawing/2014/main" id="{A857C88D-4D49-C27C-A524-4B2889E0C364}"/>
                </a:ext>
              </a:extLst>
            </p:cNvPr>
            <p:cNvSpPr/>
            <p:nvPr/>
          </p:nvSpPr>
          <p:spPr>
            <a:xfrm>
              <a:off x="0" y="0"/>
              <a:ext cx="3340608" cy="1444752"/>
            </a:xfrm>
            <a:custGeom>
              <a:avLst/>
              <a:gdLst/>
              <a:ahLst/>
              <a:cxnLst/>
              <a:rect l="l" t="t" r="r" b="b"/>
              <a:pathLst>
                <a:path w="3340608" h="1444752">
                  <a:moveTo>
                    <a:pt x="0" y="0"/>
                  </a:moveTo>
                  <a:lnTo>
                    <a:pt x="3340608" y="0"/>
                  </a:lnTo>
                  <a:lnTo>
                    <a:pt x="3340608" y="1444752"/>
                  </a:lnTo>
                  <a:lnTo>
                    <a:pt x="0" y="1444752"/>
                  </a:lnTo>
                  <a:lnTo>
                    <a:pt x="0" y="0"/>
                  </a:lnTo>
                  <a:close/>
                </a:path>
              </a:pathLst>
            </a:custGeom>
            <a:blipFill>
              <a:blip r:embed="rId9"/>
              <a:stretch>
                <a:fillRect/>
              </a:stretch>
            </a:blipFill>
          </p:spPr>
          <p:txBody>
            <a:bodyPr/>
            <a:lstStyle/>
            <a:p>
              <a:endParaRPr lang="en-IN" sz="1200"/>
            </a:p>
          </p:txBody>
        </p:sp>
      </p:grpSp>
      <p:sp>
        <p:nvSpPr>
          <p:cNvPr id="38" name="Freeform 34">
            <a:extLst>
              <a:ext uri="{FF2B5EF4-FFF2-40B4-BE49-F238E27FC236}">
                <a16:creationId xmlns:a16="http://schemas.microsoft.com/office/drawing/2014/main" id="{6472D1C4-5513-F151-CB40-5078B6EB605A}"/>
              </a:ext>
            </a:extLst>
          </p:cNvPr>
          <p:cNvSpPr/>
          <p:nvPr/>
        </p:nvSpPr>
        <p:spPr>
          <a:xfrm>
            <a:off x="426500" y="492418"/>
            <a:ext cx="926619" cy="922566"/>
          </a:xfrm>
          <a:custGeom>
            <a:avLst/>
            <a:gdLst/>
            <a:ahLst/>
            <a:cxnLst/>
            <a:rect l="l" t="t" r="r" b="b"/>
            <a:pathLst>
              <a:path w="1521539" h="1514883">
                <a:moveTo>
                  <a:pt x="0" y="0"/>
                </a:moveTo>
                <a:lnTo>
                  <a:pt x="1521539" y="0"/>
                </a:lnTo>
                <a:lnTo>
                  <a:pt x="1521539" y="1514883"/>
                </a:lnTo>
                <a:lnTo>
                  <a:pt x="0" y="1514883"/>
                </a:lnTo>
                <a:lnTo>
                  <a:pt x="0" y="0"/>
                </a:lnTo>
                <a:close/>
              </a:path>
            </a:pathLst>
          </a:custGeom>
          <a:blipFill>
            <a:blip r:embed="rId10"/>
            <a:stretch>
              <a:fillRect/>
            </a:stretch>
          </a:blipFill>
        </p:spPr>
        <p:txBody>
          <a:bodyPr/>
          <a:lstStyle/>
          <a:p>
            <a:endParaRPr lang="en-IN"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PROBLEM   01 / 02</a:t>
            </a:r>
            <a:endParaRPr lang="en-US" sz="1000" dirty="0"/>
          </a:p>
        </p:txBody>
      </p:sp>
      <p:pic>
        <p:nvPicPr>
          <p:cNvPr id="4" name="Image 0" descr="media/image4.png"/>
          <p:cNvPicPr>
            <a:picLocks noChangeAspect="1"/>
          </p:cNvPicPr>
          <p:nvPr/>
        </p:nvPicPr>
        <p:blipFill>
          <a:blip r:embed="rId4"/>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5"/>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A Motor OD claim costs 9.8 days and ₹1,750 to settle — on a book already underwriting at 104.7%. Here turnaround is not service quality. It is cash.</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Problem Statement</a:t>
            </a:r>
            <a:endParaRPr lang="en-US" sz="1400" dirty="0"/>
          </a:p>
        </p:txBody>
      </p:sp>
      <p:sp>
        <p:nvSpPr>
          <p:cNvPr id="11" name="Shape 7"/>
          <p:cNvSpPr/>
          <p:nvPr/>
        </p:nvSpPr>
        <p:spPr>
          <a:xfrm>
            <a:off x="437083" y="1408176"/>
            <a:ext cx="11338560" cy="1426464"/>
          </a:xfrm>
          <a:prstGeom prst="roundRect">
            <a:avLst>
              <a:gd name="adj" fmla="val 3205"/>
            </a:avLst>
          </a:prstGeom>
          <a:solidFill>
            <a:srgbClr val="C3C8DC">
              <a:alpha val="28000"/>
            </a:srgbClr>
          </a:solidFill>
          <a:ln w="9525">
            <a:solidFill>
              <a:srgbClr val="FFFFFF">
                <a:alpha val="78000"/>
              </a:srgbClr>
            </a:solidFill>
            <a:prstDash val="solid"/>
          </a:ln>
        </p:spPr>
      </p:sp>
      <p:sp>
        <p:nvSpPr>
          <p:cNvPr id="12" name="Shape 8"/>
          <p:cNvSpPr/>
          <p:nvPr/>
        </p:nvSpPr>
        <p:spPr>
          <a:xfrm>
            <a:off x="437083" y="2944368"/>
            <a:ext cx="11338560" cy="0"/>
          </a:xfrm>
          <a:prstGeom prst="line">
            <a:avLst/>
          </a:prstGeom>
          <a:noFill/>
          <a:ln w="12700">
            <a:solidFill>
              <a:srgbClr val="FFFFFF"/>
            </a:solidFill>
            <a:prstDash val="solid"/>
          </a:ln>
        </p:spPr>
      </p:sp>
      <p:sp>
        <p:nvSpPr>
          <p:cNvPr id="13" name="Text 9"/>
          <p:cNvSpPr txBox="1"/>
          <p:nvPr/>
        </p:nvSpPr>
        <p:spPr>
          <a:xfrm>
            <a:off x="583387" y="2944368"/>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Problem Statement Appreciation (Context and Understanding)</a:t>
            </a:r>
            <a:endParaRPr lang="en-US" sz="1400" dirty="0"/>
          </a:p>
        </p:txBody>
      </p:sp>
      <p:sp>
        <p:nvSpPr>
          <p:cNvPr id="14" name="Shape 10"/>
          <p:cNvSpPr/>
          <p:nvPr/>
        </p:nvSpPr>
        <p:spPr>
          <a:xfrm>
            <a:off x="437083" y="3273552"/>
            <a:ext cx="11338560" cy="2999232"/>
          </a:xfrm>
          <a:prstGeom prst="roundRect">
            <a:avLst>
              <a:gd name="adj" fmla="val 1524"/>
            </a:avLst>
          </a:prstGeom>
          <a:solidFill>
            <a:srgbClr val="C3C8DC">
              <a:alpha val="28000"/>
            </a:srgbClr>
          </a:solidFill>
          <a:ln w="9525">
            <a:solidFill>
              <a:srgbClr val="FFFFFF">
                <a:alpha val="78000"/>
              </a:srgbClr>
            </a:solidFill>
            <a:prstDash val="solid"/>
          </a:ln>
        </p:spPr>
      </p:sp>
      <p:sp>
        <p:nvSpPr>
          <p:cNvPr id="15" name="Shape 11"/>
          <p:cNvSpPr/>
          <p:nvPr/>
        </p:nvSpPr>
        <p:spPr>
          <a:xfrm>
            <a:off x="3291840" y="6345936"/>
            <a:ext cx="8485632" cy="237744"/>
          </a:xfrm>
          <a:prstGeom prst="roundRect">
            <a:avLst>
              <a:gd name="adj" fmla="val 50000"/>
            </a:avLst>
          </a:prstGeom>
          <a:solidFill>
            <a:srgbClr val="0A1550">
              <a:alpha val="84000"/>
            </a:srgbClr>
          </a:solidFill>
          <a:ln/>
        </p:spPr>
      </p:sp>
      <p:sp>
        <p:nvSpPr>
          <p:cNvPr id="16" name="Text 12"/>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1 (Tables A, B, K); Sheet 3 Workings (Part A, W-01 to W-05). GI Council GDPI filings Jun’25–Jun’26; Bajaj Finserv Q1 FY2027 results, 31 Jul 2026.</a:t>
            </a:r>
            <a:endParaRPr lang="en-US" sz="700" dirty="0"/>
          </a:p>
        </p:txBody>
      </p:sp>
      <p:sp>
        <p:nvSpPr>
          <p:cNvPr id="17" name="Text 13"/>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8" name="Shape 14"/>
          <p:cNvSpPr/>
          <p:nvPr/>
        </p:nvSpPr>
        <p:spPr>
          <a:xfrm>
            <a:off x="638251" y="1609344"/>
            <a:ext cx="2596896" cy="1024128"/>
          </a:xfrm>
          <a:prstGeom prst="roundRect">
            <a:avLst>
              <a:gd name="adj" fmla="val 8036"/>
            </a:avLst>
          </a:prstGeom>
          <a:solidFill>
            <a:srgbClr val="111C55">
              <a:alpha val="78000"/>
            </a:srgbClr>
          </a:solidFill>
          <a:ln w="12700">
            <a:solidFill>
              <a:srgbClr val="ED7D31">
                <a:alpha val="78000"/>
              </a:srgbClr>
            </a:solidFill>
            <a:prstDash val="solid"/>
          </a:ln>
        </p:spPr>
      </p:sp>
      <p:sp>
        <p:nvSpPr>
          <p:cNvPr id="19" name="Shape 15"/>
          <p:cNvSpPr/>
          <p:nvPr/>
        </p:nvSpPr>
        <p:spPr>
          <a:xfrm>
            <a:off x="784555" y="1719072"/>
            <a:ext cx="201168" cy="201168"/>
          </a:xfrm>
          <a:prstGeom prst="ellipse">
            <a:avLst/>
          </a:prstGeom>
          <a:ln w="13970">
            <a:solidFill>
              <a:srgbClr val="ED7D31"/>
            </a:solidFill>
            <a:prstDash val="solid"/>
          </a:ln>
        </p:spPr>
      </p:sp>
      <p:sp>
        <p:nvSpPr>
          <p:cNvPr id="20" name="Shape 16"/>
          <p:cNvSpPr/>
          <p:nvPr/>
        </p:nvSpPr>
        <p:spPr>
          <a:xfrm>
            <a:off x="885139" y="1763329"/>
            <a:ext cx="0" cy="56327"/>
          </a:xfrm>
          <a:prstGeom prst="line">
            <a:avLst/>
          </a:prstGeom>
          <a:noFill/>
          <a:ln w="13970">
            <a:solidFill>
              <a:srgbClr val="ED7D31"/>
            </a:solidFill>
            <a:prstDash val="solid"/>
          </a:ln>
        </p:spPr>
      </p:sp>
      <p:sp>
        <p:nvSpPr>
          <p:cNvPr id="21" name="Shape 17"/>
          <p:cNvSpPr/>
          <p:nvPr/>
        </p:nvSpPr>
        <p:spPr>
          <a:xfrm>
            <a:off x="885139" y="1819656"/>
            <a:ext cx="44257" cy="0"/>
          </a:xfrm>
          <a:prstGeom prst="line">
            <a:avLst/>
          </a:prstGeom>
          <a:noFill/>
          <a:ln w="13970">
            <a:solidFill>
              <a:srgbClr val="ED7D31"/>
            </a:solidFill>
            <a:prstDash val="solid"/>
          </a:ln>
        </p:spPr>
      </p:sp>
      <p:sp>
        <p:nvSpPr>
          <p:cNvPr id="22" name="Text 18"/>
          <p:cNvSpPr txBox="1"/>
          <p:nvPr/>
        </p:nvSpPr>
        <p:spPr>
          <a:xfrm>
            <a:off x="1077163" y="1682496"/>
            <a:ext cx="2011680" cy="237744"/>
          </a:xfrm>
          <a:prstGeom prst="rect">
            <a:avLst/>
          </a:prstGeom>
          <a:noFill/>
          <a:ln/>
        </p:spPr>
        <p:txBody>
          <a:bodyPr wrap="square" lIns="0" tIns="0" rIns="0" bIns="0" rtlCol="0" anchor="ctr"/>
          <a:lstStyle/>
          <a:p>
            <a:pPr marL="0" indent="0">
              <a:buNone/>
            </a:pPr>
            <a:r>
              <a:rPr lang="en-US" sz="850" b="1" kern="0" spc="100" dirty="0">
                <a:solidFill>
                  <a:srgbClr val="ED7D31"/>
                </a:solidFill>
                <a:latin typeface="Calibri" pitchFamily="34" charset="0"/>
                <a:ea typeface="Calibri" pitchFamily="34" charset="-122"/>
                <a:cs typeface="Calibri" pitchFamily="34" charset="-120"/>
              </a:rPr>
              <a:t>CLAIM TURNAROUND TODAY</a:t>
            </a:r>
            <a:endParaRPr lang="en-US" sz="850" dirty="0"/>
          </a:p>
        </p:txBody>
      </p:sp>
      <p:sp>
        <p:nvSpPr>
          <p:cNvPr id="23" name="Text 19"/>
          <p:cNvSpPr txBox="1"/>
          <p:nvPr/>
        </p:nvSpPr>
        <p:spPr>
          <a:xfrm>
            <a:off x="784555" y="1920240"/>
            <a:ext cx="2304288" cy="384048"/>
          </a:xfrm>
          <a:prstGeom prst="rect">
            <a:avLst/>
          </a:prstGeom>
          <a:noFill/>
          <a:ln/>
        </p:spPr>
        <p:txBody>
          <a:bodyPr wrap="square" lIns="0" tIns="0" rIns="0" bIns="0" rtlCol="0" anchor="ctr"/>
          <a:lstStyle/>
          <a:p>
            <a:pPr marL="0" indent="0">
              <a:buNone/>
            </a:pPr>
            <a:r>
              <a:rPr lang="en-US" sz="2600" b="1" dirty="0">
                <a:solidFill>
                  <a:srgbClr val="F7B183"/>
                </a:solidFill>
                <a:latin typeface="Calibri" pitchFamily="34" charset="0"/>
                <a:ea typeface="Calibri" pitchFamily="34" charset="-122"/>
                <a:cs typeface="Calibri" pitchFamily="34" charset="-120"/>
              </a:rPr>
              <a:t>9.8</a:t>
            </a:r>
            <a:r>
              <a:rPr lang="en-US" sz="1196" b="1" dirty="0">
                <a:solidFill>
                  <a:srgbClr val="C6CEE4"/>
                </a:solidFill>
                <a:latin typeface="Calibri" pitchFamily="34" charset="0"/>
                <a:ea typeface="Calibri" pitchFamily="34" charset="-122"/>
                <a:cs typeface="Calibri" pitchFamily="34" charset="-120"/>
              </a:rPr>
              <a:t> days</a:t>
            </a:r>
            <a:endParaRPr lang="en-US" sz="2600" dirty="0"/>
          </a:p>
        </p:txBody>
      </p:sp>
      <p:sp>
        <p:nvSpPr>
          <p:cNvPr id="24" name="Text 20"/>
          <p:cNvSpPr txBox="1"/>
          <p:nvPr/>
        </p:nvSpPr>
        <p:spPr>
          <a:xfrm>
            <a:off x="784555"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per Motor OD claim  ·  B-09</a:t>
            </a:r>
            <a:endParaRPr lang="en-US" sz="800" dirty="0"/>
          </a:p>
        </p:txBody>
      </p:sp>
      <p:sp>
        <p:nvSpPr>
          <p:cNvPr id="25" name="Shape 21"/>
          <p:cNvSpPr/>
          <p:nvPr/>
        </p:nvSpPr>
        <p:spPr>
          <a:xfrm>
            <a:off x="3418027" y="1609344"/>
            <a:ext cx="2596896" cy="1024128"/>
          </a:xfrm>
          <a:prstGeom prst="roundRect">
            <a:avLst>
              <a:gd name="adj" fmla="val 8036"/>
            </a:avLst>
          </a:prstGeom>
          <a:solidFill>
            <a:srgbClr val="111C55">
              <a:alpha val="78000"/>
            </a:srgbClr>
          </a:solidFill>
          <a:ln w="12700">
            <a:solidFill>
              <a:srgbClr val="ED7D31">
                <a:alpha val="78000"/>
              </a:srgbClr>
            </a:solidFill>
            <a:prstDash val="solid"/>
          </a:ln>
        </p:spPr>
      </p:sp>
      <p:sp>
        <p:nvSpPr>
          <p:cNvPr id="26" name="Shape 22"/>
          <p:cNvSpPr/>
          <p:nvPr/>
        </p:nvSpPr>
        <p:spPr>
          <a:xfrm>
            <a:off x="3564331" y="1719072"/>
            <a:ext cx="201168" cy="201168"/>
          </a:xfrm>
          <a:prstGeom prst="roundRect">
            <a:avLst>
              <a:gd name="adj" fmla="val 22000"/>
            </a:avLst>
          </a:prstGeom>
          <a:ln w="13970">
            <a:solidFill>
              <a:srgbClr val="ED7D31"/>
            </a:solidFill>
            <a:prstDash val="solid"/>
          </a:ln>
        </p:spPr>
      </p:sp>
      <p:sp>
        <p:nvSpPr>
          <p:cNvPr id="27" name="Text 23"/>
          <p:cNvSpPr txBox="1"/>
          <p:nvPr/>
        </p:nvSpPr>
        <p:spPr>
          <a:xfrm>
            <a:off x="3564331" y="1719072"/>
            <a:ext cx="201168" cy="201168"/>
          </a:xfrm>
          <a:prstGeom prst="rect">
            <a:avLst/>
          </a:prstGeom>
          <a:noFill/>
          <a:ln/>
        </p:spPr>
        <p:txBody>
          <a:bodyPr wrap="square" lIns="0" tIns="0" rIns="0" bIns="0" rtlCol="0" anchor="ctr"/>
          <a:lstStyle/>
          <a:p>
            <a:pPr marL="0" indent="0" algn="ctr">
              <a:buNone/>
            </a:pPr>
            <a:r>
              <a:rPr lang="en-US" sz="1364" b="1" dirty="0">
                <a:solidFill>
                  <a:srgbClr val="ED7D31"/>
                </a:solidFill>
                <a:latin typeface="Calibri" pitchFamily="34" charset="0"/>
                <a:ea typeface="Calibri" pitchFamily="34" charset="-122"/>
                <a:cs typeface="Calibri" pitchFamily="34" charset="-120"/>
              </a:rPr>
              <a:t>₹</a:t>
            </a:r>
            <a:endParaRPr lang="en-US" sz="1364" dirty="0"/>
          </a:p>
        </p:txBody>
      </p:sp>
      <p:sp>
        <p:nvSpPr>
          <p:cNvPr id="28" name="Text 24"/>
          <p:cNvSpPr txBox="1"/>
          <p:nvPr/>
        </p:nvSpPr>
        <p:spPr>
          <a:xfrm>
            <a:off x="3856939" y="1682496"/>
            <a:ext cx="2011680" cy="237744"/>
          </a:xfrm>
          <a:prstGeom prst="rect">
            <a:avLst/>
          </a:prstGeom>
          <a:noFill/>
          <a:ln/>
        </p:spPr>
        <p:txBody>
          <a:bodyPr wrap="square" lIns="0" tIns="0" rIns="0" bIns="0" rtlCol="0" anchor="ctr"/>
          <a:lstStyle/>
          <a:p>
            <a:pPr marL="0" indent="0">
              <a:buNone/>
            </a:pPr>
            <a:r>
              <a:rPr lang="en-US" sz="850" b="1" kern="0" spc="100" dirty="0">
                <a:solidFill>
                  <a:srgbClr val="ED7D31"/>
                </a:solidFill>
                <a:latin typeface="Calibri" pitchFamily="34" charset="0"/>
                <a:ea typeface="Calibri" pitchFamily="34" charset="-122"/>
                <a:cs typeface="Calibri" pitchFamily="34" charset="-120"/>
              </a:rPr>
              <a:t>COST TO SERVE</a:t>
            </a:r>
            <a:endParaRPr lang="en-US" sz="850" dirty="0"/>
          </a:p>
        </p:txBody>
      </p:sp>
      <p:sp>
        <p:nvSpPr>
          <p:cNvPr id="29" name="Text 25"/>
          <p:cNvSpPr txBox="1"/>
          <p:nvPr/>
        </p:nvSpPr>
        <p:spPr>
          <a:xfrm>
            <a:off x="3564331" y="1920240"/>
            <a:ext cx="2304288" cy="384048"/>
          </a:xfrm>
          <a:prstGeom prst="rect">
            <a:avLst/>
          </a:prstGeom>
          <a:noFill/>
          <a:ln/>
        </p:spPr>
        <p:txBody>
          <a:bodyPr wrap="square" lIns="0" tIns="0" rIns="0" bIns="0" rtlCol="0" anchor="ctr"/>
          <a:lstStyle/>
          <a:p>
            <a:pPr marL="0" indent="0">
              <a:buNone/>
            </a:pPr>
            <a:r>
              <a:rPr lang="en-US" sz="2600" b="1" dirty="0">
                <a:solidFill>
                  <a:srgbClr val="F7B183"/>
                </a:solidFill>
                <a:latin typeface="Calibri" pitchFamily="34" charset="0"/>
                <a:ea typeface="Calibri" pitchFamily="34" charset="-122"/>
                <a:cs typeface="Calibri" pitchFamily="34" charset="-120"/>
              </a:rPr>
              <a:t>₹1,750</a:t>
            </a:r>
            <a:endParaRPr lang="en-US" sz="2600" dirty="0"/>
          </a:p>
        </p:txBody>
      </p:sp>
      <p:sp>
        <p:nvSpPr>
          <p:cNvPr id="30" name="Text 26"/>
          <p:cNvSpPr txBox="1"/>
          <p:nvPr/>
        </p:nvSpPr>
        <p:spPr>
          <a:xfrm>
            <a:off x="3564331"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handling cost per claim  ·  B-02 × B-28</a:t>
            </a:r>
            <a:endParaRPr lang="en-US" sz="800" dirty="0"/>
          </a:p>
        </p:txBody>
      </p:sp>
      <p:sp>
        <p:nvSpPr>
          <p:cNvPr id="31" name="Shape 27"/>
          <p:cNvSpPr/>
          <p:nvPr/>
        </p:nvSpPr>
        <p:spPr>
          <a:xfrm>
            <a:off x="6197803" y="1609344"/>
            <a:ext cx="2596896" cy="1024128"/>
          </a:xfrm>
          <a:prstGeom prst="roundRect">
            <a:avLst>
              <a:gd name="adj" fmla="val 8036"/>
            </a:avLst>
          </a:prstGeom>
          <a:solidFill>
            <a:srgbClr val="111C55">
              <a:alpha val="78000"/>
            </a:srgbClr>
          </a:solidFill>
          <a:ln w="12700">
            <a:solidFill>
              <a:srgbClr val="ED7D31">
                <a:alpha val="78000"/>
              </a:srgbClr>
            </a:solidFill>
            <a:prstDash val="solid"/>
          </a:ln>
        </p:spPr>
      </p:sp>
      <p:sp>
        <p:nvSpPr>
          <p:cNvPr id="32" name="Shape 28"/>
          <p:cNvSpPr/>
          <p:nvPr/>
        </p:nvSpPr>
        <p:spPr>
          <a:xfrm>
            <a:off x="6352154" y="1739189"/>
            <a:ext cx="60350" cy="60350"/>
          </a:xfrm>
          <a:prstGeom prst="ellipse">
            <a:avLst/>
          </a:prstGeom>
          <a:ln w="13970">
            <a:solidFill>
              <a:srgbClr val="ED7D31"/>
            </a:solidFill>
            <a:prstDash val="solid"/>
          </a:ln>
        </p:spPr>
      </p:sp>
      <p:sp>
        <p:nvSpPr>
          <p:cNvPr id="33" name="Shape 29"/>
          <p:cNvSpPr/>
          <p:nvPr/>
        </p:nvSpPr>
        <p:spPr>
          <a:xfrm>
            <a:off x="6344107" y="1799539"/>
            <a:ext cx="76444" cy="104607"/>
          </a:xfrm>
          <a:prstGeom prst="blockArc">
            <a:avLst/>
          </a:prstGeom>
          <a:ln w="13970">
            <a:solidFill>
              <a:srgbClr val="ED7D31"/>
            </a:solidFill>
            <a:prstDash val="solid"/>
          </a:ln>
        </p:spPr>
      </p:sp>
      <p:sp>
        <p:nvSpPr>
          <p:cNvPr id="34" name="Shape 30"/>
          <p:cNvSpPr/>
          <p:nvPr/>
        </p:nvSpPr>
        <p:spPr>
          <a:xfrm>
            <a:off x="6460785" y="1739189"/>
            <a:ext cx="60350" cy="60350"/>
          </a:xfrm>
          <a:prstGeom prst="ellipse">
            <a:avLst/>
          </a:prstGeom>
          <a:ln w="13970">
            <a:solidFill>
              <a:srgbClr val="ED7D31"/>
            </a:solidFill>
            <a:prstDash val="solid"/>
          </a:ln>
        </p:spPr>
      </p:sp>
      <p:sp>
        <p:nvSpPr>
          <p:cNvPr id="35" name="Shape 31"/>
          <p:cNvSpPr/>
          <p:nvPr/>
        </p:nvSpPr>
        <p:spPr>
          <a:xfrm>
            <a:off x="6452738" y="1799539"/>
            <a:ext cx="76444" cy="104607"/>
          </a:xfrm>
          <a:prstGeom prst="blockArc">
            <a:avLst/>
          </a:prstGeom>
          <a:ln w="13970">
            <a:solidFill>
              <a:srgbClr val="ED7D31"/>
            </a:solidFill>
            <a:prstDash val="solid"/>
          </a:ln>
        </p:spPr>
      </p:sp>
      <p:sp>
        <p:nvSpPr>
          <p:cNvPr id="36" name="Text 32"/>
          <p:cNvSpPr txBox="1"/>
          <p:nvPr/>
        </p:nvSpPr>
        <p:spPr>
          <a:xfrm>
            <a:off x="6636715" y="1682496"/>
            <a:ext cx="2011680" cy="237744"/>
          </a:xfrm>
          <a:prstGeom prst="rect">
            <a:avLst/>
          </a:prstGeom>
          <a:noFill/>
          <a:ln/>
        </p:spPr>
        <p:txBody>
          <a:bodyPr wrap="square" lIns="0" tIns="0" rIns="0" bIns="0" rtlCol="0" anchor="ctr"/>
          <a:lstStyle/>
          <a:p>
            <a:pPr marL="0" indent="0">
              <a:buNone/>
            </a:pPr>
            <a:r>
              <a:rPr lang="en-US" sz="850" b="1" kern="0" spc="100" dirty="0">
                <a:solidFill>
                  <a:srgbClr val="ED7D31"/>
                </a:solidFill>
                <a:latin typeface="Calibri" pitchFamily="34" charset="0"/>
                <a:ea typeface="Calibri" pitchFamily="34" charset="-122"/>
                <a:cs typeface="Calibri" pitchFamily="34" charset="-120"/>
              </a:rPr>
              <a:t>MANUAL TOUCHES</a:t>
            </a:r>
            <a:endParaRPr lang="en-US" sz="850" dirty="0"/>
          </a:p>
        </p:txBody>
      </p:sp>
      <p:sp>
        <p:nvSpPr>
          <p:cNvPr id="37" name="Text 33"/>
          <p:cNvSpPr txBox="1"/>
          <p:nvPr/>
        </p:nvSpPr>
        <p:spPr>
          <a:xfrm>
            <a:off x="6344107" y="1920240"/>
            <a:ext cx="2304288" cy="384048"/>
          </a:xfrm>
          <a:prstGeom prst="rect">
            <a:avLst/>
          </a:prstGeom>
          <a:noFill/>
          <a:ln/>
        </p:spPr>
        <p:txBody>
          <a:bodyPr wrap="square" lIns="0" tIns="0" rIns="0" bIns="0" rtlCol="0" anchor="ctr"/>
          <a:lstStyle/>
          <a:p>
            <a:pPr marL="0" indent="0">
              <a:buNone/>
            </a:pPr>
            <a:r>
              <a:rPr lang="en-US" sz="2600" b="1" dirty="0">
                <a:solidFill>
                  <a:srgbClr val="F7B183"/>
                </a:solidFill>
                <a:latin typeface="Calibri" pitchFamily="34" charset="0"/>
                <a:ea typeface="Calibri" pitchFamily="34" charset="-122"/>
                <a:cs typeface="Calibri" pitchFamily="34" charset="-120"/>
              </a:rPr>
              <a:t>7.0</a:t>
            </a:r>
            <a:r>
              <a:rPr lang="en-US" sz="1196" b="1" dirty="0">
                <a:solidFill>
                  <a:srgbClr val="C6CEE4"/>
                </a:solidFill>
                <a:latin typeface="Calibri" pitchFamily="34" charset="0"/>
                <a:ea typeface="Calibri" pitchFamily="34" charset="-122"/>
                <a:cs typeface="Calibri" pitchFamily="34" charset="-120"/>
              </a:rPr>
              <a:t> per claim</a:t>
            </a:r>
            <a:endParaRPr lang="en-US" sz="2600" dirty="0"/>
          </a:p>
        </p:txBody>
      </p:sp>
      <p:sp>
        <p:nvSpPr>
          <p:cNvPr id="38" name="Text 34"/>
          <p:cNvSpPr txBox="1"/>
          <p:nvPr/>
        </p:nvSpPr>
        <p:spPr>
          <a:xfrm>
            <a:off x="6344107"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human handoffs before settlement  ·  B-02</a:t>
            </a:r>
            <a:endParaRPr lang="en-US" sz="800" dirty="0"/>
          </a:p>
        </p:txBody>
      </p:sp>
      <p:sp>
        <p:nvSpPr>
          <p:cNvPr id="39" name="Shape 35"/>
          <p:cNvSpPr/>
          <p:nvPr/>
        </p:nvSpPr>
        <p:spPr>
          <a:xfrm>
            <a:off x="8977579" y="1609344"/>
            <a:ext cx="2596896" cy="1024128"/>
          </a:xfrm>
          <a:prstGeom prst="roundRect">
            <a:avLst>
              <a:gd name="adj" fmla="val 8036"/>
            </a:avLst>
          </a:prstGeom>
          <a:solidFill>
            <a:srgbClr val="111C55">
              <a:alpha val="78000"/>
            </a:srgbClr>
          </a:solidFill>
          <a:ln w="12700">
            <a:solidFill>
              <a:srgbClr val="E06666">
                <a:alpha val="78000"/>
              </a:srgbClr>
            </a:solidFill>
            <a:prstDash val="solid"/>
          </a:ln>
        </p:spPr>
      </p:sp>
      <p:sp>
        <p:nvSpPr>
          <p:cNvPr id="40" name="Shape 36"/>
          <p:cNvSpPr/>
          <p:nvPr/>
        </p:nvSpPr>
        <p:spPr>
          <a:xfrm>
            <a:off x="9135953" y="1823679"/>
            <a:ext cx="44257" cy="96561"/>
          </a:xfrm>
          <a:prstGeom prst="rect">
            <a:avLst/>
          </a:prstGeom>
          <a:solidFill>
            <a:srgbClr val="E06666"/>
          </a:solidFill>
          <a:ln/>
        </p:spPr>
      </p:sp>
      <p:sp>
        <p:nvSpPr>
          <p:cNvPr id="41" name="Shape 37"/>
          <p:cNvSpPr/>
          <p:nvPr/>
        </p:nvSpPr>
        <p:spPr>
          <a:xfrm>
            <a:off x="9200327" y="1775399"/>
            <a:ext cx="44257" cy="144841"/>
          </a:xfrm>
          <a:prstGeom prst="rect">
            <a:avLst/>
          </a:prstGeom>
          <a:solidFill>
            <a:srgbClr val="E06666"/>
          </a:solidFill>
          <a:ln/>
        </p:spPr>
      </p:sp>
      <p:sp>
        <p:nvSpPr>
          <p:cNvPr id="42" name="Shape 38"/>
          <p:cNvSpPr/>
          <p:nvPr/>
        </p:nvSpPr>
        <p:spPr>
          <a:xfrm>
            <a:off x="9264701" y="1731142"/>
            <a:ext cx="44257" cy="189098"/>
          </a:xfrm>
          <a:prstGeom prst="rect">
            <a:avLst/>
          </a:prstGeom>
          <a:solidFill>
            <a:srgbClr val="E06666"/>
          </a:solidFill>
          <a:ln/>
        </p:spPr>
      </p:sp>
      <p:sp>
        <p:nvSpPr>
          <p:cNvPr id="43" name="Text 39"/>
          <p:cNvSpPr txBox="1"/>
          <p:nvPr/>
        </p:nvSpPr>
        <p:spPr>
          <a:xfrm>
            <a:off x="9416491" y="1682496"/>
            <a:ext cx="2011680" cy="237744"/>
          </a:xfrm>
          <a:prstGeom prst="rect">
            <a:avLst/>
          </a:prstGeom>
          <a:noFill/>
          <a:ln/>
        </p:spPr>
        <p:txBody>
          <a:bodyPr wrap="square" lIns="0" tIns="0" rIns="0" bIns="0" rtlCol="0" anchor="ctr"/>
          <a:lstStyle/>
          <a:p>
            <a:pPr marL="0" indent="0">
              <a:buNone/>
            </a:pPr>
            <a:r>
              <a:rPr lang="en-US" sz="850" b="1" kern="0" spc="100" dirty="0">
                <a:solidFill>
                  <a:srgbClr val="E06666"/>
                </a:solidFill>
                <a:latin typeface="Calibri" pitchFamily="34" charset="0"/>
                <a:ea typeface="Calibri" pitchFamily="34" charset="-122"/>
                <a:cs typeface="Calibri" pitchFamily="34" charset="-120"/>
              </a:rPr>
              <a:t>GROUP COMBINED RATIO</a:t>
            </a:r>
            <a:endParaRPr lang="en-US" sz="850" dirty="0"/>
          </a:p>
        </p:txBody>
      </p:sp>
      <p:sp>
        <p:nvSpPr>
          <p:cNvPr id="44" name="Text 40"/>
          <p:cNvSpPr txBox="1"/>
          <p:nvPr/>
        </p:nvSpPr>
        <p:spPr>
          <a:xfrm>
            <a:off x="9123883" y="1920240"/>
            <a:ext cx="2304288" cy="384048"/>
          </a:xfrm>
          <a:prstGeom prst="rect">
            <a:avLst/>
          </a:prstGeom>
          <a:noFill/>
          <a:ln/>
        </p:spPr>
        <p:txBody>
          <a:bodyPr wrap="square" lIns="0" tIns="0" rIns="0" bIns="0" rtlCol="0" anchor="ctr"/>
          <a:lstStyle/>
          <a:p>
            <a:pPr marL="0" indent="0">
              <a:buNone/>
            </a:pPr>
            <a:r>
              <a:rPr lang="en-US" sz="2600" b="1" dirty="0">
                <a:solidFill>
                  <a:srgbClr val="F09696"/>
                </a:solidFill>
                <a:latin typeface="Calibri" pitchFamily="34" charset="0"/>
                <a:ea typeface="Calibri" pitchFamily="34" charset="-122"/>
                <a:cs typeface="Calibri" pitchFamily="34" charset="-120"/>
              </a:rPr>
              <a:t>104.7</a:t>
            </a:r>
            <a:r>
              <a:rPr lang="en-US" sz="1196" b="1" dirty="0">
                <a:solidFill>
                  <a:srgbClr val="C6CEE4"/>
                </a:solidFill>
                <a:latin typeface="Calibri" pitchFamily="34" charset="0"/>
                <a:ea typeface="Calibri" pitchFamily="34" charset="-122"/>
                <a:cs typeface="Calibri" pitchFamily="34" charset="-120"/>
              </a:rPr>
              <a:t> %</a:t>
            </a:r>
            <a:endParaRPr lang="en-US" sz="2600" dirty="0"/>
          </a:p>
        </p:txBody>
      </p:sp>
      <p:sp>
        <p:nvSpPr>
          <p:cNvPr id="45" name="Text 41"/>
          <p:cNvSpPr txBox="1"/>
          <p:nvPr/>
        </p:nvSpPr>
        <p:spPr>
          <a:xfrm>
            <a:off x="9123883"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Q1 FY27, up from 103.6%  ·  FACT</a:t>
            </a:r>
            <a:endParaRPr lang="en-US" sz="800" dirty="0"/>
          </a:p>
        </p:txBody>
      </p:sp>
      <p:sp>
        <p:nvSpPr>
          <p:cNvPr id="46" name="Shape 42"/>
          <p:cNvSpPr/>
          <p:nvPr/>
        </p:nvSpPr>
        <p:spPr>
          <a:xfrm>
            <a:off x="638251" y="3474720"/>
            <a:ext cx="5989320" cy="2157984"/>
          </a:xfrm>
          <a:prstGeom prst="roundRect">
            <a:avLst>
              <a:gd name="adj" fmla="val 3814"/>
            </a:avLst>
          </a:prstGeom>
          <a:solidFill>
            <a:srgbClr val="111C55">
              <a:alpha val="74000"/>
            </a:srgbClr>
          </a:solidFill>
          <a:ln w="9525">
            <a:solidFill>
              <a:srgbClr val="3A4A8C">
                <a:alpha val="70000"/>
              </a:srgbClr>
            </a:solidFill>
            <a:prstDash val="solid"/>
          </a:ln>
        </p:spPr>
      </p:sp>
      <p:sp>
        <p:nvSpPr>
          <p:cNvPr id="47" name="Shape 43"/>
          <p:cNvSpPr/>
          <p:nvPr/>
        </p:nvSpPr>
        <p:spPr>
          <a:xfrm>
            <a:off x="794979" y="3674791"/>
            <a:ext cx="38222" cy="83393"/>
          </a:xfrm>
          <a:prstGeom prst="rect">
            <a:avLst/>
          </a:prstGeom>
          <a:solidFill>
            <a:srgbClr val="9CC3E8"/>
          </a:solidFill>
          <a:ln/>
        </p:spPr>
      </p:sp>
      <p:sp>
        <p:nvSpPr>
          <p:cNvPr id="48" name="Shape 44"/>
          <p:cNvSpPr/>
          <p:nvPr/>
        </p:nvSpPr>
        <p:spPr>
          <a:xfrm>
            <a:off x="850575" y="3633094"/>
            <a:ext cx="38222" cy="125090"/>
          </a:xfrm>
          <a:prstGeom prst="rect">
            <a:avLst/>
          </a:prstGeom>
          <a:solidFill>
            <a:srgbClr val="9CC3E8"/>
          </a:solidFill>
          <a:ln/>
        </p:spPr>
      </p:sp>
      <p:sp>
        <p:nvSpPr>
          <p:cNvPr id="49" name="Shape 45"/>
          <p:cNvSpPr/>
          <p:nvPr/>
        </p:nvSpPr>
        <p:spPr>
          <a:xfrm>
            <a:off x="906170" y="3594872"/>
            <a:ext cx="38222" cy="163312"/>
          </a:xfrm>
          <a:prstGeom prst="rect">
            <a:avLst/>
          </a:prstGeom>
          <a:solidFill>
            <a:srgbClr val="9CC3E8"/>
          </a:solidFill>
          <a:ln/>
        </p:spPr>
      </p:sp>
      <p:sp>
        <p:nvSpPr>
          <p:cNvPr id="50" name="Text 46"/>
          <p:cNvSpPr txBox="1"/>
          <p:nvPr/>
        </p:nvSpPr>
        <p:spPr>
          <a:xfrm>
            <a:off x="1031443" y="3547872"/>
            <a:ext cx="5449824"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FROM FILED PREMIUM TO THE CLAIMS POOL CLAIMPULSE ACTS ON</a:t>
            </a:r>
            <a:r>
              <a:rPr lang="en-US" sz="900" dirty="0">
                <a:solidFill>
                  <a:srgbClr val="9AA4C6"/>
                </a:solidFill>
                <a:latin typeface="Calibri" pitchFamily="34" charset="0"/>
                <a:ea typeface="Calibri" pitchFamily="34" charset="-122"/>
                <a:cs typeface="Calibri" pitchFamily="34" charset="-120"/>
              </a:rPr>
              <a:t>   ·   FY2025-26, Motor OD</a:t>
            </a:r>
            <a:endParaRPr lang="en-US" sz="900" dirty="0"/>
          </a:p>
        </p:txBody>
      </p:sp>
      <p:sp>
        <p:nvSpPr>
          <p:cNvPr id="51" name="Shape 47"/>
          <p:cNvSpPr/>
          <p:nvPr/>
        </p:nvSpPr>
        <p:spPr>
          <a:xfrm>
            <a:off x="784555" y="3858768"/>
            <a:ext cx="3987698" cy="347472"/>
          </a:xfrm>
          <a:prstGeom prst="roundRect">
            <a:avLst>
              <a:gd name="adj" fmla="val 15789"/>
            </a:avLst>
          </a:prstGeom>
          <a:solidFill>
            <a:srgbClr val="5B9BD5">
              <a:alpha val="68000"/>
            </a:srgbClr>
          </a:solidFill>
          <a:ln w="9525">
            <a:solidFill>
              <a:srgbClr val="5B9BD5">
                <a:alpha val="70000"/>
              </a:srgbClr>
            </a:solidFill>
            <a:prstDash val="solid"/>
          </a:ln>
        </p:spPr>
      </p:sp>
      <p:sp>
        <p:nvSpPr>
          <p:cNvPr id="52" name="Text 48"/>
          <p:cNvSpPr txBox="1"/>
          <p:nvPr/>
        </p:nvSpPr>
        <p:spPr>
          <a:xfrm>
            <a:off x="930859" y="3858768"/>
            <a:ext cx="3768242" cy="3474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Motor OD gross direct premium</a:t>
            </a:r>
            <a:endParaRPr lang="en-US" sz="900" dirty="0"/>
          </a:p>
        </p:txBody>
      </p:sp>
      <p:sp>
        <p:nvSpPr>
          <p:cNvPr id="53" name="Text 49"/>
          <p:cNvSpPr txBox="1"/>
          <p:nvPr/>
        </p:nvSpPr>
        <p:spPr>
          <a:xfrm>
            <a:off x="4900270" y="3858768"/>
            <a:ext cx="1580998" cy="347472"/>
          </a:xfrm>
          <a:prstGeom prst="rect">
            <a:avLst/>
          </a:prstGeom>
          <a:noFill/>
          <a:ln/>
        </p:spPr>
        <p:txBody>
          <a:bodyPr wrap="square" lIns="0" tIns="0" rIns="0" bIns="0" rtlCol="0" anchor="ctr"/>
          <a:lstStyle/>
          <a:p>
            <a:pPr marL="0" indent="0">
              <a:buNone/>
            </a:pPr>
            <a:r>
              <a:rPr lang="en-US" sz="1200" b="1" dirty="0">
                <a:solidFill>
                  <a:srgbClr val="9CC3E8"/>
                </a:solidFill>
                <a:latin typeface="Calibri" pitchFamily="34" charset="0"/>
                <a:ea typeface="Calibri" pitchFamily="34" charset="-122"/>
                <a:cs typeface="Calibri" pitchFamily="34" charset="-120"/>
              </a:rPr>
              <a:t>₹3,317.3 Cr</a:t>
            </a:r>
            <a:endParaRPr lang="en-US" sz="1200" dirty="0"/>
          </a:p>
        </p:txBody>
      </p:sp>
      <p:sp>
        <p:nvSpPr>
          <p:cNvPr id="54" name="Shape 50"/>
          <p:cNvSpPr/>
          <p:nvPr/>
        </p:nvSpPr>
        <p:spPr>
          <a:xfrm>
            <a:off x="784555" y="4297680"/>
            <a:ext cx="1989101" cy="347472"/>
          </a:xfrm>
          <a:prstGeom prst="roundRect">
            <a:avLst>
              <a:gd name="adj" fmla="val 15789"/>
            </a:avLst>
          </a:prstGeom>
          <a:solidFill>
            <a:srgbClr val="5B9BD5">
              <a:alpha val="59000"/>
            </a:srgbClr>
          </a:solidFill>
          <a:ln w="9525">
            <a:solidFill>
              <a:srgbClr val="5B9BD5">
                <a:alpha val="70000"/>
              </a:srgbClr>
            </a:solidFill>
            <a:prstDash val="solid"/>
          </a:ln>
        </p:spPr>
      </p:sp>
      <p:sp>
        <p:nvSpPr>
          <p:cNvPr id="55" name="Text 51"/>
          <p:cNvSpPr txBox="1"/>
          <p:nvPr/>
        </p:nvSpPr>
        <p:spPr>
          <a:xfrm>
            <a:off x="930859" y="4297680"/>
            <a:ext cx="1769645" cy="3474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Motor OD net earned premium</a:t>
            </a:r>
            <a:endParaRPr lang="en-US" sz="900" dirty="0"/>
          </a:p>
        </p:txBody>
      </p:sp>
      <p:sp>
        <p:nvSpPr>
          <p:cNvPr id="56" name="Text 52"/>
          <p:cNvSpPr txBox="1"/>
          <p:nvPr/>
        </p:nvSpPr>
        <p:spPr>
          <a:xfrm>
            <a:off x="2901672" y="4297680"/>
            <a:ext cx="3579595" cy="347472"/>
          </a:xfrm>
          <a:prstGeom prst="rect">
            <a:avLst/>
          </a:prstGeom>
          <a:noFill/>
          <a:ln/>
        </p:spPr>
        <p:txBody>
          <a:bodyPr wrap="square" lIns="0" tIns="0" rIns="0" bIns="0" rtlCol="0" anchor="ctr"/>
          <a:lstStyle/>
          <a:p>
            <a:pPr marL="0" indent="0">
              <a:buNone/>
            </a:pPr>
            <a:r>
              <a:rPr lang="en-US" sz="1200" b="1" dirty="0">
                <a:solidFill>
                  <a:srgbClr val="9CC3E8"/>
                </a:solidFill>
                <a:latin typeface="Calibri" pitchFamily="34" charset="0"/>
                <a:ea typeface="Calibri" pitchFamily="34" charset="-122"/>
                <a:cs typeface="Calibri" pitchFamily="34" charset="-120"/>
              </a:rPr>
              <a:t>₹1,654.7 Cr</a:t>
            </a:r>
            <a:endParaRPr lang="en-US" sz="1200" dirty="0"/>
          </a:p>
        </p:txBody>
      </p:sp>
      <p:sp>
        <p:nvSpPr>
          <p:cNvPr id="57" name="Shape 53"/>
          <p:cNvSpPr/>
          <p:nvPr/>
        </p:nvSpPr>
        <p:spPr>
          <a:xfrm>
            <a:off x="784555" y="4736592"/>
            <a:ext cx="1483862" cy="347472"/>
          </a:xfrm>
          <a:prstGeom prst="roundRect">
            <a:avLst>
              <a:gd name="adj" fmla="val 15789"/>
            </a:avLst>
          </a:prstGeom>
          <a:solidFill>
            <a:srgbClr val="5B9BD5">
              <a:alpha val="50000"/>
            </a:srgbClr>
          </a:solidFill>
          <a:ln w="9525">
            <a:solidFill>
              <a:srgbClr val="5B9BD5">
                <a:alpha val="70000"/>
              </a:srgbClr>
            </a:solidFill>
            <a:prstDash val="solid"/>
          </a:ln>
        </p:spPr>
      </p:sp>
      <p:sp>
        <p:nvSpPr>
          <p:cNvPr id="58" name="Text 54"/>
          <p:cNvSpPr txBox="1"/>
          <p:nvPr/>
        </p:nvSpPr>
        <p:spPr>
          <a:xfrm>
            <a:off x="2396433" y="4736592"/>
            <a:ext cx="4084834" cy="347472"/>
          </a:xfrm>
          <a:prstGeom prst="rect">
            <a:avLst/>
          </a:prstGeom>
          <a:noFill/>
          <a:ln/>
        </p:spPr>
        <p:txBody>
          <a:bodyPr wrap="square" lIns="0" tIns="0" rIns="0" bIns="0" rtlCol="0" anchor="ctr"/>
          <a:lstStyle/>
          <a:p>
            <a:pPr marL="0" indent="0">
              <a:buNone/>
            </a:pPr>
            <a:r>
              <a:rPr lang="en-US" sz="1200" b="1" dirty="0">
                <a:solidFill>
                  <a:srgbClr val="9CC3E8"/>
                </a:solidFill>
                <a:latin typeface="Calibri" pitchFamily="34" charset="0"/>
                <a:ea typeface="Calibri" pitchFamily="34" charset="-122"/>
                <a:cs typeface="Calibri" pitchFamily="34" charset="-120"/>
              </a:rPr>
              <a:t>₹1,234.4 Cr   </a:t>
            </a:r>
            <a:r>
              <a:rPr lang="en-US" sz="900" dirty="0">
                <a:solidFill>
                  <a:srgbClr val="C6CEE4"/>
                </a:solidFill>
                <a:latin typeface="Calibri" pitchFamily="34" charset="0"/>
                <a:ea typeface="Calibri" pitchFamily="34" charset="-122"/>
                <a:cs typeface="Calibri" pitchFamily="34" charset="-120"/>
              </a:rPr>
              <a:t>Annual incurred claims pool</a:t>
            </a:r>
            <a:endParaRPr lang="en-US" sz="1200" dirty="0"/>
          </a:p>
        </p:txBody>
      </p:sp>
      <p:sp>
        <p:nvSpPr>
          <p:cNvPr id="59" name="Shape 55"/>
          <p:cNvSpPr/>
          <p:nvPr/>
        </p:nvSpPr>
        <p:spPr>
          <a:xfrm>
            <a:off x="784555" y="5175504"/>
            <a:ext cx="427253" cy="347472"/>
          </a:xfrm>
          <a:prstGeom prst="roundRect">
            <a:avLst>
              <a:gd name="adj" fmla="val 15789"/>
            </a:avLst>
          </a:prstGeom>
          <a:solidFill>
            <a:srgbClr val="5B9BD5">
              <a:alpha val="41000"/>
            </a:srgbClr>
          </a:solidFill>
          <a:ln w="9525">
            <a:solidFill>
              <a:srgbClr val="5B9BD5">
                <a:alpha val="70000"/>
              </a:srgbClr>
            </a:solidFill>
            <a:prstDash val="solid"/>
          </a:ln>
        </p:spPr>
      </p:sp>
      <p:sp>
        <p:nvSpPr>
          <p:cNvPr id="60" name="Text 56"/>
          <p:cNvSpPr txBox="1"/>
          <p:nvPr/>
        </p:nvSpPr>
        <p:spPr>
          <a:xfrm>
            <a:off x="1339825" y="5175504"/>
            <a:ext cx="5141443" cy="347472"/>
          </a:xfrm>
          <a:prstGeom prst="rect">
            <a:avLst/>
          </a:prstGeom>
          <a:noFill/>
          <a:ln/>
        </p:spPr>
        <p:txBody>
          <a:bodyPr wrap="square" lIns="0" tIns="0" rIns="0" bIns="0" rtlCol="0" anchor="ctr"/>
          <a:lstStyle/>
          <a:p>
            <a:pPr marL="0" indent="0">
              <a:buNone/>
            </a:pPr>
            <a:r>
              <a:rPr lang="en-US" sz="1200" b="1" dirty="0">
                <a:solidFill>
                  <a:srgbClr val="9CC3E8"/>
                </a:solidFill>
                <a:latin typeface="Calibri" pitchFamily="34" charset="0"/>
                <a:ea typeface="Calibri" pitchFamily="34" charset="-122"/>
                <a:cs typeface="Calibri" pitchFamily="34" charset="-120"/>
              </a:rPr>
              <a:t>₹314 Cr addressable   </a:t>
            </a:r>
            <a:r>
              <a:rPr lang="en-US" sz="900" dirty="0">
                <a:solidFill>
                  <a:srgbClr val="C6CEE4"/>
                </a:solidFill>
                <a:latin typeface="Calibri" pitchFamily="34" charset="0"/>
                <a:ea typeface="Calibri" pitchFamily="34" charset="-122"/>
                <a:cs typeface="Calibri" pitchFamily="34" charset="-120"/>
              </a:rPr>
              <a:t>274,307 claims a year</a:t>
            </a:r>
            <a:endParaRPr lang="en-US" sz="1200" dirty="0"/>
          </a:p>
        </p:txBody>
      </p:sp>
      <p:sp>
        <p:nvSpPr>
          <p:cNvPr id="61" name="Shape 57"/>
          <p:cNvSpPr/>
          <p:nvPr/>
        </p:nvSpPr>
        <p:spPr>
          <a:xfrm>
            <a:off x="6828739" y="3474720"/>
            <a:ext cx="4745736" cy="2157984"/>
          </a:xfrm>
          <a:prstGeom prst="roundRect">
            <a:avLst>
              <a:gd name="adj" fmla="val 3814"/>
            </a:avLst>
          </a:prstGeom>
          <a:solidFill>
            <a:srgbClr val="111C55">
              <a:alpha val="74000"/>
            </a:srgbClr>
          </a:solidFill>
          <a:ln w="9525">
            <a:solidFill>
              <a:srgbClr val="3A4A8C">
                <a:alpha val="70000"/>
              </a:srgbClr>
            </a:solidFill>
            <a:prstDash val="solid"/>
          </a:ln>
        </p:spPr>
      </p:sp>
      <p:sp>
        <p:nvSpPr>
          <p:cNvPr id="62" name="Shape 58"/>
          <p:cNvSpPr/>
          <p:nvPr/>
        </p:nvSpPr>
        <p:spPr>
          <a:xfrm>
            <a:off x="6975043" y="3584448"/>
            <a:ext cx="173736" cy="173736"/>
          </a:xfrm>
          <a:prstGeom prst="triangle">
            <a:avLst/>
          </a:prstGeom>
          <a:ln w="13970">
            <a:solidFill>
              <a:srgbClr val="F7B183"/>
            </a:solidFill>
            <a:prstDash val="solid"/>
          </a:ln>
        </p:spPr>
      </p:sp>
      <p:sp>
        <p:nvSpPr>
          <p:cNvPr id="63" name="Shape 59"/>
          <p:cNvSpPr/>
          <p:nvPr/>
        </p:nvSpPr>
        <p:spPr>
          <a:xfrm>
            <a:off x="7056699" y="3643518"/>
            <a:ext cx="10424" cy="52121"/>
          </a:xfrm>
          <a:prstGeom prst="rect">
            <a:avLst/>
          </a:prstGeom>
          <a:solidFill>
            <a:srgbClr val="F7B183"/>
          </a:solidFill>
          <a:ln/>
        </p:spPr>
      </p:sp>
      <p:sp>
        <p:nvSpPr>
          <p:cNvPr id="64" name="Shape 60"/>
          <p:cNvSpPr/>
          <p:nvPr/>
        </p:nvSpPr>
        <p:spPr>
          <a:xfrm>
            <a:off x="7056699" y="3709538"/>
            <a:ext cx="10424" cy="12162"/>
          </a:xfrm>
          <a:prstGeom prst="rect">
            <a:avLst/>
          </a:prstGeom>
          <a:solidFill>
            <a:srgbClr val="F7B183"/>
          </a:solidFill>
          <a:ln/>
        </p:spPr>
      </p:sp>
      <p:sp>
        <p:nvSpPr>
          <p:cNvPr id="65" name="Text 61"/>
          <p:cNvSpPr txBox="1"/>
          <p:nvPr/>
        </p:nvSpPr>
        <p:spPr>
          <a:xfrm>
            <a:off x="7221931" y="3547872"/>
            <a:ext cx="4206240" cy="237744"/>
          </a:xfrm>
          <a:prstGeom prst="rect">
            <a:avLst/>
          </a:prstGeom>
          <a:noFill/>
          <a:ln/>
        </p:spPr>
        <p:txBody>
          <a:bodyPr wrap="square" lIns="0" tIns="0" rIns="0" bIns="0" rtlCol="0" anchor="ctr"/>
          <a:lstStyle/>
          <a:p>
            <a:pPr marL="0" indent="0">
              <a:buNone/>
            </a:pPr>
            <a:r>
              <a:rPr lang="en-US" sz="900" b="1" kern="0" spc="110" dirty="0">
                <a:solidFill>
                  <a:srgbClr val="F7B183"/>
                </a:solidFill>
                <a:latin typeface="Calibri" pitchFamily="34" charset="0"/>
                <a:ea typeface="Calibri" pitchFamily="34" charset="-122"/>
                <a:cs typeface="Calibri" pitchFamily="34" charset="-120"/>
              </a:rPr>
              <a:t>THE FILED FINANCIAL CONTEXT</a:t>
            </a:r>
            <a:r>
              <a:rPr lang="en-US" sz="900" dirty="0">
                <a:solidFill>
                  <a:srgbClr val="9AA4C6"/>
                </a:solidFill>
                <a:latin typeface="Calibri" pitchFamily="34" charset="0"/>
                <a:ea typeface="Calibri" pitchFamily="34" charset="-122"/>
                <a:cs typeface="Calibri" pitchFamily="34" charset="-120"/>
              </a:rPr>
              <a:t>   ·   why now</a:t>
            </a:r>
            <a:endParaRPr lang="en-US" sz="900" dirty="0"/>
          </a:p>
        </p:txBody>
      </p:sp>
      <p:sp>
        <p:nvSpPr>
          <p:cNvPr id="66" name="Shape 62"/>
          <p:cNvSpPr/>
          <p:nvPr/>
        </p:nvSpPr>
        <p:spPr>
          <a:xfrm>
            <a:off x="6975043" y="3858768"/>
            <a:ext cx="4453128" cy="292608"/>
          </a:xfrm>
          <a:prstGeom prst="roundRect">
            <a:avLst>
              <a:gd name="adj" fmla="val 21875"/>
            </a:avLst>
          </a:prstGeom>
          <a:solidFill>
            <a:srgbClr val="111C55">
              <a:alpha val="74000"/>
            </a:srgbClr>
          </a:solidFill>
          <a:ln w="9525">
            <a:solidFill>
              <a:srgbClr val="3A4A8C">
                <a:alpha val="70000"/>
              </a:srgbClr>
            </a:solidFill>
            <a:prstDash val="solid"/>
          </a:ln>
        </p:spPr>
      </p:sp>
      <p:sp>
        <p:nvSpPr>
          <p:cNvPr id="67" name="Shape 63"/>
          <p:cNvSpPr/>
          <p:nvPr/>
        </p:nvSpPr>
        <p:spPr>
          <a:xfrm>
            <a:off x="7093915" y="3918204"/>
            <a:ext cx="173736" cy="173736"/>
          </a:xfrm>
          <a:prstGeom prst="triangle">
            <a:avLst/>
          </a:prstGeom>
          <a:ln w="13970">
            <a:solidFill>
              <a:srgbClr val="9CC3E8"/>
            </a:solidFill>
            <a:prstDash val="solid"/>
          </a:ln>
        </p:spPr>
      </p:sp>
      <p:sp>
        <p:nvSpPr>
          <p:cNvPr id="68" name="Shape 64"/>
          <p:cNvSpPr/>
          <p:nvPr/>
        </p:nvSpPr>
        <p:spPr>
          <a:xfrm>
            <a:off x="7175571" y="3977274"/>
            <a:ext cx="10424" cy="52121"/>
          </a:xfrm>
          <a:prstGeom prst="rect">
            <a:avLst/>
          </a:prstGeom>
          <a:solidFill>
            <a:srgbClr val="9CC3E8"/>
          </a:solidFill>
          <a:ln/>
        </p:spPr>
      </p:sp>
      <p:sp>
        <p:nvSpPr>
          <p:cNvPr id="69" name="Shape 65"/>
          <p:cNvSpPr/>
          <p:nvPr/>
        </p:nvSpPr>
        <p:spPr>
          <a:xfrm>
            <a:off x="7175571" y="4043294"/>
            <a:ext cx="10424" cy="12162"/>
          </a:xfrm>
          <a:prstGeom prst="rect">
            <a:avLst/>
          </a:prstGeom>
          <a:solidFill>
            <a:srgbClr val="9CC3E8"/>
          </a:solidFill>
          <a:ln/>
        </p:spPr>
      </p:sp>
      <p:sp>
        <p:nvSpPr>
          <p:cNvPr id="70" name="Text 66"/>
          <p:cNvSpPr txBox="1"/>
          <p:nvPr/>
        </p:nvSpPr>
        <p:spPr>
          <a:xfrm>
            <a:off x="7359091" y="3858768"/>
            <a:ext cx="2939064" cy="292608"/>
          </a:xfrm>
          <a:prstGeom prst="rect">
            <a:avLst/>
          </a:prstGeom>
          <a:noFill/>
          <a:ln/>
        </p:spPr>
        <p:txBody>
          <a:bodyPr wrap="square" lIns="0" tIns="0" rIns="0" bIns="0" rtlCol="0" anchor="ctr"/>
          <a:lstStyle/>
          <a:p>
            <a:pPr marL="0" indent="0">
              <a:buNone/>
            </a:pPr>
            <a:r>
              <a:rPr lang="en-US" sz="950" dirty="0">
                <a:solidFill>
                  <a:srgbClr val="C6CEE4"/>
                </a:solidFill>
                <a:latin typeface="Calibri" pitchFamily="34" charset="0"/>
                <a:ea typeface="Calibri" pitchFamily="34" charset="-122"/>
                <a:cs typeface="Calibri" pitchFamily="34" charset="-120"/>
              </a:rPr>
              <a:t>Q1 FY27 underwriting loss, annualised</a:t>
            </a:r>
            <a:endParaRPr lang="en-US" sz="950" dirty="0"/>
          </a:p>
        </p:txBody>
      </p:sp>
      <p:sp>
        <p:nvSpPr>
          <p:cNvPr id="71" name="Text 67"/>
          <p:cNvSpPr txBox="1"/>
          <p:nvPr/>
        </p:nvSpPr>
        <p:spPr>
          <a:xfrm>
            <a:off x="9735983" y="3858768"/>
            <a:ext cx="1545885" cy="292608"/>
          </a:xfrm>
          <a:prstGeom prst="rect">
            <a:avLst/>
          </a:prstGeom>
          <a:noFill/>
          <a:ln/>
        </p:spPr>
        <p:txBody>
          <a:bodyPr wrap="square" lIns="0" tIns="0" rIns="0" bIns="0" rtlCol="0" anchor="ctr"/>
          <a:lstStyle/>
          <a:p>
            <a:pPr marL="0" indent="0" algn="r">
              <a:buNone/>
            </a:pPr>
            <a:r>
              <a:rPr lang="en-US" sz="1100" b="1" dirty="0">
                <a:solidFill>
                  <a:srgbClr val="F7B183"/>
                </a:solidFill>
                <a:latin typeface="Calibri" pitchFamily="34" charset="0"/>
                <a:ea typeface="Calibri" pitchFamily="34" charset="-122"/>
                <a:cs typeface="Calibri" pitchFamily="34" charset="-120"/>
              </a:rPr>
              <a:t>₹520 Cr</a:t>
            </a:r>
            <a:endParaRPr lang="en-US" sz="1100" dirty="0"/>
          </a:p>
        </p:txBody>
      </p:sp>
      <p:sp>
        <p:nvSpPr>
          <p:cNvPr id="72" name="Shape 68"/>
          <p:cNvSpPr/>
          <p:nvPr/>
        </p:nvSpPr>
        <p:spPr>
          <a:xfrm>
            <a:off x="6975043" y="4206240"/>
            <a:ext cx="4453128" cy="292608"/>
          </a:xfrm>
          <a:prstGeom prst="roundRect">
            <a:avLst>
              <a:gd name="adj" fmla="val 21875"/>
            </a:avLst>
          </a:prstGeom>
          <a:solidFill>
            <a:srgbClr val="111C55">
              <a:alpha val="74000"/>
            </a:srgbClr>
          </a:solidFill>
          <a:ln w="9525">
            <a:solidFill>
              <a:srgbClr val="3A4A8C">
                <a:alpha val="70000"/>
              </a:srgbClr>
            </a:solidFill>
            <a:prstDash val="solid"/>
          </a:ln>
        </p:spPr>
      </p:sp>
      <p:sp>
        <p:nvSpPr>
          <p:cNvPr id="73" name="Shape 69"/>
          <p:cNvSpPr/>
          <p:nvPr/>
        </p:nvSpPr>
        <p:spPr>
          <a:xfrm>
            <a:off x="7104339" y="4356019"/>
            <a:ext cx="38222" cy="83393"/>
          </a:xfrm>
          <a:prstGeom prst="rect">
            <a:avLst/>
          </a:prstGeom>
          <a:solidFill>
            <a:srgbClr val="9CC3E8"/>
          </a:solidFill>
          <a:ln/>
        </p:spPr>
      </p:sp>
      <p:sp>
        <p:nvSpPr>
          <p:cNvPr id="74" name="Shape 70"/>
          <p:cNvSpPr/>
          <p:nvPr/>
        </p:nvSpPr>
        <p:spPr>
          <a:xfrm>
            <a:off x="7159935" y="4314322"/>
            <a:ext cx="38222" cy="125090"/>
          </a:xfrm>
          <a:prstGeom prst="rect">
            <a:avLst/>
          </a:prstGeom>
          <a:solidFill>
            <a:srgbClr val="9CC3E8"/>
          </a:solidFill>
          <a:ln/>
        </p:spPr>
      </p:sp>
      <p:sp>
        <p:nvSpPr>
          <p:cNvPr id="75" name="Shape 71"/>
          <p:cNvSpPr/>
          <p:nvPr/>
        </p:nvSpPr>
        <p:spPr>
          <a:xfrm>
            <a:off x="7215530" y="4276100"/>
            <a:ext cx="38222" cy="163312"/>
          </a:xfrm>
          <a:prstGeom prst="rect">
            <a:avLst/>
          </a:prstGeom>
          <a:solidFill>
            <a:srgbClr val="9CC3E8"/>
          </a:solidFill>
          <a:ln/>
        </p:spPr>
      </p:sp>
      <p:sp>
        <p:nvSpPr>
          <p:cNvPr id="76" name="Text 72"/>
          <p:cNvSpPr txBox="1"/>
          <p:nvPr/>
        </p:nvSpPr>
        <p:spPr>
          <a:xfrm>
            <a:off x="7359091" y="4206240"/>
            <a:ext cx="2939064" cy="292608"/>
          </a:xfrm>
          <a:prstGeom prst="rect">
            <a:avLst/>
          </a:prstGeom>
          <a:noFill/>
          <a:ln/>
        </p:spPr>
        <p:txBody>
          <a:bodyPr wrap="square" lIns="0" tIns="0" rIns="0" bIns="0" rtlCol="0" anchor="ctr"/>
          <a:lstStyle/>
          <a:p>
            <a:pPr marL="0" indent="0">
              <a:buNone/>
            </a:pPr>
            <a:r>
              <a:rPr lang="en-US" sz="950" dirty="0">
                <a:solidFill>
                  <a:srgbClr val="C6CEE4"/>
                </a:solidFill>
                <a:latin typeface="Calibri" pitchFamily="34" charset="0"/>
                <a:ea typeface="Calibri" pitchFamily="34" charset="-122"/>
                <a:cs typeface="Calibri" pitchFamily="34" charset="-120"/>
              </a:rPr>
              <a:t>Net incurred claims ratio, from 71.1%</a:t>
            </a:r>
            <a:endParaRPr lang="en-US" sz="950" dirty="0"/>
          </a:p>
        </p:txBody>
      </p:sp>
      <p:sp>
        <p:nvSpPr>
          <p:cNvPr id="77" name="Text 73"/>
          <p:cNvSpPr txBox="1"/>
          <p:nvPr/>
        </p:nvSpPr>
        <p:spPr>
          <a:xfrm>
            <a:off x="9735983" y="4206240"/>
            <a:ext cx="1545885" cy="292608"/>
          </a:xfrm>
          <a:prstGeom prst="rect">
            <a:avLst/>
          </a:prstGeom>
          <a:noFill/>
          <a:ln/>
        </p:spPr>
        <p:txBody>
          <a:bodyPr wrap="square" lIns="0" tIns="0" rIns="0" bIns="0" rtlCol="0" anchor="ctr"/>
          <a:lstStyle/>
          <a:p>
            <a:pPr marL="0" indent="0" algn="r">
              <a:buNone/>
            </a:pPr>
            <a:r>
              <a:rPr lang="en-US" sz="1100" b="1" dirty="0">
                <a:solidFill>
                  <a:srgbClr val="F7B183"/>
                </a:solidFill>
                <a:latin typeface="Calibri" pitchFamily="34" charset="0"/>
                <a:ea typeface="Calibri" pitchFamily="34" charset="-122"/>
                <a:cs typeface="Calibri" pitchFamily="34" charset="-120"/>
              </a:rPr>
              <a:t>74.3%</a:t>
            </a:r>
            <a:endParaRPr lang="en-US" sz="1100" dirty="0"/>
          </a:p>
        </p:txBody>
      </p:sp>
      <p:sp>
        <p:nvSpPr>
          <p:cNvPr id="78" name="Shape 74"/>
          <p:cNvSpPr/>
          <p:nvPr/>
        </p:nvSpPr>
        <p:spPr>
          <a:xfrm>
            <a:off x="6975043" y="4553712"/>
            <a:ext cx="4453128" cy="292608"/>
          </a:xfrm>
          <a:prstGeom prst="roundRect">
            <a:avLst>
              <a:gd name="adj" fmla="val 21875"/>
            </a:avLst>
          </a:prstGeom>
          <a:solidFill>
            <a:srgbClr val="111C55">
              <a:alpha val="74000"/>
            </a:srgbClr>
          </a:solidFill>
          <a:ln w="9525">
            <a:solidFill>
              <a:srgbClr val="3A4A8C">
                <a:alpha val="70000"/>
              </a:srgbClr>
            </a:solidFill>
            <a:prstDash val="solid"/>
          </a:ln>
        </p:spPr>
      </p:sp>
      <p:sp>
        <p:nvSpPr>
          <p:cNvPr id="79" name="Shape 75"/>
          <p:cNvSpPr/>
          <p:nvPr/>
        </p:nvSpPr>
        <p:spPr>
          <a:xfrm>
            <a:off x="7093915" y="4613148"/>
            <a:ext cx="173736" cy="173736"/>
          </a:xfrm>
          <a:prstGeom prst="roundRect">
            <a:avLst>
              <a:gd name="adj" fmla="val 22000"/>
            </a:avLst>
          </a:prstGeom>
          <a:ln w="13970">
            <a:solidFill>
              <a:srgbClr val="9CC3E8"/>
            </a:solidFill>
            <a:prstDash val="solid"/>
          </a:ln>
        </p:spPr>
      </p:sp>
      <p:sp>
        <p:nvSpPr>
          <p:cNvPr id="80" name="Text 76"/>
          <p:cNvSpPr txBox="1"/>
          <p:nvPr/>
        </p:nvSpPr>
        <p:spPr>
          <a:xfrm>
            <a:off x="7093915" y="4613148"/>
            <a:ext cx="173736" cy="173736"/>
          </a:xfrm>
          <a:prstGeom prst="rect">
            <a:avLst/>
          </a:prstGeom>
          <a:noFill/>
          <a:ln/>
        </p:spPr>
        <p:txBody>
          <a:bodyPr wrap="square" lIns="0" tIns="0" rIns="0" bIns="0" rtlCol="0" anchor="ctr"/>
          <a:lstStyle/>
          <a:p>
            <a:pPr marL="0" indent="0" algn="ctr">
              <a:buNone/>
            </a:pPr>
            <a:r>
              <a:rPr lang="en-US" sz="1178" b="1" dirty="0">
                <a:solidFill>
                  <a:srgbClr val="9CC3E8"/>
                </a:solidFill>
                <a:latin typeface="Calibri" pitchFamily="34" charset="0"/>
                <a:ea typeface="Calibri" pitchFamily="34" charset="-122"/>
                <a:cs typeface="Calibri" pitchFamily="34" charset="-120"/>
              </a:rPr>
              <a:t>₹</a:t>
            </a:r>
            <a:endParaRPr lang="en-US" sz="1178" dirty="0"/>
          </a:p>
        </p:txBody>
      </p:sp>
      <p:sp>
        <p:nvSpPr>
          <p:cNvPr id="81" name="Text 77"/>
          <p:cNvSpPr txBox="1"/>
          <p:nvPr/>
        </p:nvSpPr>
        <p:spPr>
          <a:xfrm>
            <a:off x="7359091" y="4553712"/>
            <a:ext cx="2939064" cy="292608"/>
          </a:xfrm>
          <a:prstGeom prst="rect">
            <a:avLst/>
          </a:prstGeom>
          <a:noFill/>
          <a:ln/>
        </p:spPr>
        <p:txBody>
          <a:bodyPr wrap="square" lIns="0" tIns="0" rIns="0" bIns="0" rtlCol="0" anchor="ctr"/>
          <a:lstStyle/>
          <a:p>
            <a:pPr marL="0" indent="0">
              <a:buNone/>
            </a:pPr>
            <a:r>
              <a:rPr lang="en-US" sz="950" dirty="0">
                <a:solidFill>
                  <a:srgbClr val="C6CEE4"/>
                </a:solidFill>
                <a:latin typeface="Calibri" pitchFamily="34" charset="0"/>
                <a:ea typeface="Calibri" pitchFamily="34" charset="-122"/>
                <a:cs typeface="Calibri" pitchFamily="34" charset="-120"/>
              </a:rPr>
              <a:t>Motor OD premium at risk, per 1 pp share</a:t>
            </a:r>
            <a:endParaRPr lang="en-US" sz="950" dirty="0"/>
          </a:p>
        </p:txBody>
      </p:sp>
      <p:sp>
        <p:nvSpPr>
          <p:cNvPr id="82" name="Text 78"/>
          <p:cNvSpPr txBox="1"/>
          <p:nvPr/>
        </p:nvSpPr>
        <p:spPr>
          <a:xfrm>
            <a:off x="9735983" y="4553712"/>
            <a:ext cx="1545885" cy="292608"/>
          </a:xfrm>
          <a:prstGeom prst="rect">
            <a:avLst/>
          </a:prstGeom>
          <a:noFill/>
          <a:ln/>
        </p:spPr>
        <p:txBody>
          <a:bodyPr wrap="square" lIns="0" tIns="0" rIns="0" bIns="0"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₹427.5 Cr</a:t>
            </a:r>
            <a:endParaRPr lang="en-US" sz="1100" dirty="0"/>
          </a:p>
        </p:txBody>
      </p:sp>
      <p:sp>
        <p:nvSpPr>
          <p:cNvPr id="83" name="Shape 79"/>
          <p:cNvSpPr/>
          <p:nvPr/>
        </p:nvSpPr>
        <p:spPr>
          <a:xfrm>
            <a:off x="6975043" y="4901184"/>
            <a:ext cx="4453128" cy="292608"/>
          </a:xfrm>
          <a:prstGeom prst="roundRect">
            <a:avLst>
              <a:gd name="adj" fmla="val 21875"/>
            </a:avLst>
          </a:prstGeom>
          <a:solidFill>
            <a:srgbClr val="111C55">
              <a:alpha val="74000"/>
            </a:srgbClr>
          </a:solidFill>
          <a:ln w="9525">
            <a:solidFill>
              <a:srgbClr val="3A4A8C">
                <a:alpha val="70000"/>
              </a:srgbClr>
            </a:solidFill>
            <a:prstDash val="solid"/>
          </a:ln>
        </p:spPr>
      </p:sp>
      <p:sp>
        <p:nvSpPr>
          <p:cNvPr id="84" name="Shape 80"/>
          <p:cNvSpPr/>
          <p:nvPr/>
        </p:nvSpPr>
        <p:spPr>
          <a:xfrm>
            <a:off x="7100865" y="4977994"/>
            <a:ext cx="52121" cy="52121"/>
          </a:xfrm>
          <a:prstGeom prst="ellipse">
            <a:avLst/>
          </a:prstGeom>
          <a:ln w="13970">
            <a:solidFill>
              <a:srgbClr val="9CC3E8"/>
            </a:solidFill>
            <a:prstDash val="solid"/>
          </a:ln>
        </p:spPr>
      </p:sp>
      <p:sp>
        <p:nvSpPr>
          <p:cNvPr id="85" name="Shape 81"/>
          <p:cNvSpPr/>
          <p:nvPr/>
        </p:nvSpPr>
        <p:spPr>
          <a:xfrm>
            <a:off x="7093915" y="5030114"/>
            <a:ext cx="66020" cy="90343"/>
          </a:xfrm>
          <a:prstGeom prst="blockArc">
            <a:avLst/>
          </a:prstGeom>
          <a:ln w="13970">
            <a:solidFill>
              <a:srgbClr val="9CC3E8"/>
            </a:solidFill>
            <a:prstDash val="solid"/>
          </a:ln>
        </p:spPr>
      </p:sp>
      <p:sp>
        <p:nvSpPr>
          <p:cNvPr id="86" name="Shape 82"/>
          <p:cNvSpPr/>
          <p:nvPr/>
        </p:nvSpPr>
        <p:spPr>
          <a:xfrm>
            <a:off x="7194682" y="4977994"/>
            <a:ext cx="52121" cy="52121"/>
          </a:xfrm>
          <a:prstGeom prst="ellipse">
            <a:avLst/>
          </a:prstGeom>
          <a:ln w="13970">
            <a:solidFill>
              <a:srgbClr val="9CC3E8"/>
            </a:solidFill>
            <a:prstDash val="solid"/>
          </a:ln>
        </p:spPr>
      </p:sp>
      <p:sp>
        <p:nvSpPr>
          <p:cNvPr id="87" name="Shape 83"/>
          <p:cNvSpPr/>
          <p:nvPr/>
        </p:nvSpPr>
        <p:spPr>
          <a:xfrm>
            <a:off x="7187733" y="5030114"/>
            <a:ext cx="66020" cy="90343"/>
          </a:xfrm>
          <a:prstGeom prst="blockArc">
            <a:avLst/>
          </a:prstGeom>
          <a:ln w="13970">
            <a:solidFill>
              <a:srgbClr val="9CC3E8"/>
            </a:solidFill>
            <a:prstDash val="solid"/>
          </a:ln>
        </p:spPr>
      </p:sp>
      <p:sp>
        <p:nvSpPr>
          <p:cNvPr id="88" name="Text 84"/>
          <p:cNvSpPr txBox="1"/>
          <p:nvPr/>
        </p:nvSpPr>
        <p:spPr>
          <a:xfrm>
            <a:off x="7359091" y="4901184"/>
            <a:ext cx="2939064" cy="292608"/>
          </a:xfrm>
          <a:prstGeom prst="rect">
            <a:avLst/>
          </a:prstGeom>
          <a:noFill/>
          <a:ln/>
        </p:spPr>
        <p:txBody>
          <a:bodyPr wrap="square" lIns="0" tIns="0" rIns="0" bIns="0" rtlCol="0" anchor="ctr"/>
          <a:lstStyle/>
          <a:p>
            <a:pPr marL="0" indent="0">
              <a:buNone/>
            </a:pPr>
            <a:r>
              <a:rPr lang="en-US" sz="950" dirty="0">
                <a:solidFill>
                  <a:srgbClr val="C6CEE4"/>
                </a:solidFill>
                <a:latin typeface="Calibri" pitchFamily="34" charset="0"/>
                <a:ea typeface="Calibri" pitchFamily="34" charset="-122"/>
                <a:cs typeface="Calibri" pitchFamily="34" charset="-120"/>
              </a:rPr>
              <a:t>GI grievances, +20% YoY, 69% claims-related</a:t>
            </a:r>
            <a:endParaRPr lang="en-US" sz="950" dirty="0"/>
          </a:p>
        </p:txBody>
      </p:sp>
      <p:sp>
        <p:nvSpPr>
          <p:cNvPr id="89" name="Text 85"/>
          <p:cNvSpPr txBox="1"/>
          <p:nvPr/>
        </p:nvSpPr>
        <p:spPr>
          <a:xfrm>
            <a:off x="9735983" y="4901184"/>
            <a:ext cx="1545885" cy="292608"/>
          </a:xfrm>
          <a:prstGeom prst="rect">
            <a:avLst/>
          </a:prstGeom>
          <a:noFill/>
          <a:ln/>
        </p:spPr>
        <p:txBody>
          <a:bodyPr wrap="square" lIns="0" tIns="0" rIns="0" bIns="0"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257,790</a:t>
            </a:r>
            <a:endParaRPr lang="en-US" sz="1100" dirty="0"/>
          </a:p>
        </p:txBody>
      </p:sp>
      <p:sp>
        <p:nvSpPr>
          <p:cNvPr id="90" name="Shape 86"/>
          <p:cNvSpPr/>
          <p:nvPr/>
        </p:nvSpPr>
        <p:spPr>
          <a:xfrm>
            <a:off x="6975043" y="5248656"/>
            <a:ext cx="4453128" cy="292608"/>
          </a:xfrm>
          <a:prstGeom prst="roundRect">
            <a:avLst>
              <a:gd name="adj" fmla="val 21875"/>
            </a:avLst>
          </a:prstGeom>
          <a:solidFill>
            <a:srgbClr val="111C55">
              <a:alpha val="74000"/>
            </a:srgbClr>
          </a:solidFill>
          <a:ln w="9525">
            <a:solidFill>
              <a:srgbClr val="3A4A8C">
                <a:alpha val="70000"/>
              </a:srgbClr>
            </a:solidFill>
            <a:prstDash val="solid"/>
          </a:ln>
        </p:spPr>
      </p:sp>
      <p:sp>
        <p:nvSpPr>
          <p:cNvPr id="91" name="Shape 87"/>
          <p:cNvSpPr/>
          <p:nvPr/>
        </p:nvSpPr>
        <p:spPr>
          <a:xfrm rot="5400000">
            <a:off x="7093915" y="5308092"/>
            <a:ext cx="173736" cy="173736"/>
          </a:xfrm>
          <a:prstGeom prst="homePlate">
            <a:avLst/>
          </a:prstGeom>
          <a:ln w="13970">
            <a:solidFill>
              <a:srgbClr val="9CC3E8"/>
            </a:solidFill>
            <a:prstDash val="solid"/>
          </a:ln>
        </p:spPr>
      </p:sp>
      <p:sp>
        <p:nvSpPr>
          <p:cNvPr id="92" name="Text 88"/>
          <p:cNvSpPr txBox="1"/>
          <p:nvPr/>
        </p:nvSpPr>
        <p:spPr>
          <a:xfrm>
            <a:off x="7359091" y="5248656"/>
            <a:ext cx="2939064" cy="292608"/>
          </a:xfrm>
          <a:prstGeom prst="rect">
            <a:avLst/>
          </a:prstGeom>
          <a:noFill/>
          <a:ln/>
        </p:spPr>
        <p:txBody>
          <a:bodyPr wrap="square" lIns="0" tIns="0" rIns="0" bIns="0" rtlCol="0" anchor="ctr"/>
          <a:lstStyle/>
          <a:p>
            <a:pPr marL="0" indent="0">
              <a:buNone/>
            </a:pPr>
            <a:r>
              <a:rPr lang="en-US" sz="950" dirty="0">
                <a:solidFill>
                  <a:srgbClr val="C6CEE4"/>
                </a:solidFill>
                <a:latin typeface="Calibri" pitchFamily="34" charset="0"/>
                <a:ea typeface="Calibri" pitchFamily="34" charset="-122"/>
                <a:cs typeface="Calibri" pitchFamily="34" charset="-120"/>
              </a:rPr>
              <a:t>Solvency ratio — the capacity to act exists</a:t>
            </a:r>
            <a:endParaRPr lang="en-US" sz="950" dirty="0"/>
          </a:p>
        </p:txBody>
      </p:sp>
      <p:sp>
        <p:nvSpPr>
          <p:cNvPr id="93" name="Text 89"/>
          <p:cNvSpPr txBox="1"/>
          <p:nvPr/>
        </p:nvSpPr>
        <p:spPr>
          <a:xfrm>
            <a:off x="9735983" y="5248656"/>
            <a:ext cx="1545885" cy="292608"/>
          </a:xfrm>
          <a:prstGeom prst="rect">
            <a:avLst/>
          </a:prstGeom>
          <a:noFill/>
          <a:ln/>
        </p:spPr>
        <p:txBody>
          <a:bodyPr wrap="square" lIns="0" tIns="0" rIns="0" bIns="0" rtlCol="0" anchor="ctr"/>
          <a:lstStyle/>
          <a:p>
            <a:pPr marL="0" indent="0" algn="r">
              <a:buNone/>
            </a:pPr>
            <a:r>
              <a:rPr lang="en-US" sz="1100" b="1" dirty="0">
                <a:solidFill>
                  <a:srgbClr val="9AD672"/>
                </a:solidFill>
                <a:latin typeface="Calibri" pitchFamily="34" charset="0"/>
                <a:ea typeface="Calibri" pitchFamily="34" charset="-122"/>
                <a:cs typeface="Calibri" pitchFamily="34" charset="-120"/>
              </a:rPr>
              <a:t>254%</a:t>
            </a:r>
            <a:endParaRPr lang="en-US" sz="1100" dirty="0"/>
          </a:p>
        </p:txBody>
      </p:sp>
      <p:sp>
        <p:nvSpPr>
          <p:cNvPr id="94" name="Shape 90"/>
          <p:cNvSpPr/>
          <p:nvPr/>
        </p:nvSpPr>
        <p:spPr>
          <a:xfrm>
            <a:off x="638251" y="5742432"/>
            <a:ext cx="10936224" cy="329184"/>
          </a:xfrm>
          <a:prstGeom prst="roundRect">
            <a:avLst>
              <a:gd name="adj" fmla="val 22222"/>
            </a:avLst>
          </a:prstGeom>
          <a:solidFill>
            <a:srgbClr val="0A1550">
              <a:alpha val="86000"/>
            </a:srgbClr>
          </a:solidFill>
          <a:ln w="9525">
            <a:solidFill>
              <a:srgbClr val="ED7D31">
                <a:alpha val="55000"/>
              </a:srgbClr>
            </a:solidFill>
            <a:prstDash val="solid"/>
          </a:ln>
        </p:spPr>
      </p:sp>
      <p:sp>
        <p:nvSpPr>
          <p:cNvPr id="95" name="Shape 91"/>
          <p:cNvSpPr/>
          <p:nvPr/>
        </p:nvSpPr>
        <p:spPr>
          <a:xfrm>
            <a:off x="747979" y="5815584"/>
            <a:ext cx="41148" cy="182880"/>
          </a:xfrm>
          <a:prstGeom prst="roundRect">
            <a:avLst>
              <a:gd name="adj" fmla="val 48889"/>
            </a:avLst>
          </a:prstGeom>
          <a:solidFill>
            <a:srgbClr val="ED7D31"/>
          </a:solidFill>
          <a:ln/>
        </p:spPr>
      </p:sp>
      <p:sp>
        <p:nvSpPr>
          <p:cNvPr id="96" name="Text 92"/>
          <p:cNvSpPr txBox="1"/>
          <p:nvPr/>
        </p:nvSpPr>
        <p:spPr>
          <a:xfrm>
            <a:off x="894283" y="5742432"/>
            <a:ext cx="10533888" cy="329184"/>
          </a:xfrm>
          <a:prstGeom prst="rect">
            <a:avLst/>
          </a:prstGeom>
          <a:noFill/>
          <a:ln/>
        </p:spPr>
        <p:txBody>
          <a:bodyPr wrap="square" lIns="0" tIns="0" rIns="0" bIns="0" rtlCol="0" anchor="ctr"/>
          <a:lstStyle/>
          <a:p>
            <a:pPr marL="0" indent="0">
              <a:lnSpc>
                <a:spcPts val="1150"/>
              </a:lnSpc>
              <a:buNone/>
            </a:pPr>
            <a:r>
              <a:rPr lang="en-US" sz="950" b="1" kern="0" spc="100" dirty="0">
                <a:solidFill>
                  <a:srgbClr val="ED7D31"/>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Every day of turnaround sits in the expense ratio and every undetected claim in the loss ratio — on this book both are cash.</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PROBLEM   02 / 02</a:t>
            </a:r>
            <a:endParaRPr lang="en-US" sz="1000" dirty="0"/>
          </a:p>
        </p:txBody>
      </p:sp>
      <p:pic>
        <p:nvPicPr>
          <p:cNvPr id="4" name="Image 0" descr="media/image4.png"/>
          <p:cNvPicPr>
            <a:picLocks noChangeAspect="1"/>
          </p:cNvPicPr>
          <p:nvPr/>
        </p:nvPicPr>
        <p:blipFill>
          <a:blip r:embed="rId4"/>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5"/>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The 9.8 days do not sit in one department. They accumulate across nine points — and four of them are outside Bajaj’s direct control.</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Problem Statement</a:t>
            </a:r>
            <a:endParaRPr lang="en-US" sz="1400" dirty="0"/>
          </a:p>
        </p:txBody>
      </p:sp>
      <p:sp>
        <p:nvSpPr>
          <p:cNvPr id="11" name="Shape 7"/>
          <p:cNvSpPr/>
          <p:nvPr/>
        </p:nvSpPr>
        <p:spPr>
          <a:xfrm>
            <a:off x="437083" y="1408176"/>
            <a:ext cx="11338560" cy="1426464"/>
          </a:xfrm>
          <a:prstGeom prst="roundRect">
            <a:avLst>
              <a:gd name="adj" fmla="val 3205"/>
            </a:avLst>
          </a:prstGeom>
          <a:solidFill>
            <a:srgbClr val="C3C8DC">
              <a:alpha val="28000"/>
            </a:srgbClr>
          </a:solidFill>
          <a:ln w="9525">
            <a:solidFill>
              <a:srgbClr val="FFFFFF">
                <a:alpha val="78000"/>
              </a:srgbClr>
            </a:solidFill>
            <a:prstDash val="solid"/>
          </a:ln>
        </p:spPr>
      </p:sp>
      <p:sp>
        <p:nvSpPr>
          <p:cNvPr id="12" name="Shape 8"/>
          <p:cNvSpPr/>
          <p:nvPr/>
        </p:nvSpPr>
        <p:spPr>
          <a:xfrm>
            <a:off x="437083" y="2944368"/>
            <a:ext cx="11338560" cy="0"/>
          </a:xfrm>
          <a:prstGeom prst="line">
            <a:avLst/>
          </a:prstGeom>
          <a:noFill/>
          <a:ln w="12700">
            <a:solidFill>
              <a:srgbClr val="FFFFFF"/>
            </a:solidFill>
            <a:prstDash val="solid"/>
          </a:ln>
        </p:spPr>
      </p:sp>
      <p:sp>
        <p:nvSpPr>
          <p:cNvPr id="13" name="Text 9"/>
          <p:cNvSpPr txBox="1"/>
          <p:nvPr/>
        </p:nvSpPr>
        <p:spPr>
          <a:xfrm>
            <a:off x="583387" y="2944368"/>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Problem Statement Appreciation (Context and Understanding)</a:t>
            </a:r>
            <a:endParaRPr lang="en-US" sz="1400" dirty="0"/>
          </a:p>
        </p:txBody>
      </p:sp>
      <p:sp>
        <p:nvSpPr>
          <p:cNvPr id="14" name="Shape 10"/>
          <p:cNvSpPr/>
          <p:nvPr/>
        </p:nvSpPr>
        <p:spPr>
          <a:xfrm>
            <a:off x="437083" y="3273552"/>
            <a:ext cx="11338560" cy="2999232"/>
          </a:xfrm>
          <a:prstGeom prst="roundRect">
            <a:avLst>
              <a:gd name="adj" fmla="val 1524"/>
            </a:avLst>
          </a:prstGeom>
          <a:solidFill>
            <a:srgbClr val="C3C8DC">
              <a:alpha val="28000"/>
            </a:srgbClr>
          </a:solidFill>
          <a:ln w="9525">
            <a:solidFill>
              <a:srgbClr val="FFFFFF">
                <a:alpha val="78000"/>
              </a:srgbClr>
            </a:solidFill>
            <a:prstDash val="solid"/>
          </a:ln>
        </p:spPr>
      </p:sp>
      <p:sp>
        <p:nvSpPr>
          <p:cNvPr id="15" name="Shape 11"/>
          <p:cNvSpPr/>
          <p:nvPr/>
        </p:nvSpPr>
        <p:spPr>
          <a:xfrm>
            <a:off x="3291840" y="6345936"/>
            <a:ext cx="8485632" cy="237744"/>
          </a:xfrm>
          <a:prstGeom prst="roundRect">
            <a:avLst>
              <a:gd name="adj" fmla="val 50000"/>
            </a:avLst>
          </a:prstGeom>
          <a:solidFill>
            <a:srgbClr val="0A1550">
              <a:alpha val="84000"/>
            </a:srgbClr>
          </a:solidFill>
          <a:ln/>
        </p:spPr>
      </p:sp>
      <p:sp>
        <p:nvSpPr>
          <p:cNvPr id="16" name="Text 12"/>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3 Workings (W-88); Sheet 1 (J-01, J-03, J-06, B-02, B-13); Sheet 7 U-08. Nodes are MODEL-class unless tagged; tagged nodes are our own field conversations.</a:t>
            </a:r>
            <a:endParaRPr lang="en-US" sz="700" dirty="0"/>
          </a:p>
        </p:txBody>
      </p:sp>
      <p:sp>
        <p:nvSpPr>
          <p:cNvPr id="17" name="Text 13"/>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8" name="Shape 14"/>
          <p:cNvSpPr/>
          <p:nvPr/>
        </p:nvSpPr>
        <p:spPr>
          <a:xfrm>
            <a:off x="638251" y="1609344"/>
            <a:ext cx="2596896" cy="1024128"/>
          </a:xfrm>
          <a:prstGeom prst="roundRect">
            <a:avLst>
              <a:gd name="adj" fmla="val 8036"/>
            </a:avLst>
          </a:prstGeom>
          <a:solidFill>
            <a:srgbClr val="111C55">
              <a:alpha val="78000"/>
            </a:srgbClr>
          </a:solidFill>
          <a:ln w="12700">
            <a:solidFill>
              <a:srgbClr val="ED7D31">
                <a:alpha val="78000"/>
              </a:srgbClr>
            </a:solidFill>
            <a:prstDash val="solid"/>
          </a:ln>
        </p:spPr>
      </p:sp>
      <p:sp>
        <p:nvSpPr>
          <p:cNvPr id="19" name="Shape 15"/>
          <p:cNvSpPr/>
          <p:nvPr/>
        </p:nvSpPr>
        <p:spPr>
          <a:xfrm>
            <a:off x="784555" y="1719072"/>
            <a:ext cx="201168" cy="201168"/>
          </a:xfrm>
          <a:prstGeom prst="ellipse">
            <a:avLst/>
          </a:prstGeom>
          <a:ln w="13970">
            <a:solidFill>
              <a:srgbClr val="ED7D31"/>
            </a:solidFill>
            <a:prstDash val="solid"/>
          </a:ln>
        </p:spPr>
      </p:sp>
      <p:sp>
        <p:nvSpPr>
          <p:cNvPr id="20" name="Shape 16"/>
          <p:cNvSpPr/>
          <p:nvPr/>
        </p:nvSpPr>
        <p:spPr>
          <a:xfrm>
            <a:off x="885139" y="1763329"/>
            <a:ext cx="0" cy="56327"/>
          </a:xfrm>
          <a:prstGeom prst="line">
            <a:avLst/>
          </a:prstGeom>
          <a:noFill/>
          <a:ln w="13970">
            <a:solidFill>
              <a:srgbClr val="ED7D31"/>
            </a:solidFill>
            <a:prstDash val="solid"/>
          </a:ln>
        </p:spPr>
      </p:sp>
      <p:sp>
        <p:nvSpPr>
          <p:cNvPr id="21" name="Shape 17"/>
          <p:cNvSpPr/>
          <p:nvPr/>
        </p:nvSpPr>
        <p:spPr>
          <a:xfrm>
            <a:off x="885139" y="1819656"/>
            <a:ext cx="44257" cy="0"/>
          </a:xfrm>
          <a:prstGeom prst="line">
            <a:avLst/>
          </a:prstGeom>
          <a:noFill/>
          <a:ln w="13970">
            <a:solidFill>
              <a:srgbClr val="ED7D31"/>
            </a:solidFill>
            <a:prstDash val="solid"/>
          </a:ln>
        </p:spPr>
      </p:sp>
      <p:sp>
        <p:nvSpPr>
          <p:cNvPr id="22" name="Text 18"/>
          <p:cNvSpPr txBox="1"/>
          <p:nvPr/>
        </p:nvSpPr>
        <p:spPr>
          <a:xfrm>
            <a:off x="1077163" y="1682496"/>
            <a:ext cx="2011680" cy="237744"/>
          </a:xfrm>
          <a:prstGeom prst="rect">
            <a:avLst/>
          </a:prstGeom>
          <a:noFill/>
          <a:ln/>
        </p:spPr>
        <p:txBody>
          <a:bodyPr wrap="square" lIns="0" tIns="0" rIns="0" bIns="0" rtlCol="0" anchor="ctr"/>
          <a:lstStyle/>
          <a:p>
            <a:pPr marL="0" indent="0">
              <a:buNone/>
            </a:pPr>
            <a:r>
              <a:rPr lang="en-US" sz="850" b="1" kern="0" spc="100" dirty="0">
                <a:solidFill>
                  <a:srgbClr val="ED7D31"/>
                </a:solidFill>
                <a:latin typeface="Calibri" pitchFamily="34" charset="0"/>
                <a:ea typeface="Calibri" pitchFamily="34" charset="-122"/>
                <a:cs typeface="Calibri" pitchFamily="34" charset="-120"/>
              </a:rPr>
              <a:t>CLAIMS-HANDLING HOURS A YEAR</a:t>
            </a:r>
            <a:endParaRPr lang="en-US" sz="850" dirty="0"/>
          </a:p>
        </p:txBody>
      </p:sp>
      <p:sp>
        <p:nvSpPr>
          <p:cNvPr id="23" name="Text 19"/>
          <p:cNvSpPr txBox="1"/>
          <p:nvPr/>
        </p:nvSpPr>
        <p:spPr>
          <a:xfrm>
            <a:off x="784555" y="1920240"/>
            <a:ext cx="2304288" cy="384048"/>
          </a:xfrm>
          <a:prstGeom prst="rect">
            <a:avLst/>
          </a:prstGeom>
          <a:noFill/>
          <a:ln/>
        </p:spPr>
        <p:txBody>
          <a:bodyPr wrap="square" lIns="0" tIns="0" rIns="0" bIns="0" rtlCol="0" anchor="ctr"/>
          <a:lstStyle/>
          <a:p>
            <a:pPr marL="0" indent="0">
              <a:buNone/>
            </a:pPr>
            <a:r>
              <a:rPr lang="en-US" sz="2400" b="1" dirty="0">
                <a:solidFill>
                  <a:srgbClr val="F7B183"/>
                </a:solidFill>
                <a:latin typeface="Calibri" pitchFamily="34" charset="0"/>
                <a:ea typeface="Calibri" pitchFamily="34" charset="-122"/>
                <a:cs typeface="Calibri" pitchFamily="34" charset="-120"/>
              </a:rPr>
              <a:t>384,030</a:t>
            </a:r>
            <a:endParaRPr lang="en-US" sz="2400" dirty="0"/>
          </a:p>
        </p:txBody>
      </p:sp>
      <p:sp>
        <p:nvSpPr>
          <p:cNvPr id="24" name="Text 20"/>
          <p:cNvSpPr txBox="1"/>
          <p:nvPr/>
        </p:nvSpPr>
        <p:spPr>
          <a:xfrm>
            <a:off x="784555"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7 touches × 20 min  ·  W-88  ·  MODEL</a:t>
            </a:r>
            <a:endParaRPr lang="en-US" sz="800" dirty="0"/>
          </a:p>
        </p:txBody>
      </p:sp>
      <p:sp>
        <p:nvSpPr>
          <p:cNvPr id="25" name="Shape 21"/>
          <p:cNvSpPr/>
          <p:nvPr/>
        </p:nvSpPr>
        <p:spPr>
          <a:xfrm>
            <a:off x="3418027" y="1609344"/>
            <a:ext cx="2596896" cy="1024128"/>
          </a:xfrm>
          <a:prstGeom prst="roundRect">
            <a:avLst>
              <a:gd name="adj" fmla="val 8036"/>
            </a:avLst>
          </a:prstGeom>
          <a:solidFill>
            <a:srgbClr val="111C55">
              <a:alpha val="78000"/>
            </a:srgbClr>
          </a:solidFill>
          <a:ln w="12700">
            <a:solidFill>
              <a:srgbClr val="ED7D31">
                <a:alpha val="78000"/>
              </a:srgbClr>
            </a:solidFill>
            <a:prstDash val="solid"/>
          </a:ln>
        </p:spPr>
      </p:sp>
      <p:sp>
        <p:nvSpPr>
          <p:cNvPr id="26" name="Shape 22"/>
          <p:cNvSpPr/>
          <p:nvPr/>
        </p:nvSpPr>
        <p:spPr>
          <a:xfrm>
            <a:off x="3564331" y="1763329"/>
            <a:ext cx="201168" cy="112654"/>
          </a:xfrm>
          <a:prstGeom prst="ellipse">
            <a:avLst/>
          </a:prstGeom>
          <a:ln w="13970">
            <a:solidFill>
              <a:srgbClr val="ED7D31"/>
            </a:solidFill>
            <a:prstDash val="solid"/>
          </a:ln>
        </p:spPr>
      </p:sp>
      <p:sp>
        <p:nvSpPr>
          <p:cNvPr id="27" name="Shape 23"/>
          <p:cNvSpPr/>
          <p:nvPr/>
        </p:nvSpPr>
        <p:spPr>
          <a:xfrm>
            <a:off x="3636752" y="1791492"/>
            <a:ext cx="56327" cy="56327"/>
          </a:xfrm>
          <a:prstGeom prst="ellipse">
            <a:avLst/>
          </a:prstGeom>
          <a:solidFill>
            <a:srgbClr val="ED7D31"/>
          </a:solidFill>
          <a:ln/>
        </p:spPr>
      </p:sp>
      <p:sp>
        <p:nvSpPr>
          <p:cNvPr id="28" name="Text 24"/>
          <p:cNvSpPr txBox="1"/>
          <p:nvPr/>
        </p:nvSpPr>
        <p:spPr>
          <a:xfrm>
            <a:off x="3856939" y="1682496"/>
            <a:ext cx="2011680" cy="237744"/>
          </a:xfrm>
          <a:prstGeom prst="rect">
            <a:avLst/>
          </a:prstGeom>
          <a:noFill/>
          <a:ln/>
        </p:spPr>
        <p:txBody>
          <a:bodyPr wrap="square" lIns="0" tIns="0" rIns="0" bIns="0" rtlCol="0" anchor="ctr"/>
          <a:lstStyle/>
          <a:p>
            <a:pPr marL="0" indent="0">
              <a:buNone/>
            </a:pPr>
            <a:r>
              <a:rPr lang="en-US" sz="850" b="1" kern="0" spc="100" dirty="0">
                <a:solidFill>
                  <a:srgbClr val="ED7D31"/>
                </a:solidFill>
                <a:latin typeface="Calibri" pitchFamily="34" charset="0"/>
                <a:ea typeface="Calibri" pitchFamily="34" charset="-122"/>
                <a:cs typeface="Calibri" pitchFamily="34" charset="-120"/>
              </a:rPr>
              <a:t>CLAIMS PHYSICALLY SURVEYED TODAY</a:t>
            </a:r>
            <a:endParaRPr lang="en-US" sz="850" dirty="0"/>
          </a:p>
        </p:txBody>
      </p:sp>
      <p:sp>
        <p:nvSpPr>
          <p:cNvPr id="29" name="Text 25"/>
          <p:cNvSpPr txBox="1"/>
          <p:nvPr/>
        </p:nvSpPr>
        <p:spPr>
          <a:xfrm>
            <a:off x="3564331" y="1920240"/>
            <a:ext cx="2304288" cy="384048"/>
          </a:xfrm>
          <a:prstGeom prst="rect">
            <a:avLst/>
          </a:prstGeom>
          <a:noFill/>
          <a:ln/>
        </p:spPr>
        <p:txBody>
          <a:bodyPr wrap="square" lIns="0" tIns="0" rIns="0" bIns="0" rtlCol="0" anchor="ctr"/>
          <a:lstStyle/>
          <a:p>
            <a:pPr marL="0" indent="0">
              <a:buNone/>
            </a:pPr>
            <a:r>
              <a:rPr lang="en-US" sz="2400" b="1" dirty="0">
                <a:solidFill>
                  <a:srgbClr val="F7B183"/>
                </a:solidFill>
                <a:latin typeface="Calibri" pitchFamily="34" charset="0"/>
                <a:ea typeface="Calibri" pitchFamily="34" charset="-122"/>
                <a:cs typeface="Calibri" pitchFamily="34" charset="-120"/>
              </a:rPr>
              <a:t>55</a:t>
            </a:r>
            <a:r>
              <a:rPr lang="en-US" sz="1104" b="1" dirty="0">
                <a:solidFill>
                  <a:srgbClr val="C6CEE4"/>
                </a:solidFill>
                <a:latin typeface="Calibri" pitchFamily="34" charset="0"/>
                <a:ea typeface="Calibri" pitchFamily="34" charset="-122"/>
                <a:cs typeface="Calibri" pitchFamily="34" charset="-120"/>
              </a:rPr>
              <a:t> %</a:t>
            </a:r>
            <a:endParaRPr lang="en-US" sz="2400" dirty="0"/>
          </a:p>
        </p:txBody>
      </p:sp>
      <p:sp>
        <p:nvSpPr>
          <p:cNvPr id="30" name="Text 26"/>
          <p:cNvSpPr txBox="1"/>
          <p:nvPr/>
        </p:nvSpPr>
        <p:spPr>
          <a:xfrm>
            <a:off x="3564331"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against 10% structurally required  ·  J-03</a:t>
            </a:r>
            <a:endParaRPr lang="en-US" sz="800" dirty="0"/>
          </a:p>
        </p:txBody>
      </p:sp>
      <p:sp>
        <p:nvSpPr>
          <p:cNvPr id="31" name="Shape 27"/>
          <p:cNvSpPr/>
          <p:nvPr/>
        </p:nvSpPr>
        <p:spPr>
          <a:xfrm>
            <a:off x="6197803" y="1609344"/>
            <a:ext cx="2596896" cy="1024128"/>
          </a:xfrm>
          <a:prstGeom prst="roundRect">
            <a:avLst>
              <a:gd name="adj" fmla="val 8036"/>
            </a:avLst>
          </a:prstGeom>
          <a:solidFill>
            <a:srgbClr val="111C55">
              <a:alpha val="78000"/>
            </a:srgbClr>
          </a:solidFill>
          <a:ln w="12700">
            <a:solidFill>
              <a:srgbClr val="ED7D31">
                <a:alpha val="78000"/>
              </a:srgbClr>
            </a:solidFill>
            <a:prstDash val="solid"/>
          </a:ln>
        </p:spPr>
      </p:sp>
      <p:sp>
        <p:nvSpPr>
          <p:cNvPr id="32" name="Shape 28"/>
          <p:cNvSpPr/>
          <p:nvPr/>
        </p:nvSpPr>
        <p:spPr>
          <a:xfrm>
            <a:off x="6344107" y="1795516"/>
            <a:ext cx="201168" cy="64374"/>
          </a:xfrm>
          <a:prstGeom prst="roundRect">
            <a:avLst>
              <a:gd name="adj" fmla="val 31250"/>
            </a:avLst>
          </a:prstGeom>
          <a:ln w="13970">
            <a:solidFill>
              <a:srgbClr val="ED7D31"/>
            </a:solidFill>
            <a:prstDash val="solid"/>
          </a:ln>
        </p:spPr>
      </p:sp>
      <p:sp>
        <p:nvSpPr>
          <p:cNvPr id="33" name="Shape 29"/>
          <p:cNvSpPr/>
          <p:nvPr/>
        </p:nvSpPr>
        <p:spPr>
          <a:xfrm>
            <a:off x="6380317" y="1751259"/>
            <a:ext cx="128748" cy="48280"/>
          </a:xfrm>
          <a:prstGeom prst="trapezoid">
            <a:avLst/>
          </a:prstGeom>
          <a:ln w="12700">
            <a:solidFill>
              <a:srgbClr val="ED7D31"/>
            </a:solidFill>
            <a:prstDash val="solid"/>
          </a:ln>
        </p:spPr>
      </p:sp>
      <p:sp>
        <p:nvSpPr>
          <p:cNvPr id="34" name="Shape 30"/>
          <p:cNvSpPr/>
          <p:nvPr/>
        </p:nvSpPr>
        <p:spPr>
          <a:xfrm>
            <a:off x="6376294" y="1847820"/>
            <a:ext cx="36210" cy="36210"/>
          </a:xfrm>
          <a:prstGeom prst="ellipse">
            <a:avLst/>
          </a:prstGeom>
          <a:solidFill>
            <a:srgbClr val="ED7D31"/>
          </a:solidFill>
          <a:ln/>
        </p:spPr>
      </p:sp>
      <p:sp>
        <p:nvSpPr>
          <p:cNvPr id="35" name="Shape 31"/>
          <p:cNvSpPr/>
          <p:nvPr/>
        </p:nvSpPr>
        <p:spPr>
          <a:xfrm>
            <a:off x="6476878" y="1847820"/>
            <a:ext cx="36210" cy="36210"/>
          </a:xfrm>
          <a:prstGeom prst="ellipse">
            <a:avLst/>
          </a:prstGeom>
          <a:solidFill>
            <a:srgbClr val="ED7D31"/>
          </a:solidFill>
          <a:ln/>
        </p:spPr>
      </p:sp>
      <p:sp>
        <p:nvSpPr>
          <p:cNvPr id="36" name="Text 32"/>
          <p:cNvSpPr txBox="1"/>
          <p:nvPr/>
        </p:nvSpPr>
        <p:spPr>
          <a:xfrm>
            <a:off x="6636715" y="1682496"/>
            <a:ext cx="2011680" cy="237744"/>
          </a:xfrm>
          <a:prstGeom prst="rect">
            <a:avLst/>
          </a:prstGeom>
          <a:noFill/>
          <a:ln/>
        </p:spPr>
        <p:txBody>
          <a:bodyPr wrap="square" lIns="0" tIns="0" rIns="0" bIns="0" rtlCol="0" anchor="ctr"/>
          <a:lstStyle/>
          <a:p>
            <a:pPr marL="0" indent="0">
              <a:buNone/>
            </a:pPr>
            <a:r>
              <a:rPr lang="en-US" sz="850" b="1" kern="0" spc="100" dirty="0">
                <a:solidFill>
                  <a:srgbClr val="ED7D31"/>
                </a:solidFill>
                <a:latin typeface="Calibri" pitchFamily="34" charset="0"/>
                <a:ea typeface="Calibri" pitchFamily="34" charset="-122"/>
                <a:cs typeface="Calibri" pitchFamily="34" charset="-120"/>
              </a:rPr>
              <a:t>GARAGE ESTIMATE TO APPROVAL</a:t>
            </a:r>
            <a:endParaRPr lang="en-US" sz="850" dirty="0"/>
          </a:p>
        </p:txBody>
      </p:sp>
      <p:sp>
        <p:nvSpPr>
          <p:cNvPr id="37" name="Text 33"/>
          <p:cNvSpPr txBox="1"/>
          <p:nvPr/>
        </p:nvSpPr>
        <p:spPr>
          <a:xfrm>
            <a:off x="6344107" y="1920240"/>
            <a:ext cx="2304288" cy="384048"/>
          </a:xfrm>
          <a:prstGeom prst="rect">
            <a:avLst/>
          </a:prstGeom>
          <a:noFill/>
          <a:ln/>
        </p:spPr>
        <p:txBody>
          <a:bodyPr wrap="square" lIns="0" tIns="0" rIns="0" bIns="0" rtlCol="0" anchor="ctr"/>
          <a:lstStyle/>
          <a:p>
            <a:pPr marL="0" indent="0">
              <a:buNone/>
            </a:pPr>
            <a:r>
              <a:rPr lang="en-US" sz="2400" b="1" dirty="0">
                <a:solidFill>
                  <a:srgbClr val="F7B183"/>
                </a:solidFill>
                <a:latin typeface="Calibri" pitchFamily="34" charset="0"/>
                <a:ea typeface="Calibri" pitchFamily="34" charset="-122"/>
                <a:cs typeface="Calibri" pitchFamily="34" charset="-120"/>
              </a:rPr>
              <a:t>4</a:t>
            </a:r>
            <a:r>
              <a:rPr lang="en-US" sz="1104" b="1" dirty="0">
                <a:solidFill>
                  <a:srgbClr val="C6CEE4"/>
                </a:solidFill>
                <a:latin typeface="Calibri" pitchFamily="34" charset="0"/>
                <a:ea typeface="Calibri" pitchFamily="34" charset="-122"/>
                <a:cs typeface="Calibri" pitchFamily="34" charset="-120"/>
              </a:rPr>
              <a:t> days</a:t>
            </a:r>
            <a:endParaRPr lang="en-US" sz="2400" dirty="0"/>
          </a:p>
        </p:txBody>
      </p:sp>
      <p:sp>
        <p:nvSpPr>
          <p:cNvPr id="38" name="Text 34"/>
          <p:cNvSpPr txBox="1"/>
          <p:nvPr/>
        </p:nvSpPr>
        <p:spPr>
          <a:xfrm>
            <a:off x="6344107"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a held bay earns nothing  ·  J-06</a:t>
            </a:r>
            <a:endParaRPr lang="en-US" sz="800" dirty="0"/>
          </a:p>
        </p:txBody>
      </p:sp>
      <p:sp>
        <p:nvSpPr>
          <p:cNvPr id="39" name="Shape 35"/>
          <p:cNvSpPr/>
          <p:nvPr/>
        </p:nvSpPr>
        <p:spPr>
          <a:xfrm>
            <a:off x="8977579" y="1609344"/>
            <a:ext cx="2596896" cy="1024128"/>
          </a:xfrm>
          <a:prstGeom prst="roundRect">
            <a:avLst>
              <a:gd name="adj" fmla="val 8036"/>
            </a:avLst>
          </a:prstGeom>
          <a:solidFill>
            <a:srgbClr val="111C55">
              <a:alpha val="78000"/>
            </a:srgbClr>
          </a:solidFill>
          <a:ln w="12700">
            <a:solidFill>
              <a:srgbClr val="ED7D31">
                <a:alpha val="78000"/>
              </a:srgbClr>
            </a:solidFill>
            <a:prstDash val="solid"/>
          </a:ln>
        </p:spPr>
      </p:sp>
      <p:sp>
        <p:nvSpPr>
          <p:cNvPr id="40" name="Shape 36"/>
          <p:cNvSpPr/>
          <p:nvPr/>
        </p:nvSpPr>
        <p:spPr>
          <a:xfrm>
            <a:off x="9123883" y="1791492"/>
            <a:ext cx="52304" cy="52304"/>
          </a:xfrm>
          <a:prstGeom prst="ellipse">
            <a:avLst/>
          </a:prstGeom>
          <a:solidFill>
            <a:srgbClr val="ED7D31"/>
          </a:solidFill>
          <a:ln/>
        </p:spPr>
      </p:sp>
      <p:sp>
        <p:nvSpPr>
          <p:cNvPr id="41" name="Shape 37"/>
          <p:cNvSpPr/>
          <p:nvPr/>
        </p:nvSpPr>
        <p:spPr>
          <a:xfrm flipV="1">
            <a:off x="9176187" y="1753271"/>
            <a:ext cx="60350" cy="64374"/>
          </a:xfrm>
          <a:prstGeom prst="line">
            <a:avLst/>
          </a:prstGeom>
          <a:noFill/>
          <a:ln w="12700">
            <a:solidFill>
              <a:srgbClr val="ED7D31"/>
            </a:solidFill>
            <a:prstDash val="solid"/>
          </a:ln>
        </p:spPr>
      </p:sp>
      <p:sp>
        <p:nvSpPr>
          <p:cNvPr id="42" name="Shape 38"/>
          <p:cNvSpPr/>
          <p:nvPr/>
        </p:nvSpPr>
        <p:spPr>
          <a:xfrm>
            <a:off x="9176187" y="1817644"/>
            <a:ext cx="60350" cy="64374"/>
          </a:xfrm>
          <a:prstGeom prst="line">
            <a:avLst/>
          </a:prstGeom>
          <a:noFill/>
          <a:ln w="12700">
            <a:solidFill>
              <a:srgbClr val="ED7D31"/>
            </a:solidFill>
            <a:prstDash val="solid"/>
          </a:ln>
        </p:spPr>
      </p:sp>
      <p:sp>
        <p:nvSpPr>
          <p:cNvPr id="43" name="Shape 39"/>
          <p:cNvSpPr/>
          <p:nvPr/>
        </p:nvSpPr>
        <p:spPr>
          <a:xfrm>
            <a:off x="9244584" y="1727119"/>
            <a:ext cx="44257" cy="44257"/>
          </a:xfrm>
          <a:prstGeom prst="ellipse">
            <a:avLst/>
          </a:prstGeom>
          <a:ln w="12700">
            <a:solidFill>
              <a:srgbClr val="ED7D31"/>
            </a:solidFill>
            <a:prstDash val="solid"/>
          </a:ln>
        </p:spPr>
      </p:sp>
      <p:sp>
        <p:nvSpPr>
          <p:cNvPr id="44" name="Shape 40"/>
          <p:cNvSpPr/>
          <p:nvPr/>
        </p:nvSpPr>
        <p:spPr>
          <a:xfrm>
            <a:off x="9244584" y="1855866"/>
            <a:ext cx="44257" cy="44257"/>
          </a:xfrm>
          <a:prstGeom prst="ellipse">
            <a:avLst/>
          </a:prstGeom>
          <a:ln w="12700">
            <a:solidFill>
              <a:srgbClr val="ED7D31"/>
            </a:solidFill>
            <a:prstDash val="solid"/>
          </a:ln>
        </p:spPr>
      </p:sp>
      <p:sp>
        <p:nvSpPr>
          <p:cNvPr id="45" name="Text 41"/>
          <p:cNvSpPr txBox="1"/>
          <p:nvPr/>
        </p:nvSpPr>
        <p:spPr>
          <a:xfrm>
            <a:off x="9416491" y="1682496"/>
            <a:ext cx="2011680" cy="237744"/>
          </a:xfrm>
          <a:prstGeom prst="rect">
            <a:avLst/>
          </a:prstGeom>
          <a:noFill/>
          <a:ln/>
        </p:spPr>
        <p:txBody>
          <a:bodyPr wrap="square" lIns="0" tIns="0" rIns="0" bIns="0" rtlCol="0" anchor="ctr"/>
          <a:lstStyle/>
          <a:p>
            <a:pPr marL="0" indent="0">
              <a:buNone/>
            </a:pPr>
            <a:r>
              <a:rPr lang="en-US" sz="850" b="1" kern="0" spc="100" dirty="0">
                <a:solidFill>
                  <a:srgbClr val="ED7D31"/>
                </a:solidFill>
                <a:latin typeface="Calibri" pitchFamily="34" charset="0"/>
                <a:ea typeface="Calibri" pitchFamily="34" charset="-122"/>
                <a:cs typeface="Calibri" pitchFamily="34" charset="-120"/>
              </a:rPr>
              <a:t>HANDOFFS OUTSIDE BAJAJ’S CONTROL</a:t>
            </a:r>
            <a:endParaRPr lang="en-US" sz="850" dirty="0"/>
          </a:p>
        </p:txBody>
      </p:sp>
      <p:sp>
        <p:nvSpPr>
          <p:cNvPr id="46" name="Text 42"/>
          <p:cNvSpPr txBox="1"/>
          <p:nvPr/>
        </p:nvSpPr>
        <p:spPr>
          <a:xfrm>
            <a:off x="9123883" y="1920240"/>
            <a:ext cx="2304288" cy="384048"/>
          </a:xfrm>
          <a:prstGeom prst="rect">
            <a:avLst/>
          </a:prstGeom>
          <a:noFill/>
          <a:ln/>
        </p:spPr>
        <p:txBody>
          <a:bodyPr wrap="square" lIns="0" tIns="0" rIns="0" bIns="0" rtlCol="0" anchor="ctr"/>
          <a:lstStyle/>
          <a:p>
            <a:pPr marL="0" indent="0">
              <a:buNone/>
            </a:pPr>
            <a:r>
              <a:rPr lang="en-US" sz="2400" b="1" dirty="0">
                <a:solidFill>
                  <a:srgbClr val="F7B183"/>
                </a:solidFill>
                <a:latin typeface="Calibri" pitchFamily="34" charset="0"/>
                <a:ea typeface="Calibri" pitchFamily="34" charset="-122"/>
                <a:cs typeface="Calibri" pitchFamily="34" charset="-120"/>
              </a:rPr>
              <a:t>4</a:t>
            </a:r>
            <a:r>
              <a:rPr lang="en-US" sz="1104" b="1" dirty="0">
                <a:solidFill>
                  <a:srgbClr val="C6CEE4"/>
                </a:solidFill>
                <a:latin typeface="Calibri" pitchFamily="34" charset="0"/>
                <a:ea typeface="Calibri" pitchFamily="34" charset="-122"/>
                <a:cs typeface="Calibri" pitchFamily="34" charset="-120"/>
              </a:rPr>
              <a:t> of 9</a:t>
            </a:r>
            <a:endParaRPr lang="en-US" sz="2400" dirty="0"/>
          </a:p>
        </p:txBody>
      </p:sp>
      <p:sp>
        <p:nvSpPr>
          <p:cNvPr id="47" name="Text 43"/>
          <p:cNvSpPr txBox="1"/>
          <p:nvPr/>
        </p:nvSpPr>
        <p:spPr>
          <a:xfrm>
            <a:off x="9123883"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claimant, police, garage, surveyor</a:t>
            </a:r>
            <a:endParaRPr lang="en-US" sz="800" dirty="0"/>
          </a:p>
        </p:txBody>
      </p:sp>
      <p:sp>
        <p:nvSpPr>
          <p:cNvPr id="48" name="Shape 44"/>
          <p:cNvSpPr/>
          <p:nvPr/>
        </p:nvSpPr>
        <p:spPr>
          <a:xfrm>
            <a:off x="638251" y="3474720"/>
            <a:ext cx="4799584" cy="219456"/>
          </a:xfrm>
          <a:prstGeom prst="roundRect">
            <a:avLst>
              <a:gd name="adj" fmla="val 50000"/>
            </a:avLst>
          </a:prstGeom>
          <a:solidFill>
            <a:srgbClr val="ED7D31"/>
          </a:solidFill>
          <a:ln w="9525">
            <a:solidFill>
              <a:srgbClr val="ED7D31"/>
            </a:solidFill>
            <a:prstDash val="solid"/>
          </a:ln>
        </p:spPr>
      </p:sp>
      <p:sp>
        <p:nvSpPr>
          <p:cNvPr id="49" name="Text 45"/>
          <p:cNvSpPr txBox="1"/>
          <p:nvPr/>
        </p:nvSpPr>
        <p:spPr>
          <a:xfrm>
            <a:off x="638251" y="3474720"/>
            <a:ext cx="4799584" cy="219456"/>
          </a:xfrm>
          <a:prstGeom prst="rect">
            <a:avLst/>
          </a:prstGeom>
          <a:noFill/>
          <a:ln/>
        </p:spPr>
        <p:txBody>
          <a:bodyPr wrap="square" lIns="0" tIns="0" rIns="0" bIns="0" rtlCol="0" anchor="ctr"/>
          <a:lstStyle/>
          <a:p>
            <a:pPr marL="0" indent="0" algn="ctr">
              <a:buNone/>
            </a:pPr>
            <a:r>
              <a:rPr lang="en-US" sz="750" b="1" kern="0" spc="60" dirty="0">
                <a:solidFill>
                  <a:srgbClr val="09122C"/>
                </a:solidFill>
                <a:latin typeface="Calibri" pitchFamily="34" charset="0"/>
                <a:ea typeface="Calibri" pitchFamily="34" charset="-122"/>
                <a:cs typeface="Calibri" pitchFamily="34" charset="-120"/>
              </a:rPr>
              <a:t>OUTSIDE BAJAJ’S DIRECT CONTROL</a:t>
            </a:r>
            <a:endParaRPr lang="en-US" sz="750" dirty="0"/>
          </a:p>
        </p:txBody>
      </p:sp>
      <p:sp>
        <p:nvSpPr>
          <p:cNvPr id="50" name="Shape 46"/>
          <p:cNvSpPr/>
          <p:nvPr/>
        </p:nvSpPr>
        <p:spPr>
          <a:xfrm>
            <a:off x="5547563" y="3474720"/>
            <a:ext cx="6026912" cy="219456"/>
          </a:xfrm>
          <a:prstGeom prst="roundRect">
            <a:avLst>
              <a:gd name="adj" fmla="val 50000"/>
            </a:avLst>
          </a:prstGeom>
          <a:solidFill>
            <a:srgbClr val="5B9BD5"/>
          </a:solidFill>
          <a:ln w="9525">
            <a:solidFill>
              <a:srgbClr val="5B9BD5"/>
            </a:solidFill>
            <a:prstDash val="solid"/>
          </a:ln>
        </p:spPr>
      </p:sp>
      <p:sp>
        <p:nvSpPr>
          <p:cNvPr id="51" name="Text 47"/>
          <p:cNvSpPr txBox="1"/>
          <p:nvPr/>
        </p:nvSpPr>
        <p:spPr>
          <a:xfrm>
            <a:off x="5547563" y="3474720"/>
            <a:ext cx="6026912" cy="219456"/>
          </a:xfrm>
          <a:prstGeom prst="rect">
            <a:avLst/>
          </a:prstGeom>
          <a:noFill/>
          <a:ln/>
        </p:spPr>
        <p:txBody>
          <a:bodyPr wrap="square" lIns="0" tIns="0" rIns="0" bIns="0" rtlCol="0" anchor="ctr"/>
          <a:lstStyle/>
          <a:p>
            <a:pPr marL="0" indent="0" algn="ctr">
              <a:buNone/>
            </a:pPr>
            <a:r>
              <a:rPr lang="en-US" sz="750" b="1" kern="0" spc="60" dirty="0">
                <a:solidFill>
                  <a:srgbClr val="09122C"/>
                </a:solidFill>
                <a:latin typeface="Calibri" pitchFamily="34" charset="0"/>
                <a:ea typeface="Calibri" pitchFamily="34" charset="-122"/>
                <a:cs typeface="Calibri" pitchFamily="34" charset="-120"/>
              </a:rPr>
              <a:t>INSIDE BAJAJ’S PROCESS</a:t>
            </a:r>
            <a:endParaRPr lang="en-US" sz="750" dirty="0"/>
          </a:p>
        </p:txBody>
      </p:sp>
      <p:sp>
        <p:nvSpPr>
          <p:cNvPr id="52" name="Shape 48"/>
          <p:cNvSpPr/>
          <p:nvPr/>
        </p:nvSpPr>
        <p:spPr>
          <a:xfrm>
            <a:off x="638251" y="3767328"/>
            <a:ext cx="1117600" cy="1335024"/>
          </a:xfrm>
          <a:prstGeom prst="roundRect">
            <a:avLst>
              <a:gd name="adj" fmla="val 7364"/>
            </a:avLst>
          </a:prstGeom>
          <a:solidFill>
            <a:srgbClr val="111C55">
              <a:alpha val="76000"/>
            </a:srgbClr>
          </a:solidFill>
          <a:ln w="12700">
            <a:solidFill>
              <a:srgbClr val="ED7D31">
                <a:alpha val="78000"/>
              </a:srgbClr>
            </a:solidFill>
            <a:prstDash val="solid"/>
          </a:ln>
        </p:spPr>
      </p:sp>
      <p:sp>
        <p:nvSpPr>
          <p:cNvPr id="53" name="Shape 49"/>
          <p:cNvSpPr/>
          <p:nvPr/>
        </p:nvSpPr>
        <p:spPr>
          <a:xfrm>
            <a:off x="1149502" y="3923142"/>
            <a:ext cx="95098" cy="95098"/>
          </a:xfrm>
          <a:prstGeom prst="ellipse">
            <a:avLst/>
          </a:prstGeom>
          <a:ln w="13970">
            <a:solidFill>
              <a:srgbClr val="F7B183"/>
            </a:solidFill>
            <a:prstDash val="solid"/>
          </a:ln>
        </p:spPr>
      </p:sp>
      <p:sp>
        <p:nvSpPr>
          <p:cNvPr id="54" name="Shape 50"/>
          <p:cNvSpPr/>
          <p:nvPr/>
        </p:nvSpPr>
        <p:spPr>
          <a:xfrm>
            <a:off x="1106708" y="4022994"/>
            <a:ext cx="180685" cy="166421"/>
          </a:xfrm>
          <a:prstGeom prst="blockArc">
            <a:avLst/>
          </a:prstGeom>
          <a:ln w="13970">
            <a:solidFill>
              <a:srgbClr val="F7B183"/>
            </a:solidFill>
            <a:prstDash val="solid"/>
          </a:ln>
        </p:spPr>
      </p:sp>
      <p:sp>
        <p:nvSpPr>
          <p:cNvPr id="55" name="Text 51"/>
          <p:cNvSpPr txBox="1"/>
          <p:nvPr/>
        </p:nvSpPr>
        <p:spPr>
          <a:xfrm>
            <a:off x="693115" y="4197096"/>
            <a:ext cx="1007872" cy="219456"/>
          </a:xfrm>
          <a:prstGeom prst="rect">
            <a:avLst/>
          </a:prstGeom>
          <a:noFill/>
          <a:ln/>
        </p:spPr>
        <p:txBody>
          <a:bodyPr wrap="square" lIns="0" tIns="0" rIns="0" bIns="0" rtlCol="0" anchor="ctr"/>
          <a:lstStyle/>
          <a:p>
            <a:pPr marL="0" indent="0" algn="ctr">
              <a:buNone/>
            </a:pPr>
            <a:r>
              <a:rPr lang="en-US" sz="1000" b="1" dirty="0">
                <a:solidFill>
                  <a:srgbClr val="F7B183"/>
                </a:solidFill>
                <a:latin typeface="Calibri" pitchFamily="34" charset="0"/>
                <a:ea typeface="Calibri" pitchFamily="34" charset="-122"/>
                <a:cs typeface="Calibri" pitchFamily="34" charset="-120"/>
              </a:rPr>
              <a:t>Claimant</a:t>
            </a:r>
            <a:endParaRPr lang="en-US" sz="1000" dirty="0"/>
          </a:p>
        </p:txBody>
      </p:sp>
      <p:sp>
        <p:nvSpPr>
          <p:cNvPr id="56" name="Text 52"/>
          <p:cNvSpPr txBox="1"/>
          <p:nvPr/>
        </p:nvSpPr>
        <p:spPr>
          <a:xfrm>
            <a:off x="702259"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Reports, then chases</a:t>
            </a:r>
            <a:endParaRPr lang="en-US" sz="850" dirty="0"/>
          </a:p>
        </p:txBody>
      </p:sp>
      <p:sp>
        <p:nvSpPr>
          <p:cNvPr id="57" name="Text 53"/>
          <p:cNvSpPr txBox="1"/>
          <p:nvPr/>
        </p:nvSpPr>
        <p:spPr>
          <a:xfrm>
            <a:off x="674827" y="4882896"/>
            <a:ext cx="1044448" cy="164592"/>
          </a:xfrm>
          <a:prstGeom prst="rect">
            <a:avLst/>
          </a:prstGeom>
          <a:noFill/>
          <a:ln/>
        </p:spPr>
        <p:txBody>
          <a:bodyPr wrap="square" lIns="0" tIns="0" rIns="0" bIns="0" rtlCol="0" anchor="ctr"/>
          <a:lstStyle/>
          <a:p>
            <a:pPr marL="0" indent="0" algn="ctr">
              <a:buNone/>
            </a:pPr>
            <a:r>
              <a:rPr lang="en-US" sz="600" b="1" kern="0" spc="40" dirty="0">
                <a:solidFill>
                  <a:srgbClr val="F7B183"/>
                </a:solidFill>
                <a:latin typeface="Calibri" pitchFamily="34" charset="0"/>
                <a:ea typeface="Calibri" pitchFamily="34" charset="-122"/>
                <a:cs typeface="Calibri" pitchFamily="34" charset="-120"/>
              </a:rPr>
              <a:t>FIELD RESEARCH</a:t>
            </a:r>
            <a:endParaRPr lang="en-US" sz="600" dirty="0"/>
          </a:p>
        </p:txBody>
      </p:sp>
      <p:sp>
        <p:nvSpPr>
          <p:cNvPr id="58" name="Shape 54"/>
          <p:cNvSpPr/>
          <p:nvPr/>
        </p:nvSpPr>
        <p:spPr>
          <a:xfrm rot="5400000">
            <a:off x="1764995" y="3986784"/>
            <a:ext cx="91440" cy="109728"/>
          </a:xfrm>
          <a:prstGeom prst="triangle">
            <a:avLst/>
          </a:prstGeom>
          <a:solidFill>
            <a:srgbClr val="3A4A8C"/>
          </a:solidFill>
          <a:ln/>
        </p:spPr>
      </p:sp>
      <p:sp>
        <p:nvSpPr>
          <p:cNvPr id="59" name="Shape 55"/>
          <p:cNvSpPr/>
          <p:nvPr/>
        </p:nvSpPr>
        <p:spPr>
          <a:xfrm>
            <a:off x="1865579" y="3767328"/>
            <a:ext cx="1117600" cy="1335024"/>
          </a:xfrm>
          <a:prstGeom prst="roundRect">
            <a:avLst>
              <a:gd name="adj" fmla="val 7364"/>
            </a:avLst>
          </a:prstGeom>
          <a:solidFill>
            <a:srgbClr val="111C55">
              <a:alpha val="76000"/>
            </a:srgbClr>
          </a:solidFill>
          <a:ln w="12700">
            <a:solidFill>
              <a:srgbClr val="ED7D31">
                <a:alpha val="78000"/>
              </a:srgbClr>
            </a:solidFill>
            <a:prstDash val="solid"/>
          </a:ln>
        </p:spPr>
      </p:sp>
      <p:sp>
        <p:nvSpPr>
          <p:cNvPr id="60" name="Shape 56"/>
          <p:cNvSpPr/>
          <p:nvPr/>
        </p:nvSpPr>
        <p:spPr>
          <a:xfrm rot="5400000">
            <a:off x="2305507" y="3913632"/>
            <a:ext cx="237744" cy="237744"/>
          </a:xfrm>
          <a:prstGeom prst="homePlate">
            <a:avLst/>
          </a:prstGeom>
          <a:ln w="13970">
            <a:solidFill>
              <a:srgbClr val="F7B183"/>
            </a:solidFill>
            <a:prstDash val="solid"/>
          </a:ln>
        </p:spPr>
      </p:sp>
      <p:sp>
        <p:nvSpPr>
          <p:cNvPr id="61" name="Text 57"/>
          <p:cNvSpPr txBox="1"/>
          <p:nvPr/>
        </p:nvSpPr>
        <p:spPr>
          <a:xfrm>
            <a:off x="1920443" y="4197096"/>
            <a:ext cx="1007872" cy="219456"/>
          </a:xfrm>
          <a:prstGeom prst="rect">
            <a:avLst/>
          </a:prstGeom>
          <a:noFill/>
          <a:ln/>
        </p:spPr>
        <p:txBody>
          <a:bodyPr wrap="square" lIns="0" tIns="0" rIns="0" bIns="0" rtlCol="0" anchor="ctr"/>
          <a:lstStyle/>
          <a:p>
            <a:pPr marL="0" indent="0" algn="ctr">
              <a:buNone/>
            </a:pPr>
            <a:r>
              <a:rPr lang="en-US" sz="1000" b="1" dirty="0">
                <a:solidFill>
                  <a:srgbClr val="F7B183"/>
                </a:solidFill>
                <a:latin typeface="Calibri" pitchFamily="34" charset="0"/>
                <a:ea typeface="Calibri" pitchFamily="34" charset="-122"/>
                <a:cs typeface="Calibri" pitchFamily="34" charset="-120"/>
              </a:rPr>
              <a:t>Police / FIR</a:t>
            </a:r>
            <a:endParaRPr lang="en-US" sz="1000" dirty="0"/>
          </a:p>
        </p:txBody>
      </p:sp>
      <p:sp>
        <p:nvSpPr>
          <p:cNvPr id="62" name="Text 58"/>
          <p:cNvSpPr txBox="1"/>
          <p:nvPr/>
        </p:nvSpPr>
        <p:spPr>
          <a:xfrm>
            <a:off x="1929587"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Only where an FIR applies</a:t>
            </a:r>
            <a:endParaRPr lang="en-US" sz="850" dirty="0"/>
          </a:p>
        </p:txBody>
      </p:sp>
      <p:sp>
        <p:nvSpPr>
          <p:cNvPr id="63" name="Text 59"/>
          <p:cNvSpPr txBox="1"/>
          <p:nvPr/>
        </p:nvSpPr>
        <p:spPr>
          <a:xfrm>
            <a:off x="1902155" y="4882896"/>
            <a:ext cx="1044448" cy="164592"/>
          </a:xfrm>
          <a:prstGeom prst="rect">
            <a:avLst/>
          </a:prstGeom>
          <a:noFill/>
          <a:ln/>
        </p:spPr>
        <p:txBody>
          <a:bodyPr wrap="square" lIns="0" tIns="0" rIns="0" bIns="0" rtlCol="0" anchor="ctr"/>
          <a:lstStyle/>
          <a:p>
            <a:pPr marL="0" indent="0" algn="ctr">
              <a:buNone/>
            </a:pPr>
            <a:r>
              <a:rPr lang="en-US" sz="600" b="1" kern="0" spc="40" dirty="0">
                <a:solidFill>
                  <a:srgbClr val="727EA6"/>
                </a:solidFill>
                <a:latin typeface="Calibri" pitchFamily="34" charset="0"/>
                <a:ea typeface="Calibri" pitchFamily="34" charset="-122"/>
                <a:cs typeface="Calibri" pitchFamily="34" charset="-120"/>
              </a:rPr>
              <a:t>FIELD OBSERVATION</a:t>
            </a:r>
            <a:endParaRPr lang="en-US" sz="600" dirty="0"/>
          </a:p>
        </p:txBody>
      </p:sp>
      <p:sp>
        <p:nvSpPr>
          <p:cNvPr id="64" name="Shape 60"/>
          <p:cNvSpPr/>
          <p:nvPr/>
        </p:nvSpPr>
        <p:spPr>
          <a:xfrm rot="5400000">
            <a:off x="2992323" y="3986784"/>
            <a:ext cx="91440" cy="109728"/>
          </a:xfrm>
          <a:prstGeom prst="triangle">
            <a:avLst/>
          </a:prstGeom>
          <a:solidFill>
            <a:srgbClr val="3A4A8C"/>
          </a:solidFill>
          <a:ln/>
        </p:spPr>
      </p:sp>
      <p:sp>
        <p:nvSpPr>
          <p:cNvPr id="65" name="Shape 61"/>
          <p:cNvSpPr/>
          <p:nvPr/>
        </p:nvSpPr>
        <p:spPr>
          <a:xfrm>
            <a:off x="3092907" y="3767328"/>
            <a:ext cx="1117600" cy="1335024"/>
          </a:xfrm>
          <a:prstGeom prst="roundRect">
            <a:avLst>
              <a:gd name="adj" fmla="val 7364"/>
            </a:avLst>
          </a:prstGeom>
          <a:solidFill>
            <a:srgbClr val="111C55">
              <a:alpha val="76000"/>
            </a:srgbClr>
          </a:solidFill>
          <a:ln w="12700">
            <a:solidFill>
              <a:srgbClr val="ED7D31">
                <a:alpha val="78000"/>
              </a:srgbClr>
            </a:solidFill>
            <a:prstDash val="solid"/>
          </a:ln>
        </p:spPr>
      </p:sp>
      <p:sp>
        <p:nvSpPr>
          <p:cNvPr id="66" name="Shape 62"/>
          <p:cNvSpPr/>
          <p:nvPr/>
        </p:nvSpPr>
        <p:spPr>
          <a:xfrm>
            <a:off x="3532835" y="4003975"/>
            <a:ext cx="237744" cy="76078"/>
          </a:xfrm>
          <a:prstGeom prst="roundRect">
            <a:avLst>
              <a:gd name="adj" fmla="val 31250"/>
            </a:avLst>
          </a:prstGeom>
          <a:ln w="13970">
            <a:solidFill>
              <a:srgbClr val="F7B183"/>
            </a:solidFill>
            <a:prstDash val="solid"/>
          </a:ln>
        </p:spPr>
      </p:sp>
      <p:sp>
        <p:nvSpPr>
          <p:cNvPr id="67" name="Shape 63"/>
          <p:cNvSpPr/>
          <p:nvPr/>
        </p:nvSpPr>
        <p:spPr>
          <a:xfrm>
            <a:off x="3575629" y="3951671"/>
            <a:ext cx="152156" cy="57059"/>
          </a:xfrm>
          <a:prstGeom prst="trapezoid">
            <a:avLst/>
          </a:prstGeom>
          <a:ln w="12700">
            <a:solidFill>
              <a:srgbClr val="F7B183"/>
            </a:solidFill>
            <a:prstDash val="solid"/>
          </a:ln>
        </p:spPr>
      </p:sp>
      <p:sp>
        <p:nvSpPr>
          <p:cNvPr id="68" name="Shape 64"/>
          <p:cNvSpPr/>
          <p:nvPr/>
        </p:nvSpPr>
        <p:spPr>
          <a:xfrm>
            <a:off x="3570874" y="4065788"/>
            <a:ext cx="42794" cy="42794"/>
          </a:xfrm>
          <a:prstGeom prst="ellipse">
            <a:avLst/>
          </a:prstGeom>
          <a:solidFill>
            <a:srgbClr val="F7B183"/>
          </a:solidFill>
          <a:ln/>
        </p:spPr>
      </p:sp>
      <p:sp>
        <p:nvSpPr>
          <p:cNvPr id="69" name="Shape 65"/>
          <p:cNvSpPr/>
          <p:nvPr/>
        </p:nvSpPr>
        <p:spPr>
          <a:xfrm>
            <a:off x="3689746" y="4065788"/>
            <a:ext cx="42794" cy="42794"/>
          </a:xfrm>
          <a:prstGeom prst="ellipse">
            <a:avLst/>
          </a:prstGeom>
          <a:solidFill>
            <a:srgbClr val="F7B183"/>
          </a:solidFill>
          <a:ln/>
        </p:spPr>
      </p:sp>
      <p:sp>
        <p:nvSpPr>
          <p:cNvPr id="70" name="Text 66"/>
          <p:cNvSpPr txBox="1"/>
          <p:nvPr/>
        </p:nvSpPr>
        <p:spPr>
          <a:xfrm>
            <a:off x="3147771" y="4197096"/>
            <a:ext cx="1007872" cy="219456"/>
          </a:xfrm>
          <a:prstGeom prst="rect">
            <a:avLst/>
          </a:prstGeom>
          <a:noFill/>
          <a:ln/>
        </p:spPr>
        <p:txBody>
          <a:bodyPr wrap="square" lIns="0" tIns="0" rIns="0" bIns="0" rtlCol="0" anchor="ctr"/>
          <a:lstStyle/>
          <a:p>
            <a:pPr marL="0" indent="0" algn="ctr">
              <a:buNone/>
            </a:pPr>
            <a:r>
              <a:rPr lang="en-US" sz="1000" b="1" dirty="0">
                <a:solidFill>
                  <a:srgbClr val="F7B183"/>
                </a:solidFill>
                <a:latin typeface="Calibri" pitchFamily="34" charset="0"/>
                <a:ea typeface="Calibri" pitchFamily="34" charset="-122"/>
                <a:cs typeface="Calibri" pitchFamily="34" charset="-120"/>
              </a:rPr>
              <a:t>Garage</a:t>
            </a:r>
            <a:endParaRPr lang="en-US" sz="1000" dirty="0"/>
          </a:p>
        </p:txBody>
      </p:sp>
      <p:sp>
        <p:nvSpPr>
          <p:cNvPr id="71" name="Text 67"/>
          <p:cNvSpPr txBox="1"/>
          <p:nvPr/>
        </p:nvSpPr>
        <p:spPr>
          <a:xfrm>
            <a:off x="3156915"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Estimate raised, then waits</a:t>
            </a:r>
            <a:endParaRPr lang="en-US" sz="850" dirty="0"/>
          </a:p>
        </p:txBody>
      </p:sp>
      <p:sp>
        <p:nvSpPr>
          <p:cNvPr id="72" name="Text 68"/>
          <p:cNvSpPr txBox="1"/>
          <p:nvPr/>
        </p:nvSpPr>
        <p:spPr>
          <a:xfrm>
            <a:off x="3129483" y="4882896"/>
            <a:ext cx="1044448" cy="164592"/>
          </a:xfrm>
          <a:prstGeom prst="rect">
            <a:avLst/>
          </a:prstGeom>
          <a:noFill/>
          <a:ln/>
        </p:spPr>
        <p:txBody>
          <a:bodyPr wrap="square" lIns="0" tIns="0" rIns="0" bIns="0" rtlCol="0" anchor="ctr"/>
          <a:lstStyle/>
          <a:p>
            <a:pPr marL="0" indent="0" algn="ctr">
              <a:buNone/>
            </a:pPr>
            <a:r>
              <a:rPr lang="en-US" sz="600" b="1" kern="0" spc="40" dirty="0">
                <a:solidFill>
                  <a:srgbClr val="727EA6"/>
                </a:solidFill>
                <a:latin typeface="Calibri" pitchFamily="34" charset="0"/>
                <a:ea typeface="Calibri" pitchFamily="34" charset="-122"/>
                <a:cs typeface="Calibri" pitchFamily="34" charset="-120"/>
              </a:rPr>
              <a:t>FIELD OBSERVATION</a:t>
            </a:r>
            <a:endParaRPr lang="en-US" sz="600" dirty="0"/>
          </a:p>
        </p:txBody>
      </p:sp>
      <p:sp>
        <p:nvSpPr>
          <p:cNvPr id="73" name="Shape 69"/>
          <p:cNvSpPr/>
          <p:nvPr/>
        </p:nvSpPr>
        <p:spPr>
          <a:xfrm rot="5400000">
            <a:off x="4219651" y="3986784"/>
            <a:ext cx="91440" cy="109728"/>
          </a:xfrm>
          <a:prstGeom prst="triangle">
            <a:avLst/>
          </a:prstGeom>
          <a:solidFill>
            <a:srgbClr val="3A4A8C"/>
          </a:solidFill>
          <a:ln/>
        </p:spPr>
      </p:sp>
      <p:sp>
        <p:nvSpPr>
          <p:cNvPr id="74" name="Shape 70"/>
          <p:cNvSpPr/>
          <p:nvPr/>
        </p:nvSpPr>
        <p:spPr>
          <a:xfrm>
            <a:off x="4320235" y="3767328"/>
            <a:ext cx="1117600" cy="1335024"/>
          </a:xfrm>
          <a:prstGeom prst="roundRect">
            <a:avLst>
              <a:gd name="adj" fmla="val 7364"/>
            </a:avLst>
          </a:prstGeom>
          <a:solidFill>
            <a:srgbClr val="111C55">
              <a:alpha val="76000"/>
            </a:srgbClr>
          </a:solidFill>
          <a:ln w="12700">
            <a:solidFill>
              <a:srgbClr val="ED7D31">
                <a:alpha val="78000"/>
              </a:srgbClr>
            </a:solidFill>
            <a:prstDash val="solid"/>
          </a:ln>
        </p:spPr>
      </p:sp>
      <p:sp>
        <p:nvSpPr>
          <p:cNvPr id="75" name="Shape 71"/>
          <p:cNvSpPr/>
          <p:nvPr/>
        </p:nvSpPr>
        <p:spPr>
          <a:xfrm>
            <a:off x="4760163" y="3965936"/>
            <a:ext cx="237744" cy="133137"/>
          </a:xfrm>
          <a:prstGeom prst="ellipse">
            <a:avLst/>
          </a:prstGeom>
          <a:ln w="13970">
            <a:solidFill>
              <a:srgbClr val="F7B183"/>
            </a:solidFill>
            <a:prstDash val="solid"/>
          </a:ln>
        </p:spPr>
      </p:sp>
      <p:sp>
        <p:nvSpPr>
          <p:cNvPr id="76" name="Shape 72"/>
          <p:cNvSpPr/>
          <p:nvPr/>
        </p:nvSpPr>
        <p:spPr>
          <a:xfrm>
            <a:off x="4845751" y="3999220"/>
            <a:ext cx="66568" cy="66568"/>
          </a:xfrm>
          <a:prstGeom prst="ellipse">
            <a:avLst/>
          </a:prstGeom>
          <a:solidFill>
            <a:srgbClr val="F7B183"/>
          </a:solidFill>
          <a:ln/>
        </p:spPr>
      </p:sp>
      <p:sp>
        <p:nvSpPr>
          <p:cNvPr id="77" name="Text 73"/>
          <p:cNvSpPr txBox="1"/>
          <p:nvPr/>
        </p:nvSpPr>
        <p:spPr>
          <a:xfrm>
            <a:off x="4375099" y="4197096"/>
            <a:ext cx="1007872" cy="219456"/>
          </a:xfrm>
          <a:prstGeom prst="rect">
            <a:avLst/>
          </a:prstGeom>
          <a:noFill/>
          <a:ln/>
        </p:spPr>
        <p:txBody>
          <a:bodyPr wrap="square" lIns="0" tIns="0" rIns="0" bIns="0" rtlCol="0" anchor="ctr"/>
          <a:lstStyle/>
          <a:p>
            <a:pPr marL="0" indent="0" algn="ctr">
              <a:buNone/>
            </a:pPr>
            <a:r>
              <a:rPr lang="en-US" sz="1000" b="1" dirty="0">
                <a:solidFill>
                  <a:srgbClr val="F7B183"/>
                </a:solidFill>
                <a:latin typeface="Calibri" pitchFamily="34" charset="0"/>
                <a:ea typeface="Calibri" pitchFamily="34" charset="-122"/>
                <a:cs typeface="Calibri" pitchFamily="34" charset="-120"/>
              </a:rPr>
              <a:t>Surveyor</a:t>
            </a:r>
            <a:endParaRPr lang="en-US" sz="1000" dirty="0"/>
          </a:p>
        </p:txBody>
      </p:sp>
      <p:sp>
        <p:nvSpPr>
          <p:cNvPr id="78" name="Text 74"/>
          <p:cNvSpPr txBox="1"/>
          <p:nvPr/>
        </p:nvSpPr>
        <p:spPr>
          <a:xfrm>
            <a:off x="4384243"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Physical visit by default</a:t>
            </a:r>
            <a:endParaRPr lang="en-US" sz="850" dirty="0"/>
          </a:p>
        </p:txBody>
      </p:sp>
      <p:sp>
        <p:nvSpPr>
          <p:cNvPr id="79" name="Shape 75"/>
          <p:cNvSpPr/>
          <p:nvPr/>
        </p:nvSpPr>
        <p:spPr>
          <a:xfrm rot="5400000">
            <a:off x="5446979" y="3986784"/>
            <a:ext cx="91440" cy="109728"/>
          </a:xfrm>
          <a:prstGeom prst="triangle">
            <a:avLst/>
          </a:prstGeom>
          <a:solidFill>
            <a:srgbClr val="3A4A8C"/>
          </a:solidFill>
          <a:ln/>
        </p:spPr>
      </p:sp>
      <p:sp>
        <p:nvSpPr>
          <p:cNvPr id="80" name="Shape 76"/>
          <p:cNvSpPr/>
          <p:nvPr/>
        </p:nvSpPr>
        <p:spPr>
          <a:xfrm>
            <a:off x="5547563" y="3767328"/>
            <a:ext cx="1117600" cy="1335024"/>
          </a:xfrm>
          <a:prstGeom prst="roundRect">
            <a:avLst>
              <a:gd name="adj" fmla="val 7364"/>
            </a:avLst>
          </a:prstGeom>
          <a:solidFill>
            <a:srgbClr val="111C55">
              <a:alpha val="76000"/>
            </a:srgbClr>
          </a:solidFill>
          <a:ln w="12700">
            <a:solidFill>
              <a:srgbClr val="5B9BD5">
                <a:alpha val="78000"/>
              </a:srgbClr>
            </a:solidFill>
            <a:prstDash val="solid"/>
          </a:ln>
        </p:spPr>
      </p:sp>
      <p:sp>
        <p:nvSpPr>
          <p:cNvPr id="81" name="Shape 77"/>
          <p:cNvSpPr/>
          <p:nvPr/>
        </p:nvSpPr>
        <p:spPr>
          <a:xfrm>
            <a:off x="6016020" y="3913632"/>
            <a:ext cx="180685" cy="237744"/>
          </a:xfrm>
          <a:prstGeom prst="flowChartDocument">
            <a:avLst/>
          </a:prstGeom>
          <a:ln w="13970">
            <a:solidFill>
              <a:srgbClr val="9CC3E8"/>
            </a:solidFill>
            <a:prstDash val="solid"/>
          </a:ln>
        </p:spPr>
      </p:sp>
      <p:sp>
        <p:nvSpPr>
          <p:cNvPr id="82" name="Shape 78"/>
          <p:cNvSpPr/>
          <p:nvPr/>
        </p:nvSpPr>
        <p:spPr>
          <a:xfrm>
            <a:off x="6054060" y="3980200"/>
            <a:ext cx="104607" cy="0"/>
          </a:xfrm>
          <a:prstGeom prst="line">
            <a:avLst/>
          </a:prstGeom>
          <a:noFill/>
          <a:ln w="9525">
            <a:solidFill>
              <a:srgbClr val="9CC3E8"/>
            </a:solidFill>
            <a:prstDash val="solid"/>
          </a:ln>
        </p:spPr>
      </p:sp>
      <p:sp>
        <p:nvSpPr>
          <p:cNvPr id="83" name="Shape 79"/>
          <p:cNvSpPr/>
          <p:nvPr/>
        </p:nvSpPr>
        <p:spPr>
          <a:xfrm>
            <a:off x="6054060" y="4022994"/>
            <a:ext cx="104607" cy="0"/>
          </a:xfrm>
          <a:prstGeom prst="line">
            <a:avLst/>
          </a:prstGeom>
          <a:noFill/>
          <a:ln w="9525">
            <a:solidFill>
              <a:srgbClr val="9CC3E8"/>
            </a:solidFill>
            <a:prstDash val="solid"/>
          </a:ln>
        </p:spPr>
      </p:sp>
      <p:sp>
        <p:nvSpPr>
          <p:cNvPr id="84" name="Shape 80"/>
          <p:cNvSpPr/>
          <p:nvPr/>
        </p:nvSpPr>
        <p:spPr>
          <a:xfrm>
            <a:off x="6054060" y="4065788"/>
            <a:ext cx="104607" cy="0"/>
          </a:xfrm>
          <a:prstGeom prst="line">
            <a:avLst/>
          </a:prstGeom>
          <a:noFill/>
          <a:ln w="9525">
            <a:solidFill>
              <a:srgbClr val="9CC3E8"/>
            </a:solidFill>
            <a:prstDash val="solid"/>
          </a:ln>
        </p:spPr>
      </p:sp>
      <p:sp>
        <p:nvSpPr>
          <p:cNvPr id="85" name="Text 81"/>
          <p:cNvSpPr txBox="1"/>
          <p:nvPr/>
        </p:nvSpPr>
        <p:spPr>
          <a:xfrm>
            <a:off x="5602427" y="4197096"/>
            <a:ext cx="1007872" cy="219456"/>
          </a:xfrm>
          <a:prstGeom prst="rect">
            <a:avLst/>
          </a:prstGeom>
          <a:noFill/>
          <a:ln/>
        </p:spPr>
        <p:txBody>
          <a:bodyPr wrap="square" lIns="0" tIns="0" rIns="0" bIns="0" rtlCol="0" anchor="ctr"/>
          <a:lstStyle/>
          <a:p>
            <a:pPr marL="0" indent="0" algn="ctr">
              <a:buNone/>
            </a:pPr>
            <a:r>
              <a:rPr lang="en-US" sz="1000" b="1" dirty="0">
                <a:solidFill>
                  <a:srgbClr val="9CC3E8"/>
                </a:solidFill>
                <a:latin typeface="Calibri" pitchFamily="34" charset="0"/>
                <a:ea typeface="Calibri" pitchFamily="34" charset="-122"/>
                <a:cs typeface="Calibri" pitchFamily="34" charset="-120"/>
              </a:rPr>
              <a:t>Documents</a:t>
            </a:r>
            <a:endParaRPr lang="en-US" sz="1000" dirty="0"/>
          </a:p>
        </p:txBody>
      </p:sp>
      <p:sp>
        <p:nvSpPr>
          <p:cNvPr id="86" name="Text 82"/>
          <p:cNvSpPr txBox="1"/>
          <p:nvPr/>
        </p:nvSpPr>
        <p:spPr>
          <a:xfrm>
            <a:off x="5611571"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Reconciled by hand</a:t>
            </a:r>
            <a:endParaRPr lang="en-US" sz="850" dirty="0"/>
          </a:p>
        </p:txBody>
      </p:sp>
      <p:sp>
        <p:nvSpPr>
          <p:cNvPr id="87" name="Shape 83"/>
          <p:cNvSpPr/>
          <p:nvPr/>
        </p:nvSpPr>
        <p:spPr>
          <a:xfrm rot="5400000">
            <a:off x="6674307" y="3986784"/>
            <a:ext cx="91440" cy="109728"/>
          </a:xfrm>
          <a:prstGeom prst="triangle">
            <a:avLst/>
          </a:prstGeom>
          <a:solidFill>
            <a:srgbClr val="3A4A8C"/>
          </a:solidFill>
          <a:ln/>
        </p:spPr>
      </p:sp>
      <p:sp>
        <p:nvSpPr>
          <p:cNvPr id="88" name="Shape 84"/>
          <p:cNvSpPr/>
          <p:nvPr/>
        </p:nvSpPr>
        <p:spPr>
          <a:xfrm>
            <a:off x="6774891" y="3767328"/>
            <a:ext cx="1117600" cy="1335024"/>
          </a:xfrm>
          <a:prstGeom prst="roundRect">
            <a:avLst>
              <a:gd name="adj" fmla="val 7364"/>
            </a:avLst>
          </a:prstGeom>
          <a:solidFill>
            <a:srgbClr val="111C55">
              <a:alpha val="76000"/>
            </a:srgbClr>
          </a:solidFill>
          <a:ln w="12700">
            <a:solidFill>
              <a:srgbClr val="5B9BD5">
                <a:alpha val="78000"/>
              </a:srgbClr>
            </a:solidFill>
            <a:prstDash val="solid"/>
          </a:ln>
        </p:spPr>
      </p:sp>
      <p:sp>
        <p:nvSpPr>
          <p:cNvPr id="89" name="Shape 85"/>
          <p:cNvSpPr/>
          <p:nvPr/>
        </p:nvSpPr>
        <p:spPr>
          <a:xfrm>
            <a:off x="7312294" y="3892235"/>
            <a:ext cx="42794" cy="42794"/>
          </a:xfrm>
          <a:prstGeom prst="ellipse">
            <a:avLst/>
          </a:prstGeom>
          <a:solidFill>
            <a:srgbClr val="9CC3E8"/>
          </a:solidFill>
          <a:ln/>
        </p:spPr>
      </p:sp>
      <p:sp>
        <p:nvSpPr>
          <p:cNvPr id="90" name="Shape 86"/>
          <p:cNvSpPr/>
          <p:nvPr/>
        </p:nvSpPr>
        <p:spPr>
          <a:xfrm>
            <a:off x="7193422" y="3992088"/>
            <a:ext cx="42794" cy="42794"/>
          </a:xfrm>
          <a:prstGeom prst="ellipse">
            <a:avLst/>
          </a:prstGeom>
          <a:solidFill>
            <a:srgbClr val="9CC3E8"/>
          </a:solidFill>
          <a:ln/>
        </p:spPr>
      </p:sp>
      <p:sp>
        <p:nvSpPr>
          <p:cNvPr id="91" name="Shape 87"/>
          <p:cNvSpPr/>
          <p:nvPr/>
        </p:nvSpPr>
        <p:spPr>
          <a:xfrm>
            <a:off x="7245726" y="4129979"/>
            <a:ext cx="42794" cy="42794"/>
          </a:xfrm>
          <a:prstGeom prst="ellipse">
            <a:avLst/>
          </a:prstGeom>
          <a:solidFill>
            <a:srgbClr val="9CC3E8"/>
          </a:solidFill>
          <a:ln/>
        </p:spPr>
      </p:sp>
      <p:sp>
        <p:nvSpPr>
          <p:cNvPr id="92" name="Shape 88"/>
          <p:cNvSpPr/>
          <p:nvPr/>
        </p:nvSpPr>
        <p:spPr>
          <a:xfrm>
            <a:off x="7378863" y="4129979"/>
            <a:ext cx="42794" cy="42794"/>
          </a:xfrm>
          <a:prstGeom prst="ellipse">
            <a:avLst/>
          </a:prstGeom>
          <a:solidFill>
            <a:srgbClr val="9CC3E8"/>
          </a:solidFill>
          <a:ln/>
        </p:spPr>
      </p:sp>
      <p:sp>
        <p:nvSpPr>
          <p:cNvPr id="93" name="Shape 89"/>
          <p:cNvSpPr/>
          <p:nvPr/>
        </p:nvSpPr>
        <p:spPr>
          <a:xfrm>
            <a:off x="7431166" y="3992088"/>
            <a:ext cx="42794" cy="42794"/>
          </a:xfrm>
          <a:prstGeom prst="ellipse">
            <a:avLst/>
          </a:prstGeom>
          <a:solidFill>
            <a:srgbClr val="9CC3E8"/>
          </a:solidFill>
          <a:ln/>
        </p:spPr>
      </p:sp>
      <p:sp>
        <p:nvSpPr>
          <p:cNvPr id="94" name="Shape 90"/>
          <p:cNvSpPr/>
          <p:nvPr/>
        </p:nvSpPr>
        <p:spPr>
          <a:xfrm flipV="1">
            <a:off x="7214819" y="3913632"/>
            <a:ext cx="118872" cy="99852"/>
          </a:xfrm>
          <a:prstGeom prst="line">
            <a:avLst/>
          </a:prstGeom>
          <a:noFill/>
          <a:ln w="9525">
            <a:solidFill>
              <a:srgbClr val="9CC3E8"/>
            </a:solidFill>
            <a:prstDash val="solid"/>
          </a:ln>
        </p:spPr>
      </p:sp>
      <p:sp>
        <p:nvSpPr>
          <p:cNvPr id="95" name="Shape 91"/>
          <p:cNvSpPr/>
          <p:nvPr/>
        </p:nvSpPr>
        <p:spPr>
          <a:xfrm>
            <a:off x="7333691" y="3913632"/>
            <a:ext cx="118872" cy="99852"/>
          </a:xfrm>
          <a:prstGeom prst="line">
            <a:avLst/>
          </a:prstGeom>
          <a:noFill/>
          <a:ln w="9525">
            <a:solidFill>
              <a:srgbClr val="9CC3E8"/>
            </a:solidFill>
            <a:prstDash val="solid"/>
          </a:ln>
        </p:spPr>
      </p:sp>
      <p:sp>
        <p:nvSpPr>
          <p:cNvPr id="96" name="Shape 92"/>
          <p:cNvSpPr/>
          <p:nvPr/>
        </p:nvSpPr>
        <p:spPr>
          <a:xfrm>
            <a:off x="7267123" y="4151376"/>
            <a:ext cx="133137" cy="0"/>
          </a:xfrm>
          <a:prstGeom prst="line">
            <a:avLst/>
          </a:prstGeom>
          <a:noFill/>
          <a:ln w="9525">
            <a:solidFill>
              <a:srgbClr val="9CC3E8"/>
            </a:solidFill>
            <a:prstDash val="solid"/>
          </a:ln>
        </p:spPr>
      </p:sp>
      <p:sp>
        <p:nvSpPr>
          <p:cNvPr id="97" name="Text 93"/>
          <p:cNvSpPr txBox="1"/>
          <p:nvPr/>
        </p:nvSpPr>
        <p:spPr>
          <a:xfrm>
            <a:off x="6829755" y="4197096"/>
            <a:ext cx="1007872" cy="219456"/>
          </a:xfrm>
          <a:prstGeom prst="rect">
            <a:avLst/>
          </a:prstGeom>
          <a:noFill/>
          <a:ln/>
        </p:spPr>
        <p:txBody>
          <a:bodyPr wrap="square" lIns="0" tIns="0" rIns="0" bIns="0" rtlCol="0" anchor="ctr"/>
          <a:lstStyle/>
          <a:p>
            <a:pPr marL="0" indent="0" algn="ctr">
              <a:buNone/>
            </a:pPr>
            <a:r>
              <a:rPr lang="en-US" sz="1000" b="1" dirty="0">
                <a:solidFill>
                  <a:srgbClr val="9CC3E8"/>
                </a:solidFill>
                <a:latin typeface="Calibri" pitchFamily="34" charset="0"/>
                <a:ea typeface="Calibri" pitchFamily="34" charset="-122"/>
                <a:cs typeface="Calibri" pitchFamily="34" charset="-120"/>
              </a:rPr>
              <a:t>Fraud check</a:t>
            </a:r>
            <a:endParaRPr lang="en-US" sz="1000" dirty="0"/>
          </a:p>
        </p:txBody>
      </p:sp>
      <p:sp>
        <p:nvSpPr>
          <p:cNvPr id="98" name="Text 94"/>
          <p:cNvSpPr txBox="1"/>
          <p:nvPr/>
        </p:nvSpPr>
        <p:spPr>
          <a:xfrm>
            <a:off x="6838899"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Rules catch 62%</a:t>
            </a:r>
            <a:endParaRPr lang="en-US" sz="850" dirty="0"/>
          </a:p>
        </p:txBody>
      </p:sp>
      <p:sp>
        <p:nvSpPr>
          <p:cNvPr id="99" name="Shape 95"/>
          <p:cNvSpPr/>
          <p:nvPr/>
        </p:nvSpPr>
        <p:spPr>
          <a:xfrm rot="5400000">
            <a:off x="7901635" y="3986784"/>
            <a:ext cx="91440" cy="109728"/>
          </a:xfrm>
          <a:prstGeom prst="triangle">
            <a:avLst/>
          </a:prstGeom>
          <a:solidFill>
            <a:srgbClr val="3A4A8C"/>
          </a:solidFill>
          <a:ln/>
        </p:spPr>
      </p:sp>
      <p:sp>
        <p:nvSpPr>
          <p:cNvPr id="100" name="Shape 96"/>
          <p:cNvSpPr/>
          <p:nvPr/>
        </p:nvSpPr>
        <p:spPr>
          <a:xfrm>
            <a:off x="8002219" y="3767328"/>
            <a:ext cx="1117600" cy="1335024"/>
          </a:xfrm>
          <a:prstGeom prst="roundRect">
            <a:avLst>
              <a:gd name="adj" fmla="val 7364"/>
            </a:avLst>
          </a:prstGeom>
          <a:solidFill>
            <a:srgbClr val="111C55">
              <a:alpha val="76000"/>
            </a:srgbClr>
          </a:solidFill>
          <a:ln w="12700">
            <a:solidFill>
              <a:srgbClr val="5B9BD5">
                <a:alpha val="78000"/>
              </a:srgbClr>
            </a:solidFill>
            <a:prstDash val="solid"/>
          </a:ln>
        </p:spPr>
      </p:sp>
      <p:sp>
        <p:nvSpPr>
          <p:cNvPr id="101" name="Shape 97"/>
          <p:cNvSpPr/>
          <p:nvPr/>
        </p:nvSpPr>
        <p:spPr>
          <a:xfrm>
            <a:off x="8442147" y="3913632"/>
            <a:ext cx="106985" cy="106985"/>
          </a:xfrm>
          <a:prstGeom prst="roundRect">
            <a:avLst>
              <a:gd name="adj" fmla="val 17778"/>
            </a:avLst>
          </a:prstGeom>
          <a:ln w="12700">
            <a:solidFill>
              <a:srgbClr val="9CC3E8"/>
            </a:solidFill>
            <a:prstDash val="solid"/>
          </a:ln>
        </p:spPr>
      </p:sp>
      <p:sp>
        <p:nvSpPr>
          <p:cNvPr id="102" name="Shape 98"/>
          <p:cNvSpPr/>
          <p:nvPr/>
        </p:nvSpPr>
        <p:spPr>
          <a:xfrm>
            <a:off x="8572906" y="3913632"/>
            <a:ext cx="106985" cy="106985"/>
          </a:xfrm>
          <a:prstGeom prst="roundRect">
            <a:avLst>
              <a:gd name="adj" fmla="val 17778"/>
            </a:avLst>
          </a:prstGeom>
          <a:ln w="12700">
            <a:solidFill>
              <a:srgbClr val="9CC3E8"/>
            </a:solidFill>
            <a:prstDash val="solid"/>
          </a:ln>
        </p:spPr>
      </p:sp>
      <p:sp>
        <p:nvSpPr>
          <p:cNvPr id="103" name="Shape 99"/>
          <p:cNvSpPr/>
          <p:nvPr/>
        </p:nvSpPr>
        <p:spPr>
          <a:xfrm>
            <a:off x="8442147" y="4044391"/>
            <a:ext cx="106985" cy="106985"/>
          </a:xfrm>
          <a:prstGeom prst="roundRect">
            <a:avLst>
              <a:gd name="adj" fmla="val 17778"/>
            </a:avLst>
          </a:prstGeom>
          <a:ln w="12700">
            <a:solidFill>
              <a:srgbClr val="9CC3E8"/>
            </a:solidFill>
            <a:prstDash val="solid"/>
          </a:ln>
        </p:spPr>
      </p:sp>
      <p:sp>
        <p:nvSpPr>
          <p:cNvPr id="104" name="Shape 100"/>
          <p:cNvSpPr/>
          <p:nvPr/>
        </p:nvSpPr>
        <p:spPr>
          <a:xfrm>
            <a:off x="8572906" y="4044391"/>
            <a:ext cx="106985" cy="106985"/>
          </a:xfrm>
          <a:prstGeom prst="roundRect">
            <a:avLst>
              <a:gd name="adj" fmla="val 17778"/>
            </a:avLst>
          </a:prstGeom>
          <a:ln w="12700">
            <a:solidFill>
              <a:srgbClr val="9CC3E8"/>
            </a:solidFill>
            <a:prstDash val="solid"/>
          </a:ln>
        </p:spPr>
      </p:sp>
      <p:sp>
        <p:nvSpPr>
          <p:cNvPr id="105" name="Text 101"/>
          <p:cNvSpPr txBox="1"/>
          <p:nvPr/>
        </p:nvSpPr>
        <p:spPr>
          <a:xfrm>
            <a:off x="8057083" y="4197096"/>
            <a:ext cx="1007872" cy="219456"/>
          </a:xfrm>
          <a:prstGeom prst="rect">
            <a:avLst/>
          </a:prstGeom>
          <a:noFill/>
          <a:ln/>
        </p:spPr>
        <p:txBody>
          <a:bodyPr wrap="square" lIns="0" tIns="0" rIns="0" bIns="0" rtlCol="0" anchor="ctr"/>
          <a:lstStyle/>
          <a:p>
            <a:pPr marL="0" indent="0" algn="ctr">
              <a:buNone/>
            </a:pPr>
            <a:r>
              <a:rPr lang="en-US" sz="1000" b="1" dirty="0">
                <a:solidFill>
                  <a:srgbClr val="9CC3E8"/>
                </a:solidFill>
                <a:latin typeface="Calibri" pitchFamily="34" charset="0"/>
                <a:ea typeface="Calibri" pitchFamily="34" charset="-122"/>
                <a:cs typeface="Calibri" pitchFamily="34" charset="-120"/>
              </a:rPr>
              <a:t>Claims ops</a:t>
            </a:r>
            <a:endParaRPr lang="en-US" sz="1000" dirty="0"/>
          </a:p>
        </p:txBody>
      </p:sp>
      <p:sp>
        <p:nvSpPr>
          <p:cNvPr id="106" name="Text 102"/>
          <p:cNvSpPr txBox="1"/>
          <p:nvPr/>
        </p:nvSpPr>
        <p:spPr>
          <a:xfrm>
            <a:off x="8066227"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Queues and rework</a:t>
            </a:r>
            <a:endParaRPr lang="en-US" sz="850" dirty="0"/>
          </a:p>
        </p:txBody>
      </p:sp>
      <p:sp>
        <p:nvSpPr>
          <p:cNvPr id="107" name="Shape 103"/>
          <p:cNvSpPr/>
          <p:nvPr/>
        </p:nvSpPr>
        <p:spPr>
          <a:xfrm rot="5400000">
            <a:off x="9128963" y="3986784"/>
            <a:ext cx="91440" cy="109728"/>
          </a:xfrm>
          <a:prstGeom prst="triangle">
            <a:avLst/>
          </a:prstGeom>
          <a:solidFill>
            <a:srgbClr val="3A4A8C"/>
          </a:solidFill>
          <a:ln/>
        </p:spPr>
      </p:sp>
      <p:sp>
        <p:nvSpPr>
          <p:cNvPr id="108" name="Shape 104"/>
          <p:cNvSpPr/>
          <p:nvPr/>
        </p:nvSpPr>
        <p:spPr>
          <a:xfrm>
            <a:off x="9229547" y="3767328"/>
            <a:ext cx="1117600" cy="1335024"/>
          </a:xfrm>
          <a:prstGeom prst="roundRect">
            <a:avLst>
              <a:gd name="adj" fmla="val 7364"/>
            </a:avLst>
          </a:prstGeom>
          <a:solidFill>
            <a:srgbClr val="111C55">
              <a:alpha val="76000"/>
            </a:srgbClr>
          </a:solidFill>
          <a:ln w="12700">
            <a:solidFill>
              <a:srgbClr val="5B9BD5">
                <a:alpha val="78000"/>
              </a:srgbClr>
            </a:solidFill>
            <a:prstDash val="solid"/>
          </a:ln>
        </p:spPr>
      </p:sp>
      <p:sp>
        <p:nvSpPr>
          <p:cNvPr id="109" name="Shape 105"/>
          <p:cNvSpPr/>
          <p:nvPr/>
        </p:nvSpPr>
        <p:spPr>
          <a:xfrm>
            <a:off x="9693250" y="4013484"/>
            <a:ext cx="190195" cy="123627"/>
          </a:xfrm>
          <a:prstGeom prst="roundRect">
            <a:avLst>
              <a:gd name="adj" fmla="val 15385"/>
            </a:avLst>
          </a:prstGeom>
          <a:ln w="13970">
            <a:solidFill>
              <a:srgbClr val="9CC3E8"/>
            </a:solidFill>
            <a:prstDash val="solid"/>
          </a:ln>
        </p:spPr>
      </p:sp>
      <p:sp>
        <p:nvSpPr>
          <p:cNvPr id="110" name="Shape 106"/>
          <p:cNvSpPr/>
          <p:nvPr/>
        </p:nvSpPr>
        <p:spPr>
          <a:xfrm>
            <a:off x="9731289" y="3927897"/>
            <a:ext cx="114117" cy="142646"/>
          </a:xfrm>
          <a:prstGeom prst="blockArc">
            <a:avLst/>
          </a:prstGeom>
          <a:ln w="13970">
            <a:solidFill>
              <a:srgbClr val="9CC3E8"/>
            </a:solidFill>
            <a:prstDash val="solid"/>
          </a:ln>
        </p:spPr>
      </p:sp>
      <p:sp>
        <p:nvSpPr>
          <p:cNvPr id="111" name="Text 107"/>
          <p:cNvSpPr txBox="1"/>
          <p:nvPr/>
        </p:nvSpPr>
        <p:spPr>
          <a:xfrm>
            <a:off x="9284411" y="4197096"/>
            <a:ext cx="1007872" cy="219456"/>
          </a:xfrm>
          <a:prstGeom prst="rect">
            <a:avLst/>
          </a:prstGeom>
          <a:noFill/>
          <a:ln/>
        </p:spPr>
        <p:txBody>
          <a:bodyPr wrap="square" lIns="0" tIns="0" rIns="0" bIns="0" rtlCol="0" anchor="ctr"/>
          <a:lstStyle/>
          <a:p>
            <a:pPr marL="0" indent="0" algn="ctr">
              <a:buNone/>
            </a:pPr>
            <a:r>
              <a:rPr lang="en-US" sz="1000" b="1" dirty="0">
                <a:solidFill>
                  <a:srgbClr val="9CC3E8"/>
                </a:solidFill>
                <a:latin typeface="Calibri" pitchFamily="34" charset="0"/>
                <a:ea typeface="Calibri" pitchFamily="34" charset="-122"/>
                <a:cs typeface="Calibri" pitchFamily="34" charset="-120"/>
              </a:rPr>
              <a:t>Validation</a:t>
            </a:r>
            <a:endParaRPr lang="en-US" sz="1000" dirty="0"/>
          </a:p>
        </p:txBody>
      </p:sp>
      <p:sp>
        <p:nvSpPr>
          <p:cNvPr id="112" name="Text 108"/>
          <p:cNvSpPr txBox="1"/>
          <p:nvPr/>
        </p:nvSpPr>
        <p:spPr>
          <a:xfrm>
            <a:off x="9293555"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Coverage confirmed</a:t>
            </a:r>
            <a:endParaRPr lang="en-US" sz="850" dirty="0"/>
          </a:p>
        </p:txBody>
      </p:sp>
      <p:sp>
        <p:nvSpPr>
          <p:cNvPr id="113" name="Shape 109"/>
          <p:cNvSpPr/>
          <p:nvPr/>
        </p:nvSpPr>
        <p:spPr>
          <a:xfrm rot="5400000">
            <a:off x="10356291" y="3986784"/>
            <a:ext cx="91440" cy="109728"/>
          </a:xfrm>
          <a:prstGeom prst="triangle">
            <a:avLst/>
          </a:prstGeom>
          <a:solidFill>
            <a:srgbClr val="3A4A8C"/>
          </a:solidFill>
          <a:ln/>
        </p:spPr>
      </p:sp>
      <p:sp>
        <p:nvSpPr>
          <p:cNvPr id="114" name="Shape 110"/>
          <p:cNvSpPr/>
          <p:nvPr/>
        </p:nvSpPr>
        <p:spPr>
          <a:xfrm>
            <a:off x="10456875" y="3767328"/>
            <a:ext cx="1117600" cy="1335024"/>
          </a:xfrm>
          <a:prstGeom prst="roundRect">
            <a:avLst>
              <a:gd name="adj" fmla="val 7364"/>
            </a:avLst>
          </a:prstGeom>
          <a:solidFill>
            <a:srgbClr val="111C55">
              <a:alpha val="76000"/>
            </a:srgbClr>
          </a:solidFill>
          <a:ln w="12700">
            <a:solidFill>
              <a:srgbClr val="5B9BD5">
                <a:alpha val="78000"/>
              </a:srgbClr>
            </a:solidFill>
            <a:prstDash val="solid"/>
          </a:ln>
        </p:spPr>
      </p:sp>
      <p:sp>
        <p:nvSpPr>
          <p:cNvPr id="115" name="Shape 111"/>
          <p:cNvSpPr/>
          <p:nvPr/>
        </p:nvSpPr>
        <p:spPr>
          <a:xfrm>
            <a:off x="10896803" y="3913632"/>
            <a:ext cx="237744" cy="237744"/>
          </a:xfrm>
          <a:prstGeom prst="ellipse">
            <a:avLst/>
          </a:prstGeom>
          <a:ln w="13970">
            <a:solidFill>
              <a:srgbClr val="9CC3E8"/>
            </a:solidFill>
            <a:prstDash val="solid"/>
          </a:ln>
        </p:spPr>
      </p:sp>
      <p:sp>
        <p:nvSpPr>
          <p:cNvPr id="116" name="Shape 112"/>
          <p:cNvSpPr/>
          <p:nvPr/>
        </p:nvSpPr>
        <p:spPr>
          <a:xfrm>
            <a:off x="10958617" y="4037259"/>
            <a:ext cx="42794" cy="47549"/>
          </a:xfrm>
          <a:prstGeom prst="line">
            <a:avLst/>
          </a:prstGeom>
          <a:noFill/>
          <a:ln w="17780">
            <a:solidFill>
              <a:srgbClr val="9CC3E8"/>
            </a:solidFill>
            <a:prstDash val="solid"/>
          </a:ln>
        </p:spPr>
      </p:sp>
      <p:sp>
        <p:nvSpPr>
          <p:cNvPr id="117" name="Shape 113"/>
          <p:cNvSpPr/>
          <p:nvPr/>
        </p:nvSpPr>
        <p:spPr>
          <a:xfrm flipV="1">
            <a:off x="11001411" y="3984955"/>
            <a:ext cx="76078" cy="99852"/>
          </a:xfrm>
          <a:prstGeom prst="line">
            <a:avLst/>
          </a:prstGeom>
          <a:noFill/>
          <a:ln w="17780">
            <a:solidFill>
              <a:srgbClr val="9CC3E8"/>
            </a:solidFill>
            <a:prstDash val="solid"/>
          </a:ln>
        </p:spPr>
      </p:sp>
      <p:sp>
        <p:nvSpPr>
          <p:cNvPr id="118" name="Text 114"/>
          <p:cNvSpPr txBox="1"/>
          <p:nvPr/>
        </p:nvSpPr>
        <p:spPr>
          <a:xfrm>
            <a:off x="10511739" y="4197096"/>
            <a:ext cx="1007872" cy="219456"/>
          </a:xfrm>
          <a:prstGeom prst="rect">
            <a:avLst/>
          </a:prstGeom>
          <a:noFill/>
          <a:ln/>
        </p:spPr>
        <p:txBody>
          <a:bodyPr wrap="square" lIns="0" tIns="0" rIns="0" bIns="0" rtlCol="0" anchor="ctr"/>
          <a:lstStyle/>
          <a:p>
            <a:pPr marL="0" indent="0" algn="ctr">
              <a:buNone/>
            </a:pPr>
            <a:r>
              <a:rPr lang="en-US" sz="1000" b="1" dirty="0">
                <a:solidFill>
                  <a:srgbClr val="9CC3E8"/>
                </a:solidFill>
                <a:latin typeface="Calibri" pitchFamily="34" charset="0"/>
                <a:ea typeface="Calibri" pitchFamily="34" charset="-122"/>
                <a:cs typeface="Calibri" pitchFamily="34" charset="-120"/>
              </a:rPr>
              <a:t>Settlement</a:t>
            </a:r>
            <a:endParaRPr lang="en-US" sz="1000" dirty="0"/>
          </a:p>
        </p:txBody>
      </p:sp>
      <p:sp>
        <p:nvSpPr>
          <p:cNvPr id="119" name="Text 115"/>
          <p:cNvSpPr txBox="1"/>
          <p:nvPr/>
        </p:nvSpPr>
        <p:spPr>
          <a:xfrm>
            <a:off x="10520883" y="4443984"/>
            <a:ext cx="989584" cy="402336"/>
          </a:xfrm>
          <a:prstGeom prst="rect">
            <a:avLst/>
          </a:prstGeom>
          <a:noFill/>
          <a:ln/>
        </p:spPr>
        <p:txBody>
          <a:bodyPr wrap="square" lIns="0" tIns="0" rIns="0" bIns="0" rtlCol="0" anchor="t"/>
          <a:lstStyle/>
          <a:p>
            <a:pPr marL="0" indent="0" algn="ctr">
              <a:lnSpc>
                <a:spcPts val="1050"/>
              </a:lnSpc>
              <a:buNone/>
            </a:pPr>
            <a:r>
              <a:rPr lang="en-US" sz="850" dirty="0">
                <a:solidFill>
                  <a:srgbClr val="C6CEE4"/>
                </a:solidFill>
                <a:latin typeface="Calibri" pitchFamily="34" charset="0"/>
                <a:ea typeface="Calibri" pitchFamily="34" charset="-122"/>
                <a:cs typeface="Calibri" pitchFamily="34" charset="-120"/>
              </a:rPr>
              <a:t>A mean, not a spread</a:t>
            </a:r>
            <a:endParaRPr lang="en-US" sz="850" dirty="0"/>
          </a:p>
        </p:txBody>
      </p:sp>
      <p:sp>
        <p:nvSpPr>
          <p:cNvPr id="120" name="Shape 116"/>
          <p:cNvSpPr/>
          <p:nvPr/>
        </p:nvSpPr>
        <p:spPr>
          <a:xfrm>
            <a:off x="638251" y="5230368"/>
            <a:ext cx="10936224" cy="475488"/>
          </a:xfrm>
          <a:prstGeom prst="roundRect">
            <a:avLst>
              <a:gd name="adj" fmla="val 13462"/>
            </a:avLst>
          </a:prstGeom>
          <a:solidFill>
            <a:srgbClr val="111C55">
              <a:alpha val="68000"/>
            </a:srgbClr>
          </a:solidFill>
          <a:ln w="9525">
            <a:solidFill>
              <a:srgbClr val="3A4A8C">
                <a:alpha val="70000"/>
              </a:srgbClr>
            </a:solidFill>
            <a:prstDash val="solid"/>
          </a:ln>
        </p:spPr>
      </p:sp>
      <p:sp>
        <p:nvSpPr>
          <p:cNvPr id="121" name="Text 117"/>
          <p:cNvSpPr txBox="1"/>
          <p:nvPr/>
        </p:nvSpPr>
        <p:spPr>
          <a:xfrm>
            <a:off x="784555" y="5230368"/>
            <a:ext cx="1691640" cy="475488"/>
          </a:xfrm>
          <a:prstGeom prst="rect">
            <a:avLst/>
          </a:prstGeom>
          <a:noFill/>
          <a:ln/>
        </p:spPr>
        <p:txBody>
          <a:bodyPr wrap="square" lIns="0" tIns="0" rIns="0" bIns="0" rtlCol="0" anchor="ctr"/>
          <a:lstStyle/>
          <a:p>
            <a:pPr marL="0" indent="0">
              <a:buNone/>
            </a:pPr>
            <a:r>
              <a:rPr lang="en-US" sz="750" b="1" kern="0" spc="90" dirty="0">
                <a:solidFill>
                  <a:srgbClr val="9AA4C6"/>
                </a:solidFill>
                <a:latin typeface="Calibri" pitchFamily="34" charset="0"/>
                <a:ea typeface="Calibri" pitchFamily="34" charset="-122"/>
                <a:cs typeface="Calibri" pitchFamily="34" charset="-120"/>
              </a:rPr>
              <a:t>WAITING ACCUMULATES</a:t>
            </a:r>
            <a:endParaRPr lang="en-US" sz="750" dirty="0"/>
          </a:p>
        </p:txBody>
      </p:sp>
      <p:sp>
        <p:nvSpPr>
          <p:cNvPr id="122" name="Shape 118"/>
          <p:cNvSpPr/>
          <p:nvPr/>
        </p:nvSpPr>
        <p:spPr>
          <a:xfrm>
            <a:off x="2558491" y="5422392"/>
            <a:ext cx="8193024" cy="91440"/>
          </a:xfrm>
          <a:prstGeom prst="roundRect">
            <a:avLst>
              <a:gd name="adj" fmla="val 50000"/>
            </a:avLst>
          </a:prstGeom>
          <a:solidFill>
            <a:srgbClr val="ED7D31">
              <a:alpha val="60000"/>
            </a:srgbClr>
          </a:solidFill>
          <a:ln/>
        </p:spPr>
      </p:sp>
      <p:sp>
        <p:nvSpPr>
          <p:cNvPr id="123" name="Shape 119"/>
          <p:cNvSpPr/>
          <p:nvPr/>
        </p:nvSpPr>
        <p:spPr>
          <a:xfrm>
            <a:off x="3009813" y="5413248"/>
            <a:ext cx="100584" cy="100584"/>
          </a:xfrm>
          <a:prstGeom prst="ellipse">
            <a:avLst/>
          </a:prstGeom>
          <a:solidFill>
            <a:srgbClr val="F7B183"/>
          </a:solidFill>
          <a:ln/>
        </p:spPr>
      </p:sp>
      <p:sp>
        <p:nvSpPr>
          <p:cNvPr id="124" name="Text 120"/>
          <p:cNvSpPr txBox="1"/>
          <p:nvPr/>
        </p:nvSpPr>
        <p:spPr>
          <a:xfrm>
            <a:off x="2749209" y="5513832"/>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0.6</a:t>
            </a:r>
            <a:endParaRPr lang="en-US" sz="650" dirty="0"/>
          </a:p>
        </p:txBody>
      </p:sp>
      <p:sp>
        <p:nvSpPr>
          <p:cNvPr id="125" name="Shape 121"/>
          <p:cNvSpPr/>
          <p:nvPr/>
        </p:nvSpPr>
        <p:spPr>
          <a:xfrm>
            <a:off x="3678631" y="5413248"/>
            <a:ext cx="100584" cy="100584"/>
          </a:xfrm>
          <a:prstGeom prst="ellipse">
            <a:avLst/>
          </a:prstGeom>
          <a:solidFill>
            <a:srgbClr val="F7B183"/>
          </a:solidFill>
          <a:ln/>
        </p:spPr>
      </p:sp>
      <p:sp>
        <p:nvSpPr>
          <p:cNvPr id="126" name="Text 122"/>
          <p:cNvSpPr txBox="1"/>
          <p:nvPr/>
        </p:nvSpPr>
        <p:spPr>
          <a:xfrm>
            <a:off x="3418027" y="5257800"/>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1.4</a:t>
            </a:r>
            <a:endParaRPr lang="en-US" sz="650" dirty="0"/>
          </a:p>
        </p:txBody>
      </p:sp>
      <p:sp>
        <p:nvSpPr>
          <p:cNvPr id="127" name="Shape 123"/>
          <p:cNvSpPr/>
          <p:nvPr/>
        </p:nvSpPr>
        <p:spPr>
          <a:xfrm>
            <a:off x="4681859" y="5413248"/>
            <a:ext cx="100584" cy="100584"/>
          </a:xfrm>
          <a:prstGeom prst="ellipse">
            <a:avLst/>
          </a:prstGeom>
          <a:solidFill>
            <a:srgbClr val="F7B183"/>
          </a:solidFill>
          <a:ln/>
        </p:spPr>
      </p:sp>
      <p:sp>
        <p:nvSpPr>
          <p:cNvPr id="128" name="Text 124"/>
          <p:cNvSpPr txBox="1"/>
          <p:nvPr/>
        </p:nvSpPr>
        <p:spPr>
          <a:xfrm>
            <a:off x="4421255" y="5513832"/>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2.6</a:t>
            </a:r>
            <a:endParaRPr lang="en-US" sz="650" dirty="0"/>
          </a:p>
        </p:txBody>
      </p:sp>
      <p:sp>
        <p:nvSpPr>
          <p:cNvPr id="129" name="Shape 125"/>
          <p:cNvSpPr/>
          <p:nvPr/>
        </p:nvSpPr>
        <p:spPr>
          <a:xfrm>
            <a:off x="6186700" y="5413248"/>
            <a:ext cx="100584" cy="100584"/>
          </a:xfrm>
          <a:prstGeom prst="ellipse">
            <a:avLst/>
          </a:prstGeom>
          <a:solidFill>
            <a:srgbClr val="F7B183"/>
          </a:solidFill>
          <a:ln/>
        </p:spPr>
      </p:sp>
      <p:sp>
        <p:nvSpPr>
          <p:cNvPr id="130" name="Text 126"/>
          <p:cNvSpPr txBox="1"/>
          <p:nvPr/>
        </p:nvSpPr>
        <p:spPr>
          <a:xfrm>
            <a:off x="5926096" y="5257800"/>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4.4</a:t>
            </a:r>
            <a:endParaRPr lang="en-US" sz="650" dirty="0"/>
          </a:p>
        </p:txBody>
      </p:sp>
      <p:sp>
        <p:nvSpPr>
          <p:cNvPr id="131" name="Shape 127"/>
          <p:cNvSpPr/>
          <p:nvPr/>
        </p:nvSpPr>
        <p:spPr>
          <a:xfrm>
            <a:off x="7189927" y="5413248"/>
            <a:ext cx="100584" cy="100584"/>
          </a:xfrm>
          <a:prstGeom prst="ellipse">
            <a:avLst/>
          </a:prstGeom>
          <a:solidFill>
            <a:srgbClr val="9CC3E8"/>
          </a:solidFill>
          <a:ln/>
        </p:spPr>
      </p:sp>
      <p:sp>
        <p:nvSpPr>
          <p:cNvPr id="132" name="Text 128"/>
          <p:cNvSpPr txBox="1"/>
          <p:nvPr/>
        </p:nvSpPr>
        <p:spPr>
          <a:xfrm>
            <a:off x="6929323" y="5513832"/>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5.6</a:t>
            </a:r>
            <a:endParaRPr lang="en-US" sz="650" dirty="0"/>
          </a:p>
        </p:txBody>
      </p:sp>
      <p:sp>
        <p:nvSpPr>
          <p:cNvPr id="133" name="Shape 129"/>
          <p:cNvSpPr/>
          <p:nvPr/>
        </p:nvSpPr>
        <p:spPr>
          <a:xfrm>
            <a:off x="8025950" y="5413248"/>
            <a:ext cx="100584" cy="100584"/>
          </a:xfrm>
          <a:prstGeom prst="ellipse">
            <a:avLst/>
          </a:prstGeom>
          <a:solidFill>
            <a:srgbClr val="9CC3E8"/>
          </a:solidFill>
          <a:ln/>
        </p:spPr>
      </p:sp>
      <p:sp>
        <p:nvSpPr>
          <p:cNvPr id="134" name="Text 130"/>
          <p:cNvSpPr txBox="1"/>
          <p:nvPr/>
        </p:nvSpPr>
        <p:spPr>
          <a:xfrm>
            <a:off x="7765346" y="5257800"/>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6.6</a:t>
            </a:r>
            <a:endParaRPr lang="en-US" sz="650" dirty="0"/>
          </a:p>
        </p:txBody>
      </p:sp>
      <p:sp>
        <p:nvSpPr>
          <p:cNvPr id="135" name="Shape 131"/>
          <p:cNvSpPr/>
          <p:nvPr/>
        </p:nvSpPr>
        <p:spPr>
          <a:xfrm>
            <a:off x="9029177" y="5413248"/>
            <a:ext cx="100584" cy="100584"/>
          </a:xfrm>
          <a:prstGeom prst="ellipse">
            <a:avLst/>
          </a:prstGeom>
          <a:solidFill>
            <a:srgbClr val="9CC3E8"/>
          </a:solidFill>
          <a:ln/>
        </p:spPr>
      </p:sp>
      <p:sp>
        <p:nvSpPr>
          <p:cNvPr id="136" name="Text 132"/>
          <p:cNvSpPr txBox="1"/>
          <p:nvPr/>
        </p:nvSpPr>
        <p:spPr>
          <a:xfrm>
            <a:off x="8768573" y="5513832"/>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7.8</a:t>
            </a:r>
            <a:endParaRPr lang="en-US" sz="650" dirty="0"/>
          </a:p>
        </p:txBody>
      </p:sp>
      <p:sp>
        <p:nvSpPr>
          <p:cNvPr id="137" name="Shape 133"/>
          <p:cNvSpPr/>
          <p:nvPr/>
        </p:nvSpPr>
        <p:spPr>
          <a:xfrm>
            <a:off x="9948803" y="5413248"/>
            <a:ext cx="100584" cy="100584"/>
          </a:xfrm>
          <a:prstGeom prst="ellipse">
            <a:avLst/>
          </a:prstGeom>
          <a:solidFill>
            <a:srgbClr val="9CC3E8"/>
          </a:solidFill>
          <a:ln/>
        </p:spPr>
      </p:sp>
      <p:sp>
        <p:nvSpPr>
          <p:cNvPr id="138" name="Text 134"/>
          <p:cNvSpPr txBox="1"/>
          <p:nvPr/>
        </p:nvSpPr>
        <p:spPr>
          <a:xfrm>
            <a:off x="9688199" y="5257800"/>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8.9</a:t>
            </a:r>
            <a:endParaRPr lang="en-US" sz="650" dirty="0"/>
          </a:p>
        </p:txBody>
      </p:sp>
      <p:sp>
        <p:nvSpPr>
          <p:cNvPr id="139" name="Shape 135"/>
          <p:cNvSpPr/>
          <p:nvPr/>
        </p:nvSpPr>
        <p:spPr>
          <a:xfrm>
            <a:off x="10701223" y="5413248"/>
            <a:ext cx="100584" cy="100584"/>
          </a:xfrm>
          <a:prstGeom prst="ellipse">
            <a:avLst/>
          </a:prstGeom>
          <a:solidFill>
            <a:srgbClr val="9CC3E8"/>
          </a:solidFill>
          <a:ln/>
        </p:spPr>
      </p:sp>
      <p:sp>
        <p:nvSpPr>
          <p:cNvPr id="140" name="Text 136"/>
          <p:cNvSpPr txBox="1"/>
          <p:nvPr/>
        </p:nvSpPr>
        <p:spPr>
          <a:xfrm>
            <a:off x="10440619" y="5513832"/>
            <a:ext cx="621792" cy="164592"/>
          </a:xfrm>
          <a:prstGeom prst="rect">
            <a:avLst/>
          </a:prstGeom>
          <a:noFill/>
          <a:ln/>
        </p:spPr>
        <p:txBody>
          <a:bodyPr wrap="square" lIns="0" tIns="0" rIns="0" bIns="0" rtlCol="0" anchor="ctr"/>
          <a:lstStyle/>
          <a:p>
            <a:pPr marL="0" indent="0" algn="ctr">
              <a:buNone/>
            </a:pPr>
            <a:r>
              <a:rPr lang="en-US" sz="650" dirty="0">
                <a:solidFill>
                  <a:srgbClr val="727EA6"/>
                </a:solidFill>
                <a:latin typeface="Calibri" pitchFamily="34" charset="0"/>
                <a:ea typeface="Calibri" pitchFamily="34" charset="-122"/>
                <a:cs typeface="Calibri" pitchFamily="34" charset="-120"/>
              </a:rPr>
              <a:t>day 9.8</a:t>
            </a:r>
            <a:endParaRPr lang="en-US" sz="650" dirty="0"/>
          </a:p>
        </p:txBody>
      </p:sp>
      <p:sp>
        <p:nvSpPr>
          <p:cNvPr id="141" name="Text 137"/>
          <p:cNvSpPr txBox="1"/>
          <p:nvPr/>
        </p:nvSpPr>
        <p:spPr>
          <a:xfrm>
            <a:off x="10678363" y="5230368"/>
            <a:ext cx="749808" cy="475488"/>
          </a:xfrm>
          <a:prstGeom prst="rect">
            <a:avLst/>
          </a:prstGeom>
          <a:noFill/>
          <a:ln/>
        </p:spPr>
        <p:txBody>
          <a:bodyPr wrap="square" lIns="0" tIns="0" rIns="0" bIns="0" rtlCol="0" anchor="ctr"/>
          <a:lstStyle/>
          <a:p>
            <a:pPr marL="0" indent="0" algn="r">
              <a:buNone/>
            </a:pPr>
            <a:r>
              <a:rPr lang="en-US" sz="1300" b="1" dirty="0">
                <a:solidFill>
                  <a:srgbClr val="F7B183"/>
                </a:solidFill>
                <a:latin typeface="Calibri" pitchFamily="34" charset="0"/>
                <a:ea typeface="Calibri" pitchFamily="34" charset="-122"/>
                <a:cs typeface="Calibri" pitchFamily="34" charset="-120"/>
              </a:rPr>
              <a:t>9.8 d</a:t>
            </a:r>
            <a:endParaRPr lang="en-US" sz="1300" dirty="0"/>
          </a:p>
        </p:txBody>
      </p:sp>
      <p:sp>
        <p:nvSpPr>
          <p:cNvPr id="142" name="Shape 138"/>
          <p:cNvSpPr/>
          <p:nvPr/>
        </p:nvSpPr>
        <p:spPr>
          <a:xfrm>
            <a:off x="638251" y="5742432"/>
            <a:ext cx="10936224" cy="329184"/>
          </a:xfrm>
          <a:prstGeom prst="roundRect">
            <a:avLst>
              <a:gd name="adj" fmla="val 22222"/>
            </a:avLst>
          </a:prstGeom>
          <a:solidFill>
            <a:srgbClr val="0A1550">
              <a:alpha val="86000"/>
            </a:srgbClr>
          </a:solidFill>
          <a:ln w="9525">
            <a:solidFill>
              <a:srgbClr val="ED7D31">
                <a:alpha val="55000"/>
              </a:srgbClr>
            </a:solidFill>
            <a:prstDash val="solid"/>
          </a:ln>
        </p:spPr>
      </p:sp>
      <p:sp>
        <p:nvSpPr>
          <p:cNvPr id="143" name="Shape 139"/>
          <p:cNvSpPr/>
          <p:nvPr/>
        </p:nvSpPr>
        <p:spPr>
          <a:xfrm>
            <a:off x="747979" y="5815584"/>
            <a:ext cx="41148" cy="182880"/>
          </a:xfrm>
          <a:prstGeom prst="roundRect">
            <a:avLst>
              <a:gd name="adj" fmla="val 48889"/>
            </a:avLst>
          </a:prstGeom>
          <a:solidFill>
            <a:srgbClr val="ED7D31"/>
          </a:solidFill>
          <a:ln/>
        </p:spPr>
      </p:sp>
      <p:sp>
        <p:nvSpPr>
          <p:cNvPr id="144" name="Text 140"/>
          <p:cNvSpPr txBox="1"/>
          <p:nvPr/>
        </p:nvSpPr>
        <p:spPr>
          <a:xfrm>
            <a:off x="894283" y="5742432"/>
            <a:ext cx="10533888" cy="329184"/>
          </a:xfrm>
          <a:prstGeom prst="rect">
            <a:avLst/>
          </a:prstGeom>
          <a:noFill/>
          <a:ln/>
        </p:spPr>
        <p:txBody>
          <a:bodyPr wrap="square" lIns="0" tIns="0" rIns="0" bIns="0" rtlCol="0" anchor="ctr"/>
          <a:lstStyle/>
          <a:p>
            <a:pPr marL="0" indent="0">
              <a:lnSpc>
                <a:spcPts val="1150"/>
              </a:lnSpc>
              <a:buNone/>
            </a:pPr>
            <a:r>
              <a:rPr lang="en-US" sz="950" b="1" kern="0" spc="100" dirty="0">
                <a:solidFill>
                  <a:srgbClr val="ED7D31"/>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Digitising any single step leaves the waiting in the steps around it — which is why the answer has to be orchestration, not another point automation.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ANALYSIS   01 / 02</a:t>
            </a:r>
            <a:endParaRPr lang="en-US" sz="1000" dirty="0"/>
          </a:p>
        </p:txBody>
      </p:sp>
      <p:pic>
        <p:nvPicPr>
          <p:cNvPr id="4" name="Image 0" descr="media/image4.png"/>
          <p:cNvPicPr>
            <a:picLocks noChangeAspect="1"/>
          </p:cNvPicPr>
          <p:nvPr/>
        </p:nvPicPr>
        <p:blipFill>
          <a:blip r:embed="rId4"/>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5"/>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Four trend domains converge on one conclusion: digital evidence is now abundant and cheap to fabricate, so speed is only bankable if integrity is verified first.</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Analysis: Key Insights/Opportunities/Challenges</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7 Trend Analysis (Parts 1, 3, 5). IRDAI Annual Report 2024-25; Insurity Feb 2026; NVIDIA / ControlExpert; BCG &amp; Medi Assist Nov 2025; vendor pricing pages, 12 Aug 2026.</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Shape 11"/>
          <p:cNvSpPr/>
          <p:nvPr/>
        </p:nvSpPr>
        <p:spPr>
          <a:xfrm>
            <a:off x="638251" y="1609344"/>
            <a:ext cx="10936224" cy="2212848"/>
          </a:xfrm>
          <a:prstGeom prst="roundRect">
            <a:avLst>
              <a:gd name="adj" fmla="val 3719"/>
            </a:avLst>
          </a:prstGeom>
          <a:solidFill>
            <a:srgbClr val="111C55">
              <a:alpha val="74000"/>
            </a:srgbClr>
          </a:solidFill>
          <a:ln w="9525">
            <a:solidFill>
              <a:srgbClr val="3A4A8C">
                <a:alpha val="70000"/>
              </a:srgbClr>
            </a:solidFill>
            <a:prstDash val="solid"/>
          </a:ln>
        </p:spPr>
      </p:sp>
      <p:sp>
        <p:nvSpPr>
          <p:cNvPr id="16" name="Shape 12"/>
          <p:cNvSpPr/>
          <p:nvPr/>
        </p:nvSpPr>
        <p:spPr>
          <a:xfrm>
            <a:off x="794979" y="1809415"/>
            <a:ext cx="38222" cy="83393"/>
          </a:xfrm>
          <a:prstGeom prst="rect">
            <a:avLst/>
          </a:prstGeom>
          <a:solidFill>
            <a:srgbClr val="9CC3E8"/>
          </a:solidFill>
          <a:ln/>
        </p:spPr>
      </p:sp>
      <p:sp>
        <p:nvSpPr>
          <p:cNvPr id="17" name="Shape 13"/>
          <p:cNvSpPr/>
          <p:nvPr/>
        </p:nvSpPr>
        <p:spPr>
          <a:xfrm>
            <a:off x="850575" y="1767718"/>
            <a:ext cx="38222" cy="125090"/>
          </a:xfrm>
          <a:prstGeom prst="rect">
            <a:avLst/>
          </a:prstGeom>
          <a:solidFill>
            <a:srgbClr val="9CC3E8"/>
          </a:solidFill>
          <a:ln/>
        </p:spPr>
      </p:sp>
      <p:sp>
        <p:nvSpPr>
          <p:cNvPr id="18" name="Shape 14"/>
          <p:cNvSpPr/>
          <p:nvPr/>
        </p:nvSpPr>
        <p:spPr>
          <a:xfrm>
            <a:off x="906170" y="1729496"/>
            <a:ext cx="38222" cy="163312"/>
          </a:xfrm>
          <a:prstGeom prst="rect">
            <a:avLst/>
          </a:prstGeom>
          <a:solidFill>
            <a:srgbClr val="9CC3E8"/>
          </a:solidFill>
          <a:ln/>
        </p:spPr>
      </p:sp>
      <p:sp>
        <p:nvSpPr>
          <p:cNvPr id="19" name="Text 15"/>
          <p:cNvSpPr txBox="1"/>
          <p:nvPr/>
        </p:nvSpPr>
        <p:spPr>
          <a:xfrm>
            <a:off x="1031443" y="1682496"/>
            <a:ext cx="10396728"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THE TREND FIELD</a:t>
            </a:r>
            <a:r>
              <a:rPr lang="en-US" sz="900" dirty="0">
                <a:solidFill>
                  <a:srgbClr val="9AA4C6"/>
                </a:solidFill>
                <a:latin typeface="Calibri" pitchFamily="34" charset="0"/>
                <a:ea typeface="Calibri" pitchFamily="34" charset="-122"/>
                <a:cs typeface="Calibri" pitchFamily="34" charset="-120"/>
              </a:rPr>
              <a:t>   ·   21 trends, four domains, each with a named publisher, a date and an evidence class</a:t>
            </a:r>
            <a:endParaRPr lang="en-US" sz="900" dirty="0"/>
          </a:p>
        </p:txBody>
      </p:sp>
      <p:sp>
        <p:nvSpPr>
          <p:cNvPr id="20" name="Shape 16"/>
          <p:cNvSpPr/>
          <p:nvPr/>
        </p:nvSpPr>
        <p:spPr>
          <a:xfrm>
            <a:off x="784555" y="1993392"/>
            <a:ext cx="2537460" cy="237744"/>
          </a:xfrm>
          <a:prstGeom prst="roundRect">
            <a:avLst>
              <a:gd name="adj" fmla="val 50000"/>
            </a:avLst>
          </a:prstGeom>
          <a:solidFill>
            <a:srgbClr val="5B9BD5"/>
          </a:solidFill>
          <a:ln w="9525">
            <a:solidFill>
              <a:srgbClr val="5B9BD5"/>
            </a:solidFill>
            <a:prstDash val="solid"/>
          </a:ln>
        </p:spPr>
      </p:sp>
      <p:sp>
        <p:nvSpPr>
          <p:cNvPr id="21" name="Text 17"/>
          <p:cNvSpPr txBox="1"/>
          <p:nvPr/>
        </p:nvSpPr>
        <p:spPr>
          <a:xfrm>
            <a:off x="784555" y="1993392"/>
            <a:ext cx="2537460" cy="237744"/>
          </a:xfrm>
          <a:prstGeom prst="rect">
            <a:avLst/>
          </a:prstGeom>
          <a:noFill/>
          <a:ln/>
        </p:spPr>
        <p:txBody>
          <a:bodyPr wrap="square" lIns="0" tIns="0" rIns="0" bIns="0" rtlCol="0" anchor="ctr"/>
          <a:lstStyle/>
          <a:p>
            <a:pPr marL="0" indent="0" algn="ctr">
              <a:buNone/>
            </a:pPr>
            <a:r>
              <a:rPr lang="en-US" sz="800" b="1" kern="0" spc="60" dirty="0">
                <a:solidFill>
                  <a:srgbClr val="09122C"/>
                </a:solidFill>
                <a:latin typeface="Calibri" pitchFamily="34" charset="0"/>
                <a:ea typeface="Calibri" pitchFamily="34" charset="-122"/>
                <a:cs typeface="Calibri" pitchFamily="34" charset="-120"/>
              </a:rPr>
              <a:t>CONSUMER</a:t>
            </a:r>
            <a:endParaRPr lang="en-US" sz="800" dirty="0"/>
          </a:p>
        </p:txBody>
      </p:sp>
      <p:sp>
        <p:nvSpPr>
          <p:cNvPr id="22" name="Shape 18"/>
          <p:cNvSpPr/>
          <p:nvPr/>
        </p:nvSpPr>
        <p:spPr>
          <a:xfrm>
            <a:off x="882213" y="2050085"/>
            <a:ext cx="46634" cy="46634"/>
          </a:xfrm>
          <a:prstGeom prst="ellipse">
            <a:avLst/>
          </a:prstGeom>
          <a:ln w="13970">
            <a:solidFill>
              <a:srgbClr val="09122C"/>
            </a:solidFill>
            <a:prstDash val="solid"/>
          </a:ln>
        </p:spPr>
      </p:sp>
      <p:sp>
        <p:nvSpPr>
          <p:cNvPr id="23" name="Shape 19"/>
          <p:cNvSpPr/>
          <p:nvPr/>
        </p:nvSpPr>
        <p:spPr>
          <a:xfrm>
            <a:off x="875995" y="2096719"/>
            <a:ext cx="59070" cy="80833"/>
          </a:xfrm>
          <a:prstGeom prst="blockArc">
            <a:avLst/>
          </a:prstGeom>
          <a:ln w="13970">
            <a:solidFill>
              <a:srgbClr val="09122C"/>
            </a:solidFill>
            <a:prstDash val="solid"/>
          </a:ln>
        </p:spPr>
      </p:sp>
      <p:sp>
        <p:nvSpPr>
          <p:cNvPr id="24" name="Shape 20"/>
          <p:cNvSpPr/>
          <p:nvPr/>
        </p:nvSpPr>
        <p:spPr>
          <a:xfrm>
            <a:off x="966155" y="2050085"/>
            <a:ext cx="46634" cy="46634"/>
          </a:xfrm>
          <a:prstGeom prst="ellipse">
            <a:avLst/>
          </a:prstGeom>
          <a:ln w="13970">
            <a:solidFill>
              <a:srgbClr val="09122C"/>
            </a:solidFill>
            <a:prstDash val="solid"/>
          </a:ln>
        </p:spPr>
      </p:sp>
      <p:sp>
        <p:nvSpPr>
          <p:cNvPr id="25" name="Shape 21"/>
          <p:cNvSpPr/>
          <p:nvPr/>
        </p:nvSpPr>
        <p:spPr>
          <a:xfrm>
            <a:off x="959937" y="2096719"/>
            <a:ext cx="59070" cy="80833"/>
          </a:xfrm>
          <a:prstGeom prst="blockArc">
            <a:avLst/>
          </a:prstGeom>
          <a:ln w="13970">
            <a:solidFill>
              <a:srgbClr val="09122C"/>
            </a:solidFill>
            <a:prstDash val="solid"/>
          </a:ln>
        </p:spPr>
      </p:sp>
      <p:sp>
        <p:nvSpPr>
          <p:cNvPr id="26" name="Shape 22"/>
          <p:cNvSpPr/>
          <p:nvPr/>
        </p:nvSpPr>
        <p:spPr>
          <a:xfrm>
            <a:off x="784555" y="2304288"/>
            <a:ext cx="2537460" cy="676656"/>
          </a:xfrm>
          <a:prstGeom prst="roundRect">
            <a:avLst>
              <a:gd name="adj" fmla="val 9459"/>
            </a:avLst>
          </a:prstGeom>
          <a:solidFill>
            <a:srgbClr val="111C55">
              <a:alpha val="74000"/>
            </a:srgbClr>
          </a:solidFill>
          <a:ln w="9525">
            <a:solidFill>
              <a:srgbClr val="3A4A8C">
                <a:alpha val="70000"/>
              </a:srgbClr>
            </a:solidFill>
            <a:prstDash val="solid"/>
          </a:ln>
        </p:spPr>
      </p:sp>
      <p:sp>
        <p:nvSpPr>
          <p:cNvPr id="27" name="Text 23"/>
          <p:cNvSpPr txBox="1"/>
          <p:nvPr/>
        </p:nvSpPr>
        <p:spPr>
          <a:xfrm>
            <a:off x="894283" y="2340864"/>
            <a:ext cx="2318004" cy="256032"/>
          </a:xfrm>
          <a:prstGeom prst="rect">
            <a:avLst/>
          </a:prstGeom>
          <a:noFill/>
          <a:ln/>
        </p:spPr>
        <p:txBody>
          <a:bodyPr wrap="square" lIns="0" tIns="0" rIns="0" bIns="0" rtlCol="0" anchor="t"/>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Claims are where the customer judges the insurer</a:t>
            </a:r>
            <a:endParaRPr lang="en-US" sz="850" dirty="0"/>
          </a:p>
        </p:txBody>
      </p:sp>
      <p:sp>
        <p:nvSpPr>
          <p:cNvPr id="28" name="Text 24"/>
          <p:cNvSpPr txBox="1"/>
          <p:nvPr/>
        </p:nvSpPr>
        <p:spPr>
          <a:xfrm>
            <a:off x="894283" y="2596896"/>
            <a:ext cx="2318004" cy="182880"/>
          </a:xfrm>
          <a:prstGeom prst="rect">
            <a:avLst/>
          </a:prstGeom>
          <a:noFill/>
          <a:ln/>
        </p:spPr>
        <p:txBody>
          <a:bodyPr wrap="square" lIns="0" tIns="0" rIns="0" bIns="0" rtlCol="0" anchor="ctr"/>
          <a:lstStyle/>
          <a:p>
            <a:pPr marL="0" indent="0">
              <a:buNone/>
            </a:pPr>
            <a:r>
              <a:rPr lang="en-US" sz="850" dirty="0">
                <a:solidFill>
                  <a:srgbClr val="9CC3E8"/>
                </a:solidFill>
                <a:latin typeface="Calibri" pitchFamily="34" charset="0"/>
                <a:ea typeface="Calibri" pitchFamily="34" charset="-122"/>
                <a:cs typeface="Calibri" pitchFamily="34" charset="-120"/>
              </a:rPr>
              <a:t>the pool grows faster than premium</a:t>
            </a:r>
            <a:endParaRPr lang="en-US" sz="850" dirty="0"/>
          </a:p>
        </p:txBody>
      </p:sp>
      <p:sp>
        <p:nvSpPr>
          <p:cNvPr id="29" name="Text 25"/>
          <p:cNvSpPr txBox="1"/>
          <p:nvPr/>
        </p:nvSpPr>
        <p:spPr>
          <a:xfrm>
            <a:off x="894283" y="2779776"/>
            <a:ext cx="2318004" cy="164592"/>
          </a:xfrm>
          <a:prstGeom prst="rect">
            <a:avLst/>
          </a:prstGeom>
          <a:noFill/>
          <a:ln/>
        </p:spPr>
        <p:txBody>
          <a:bodyPr wrap="square" lIns="0" tIns="0" rIns="0" bIns="0" rtlCol="0" anchor="ctr"/>
          <a:lstStyle/>
          <a:p>
            <a:pPr marL="0" indent="0">
              <a:buNone/>
            </a:pPr>
            <a:r>
              <a:rPr lang="en-US" sz="650" dirty="0">
                <a:solidFill>
                  <a:srgbClr val="727EA6"/>
                </a:solidFill>
                <a:latin typeface="Calibri" pitchFamily="34" charset="0"/>
                <a:ea typeface="Calibri" pitchFamily="34" charset="-122"/>
                <a:cs typeface="Calibri" pitchFamily="34" charset="-120"/>
              </a:rPr>
              <a:t>IRDAI Annual Report 2024-25  ·  </a:t>
            </a:r>
            <a:r>
              <a:rPr lang="en-US" sz="650" b="1" dirty="0">
                <a:solidFill>
                  <a:srgbClr val="9CC3E8"/>
                </a:solidFill>
                <a:latin typeface="Calibri" pitchFamily="34" charset="0"/>
                <a:ea typeface="Calibri" pitchFamily="34" charset="-122"/>
                <a:cs typeface="Calibri" pitchFamily="34" charset="-120"/>
              </a:rPr>
              <a:t>FACT</a:t>
            </a:r>
            <a:endParaRPr lang="en-US" sz="650" dirty="0"/>
          </a:p>
        </p:txBody>
      </p:sp>
      <p:sp>
        <p:nvSpPr>
          <p:cNvPr id="30" name="Shape 26"/>
          <p:cNvSpPr/>
          <p:nvPr/>
        </p:nvSpPr>
        <p:spPr>
          <a:xfrm>
            <a:off x="784555" y="3054096"/>
            <a:ext cx="2537460" cy="676656"/>
          </a:xfrm>
          <a:prstGeom prst="roundRect">
            <a:avLst>
              <a:gd name="adj" fmla="val 9459"/>
            </a:avLst>
          </a:prstGeom>
          <a:solidFill>
            <a:srgbClr val="111C55">
              <a:alpha val="74000"/>
            </a:srgbClr>
          </a:solidFill>
          <a:ln w="9525">
            <a:solidFill>
              <a:srgbClr val="3A4A8C">
                <a:alpha val="70000"/>
              </a:srgbClr>
            </a:solidFill>
            <a:prstDash val="solid"/>
          </a:ln>
        </p:spPr>
      </p:sp>
      <p:sp>
        <p:nvSpPr>
          <p:cNvPr id="31" name="Text 27"/>
          <p:cNvSpPr txBox="1"/>
          <p:nvPr/>
        </p:nvSpPr>
        <p:spPr>
          <a:xfrm>
            <a:off x="894283" y="3090672"/>
            <a:ext cx="2318004" cy="256032"/>
          </a:xfrm>
          <a:prstGeom prst="rect">
            <a:avLst/>
          </a:prstGeom>
          <a:noFill/>
          <a:ln/>
        </p:spPr>
        <p:txBody>
          <a:bodyPr wrap="square" lIns="0" tIns="0" rIns="0" bIns="0" rtlCol="0" anchor="t"/>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Low comfort with unaided AI claim decisions</a:t>
            </a:r>
            <a:endParaRPr lang="en-US" sz="850" dirty="0"/>
          </a:p>
        </p:txBody>
      </p:sp>
      <p:sp>
        <p:nvSpPr>
          <p:cNvPr id="32" name="Text 28"/>
          <p:cNvSpPr txBox="1"/>
          <p:nvPr/>
        </p:nvSpPr>
        <p:spPr>
          <a:xfrm>
            <a:off x="894283" y="3346704"/>
            <a:ext cx="2318004" cy="182880"/>
          </a:xfrm>
          <a:prstGeom prst="rect">
            <a:avLst/>
          </a:prstGeom>
          <a:noFill/>
          <a:ln/>
        </p:spPr>
        <p:txBody>
          <a:bodyPr wrap="square" lIns="0" tIns="0" rIns="0" bIns="0" rtlCol="0" anchor="ctr"/>
          <a:lstStyle/>
          <a:p>
            <a:pPr marL="0" indent="0">
              <a:buNone/>
            </a:pPr>
            <a:r>
              <a:rPr lang="en-US" sz="850" dirty="0">
                <a:solidFill>
                  <a:srgbClr val="9CC3E8"/>
                </a:solidFill>
                <a:latin typeface="Calibri" pitchFamily="34" charset="0"/>
                <a:ea typeface="Calibri" pitchFamily="34" charset="-122"/>
                <a:cs typeface="Calibri" pitchFamily="34" charset="-120"/>
              </a:rPr>
              <a:t>only 22% comfortable</a:t>
            </a:r>
            <a:endParaRPr lang="en-US" sz="850" dirty="0"/>
          </a:p>
        </p:txBody>
      </p:sp>
      <p:sp>
        <p:nvSpPr>
          <p:cNvPr id="33" name="Text 29"/>
          <p:cNvSpPr txBox="1"/>
          <p:nvPr/>
        </p:nvSpPr>
        <p:spPr>
          <a:xfrm>
            <a:off x="894283" y="3529584"/>
            <a:ext cx="2318004" cy="164592"/>
          </a:xfrm>
          <a:prstGeom prst="rect">
            <a:avLst/>
          </a:prstGeom>
          <a:noFill/>
          <a:ln/>
        </p:spPr>
        <p:txBody>
          <a:bodyPr wrap="square" lIns="0" tIns="0" rIns="0" bIns="0" rtlCol="0" anchor="ctr"/>
          <a:lstStyle/>
          <a:p>
            <a:pPr marL="0" indent="0">
              <a:buNone/>
            </a:pPr>
            <a:r>
              <a:rPr lang="en-US" sz="650" dirty="0">
                <a:solidFill>
                  <a:srgbClr val="727EA6"/>
                </a:solidFill>
                <a:latin typeface="Calibri" pitchFamily="34" charset="0"/>
                <a:ea typeface="Calibri" pitchFamily="34" charset="-122"/>
                <a:cs typeface="Calibri" pitchFamily="34" charset="-120"/>
              </a:rPr>
              <a:t>Insurity, Feb 2026 fieldwork  ·  </a:t>
            </a:r>
            <a:r>
              <a:rPr lang="en-US" sz="650" b="1" dirty="0">
                <a:solidFill>
                  <a:srgbClr val="8FDDE3"/>
                </a:solidFill>
                <a:latin typeface="Calibri" pitchFamily="34" charset="0"/>
                <a:ea typeface="Calibri" pitchFamily="34" charset="-122"/>
                <a:cs typeface="Calibri" pitchFamily="34" charset="-120"/>
              </a:rPr>
              <a:t>BENCHMARK</a:t>
            </a:r>
            <a:endParaRPr lang="en-US" sz="650" dirty="0"/>
          </a:p>
        </p:txBody>
      </p:sp>
      <p:sp>
        <p:nvSpPr>
          <p:cNvPr id="34" name="Shape 30"/>
          <p:cNvSpPr/>
          <p:nvPr/>
        </p:nvSpPr>
        <p:spPr>
          <a:xfrm>
            <a:off x="3486607" y="1993392"/>
            <a:ext cx="2537460" cy="237744"/>
          </a:xfrm>
          <a:prstGeom prst="roundRect">
            <a:avLst>
              <a:gd name="adj" fmla="val 50000"/>
            </a:avLst>
          </a:prstGeom>
          <a:solidFill>
            <a:srgbClr val="3FB6C0"/>
          </a:solidFill>
          <a:ln w="9525">
            <a:solidFill>
              <a:srgbClr val="3FB6C0"/>
            </a:solidFill>
            <a:prstDash val="solid"/>
          </a:ln>
        </p:spPr>
      </p:sp>
      <p:sp>
        <p:nvSpPr>
          <p:cNvPr id="35" name="Text 31"/>
          <p:cNvSpPr txBox="1"/>
          <p:nvPr/>
        </p:nvSpPr>
        <p:spPr>
          <a:xfrm>
            <a:off x="3486607" y="1993392"/>
            <a:ext cx="2537460" cy="237744"/>
          </a:xfrm>
          <a:prstGeom prst="rect">
            <a:avLst/>
          </a:prstGeom>
          <a:noFill/>
          <a:ln/>
        </p:spPr>
        <p:txBody>
          <a:bodyPr wrap="square" lIns="0" tIns="0" rIns="0" bIns="0" rtlCol="0" anchor="ctr"/>
          <a:lstStyle/>
          <a:p>
            <a:pPr marL="0" indent="0" algn="ctr">
              <a:buNone/>
            </a:pPr>
            <a:r>
              <a:rPr lang="en-US" sz="800" b="1" kern="0" spc="60" dirty="0">
                <a:solidFill>
                  <a:srgbClr val="09122C"/>
                </a:solidFill>
                <a:latin typeface="Calibri" pitchFamily="34" charset="0"/>
                <a:ea typeface="Calibri" pitchFamily="34" charset="-122"/>
                <a:cs typeface="Calibri" pitchFamily="34" charset="-120"/>
              </a:rPr>
              <a:t>SOCIAL</a:t>
            </a:r>
            <a:endParaRPr lang="en-US" sz="800" dirty="0"/>
          </a:p>
        </p:txBody>
      </p:sp>
      <p:sp>
        <p:nvSpPr>
          <p:cNvPr id="36" name="Shape 32"/>
          <p:cNvSpPr/>
          <p:nvPr/>
        </p:nvSpPr>
        <p:spPr>
          <a:xfrm>
            <a:off x="3578047" y="2043867"/>
            <a:ext cx="155448" cy="136794"/>
          </a:xfrm>
          <a:prstGeom prst="heart">
            <a:avLst/>
          </a:prstGeom>
          <a:ln w="13970">
            <a:solidFill>
              <a:srgbClr val="09122C"/>
            </a:solidFill>
            <a:prstDash val="solid"/>
          </a:ln>
        </p:spPr>
      </p:sp>
      <p:sp>
        <p:nvSpPr>
          <p:cNvPr id="37" name="Shape 33"/>
          <p:cNvSpPr/>
          <p:nvPr/>
        </p:nvSpPr>
        <p:spPr>
          <a:xfrm>
            <a:off x="3486607" y="2304288"/>
            <a:ext cx="2537460" cy="676656"/>
          </a:xfrm>
          <a:prstGeom prst="roundRect">
            <a:avLst>
              <a:gd name="adj" fmla="val 9459"/>
            </a:avLst>
          </a:prstGeom>
          <a:solidFill>
            <a:srgbClr val="111C55">
              <a:alpha val="74000"/>
            </a:srgbClr>
          </a:solidFill>
          <a:ln w="9525">
            <a:solidFill>
              <a:srgbClr val="3A4A8C">
                <a:alpha val="70000"/>
              </a:srgbClr>
            </a:solidFill>
            <a:prstDash val="solid"/>
          </a:ln>
        </p:spPr>
      </p:sp>
      <p:sp>
        <p:nvSpPr>
          <p:cNvPr id="38" name="Text 34"/>
          <p:cNvSpPr txBox="1"/>
          <p:nvPr/>
        </p:nvSpPr>
        <p:spPr>
          <a:xfrm>
            <a:off x="3596335" y="2340864"/>
            <a:ext cx="2318004" cy="256032"/>
          </a:xfrm>
          <a:prstGeom prst="rect">
            <a:avLst/>
          </a:prstGeom>
          <a:noFill/>
          <a:ln/>
        </p:spPr>
        <p:txBody>
          <a:bodyPr wrap="square" lIns="0" tIns="0" rIns="0" bIns="0" rtlCol="0" anchor="t"/>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Claims experience ranks second only to price</a:t>
            </a:r>
            <a:endParaRPr lang="en-US" sz="850" dirty="0"/>
          </a:p>
        </p:txBody>
      </p:sp>
      <p:sp>
        <p:nvSpPr>
          <p:cNvPr id="39" name="Text 35"/>
          <p:cNvSpPr txBox="1"/>
          <p:nvPr/>
        </p:nvSpPr>
        <p:spPr>
          <a:xfrm>
            <a:off x="3596335" y="2596896"/>
            <a:ext cx="2318004" cy="182880"/>
          </a:xfrm>
          <a:prstGeom prst="rect">
            <a:avLst/>
          </a:prstGeom>
          <a:noFill/>
          <a:ln/>
        </p:spPr>
        <p:txBody>
          <a:bodyPr wrap="square" lIns="0" tIns="0" rIns="0" bIns="0" rtlCol="0" anchor="ctr"/>
          <a:lstStyle/>
          <a:p>
            <a:pPr marL="0" indent="0">
              <a:buNone/>
            </a:pPr>
            <a:r>
              <a:rPr lang="en-US" sz="850" dirty="0">
                <a:solidFill>
                  <a:srgbClr val="8FDDE3"/>
                </a:solidFill>
                <a:latin typeface="Calibri" pitchFamily="34" charset="0"/>
                <a:ea typeface="Calibri" pitchFamily="34" charset="-122"/>
                <a:cs typeface="Calibri" pitchFamily="34" charset="-120"/>
              </a:rPr>
              <a:t>~1 pp retention per 5-point NPS gain</a:t>
            </a:r>
            <a:endParaRPr lang="en-US" sz="850" dirty="0"/>
          </a:p>
        </p:txBody>
      </p:sp>
      <p:sp>
        <p:nvSpPr>
          <p:cNvPr id="40" name="Text 36"/>
          <p:cNvSpPr txBox="1"/>
          <p:nvPr/>
        </p:nvSpPr>
        <p:spPr>
          <a:xfrm>
            <a:off x="3596335" y="2779776"/>
            <a:ext cx="2318004" cy="164592"/>
          </a:xfrm>
          <a:prstGeom prst="rect">
            <a:avLst/>
          </a:prstGeom>
          <a:noFill/>
          <a:ln/>
        </p:spPr>
        <p:txBody>
          <a:bodyPr wrap="square" lIns="0" tIns="0" rIns="0" bIns="0" rtlCol="0" anchor="ctr"/>
          <a:lstStyle/>
          <a:p>
            <a:pPr marL="0" indent="0">
              <a:buNone/>
            </a:pPr>
            <a:r>
              <a:rPr lang="en-US" sz="650" dirty="0">
                <a:solidFill>
                  <a:srgbClr val="727EA6"/>
                </a:solidFill>
                <a:latin typeface="Calibri" pitchFamily="34" charset="0"/>
                <a:ea typeface="Calibri" pitchFamily="34" charset="-122"/>
                <a:cs typeface="Calibri" pitchFamily="34" charset="-120"/>
              </a:rPr>
              <a:t>Retently / CustomerGauge  ·  </a:t>
            </a:r>
            <a:r>
              <a:rPr lang="en-US" sz="650" b="1" dirty="0">
                <a:solidFill>
                  <a:srgbClr val="8FDDE3"/>
                </a:solidFill>
                <a:latin typeface="Calibri" pitchFamily="34" charset="0"/>
                <a:ea typeface="Calibri" pitchFamily="34" charset="-122"/>
                <a:cs typeface="Calibri" pitchFamily="34" charset="-120"/>
              </a:rPr>
              <a:t>BENCHMARK</a:t>
            </a:r>
            <a:endParaRPr lang="en-US" sz="650" dirty="0"/>
          </a:p>
        </p:txBody>
      </p:sp>
      <p:sp>
        <p:nvSpPr>
          <p:cNvPr id="41" name="Shape 37"/>
          <p:cNvSpPr/>
          <p:nvPr/>
        </p:nvSpPr>
        <p:spPr>
          <a:xfrm>
            <a:off x="3486607" y="3054096"/>
            <a:ext cx="2537460" cy="676656"/>
          </a:xfrm>
          <a:prstGeom prst="roundRect">
            <a:avLst>
              <a:gd name="adj" fmla="val 9459"/>
            </a:avLst>
          </a:prstGeom>
          <a:solidFill>
            <a:srgbClr val="111C55">
              <a:alpha val="74000"/>
            </a:srgbClr>
          </a:solidFill>
          <a:ln w="9525">
            <a:solidFill>
              <a:srgbClr val="3A4A8C">
                <a:alpha val="70000"/>
              </a:srgbClr>
            </a:solidFill>
            <a:prstDash val="solid"/>
          </a:ln>
        </p:spPr>
      </p:sp>
      <p:sp>
        <p:nvSpPr>
          <p:cNvPr id="42" name="Text 38"/>
          <p:cNvSpPr txBox="1"/>
          <p:nvPr/>
        </p:nvSpPr>
        <p:spPr>
          <a:xfrm>
            <a:off x="3596335" y="3090672"/>
            <a:ext cx="2318004" cy="256032"/>
          </a:xfrm>
          <a:prstGeom prst="rect">
            <a:avLst/>
          </a:prstGeom>
          <a:noFill/>
          <a:ln/>
        </p:spPr>
        <p:txBody>
          <a:bodyPr wrap="square" lIns="0" tIns="0" rIns="0" bIns="0" rtlCol="0" anchor="t"/>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The speed benchmark is set outside insurance</a:t>
            </a:r>
            <a:endParaRPr lang="en-US" sz="850" dirty="0"/>
          </a:p>
        </p:txBody>
      </p:sp>
      <p:sp>
        <p:nvSpPr>
          <p:cNvPr id="43" name="Text 39"/>
          <p:cNvSpPr txBox="1"/>
          <p:nvPr/>
        </p:nvSpPr>
        <p:spPr>
          <a:xfrm>
            <a:off x="3596335" y="3346704"/>
            <a:ext cx="2318004" cy="182880"/>
          </a:xfrm>
          <a:prstGeom prst="rect">
            <a:avLst/>
          </a:prstGeom>
          <a:noFill/>
          <a:ln/>
        </p:spPr>
        <p:txBody>
          <a:bodyPr wrap="square" lIns="0" tIns="0" rIns="0" bIns="0" rtlCol="0" anchor="ctr"/>
          <a:lstStyle/>
          <a:p>
            <a:pPr marL="0" indent="0">
              <a:buNone/>
            </a:pPr>
            <a:r>
              <a:rPr lang="en-US" sz="850" dirty="0">
                <a:solidFill>
                  <a:srgbClr val="8FDDE3"/>
                </a:solidFill>
                <a:latin typeface="Calibri" pitchFamily="34" charset="0"/>
                <a:ea typeface="Calibri" pitchFamily="34" charset="-122"/>
                <a:cs typeface="Calibri" pitchFamily="34" charset="-120"/>
              </a:rPr>
              <a:t>UPI and e-commerce reset the reference</a:t>
            </a:r>
            <a:endParaRPr lang="en-US" sz="850" dirty="0"/>
          </a:p>
        </p:txBody>
      </p:sp>
      <p:sp>
        <p:nvSpPr>
          <p:cNvPr id="44" name="Text 40"/>
          <p:cNvSpPr txBox="1"/>
          <p:nvPr/>
        </p:nvSpPr>
        <p:spPr>
          <a:xfrm>
            <a:off x="3596335" y="3529584"/>
            <a:ext cx="2318004" cy="164592"/>
          </a:xfrm>
          <a:prstGeom prst="rect">
            <a:avLst/>
          </a:prstGeom>
          <a:noFill/>
          <a:ln/>
        </p:spPr>
        <p:txBody>
          <a:bodyPr wrap="square" lIns="0" tIns="0" rIns="0" bIns="0" rtlCol="0" anchor="ctr"/>
          <a:lstStyle/>
          <a:p>
            <a:pPr marL="0" indent="0">
              <a:buNone/>
            </a:pPr>
            <a:r>
              <a:rPr lang="en-US" sz="650" dirty="0">
                <a:solidFill>
                  <a:srgbClr val="727EA6"/>
                </a:solidFill>
                <a:latin typeface="Calibri" pitchFamily="34" charset="0"/>
                <a:ea typeface="Calibri" pitchFamily="34" charset="-122"/>
                <a:cs typeface="Calibri" pitchFamily="34" charset="-120"/>
              </a:rPr>
              <a:t>direction only, not monetised  ·  </a:t>
            </a:r>
            <a:r>
              <a:rPr lang="en-US" sz="650" b="1" dirty="0">
                <a:solidFill>
                  <a:srgbClr val="BDB6F5"/>
                </a:solidFill>
                <a:latin typeface="Calibri" pitchFamily="34" charset="0"/>
                <a:ea typeface="Calibri" pitchFamily="34" charset="-122"/>
                <a:cs typeface="Calibri" pitchFamily="34" charset="-120"/>
              </a:rPr>
              <a:t>PROXY</a:t>
            </a:r>
            <a:endParaRPr lang="en-US" sz="650" dirty="0"/>
          </a:p>
        </p:txBody>
      </p:sp>
      <p:sp>
        <p:nvSpPr>
          <p:cNvPr id="45" name="Shape 41"/>
          <p:cNvSpPr/>
          <p:nvPr/>
        </p:nvSpPr>
        <p:spPr>
          <a:xfrm>
            <a:off x="6188659" y="1993392"/>
            <a:ext cx="2537460" cy="237744"/>
          </a:xfrm>
          <a:prstGeom prst="roundRect">
            <a:avLst>
              <a:gd name="adj" fmla="val 50000"/>
            </a:avLst>
          </a:prstGeom>
          <a:solidFill>
            <a:srgbClr val="9085E9"/>
          </a:solidFill>
          <a:ln w="9525">
            <a:solidFill>
              <a:srgbClr val="9085E9"/>
            </a:solidFill>
            <a:prstDash val="solid"/>
          </a:ln>
        </p:spPr>
      </p:sp>
      <p:sp>
        <p:nvSpPr>
          <p:cNvPr id="46" name="Text 42"/>
          <p:cNvSpPr txBox="1"/>
          <p:nvPr/>
        </p:nvSpPr>
        <p:spPr>
          <a:xfrm>
            <a:off x="6188659" y="1993392"/>
            <a:ext cx="2537460" cy="237744"/>
          </a:xfrm>
          <a:prstGeom prst="rect">
            <a:avLst/>
          </a:prstGeom>
          <a:noFill/>
          <a:ln/>
        </p:spPr>
        <p:txBody>
          <a:bodyPr wrap="square" lIns="0" tIns="0" rIns="0" bIns="0" rtlCol="0" anchor="ctr"/>
          <a:lstStyle/>
          <a:p>
            <a:pPr marL="0" indent="0" algn="ctr">
              <a:buNone/>
            </a:pPr>
            <a:r>
              <a:rPr lang="en-US" sz="800" b="1" kern="0" spc="60" dirty="0">
                <a:solidFill>
                  <a:srgbClr val="09122C"/>
                </a:solidFill>
                <a:latin typeface="Calibri" pitchFamily="34" charset="0"/>
                <a:ea typeface="Calibri" pitchFamily="34" charset="-122"/>
                <a:cs typeface="Calibri" pitchFamily="34" charset="-120"/>
              </a:rPr>
              <a:t>TECHNOLOGY</a:t>
            </a:r>
            <a:endParaRPr lang="en-US" sz="800" dirty="0"/>
          </a:p>
        </p:txBody>
      </p:sp>
      <p:sp>
        <p:nvSpPr>
          <p:cNvPr id="47" name="Shape 43"/>
          <p:cNvSpPr/>
          <p:nvPr/>
        </p:nvSpPr>
        <p:spPr>
          <a:xfrm>
            <a:off x="6308080" y="2062521"/>
            <a:ext cx="99487" cy="99487"/>
          </a:xfrm>
          <a:prstGeom prst="roundRect">
            <a:avLst>
              <a:gd name="adj" fmla="val 15625"/>
            </a:avLst>
          </a:prstGeom>
          <a:ln w="13970">
            <a:solidFill>
              <a:srgbClr val="09122C"/>
            </a:solidFill>
            <a:prstDash val="solid"/>
          </a:ln>
        </p:spPr>
      </p:sp>
      <p:sp>
        <p:nvSpPr>
          <p:cNvPr id="48" name="Shape 44"/>
          <p:cNvSpPr/>
          <p:nvPr/>
        </p:nvSpPr>
        <p:spPr>
          <a:xfrm>
            <a:off x="6326734" y="2037649"/>
            <a:ext cx="0" cy="24872"/>
          </a:xfrm>
          <a:prstGeom prst="line">
            <a:avLst/>
          </a:prstGeom>
          <a:noFill/>
          <a:ln w="9525">
            <a:solidFill>
              <a:srgbClr val="09122C"/>
            </a:solidFill>
            <a:prstDash val="solid"/>
          </a:ln>
        </p:spPr>
      </p:sp>
      <p:sp>
        <p:nvSpPr>
          <p:cNvPr id="49" name="Shape 45"/>
          <p:cNvSpPr/>
          <p:nvPr/>
        </p:nvSpPr>
        <p:spPr>
          <a:xfrm>
            <a:off x="6326734" y="2162007"/>
            <a:ext cx="0" cy="24872"/>
          </a:xfrm>
          <a:prstGeom prst="line">
            <a:avLst/>
          </a:prstGeom>
          <a:noFill/>
          <a:ln w="9525">
            <a:solidFill>
              <a:srgbClr val="09122C"/>
            </a:solidFill>
            <a:prstDash val="solid"/>
          </a:ln>
        </p:spPr>
      </p:sp>
      <p:sp>
        <p:nvSpPr>
          <p:cNvPr id="50" name="Shape 46"/>
          <p:cNvSpPr/>
          <p:nvPr/>
        </p:nvSpPr>
        <p:spPr>
          <a:xfrm>
            <a:off x="6283208" y="2081174"/>
            <a:ext cx="24872" cy="0"/>
          </a:xfrm>
          <a:prstGeom prst="line">
            <a:avLst/>
          </a:prstGeom>
          <a:noFill/>
          <a:ln w="9525">
            <a:solidFill>
              <a:srgbClr val="09122C"/>
            </a:solidFill>
            <a:prstDash val="solid"/>
          </a:ln>
        </p:spPr>
      </p:sp>
      <p:sp>
        <p:nvSpPr>
          <p:cNvPr id="51" name="Shape 47"/>
          <p:cNvSpPr/>
          <p:nvPr/>
        </p:nvSpPr>
        <p:spPr>
          <a:xfrm>
            <a:off x="6407567" y="2081174"/>
            <a:ext cx="24872" cy="0"/>
          </a:xfrm>
          <a:prstGeom prst="line">
            <a:avLst/>
          </a:prstGeom>
          <a:noFill/>
          <a:ln w="9525">
            <a:solidFill>
              <a:srgbClr val="09122C"/>
            </a:solidFill>
            <a:prstDash val="solid"/>
          </a:ln>
        </p:spPr>
      </p:sp>
      <p:sp>
        <p:nvSpPr>
          <p:cNvPr id="52" name="Shape 48"/>
          <p:cNvSpPr/>
          <p:nvPr/>
        </p:nvSpPr>
        <p:spPr>
          <a:xfrm>
            <a:off x="6357823" y="2037649"/>
            <a:ext cx="0" cy="24872"/>
          </a:xfrm>
          <a:prstGeom prst="line">
            <a:avLst/>
          </a:prstGeom>
          <a:noFill/>
          <a:ln w="9525">
            <a:solidFill>
              <a:srgbClr val="09122C"/>
            </a:solidFill>
            <a:prstDash val="solid"/>
          </a:ln>
        </p:spPr>
      </p:sp>
      <p:sp>
        <p:nvSpPr>
          <p:cNvPr id="53" name="Shape 49"/>
          <p:cNvSpPr/>
          <p:nvPr/>
        </p:nvSpPr>
        <p:spPr>
          <a:xfrm>
            <a:off x="6357823" y="2162007"/>
            <a:ext cx="0" cy="24872"/>
          </a:xfrm>
          <a:prstGeom prst="line">
            <a:avLst/>
          </a:prstGeom>
          <a:noFill/>
          <a:ln w="9525">
            <a:solidFill>
              <a:srgbClr val="09122C"/>
            </a:solidFill>
            <a:prstDash val="solid"/>
          </a:ln>
        </p:spPr>
      </p:sp>
      <p:sp>
        <p:nvSpPr>
          <p:cNvPr id="54" name="Shape 50"/>
          <p:cNvSpPr/>
          <p:nvPr/>
        </p:nvSpPr>
        <p:spPr>
          <a:xfrm>
            <a:off x="6283208" y="2112264"/>
            <a:ext cx="24872" cy="0"/>
          </a:xfrm>
          <a:prstGeom prst="line">
            <a:avLst/>
          </a:prstGeom>
          <a:noFill/>
          <a:ln w="9525">
            <a:solidFill>
              <a:srgbClr val="09122C"/>
            </a:solidFill>
            <a:prstDash val="solid"/>
          </a:ln>
        </p:spPr>
      </p:sp>
      <p:sp>
        <p:nvSpPr>
          <p:cNvPr id="55" name="Shape 51"/>
          <p:cNvSpPr/>
          <p:nvPr/>
        </p:nvSpPr>
        <p:spPr>
          <a:xfrm>
            <a:off x="6407567" y="2112264"/>
            <a:ext cx="24872" cy="0"/>
          </a:xfrm>
          <a:prstGeom prst="line">
            <a:avLst/>
          </a:prstGeom>
          <a:noFill/>
          <a:ln w="9525">
            <a:solidFill>
              <a:srgbClr val="09122C"/>
            </a:solidFill>
            <a:prstDash val="solid"/>
          </a:ln>
        </p:spPr>
      </p:sp>
      <p:sp>
        <p:nvSpPr>
          <p:cNvPr id="56" name="Shape 52"/>
          <p:cNvSpPr/>
          <p:nvPr/>
        </p:nvSpPr>
        <p:spPr>
          <a:xfrm>
            <a:off x="6388913" y="2037649"/>
            <a:ext cx="0" cy="24872"/>
          </a:xfrm>
          <a:prstGeom prst="line">
            <a:avLst/>
          </a:prstGeom>
          <a:noFill/>
          <a:ln w="9525">
            <a:solidFill>
              <a:srgbClr val="09122C"/>
            </a:solidFill>
            <a:prstDash val="solid"/>
          </a:ln>
        </p:spPr>
      </p:sp>
      <p:sp>
        <p:nvSpPr>
          <p:cNvPr id="57" name="Shape 53"/>
          <p:cNvSpPr/>
          <p:nvPr/>
        </p:nvSpPr>
        <p:spPr>
          <a:xfrm>
            <a:off x="6388913" y="2162007"/>
            <a:ext cx="0" cy="24872"/>
          </a:xfrm>
          <a:prstGeom prst="line">
            <a:avLst/>
          </a:prstGeom>
          <a:noFill/>
          <a:ln w="9525">
            <a:solidFill>
              <a:srgbClr val="09122C"/>
            </a:solidFill>
            <a:prstDash val="solid"/>
          </a:ln>
        </p:spPr>
      </p:sp>
      <p:sp>
        <p:nvSpPr>
          <p:cNvPr id="58" name="Shape 54"/>
          <p:cNvSpPr/>
          <p:nvPr/>
        </p:nvSpPr>
        <p:spPr>
          <a:xfrm>
            <a:off x="6283208" y="2143354"/>
            <a:ext cx="24872" cy="0"/>
          </a:xfrm>
          <a:prstGeom prst="line">
            <a:avLst/>
          </a:prstGeom>
          <a:noFill/>
          <a:ln w="9525">
            <a:solidFill>
              <a:srgbClr val="09122C"/>
            </a:solidFill>
            <a:prstDash val="solid"/>
          </a:ln>
        </p:spPr>
      </p:sp>
      <p:sp>
        <p:nvSpPr>
          <p:cNvPr id="59" name="Shape 55"/>
          <p:cNvSpPr/>
          <p:nvPr/>
        </p:nvSpPr>
        <p:spPr>
          <a:xfrm>
            <a:off x="6407567" y="2143354"/>
            <a:ext cx="24872" cy="0"/>
          </a:xfrm>
          <a:prstGeom prst="line">
            <a:avLst/>
          </a:prstGeom>
          <a:noFill/>
          <a:ln w="9525">
            <a:solidFill>
              <a:srgbClr val="09122C"/>
            </a:solidFill>
            <a:prstDash val="solid"/>
          </a:ln>
        </p:spPr>
      </p:sp>
      <p:sp>
        <p:nvSpPr>
          <p:cNvPr id="60" name="Shape 56"/>
          <p:cNvSpPr/>
          <p:nvPr/>
        </p:nvSpPr>
        <p:spPr>
          <a:xfrm>
            <a:off x="6188659" y="2304288"/>
            <a:ext cx="2537460" cy="676656"/>
          </a:xfrm>
          <a:prstGeom prst="roundRect">
            <a:avLst>
              <a:gd name="adj" fmla="val 9459"/>
            </a:avLst>
          </a:prstGeom>
          <a:solidFill>
            <a:srgbClr val="111C55">
              <a:alpha val="74000"/>
            </a:srgbClr>
          </a:solidFill>
          <a:ln w="9525">
            <a:solidFill>
              <a:srgbClr val="3A4A8C">
                <a:alpha val="70000"/>
              </a:srgbClr>
            </a:solidFill>
            <a:prstDash val="solid"/>
          </a:ln>
        </p:spPr>
      </p:sp>
      <p:sp>
        <p:nvSpPr>
          <p:cNvPr id="61" name="Text 57"/>
          <p:cNvSpPr txBox="1"/>
          <p:nvPr/>
        </p:nvSpPr>
        <p:spPr>
          <a:xfrm>
            <a:off x="6298387" y="2340864"/>
            <a:ext cx="2318004" cy="256032"/>
          </a:xfrm>
          <a:prstGeom prst="rect">
            <a:avLst/>
          </a:prstGeom>
          <a:noFill/>
          <a:ln/>
        </p:spPr>
        <p:txBody>
          <a:bodyPr wrap="square" lIns="0" tIns="0" rIns="0" bIns="0" rtlCol="0" anchor="t"/>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Photographic evidence is cheap to fabricate</a:t>
            </a:r>
            <a:endParaRPr lang="en-US" sz="850" dirty="0"/>
          </a:p>
        </p:txBody>
      </p:sp>
      <p:sp>
        <p:nvSpPr>
          <p:cNvPr id="62" name="Text 58"/>
          <p:cNvSpPr txBox="1"/>
          <p:nvPr/>
        </p:nvSpPr>
        <p:spPr>
          <a:xfrm>
            <a:off x="6298387" y="2596896"/>
            <a:ext cx="2318004" cy="182880"/>
          </a:xfrm>
          <a:prstGeom prst="rect">
            <a:avLst/>
          </a:prstGeom>
          <a:noFill/>
          <a:ln/>
        </p:spPr>
        <p:txBody>
          <a:bodyPr wrap="square" lIns="0" tIns="0" rIns="0" bIns="0" rtlCol="0" anchor="ctr"/>
          <a:lstStyle/>
          <a:p>
            <a:pPr marL="0" indent="0">
              <a:buNone/>
            </a:pPr>
            <a:r>
              <a:rPr lang="en-US" sz="850" dirty="0">
                <a:solidFill>
                  <a:srgbClr val="BDB6F5"/>
                </a:solidFill>
                <a:latin typeface="Calibri" pitchFamily="34" charset="0"/>
                <a:ea typeface="Calibri" pitchFamily="34" charset="-122"/>
                <a:cs typeface="Calibri" pitchFamily="34" charset="-120"/>
              </a:rPr>
              <a:t>95% manipulated-image detection in 3 s</a:t>
            </a:r>
            <a:endParaRPr lang="en-US" sz="850" dirty="0"/>
          </a:p>
        </p:txBody>
      </p:sp>
      <p:sp>
        <p:nvSpPr>
          <p:cNvPr id="63" name="Text 59"/>
          <p:cNvSpPr txBox="1"/>
          <p:nvPr/>
        </p:nvSpPr>
        <p:spPr>
          <a:xfrm>
            <a:off x="6298387" y="2779776"/>
            <a:ext cx="2318004" cy="164592"/>
          </a:xfrm>
          <a:prstGeom prst="rect">
            <a:avLst/>
          </a:prstGeom>
          <a:noFill/>
          <a:ln/>
        </p:spPr>
        <p:txBody>
          <a:bodyPr wrap="square" lIns="0" tIns="0" rIns="0" bIns="0" rtlCol="0" anchor="ctr"/>
          <a:lstStyle/>
          <a:p>
            <a:pPr marL="0" indent="0">
              <a:buNone/>
            </a:pPr>
            <a:r>
              <a:rPr lang="en-US" sz="650" dirty="0">
                <a:solidFill>
                  <a:srgbClr val="727EA6"/>
                </a:solidFill>
                <a:latin typeface="Calibri" pitchFamily="34" charset="0"/>
                <a:ea typeface="Calibri" pitchFamily="34" charset="-122"/>
                <a:cs typeface="Calibri" pitchFamily="34" charset="-120"/>
              </a:rPr>
              <a:t>NVIDIA / ControlExpert  ·  </a:t>
            </a:r>
            <a:r>
              <a:rPr lang="en-US" sz="650" b="1" dirty="0">
                <a:solidFill>
                  <a:srgbClr val="8FDDE3"/>
                </a:solidFill>
                <a:latin typeface="Calibri" pitchFamily="34" charset="0"/>
                <a:ea typeface="Calibri" pitchFamily="34" charset="-122"/>
                <a:cs typeface="Calibri" pitchFamily="34" charset="-120"/>
              </a:rPr>
              <a:t>BENCHMARK</a:t>
            </a:r>
            <a:endParaRPr lang="en-US" sz="650" dirty="0"/>
          </a:p>
        </p:txBody>
      </p:sp>
      <p:sp>
        <p:nvSpPr>
          <p:cNvPr id="64" name="Shape 60"/>
          <p:cNvSpPr/>
          <p:nvPr/>
        </p:nvSpPr>
        <p:spPr>
          <a:xfrm>
            <a:off x="6188659" y="3054096"/>
            <a:ext cx="2537460" cy="676656"/>
          </a:xfrm>
          <a:prstGeom prst="roundRect">
            <a:avLst>
              <a:gd name="adj" fmla="val 9459"/>
            </a:avLst>
          </a:prstGeom>
          <a:solidFill>
            <a:srgbClr val="111C55">
              <a:alpha val="74000"/>
            </a:srgbClr>
          </a:solidFill>
          <a:ln w="9525">
            <a:solidFill>
              <a:srgbClr val="3A4A8C">
                <a:alpha val="70000"/>
              </a:srgbClr>
            </a:solidFill>
            <a:prstDash val="solid"/>
          </a:ln>
        </p:spPr>
      </p:sp>
      <p:sp>
        <p:nvSpPr>
          <p:cNvPr id="65" name="Text 61"/>
          <p:cNvSpPr txBox="1"/>
          <p:nvPr/>
        </p:nvSpPr>
        <p:spPr>
          <a:xfrm>
            <a:off x="6298387" y="3090672"/>
            <a:ext cx="2318004" cy="256032"/>
          </a:xfrm>
          <a:prstGeom prst="rect">
            <a:avLst/>
          </a:prstGeom>
          <a:noFill/>
          <a:ln/>
        </p:spPr>
        <p:txBody>
          <a:bodyPr wrap="square" lIns="0" tIns="0" rIns="0" bIns="0" rtlCol="0" anchor="t"/>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Electric vehicles change what a claim looks like</a:t>
            </a:r>
            <a:endParaRPr lang="en-US" sz="850" dirty="0"/>
          </a:p>
        </p:txBody>
      </p:sp>
      <p:sp>
        <p:nvSpPr>
          <p:cNvPr id="66" name="Text 62"/>
          <p:cNvSpPr txBox="1"/>
          <p:nvPr/>
        </p:nvSpPr>
        <p:spPr>
          <a:xfrm>
            <a:off x="6298387" y="3346704"/>
            <a:ext cx="2318004" cy="182880"/>
          </a:xfrm>
          <a:prstGeom prst="rect">
            <a:avLst/>
          </a:prstGeom>
          <a:noFill/>
          <a:ln/>
        </p:spPr>
        <p:txBody>
          <a:bodyPr wrap="square" lIns="0" tIns="0" rIns="0" bIns="0" rtlCol="0" anchor="ctr"/>
          <a:lstStyle/>
          <a:p>
            <a:pPr marL="0" indent="0">
              <a:buNone/>
            </a:pPr>
            <a:r>
              <a:rPr lang="en-US" sz="850" dirty="0">
                <a:solidFill>
                  <a:srgbClr val="BDB6F5"/>
                </a:solidFill>
                <a:latin typeface="Calibri" pitchFamily="34" charset="0"/>
                <a:ea typeface="Calibri" pitchFamily="34" charset="-122"/>
                <a:cs typeface="Calibri" pitchFamily="34" charset="-120"/>
              </a:rPr>
              <a:t>battery is 40–50% of insured declared value</a:t>
            </a:r>
            <a:endParaRPr lang="en-US" sz="850" dirty="0"/>
          </a:p>
        </p:txBody>
      </p:sp>
      <p:sp>
        <p:nvSpPr>
          <p:cNvPr id="67" name="Text 63"/>
          <p:cNvSpPr txBox="1"/>
          <p:nvPr/>
        </p:nvSpPr>
        <p:spPr>
          <a:xfrm>
            <a:off x="6298387" y="3529584"/>
            <a:ext cx="2318004" cy="164592"/>
          </a:xfrm>
          <a:prstGeom prst="rect">
            <a:avLst/>
          </a:prstGeom>
          <a:noFill/>
          <a:ln/>
        </p:spPr>
        <p:txBody>
          <a:bodyPr wrap="square" lIns="0" tIns="0" rIns="0" bIns="0" rtlCol="0" anchor="ctr"/>
          <a:lstStyle/>
          <a:p>
            <a:pPr marL="0" indent="0">
              <a:buNone/>
            </a:pPr>
            <a:r>
              <a:rPr lang="en-US" sz="650" dirty="0">
                <a:solidFill>
                  <a:srgbClr val="727EA6"/>
                </a:solidFill>
                <a:latin typeface="Calibri" pitchFamily="34" charset="0"/>
                <a:ea typeface="Calibri" pitchFamily="34" charset="-122"/>
                <a:cs typeface="Calibri" pitchFamily="34" charset="-120"/>
              </a:rPr>
              <a:t>Zurich Kotak, 2026  ·  EV retail share crossed 12%  ·  </a:t>
            </a:r>
            <a:r>
              <a:rPr lang="en-US" sz="650" b="1" dirty="0">
                <a:solidFill>
                  <a:srgbClr val="8FDDE3"/>
                </a:solidFill>
                <a:latin typeface="Calibri" pitchFamily="34" charset="0"/>
                <a:ea typeface="Calibri" pitchFamily="34" charset="-122"/>
                <a:cs typeface="Calibri" pitchFamily="34" charset="-120"/>
              </a:rPr>
              <a:t>BENCHMARK</a:t>
            </a:r>
            <a:endParaRPr lang="en-US" sz="650" dirty="0"/>
          </a:p>
        </p:txBody>
      </p:sp>
      <p:sp>
        <p:nvSpPr>
          <p:cNvPr id="68" name="Shape 64"/>
          <p:cNvSpPr/>
          <p:nvPr/>
        </p:nvSpPr>
        <p:spPr>
          <a:xfrm>
            <a:off x="8890711" y="1993392"/>
            <a:ext cx="2537460" cy="237744"/>
          </a:xfrm>
          <a:prstGeom prst="roundRect">
            <a:avLst>
              <a:gd name="adj" fmla="val 50000"/>
            </a:avLst>
          </a:prstGeom>
          <a:solidFill>
            <a:srgbClr val="ED7D31"/>
          </a:solidFill>
          <a:ln w="9525">
            <a:solidFill>
              <a:srgbClr val="ED7D31"/>
            </a:solidFill>
            <a:prstDash val="solid"/>
          </a:ln>
        </p:spPr>
      </p:sp>
      <p:sp>
        <p:nvSpPr>
          <p:cNvPr id="69" name="Text 65"/>
          <p:cNvSpPr txBox="1"/>
          <p:nvPr/>
        </p:nvSpPr>
        <p:spPr>
          <a:xfrm>
            <a:off x="8890711" y="1993392"/>
            <a:ext cx="2537460" cy="237744"/>
          </a:xfrm>
          <a:prstGeom prst="rect">
            <a:avLst/>
          </a:prstGeom>
          <a:noFill/>
          <a:ln/>
        </p:spPr>
        <p:txBody>
          <a:bodyPr wrap="square" lIns="0" tIns="0" rIns="0" bIns="0" rtlCol="0" anchor="ctr"/>
          <a:lstStyle/>
          <a:p>
            <a:pPr marL="0" indent="0" algn="ctr">
              <a:buNone/>
            </a:pPr>
            <a:r>
              <a:rPr lang="en-US" sz="800" b="1" kern="0" spc="60" dirty="0">
                <a:solidFill>
                  <a:srgbClr val="09122C"/>
                </a:solidFill>
                <a:latin typeface="Calibri" pitchFamily="34" charset="0"/>
                <a:ea typeface="Calibri" pitchFamily="34" charset="-122"/>
                <a:cs typeface="Calibri" pitchFamily="34" charset="-120"/>
              </a:rPr>
              <a:t>INDUSTRY</a:t>
            </a:r>
            <a:endParaRPr lang="en-US" sz="800" dirty="0"/>
          </a:p>
        </p:txBody>
      </p:sp>
      <p:sp>
        <p:nvSpPr>
          <p:cNvPr id="70" name="Shape 66"/>
          <p:cNvSpPr/>
          <p:nvPr/>
        </p:nvSpPr>
        <p:spPr>
          <a:xfrm>
            <a:off x="8982151" y="2034540"/>
            <a:ext cx="155448" cy="155448"/>
          </a:xfrm>
          <a:prstGeom prst="roundRect">
            <a:avLst>
              <a:gd name="adj" fmla="val 22000"/>
            </a:avLst>
          </a:prstGeom>
          <a:ln w="13970">
            <a:solidFill>
              <a:srgbClr val="09122C"/>
            </a:solidFill>
            <a:prstDash val="solid"/>
          </a:ln>
        </p:spPr>
      </p:sp>
      <p:sp>
        <p:nvSpPr>
          <p:cNvPr id="71" name="Text 67"/>
          <p:cNvSpPr txBox="1"/>
          <p:nvPr/>
        </p:nvSpPr>
        <p:spPr>
          <a:xfrm>
            <a:off x="8982151" y="2034540"/>
            <a:ext cx="155448" cy="155448"/>
          </a:xfrm>
          <a:prstGeom prst="rect">
            <a:avLst/>
          </a:prstGeom>
          <a:noFill/>
          <a:ln/>
        </p:spPr>
        <p:txBody>
          <a:bodyPr wrap="square" lIns="0" tIns="0" rIns="0" bIns="0" rtlCol="0" anchor="ctr"/>
          <a:lstStyle/>
          <a:p>
            <a:pPr marL="0" indent="0" algn="ctr">
              <a:buNone/>
            </a:pPr>
            <a:r>
              <a:rPr lang="en-US" sz="1054" b="1" dirty="0">
                <a:solidFill>
                  <a:srgbClr val="09122C"/>
                </a:solidFill>
                <a:latin typeface="Calibri" pitchFamily="34" charset="0"/>
                <a:ea typeface="Calibri" pitchFamily="34" charset="-122"/>
                <a:cs typeface="Calibri" pitchFamily="34" charset="-120"/>
              </a:rPr>
              <a:t>₹</a:t>
            </a:r>
            <a:endParaRPr lang="en-US" sz="1054" dirty="0"/>
          </a:p>
        </p:txBody>
      </p:sp>
      <p:sp>
        <p:nvSpPr>
          <p:cNvPr id="72" name="Shape 68"/>
          <p:cNvSpPr/>
          <p:nvPr/>
        </p:nvSpPr>
        <p:spPr>
          <a:xfrm>
            <a:off x="8890711" y="2304288"/>
            <a:ext cx="2537460" cy="676656"/>
          </a:xfrm>
          <a:prstGeom prst="roundRect">
            <a:avLst>
              <a:gd name="adj" fmla="val 9459"/>
            </a:avLst>
          </a:prstGeom>
          <a:solidFill>
            <a:srgbClr val="111C55">
              <a:alpha val="74000"/>
            </a:srgbClr>
          </a:solidFill>
          <a:ln w="9525">
            <a:solidFill>
              <a:srgbClr val="3A4A8C">
                <a:alpha val="70000"/>
              </a:srgbClr>
            </a:solidFill>
            <a:prstDash val="solid"/>
          </a:ln>
        </p:spPr>
      </p:sp>
      <p:sp>
        <p:nvSpPr>
          <p:cNvPr id="73" name="Text 69"/>
          <p:cNvSpPr txBox="1"/>
          <p:nvPr/>
        </p:nvSpPr>
        <p:spPr>
          <a:xfrm>
            <a:off x="9000439" y="2340864"/>
            <a:ext cx="2318004" cy="256032"/>
          </a:xfrm>
          <a:prstGeom prst="rect">
            <a:avLst/>
          </a:prstGeom>
          <a:noFill/>
          <a:ln/>
        </p:spPr>
        <p:txBody>
          <a:bodyPr wrap="square" lIns="0" tIns="0" rIns="0" bIns="0" rtlCol="0" anchor="t"/>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Soft motor pricing against stressed underwriting</a:t>
            </a:r>
            <a:endParaRPr lang="en-US" sz="850" dirty="0"/>
          </a:p>
        </p:txBody>
      </p:sp>
      <p:sp>
        <p:nvSpPr>
          <p:cNvPr id="74" name="Text 70"/>
          <p:cNvSpPr txBox="1"/>
          <p:nvPr/>
        </p:nvSpPr>
        <p:spPr>
          <a:xfrm>
            <a:off x="9000439" y="2596896"/>
            <a:ext cx="2318004" cy="182880"/>
          </a:xfrm>
          <a:prstGeom prst="rect">
            <a:avLst/>
          </a:prstGeom>
          <a:noFill/>
          <a:ln/>
        </p:spPr>
        <p:txBody>
          <a:bodyPr wrap="square" lIns="0" tIns="0" rIns="0" bIns="0" rtlCol="0" anchor="ctr"/>
          <a:lstStyle/>
          <a:p>
            <a:pPr marL="0" indent="0">
              <a:buNone/>
            </a:pPr>
            <a:r>
              <a:rPr lang="en-US" sz="850" dirty="0">
                <a:solidFill>
                  <a:srgbClr val="F7B183"/>
                </a:solidFill>
                <a:latin typeface="Calibri" pitchFamily="34" charset="0"/>
                <a:ea typeface="Calibri" pitchFamily="34" charset="-122"/>
                <a:cs typeface="Calibri" pitchFamily="34" charset="-120"/>
              </a:rPr>
              <a:t>GWP +11.3% into a loss-making book</a:t>
            </a:r>
            <a:endParaRPr lang="en-US" sz="850" dirty="0"/>
          </a:p>
        </p:txBody>
      </p:sp>
      <p:sp>
        <p:nvSpPr>
          <p:cNvPr id="75" name="Text 71"/>
          <p:cNvSpPr txBox="1"/>
          <p:nvPr/>
        </p:nvSpPr>
        <p:spPr>
          <a:xfrm>
            <a:off x="9000439" y="2779776"/>
            <a:ext cx="2318004" cy="164592"/>
          </a:xfrm>
          <a:prstGeom prst="rect">
            <a:avLst/>
          </a:prstGeom>
          <a:noFill/>
          <a:ln/>
        </p:spPr>
        <p:txBody>
          <a:bodyPr wrap="square" lIns="0" tIns="0" rIns="0" bIns="0" rtlCol="0" anchor="ctr"/>
          <a:lstStyle/>
          <a:p>
            <a:pPr marL="0" indent="0">
              <a:buNone/>
            </a:pPr>
            <a:r>
              <a:rPr lang="en-US" sz="650" dirty="0">
                <a:solidFill>
                  <a:srgbClr val="727EA6"/>
                </a:solidFill>
                <a:latin typeface="Calibri" pitchFamily="34" charset="0"/>
                <a:ea typeface="Calibri" pitchFamily="34" charset="-122"/>
                <a:cs typeface="Calibri" pitchFamily="34" charset="-120"/>
              </a:rPr>
              <a:t>Bajaj Q1 FY27, 31 Jul 2026  ·  </a:t>
            </a:r>
            <a:r>
              <a:rPr lang="en-US" sz="650" b="1" dirty="0">
                <a:solidFill>
                  <a:srgbClr val="9CC3E8"/>
                </a:solidFill>
                <a:latin typeface="Calibri" pitchFamily="34" charset="0"/>
                <a:ea typeface="Calibri" pitchFamily="34" charset="-122"/>
                <a:cs typeface="Calibri" pitchFamily="34" charset="-120"/>
              </a:rPr>
              <a:t>FACT</a:t>
            </a:r>
            <a:endParaRPr lang="en-US" sz="650" dirty="0"/>
          </a:p>
        </p:txBody>
      </p:sp>
      <p:sp>
        <p:nvSpPr>
          <p:cNvPr id="76" name="Shape 72"/>
          <p:cNvSpPr/>
          <p:nvPr/>
        </p:nvSpPr>
        <p:spPr>
          <a:xfrm>
            <a:off x="8890711" y="3054096"/>
            <a:ext cx="2537460" cy="676656"/>
          </a:xfrm>
          <a:prstGeom prst="roundRect">
            <a:avLst>
              <a:gd name="adj" fmla="val 9459"/>
            </a:avLst>
          </a:prstGeom>
          <a:solidFill>
            <a:srgbClr val="111C55">
              <a:alpha val="74000"/>
            </a:srgbClr>
          </a:solidFill>
          <a:ln w="9525">
            <a:solidFill>
              <a:srgbClr val="3A4A8C">
                <a:alpha val="70000"/>
              </a:srgbClr>
            </a:solidFill>
            <a:prstDash val="solid"/>
          </a:ln>
        </p:spPr>
      </p:sp>
      <p:sp>
        <p:nvSpPr>
          <p:cNvPr id="77" name="Text 73"/>
          <p:cNvSpPr txBox="1"/>
          <p:nvPr/>
        </p:nvSpPr>
        <p:spPr>
          <a:xfrm>
            <a:off x="9000439" y="3090672"/>
            <a:ext cx="2318004" cy="256032"/>
          </a:xfrm>
          <a:prstGeom prst="rect">
            <a:avLst/>
          </a:prstGeom>
          <a:noFill/>
          <a:ln/>
        </p:spPr>
        <p:txBody>
          <a:bodyPr wrap="square" lIns="0" tIns="0" rIns="0" bIns="0" rtlCol="0" anchor="t"/>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Leakage concentrated in the mid-ticket band</a:t>
            </a:r>
            <a:endParaRPr lang="en-US" sz="850" dirty="0"/>
          </a:p>
        </p:txBody>
      </p:sp>
      <p:sp>
        <p:nvSpPr>
          <p:cNvPr id="78" name="Text 74"/>
          <p:cNvSpPr txBox="1"/>
          <p:nvPr/>
        </p:nvSpPr>
        <p:spPr>
          <a:xfrm>
            <a:off x="9000439" y="3346704"/>
            <a:ext cx="2318004" cy="182880"/>
          </a:xfrm>
          <a:prstGeom prst="rect">
            <a:avLst/>
          </a:prstGeom>
          <a:noFill/>
          <a:ln/>
        </p:spPr>
        <p:txBody>
          <a:bodyPr wrap="square" lIns="0" tIns="0" rIns="0" bIns="0" rtlCol="0" anchor="ctr"/>
          <a:lstStyle/>
          <a:p>
            <a:pPr marL="0" indent="0">
              <a:buNone/>
            </a:pPr>
            <a:r>
              <a:rPr lang="en-US" sz="850" dirty="0">
                <a:solidFill>
                  <a:srgbClr val="F7B183"/>
                </a:solidFill>
                <a:latin typeface="Calibri" pitchFamily="34" charset="0"/>
                <a:ea typeface="Calibri" pitchFamily="34" charset="-122"/>
                <a:cs typeface="Calibri" pitchFamily="34" charset="-120"/>
              </a:rPr>
              <a:t>₹8,000–10,000 Cr a year</a:t>
            </a:r>
            <a:endParaRPr lang="en-US" sz="850" dirty="0"/>
          </a:p>
        </p:txBody>
      </p:sp>
      <p:sp>
        <p:nvSpPr>
          <p:cNvPr id="79" name="Text 75"/>
          <p:cNvSpPr txBox="1"/>
          <p:nvPr/>
        </p:nvSpPr>
        <p:spPr>
          <a:xfrm>
            <a:off x="9000439" y="3529584"/>
            <a:ext cx="2318004" cy="164592"/>
          </a:xfrm>
          <a:prstGeom prst="rect">
            <a:avLst/>
          </a:prstGeom>
          <a:noFill/>
          <a:ln/>
        </p:spPr>
        <p:txBody>
          <a:bodyPr wrap="square" lIns="0" tIns="0" rIns="0" bIns="0" rtlCol="0" anchor="ctr"/>
          <a:lstStyle/>
          <a:p>
            <a:pPr marL="0" indent="0">
              <a:buNone/>
            </a:pPr>
            <a:r>
              <a:rPr lang="en-US" sz="650" dirty="0">
                <a:solidFill>
                  <a:srgbClr val="727EA6"/>
                </a:solidFill>
                <a:latin typeface="Calibri" pitchFamily="34" charset="0"/>
                <a:ea typeface="Calibri" pitchFamily="34" charset="-122"/>
                <a:cs typeface="Calibri" pitchFamily="34" charset="-120"/>
              </a:rPr>
              <a:t>BCG &amp; Medi Assist, Nov 2025  ·  </a:t>
            </a:r>
            <a:r>
              <a:rPr lang="en-US" sz="650" b="1" dirty="0">
                <a:solidFill>
                  <a:srgbClr val="BDB6F5"/>
                </a:solidFill>
                <a:latin typeface="Calibri" pitchFamily="34" charset="0"/>
                <a:ea typeface="Calibri" pitchFamily="34" charset="-122"/>
                <a:cs typeface="Calibri" pitchFamily="34" charset="-120"/>
              </a:rPr>
              <a:t>PROXY</a:t>
            </a:r>
            <a:endParaRPr lang="en-US" sz="650" dirty="0"/>
          </a:p>
        </p:txBody>
      </p:sp>
      <p:sp>
        <p:nvSpPr>
          <p:cNvPr id="80" name="Shape 76"/>
          <p:cNvSpPr/>
          <p:nvPr/>
        </p:nvSpPr>
        <p:spPr>
          <a:xfrm>
            <a:off x="638251" y="3986784"/>
            <a:ext cx="7406640" cy="1700784"/>
          </a:xfrm>
          <a:prstGeom prst="roundRect">
            <a:avLst>
              <a:gd name="adj" fmla="val 4839"/>
            </a:avLst>
          </a:prstGeom>
          <a:solidFill>
            <a:srgbClr val="111C55">
              <a:alpha val="74000"/>
            </a:srgbClr>
          </a:solidFill>
          <a:ln w="9525">
            <a:solidFill>
              <a:srgbClr val="3A4A8C">
                <a:alpha val="70000"/>
              </a:srgbClr>
            </a:solidFill>
            <a:prstDash val="solid"/>
          </a:ln>
        </p:spPr>
      </p:sp>
      <p:sp>
        <p:nvSpPr>
          <p:cNvPr id="81" name="Shape 77"/>
          <p:cNvSpPr/>
          <p:nvPr/>
        </p:nvSpPr>
        <p:spPr>
          <a:xfrm>
            <a:off x="784555" y="4117360"/>
            <a:ext cx="173736" cy="142464"/>
          </a:xfrm>
          <a:prstGeom prst="roundRect">
            <a:avLst>
              <a:gd name="adj" fmla="val 9756"/>
            </a:avLst>
          </a:prstGeom>
          <a:ln w="13970">
            <a:solidFill>
              <a:srgbClr val="F7B183"/>
            </a:solidFill>
            <a:prstDash val="solid"/>
          </a:ln>
        </p:spPr>
      </p:sp>
      <p:sp>
        <p:nvSpPr>
          <p:cNvPr id="82" name="Shape 78"/>
          <p:cNvSpPr/>
          <p:nvPr/>
        </p:nvSpPr>
        <p:spPr>
          <a:xfrm>
            <a:off x="784555" y="4162532"/>
            <a:ext cx="173736" cy="0"/>
          </a:xfrm>
          <a:prstGeom prst="line">
            <a:avLst/>
          </a:prstGeom>
          <a:noFill/>
          <a:ln w="12700">
            <a:solidFill>
              <a:srgbClr val="F7B183"/>
            </a:solidFill>
            <a:prstDash val="solid"/>
          </a:ln>
        </p:spPr>
      </p:sp>
      <p:sp>
        <p:nvSpPr>
          <p:cNvPr id="83" name="Shape 79"/>
          <p:cNvSpPr/>
          <p:nvPr/>
        </p:nvSpPr>
        <p:spPr>
          <a:xfrm>
            <a:off x="829727" y="4096512"/>
            <a:ext cx="0" cy="20848"/>
          </a:xfrm>
          <a:prstGeom prst="line">
            <a:avLst/>
          </a:prstGeom>
          <a:noFill/>
          <a:ln w="12700">
            <a:solidFill>
              <a:srgbClr val="F7B183"/>
            </a:solidFill>
            <a:prstDash val="solid"/>
          </a:ln>
        </p:spPr>
      </p:sp>
      <p:sp>
        <p:nvSpPr>
          <p:cNvPr id="84" name="Shape 80"/>
          <p:cNvSpPr/>
          <p:nvPr/>
        </p:nvSpPr>
        <p:spPr>
          <a:xfrm>
            <a:off x="913120" y="4096512"/>
            <a:ext cx="0" cy="20848"/>
          </a:xfrm>
          <a:prstGeom prst="line">
            <a:avLst/>
          </a:prstGeom>
          <a:noFill/>
          <a:ln w="12700">
            <a:solidFill>
              <a:srgbClr val="F7B183"/>
            </a:solidFill>
            <a:prstDash val="solid"/>
          </a:ln>
        </p:spPr>
      </p:sp>
      <p:sp>
        <p:nvSpPr>
          <p:cNvPr id="85" name="Text 81"/>
          <p:cNvSpPr txBox="1"/>
          <p:nvPr/>
        </p:nvSpPr>
        <p:spPr>
          <a:xfrm>
            <a:off x="1031443" y="4059936"/>
            <a:ext cx="6867144" cy="237744"/>
          </a:xfrm>
          <a:prstGeom prst="rect">
            <a:avLst/>
          </a:prstGeom>
          <a:noFill/>
          <a:ln/>
        </p:spPr>
        <p:txBody>
          <a:bodyPr wrap="square" lIns="0" tIns="0" rIns="0" bIns="0" rtlCol="0" anchor="ctr"/>
          <a:lstStyle/>
          <a:p>
            <a:pPr marL="0" indent="0">
              <a:buNone/>
            </a:pPr>
            <a:r>
              <a:rPr lang="en-US" sz="900" b="1" kern="0" spc="110" dirty="0">
                <a:solidFill>
                  <a:srgbClr val="F7B183"/>
                </a:solidFill>
                <a:latin typeface="Calibri" pitchFamily="34" charset="0"/>
                <a:ea typeface="Calibri" pitchFamily="34" charset="-122"/>
                <a:cs typeface="Calibri" pitchFamily="34" charset="-120"/>
              </a:rPr>
              <a:t>THREE OBLIGATIONS LAND INSIDE THE INVESTMENT WINDOW</a:t>
            </a:r>
            <a:endParaRPr lang="en-US" sz="900" dirty="0"/>
          </a:p>
        </p:txBody>
      </p:sp>
      <p:sp>
        <p:nvSpPr>
          <p:cNvPr id="86" name="Shape 82"/>
          <p:cNvSpPr/>
          <p:nvPr/>
        </p:nvSpPr>
        <p:spPr>
          <a:xfrm>
            <a:off x="875995" y="4553712"/>
            <a:ext cx="4620768" cy="0"/>
          </a:xfrm>
          <a:prstGeom prst="line">
            <a:avLst/>
          </a:prstGeom>
          <a:noFill/>
          <a:ln w="19050">
            <a:solidFill>
              <a:srgbClr val="3A4A8C"/>
            </a:solidFill>
            <a:prstDash val="solid"/>
          </a:ln>
        </p:spPr>
      </p:sp>
      <p:sp>
        <p:nvSpPr>
          <p:cNvPr id="87" name="Shape 83"/>
          <p:cNvSpPr/>
          <p:nvPr/>
        </p:nvSpPr>
        <p:spPr>
          <a:xfrm>
            <a:off x="807415" y="4485132"/>
            <a:ext cx="137160" cy="137160"/>
          </a:xfrm>
          <a:prstGeom prst="ellipse">
            <a:avLst/>
          </a:prstGeom>
          <a:solidFill>
            <a:srgbClr val="ED7D31"/>
          </a:solidFill>
          <a:ln w="9525">
            <a:solidFill>
              <a:srgbClr val="FFFFFF"/>
            </a:solidFill>
            <a:prstDash val="solid"/>
          </a:ln>
        </p:spPr>
      </p:sp>
      <p:sp>
        <p:nvSpPr>
          <p:cNvPr id="88" name="Text 84"/>
          <p:cNvSpPr txBox="1"/>
          <p:nvPr/>
        </p:nvSpPr>
        <p:spPr>
          <a:xfrm>
            <a:off x="857707" y="4663440"/>
            <a:ext cx="2164080" cy="182880"/>
          </a:xfrm>
          <a:prstGeom prst="rect">
            <a:avLst/>
          </a:prstGeom>
          <a:noFill/>
          <a:ln/>
        </p:spPr>
        <p:txBody>
          <a:bodyPr wrap="square" lIns="0" tIns="0" rIns="0" bIns="0" rtlCol="0" anchor="ctr"/>
          <a:lstStyle/>
          <a:p>
            <a:pPr marL="0" indent="0">
              <a:buNone/>
            </a:pPr>
            <a:r>
              <a:rPr lang="en-US" sz="800" b="1" dirty="0">
                <a:solidFill>
                  <a:srgbClr val="F7B183"/>
                </a:solidFill>
                <a:latin typeface="Calibri" pitchFamily="34" charset="0"/>
                <a:ea typeface="Calibri" pitchFamily="34" charset="-122"/>
                <a:cs typeface="Calibri" pitchFamily="34" charset="-120"/>
              </a:rPr>
              <a:t>1 APR 2026</a:t>
            </a:r>
            <a:endParaRPr lang="en-US" sz="800" dirty="0"/>
          </a:p>
        </p:txBody>
      </p:sp>
      <p:sp>
        <p:nvSpPr>
          <p:cNvPr id="89" name="Text 85"/>
          <p:cNvSpPr txBox="1"/>
          <p:nvPr/>
        </p:nvSpPr>
        <p:spPr>
          <a:xfrm>
            <a:off x="857707" y="4828032"/>
            <a:ext cx="2164080" cy="219456"/>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IRDAI Fraud Monitoring Framework</a:t>
            </a:r>
            <a:endParaRPr lang="en-US" sz="900" dirty="0"/>
          </a:p>
        </p:txBody>
      </p:sp>
      <p:sp>
        <p:nvSpPr>
          <p:cNvPr id="90" name="Text 86"/>
          <p:cNvSpPr txBox="1"/>
          <p:nvPr/>
        </p:nvSpPr>
        <p:spPr>
          <a:xfrm>
            <a:off x="857707" y="5029200"/>
            <a:ext cx="2164080" cy="475488"/>
          </a:xfrm>
          <a:prstGeom prst="rect">
            <a:avLst/>
          </a:prstGeom>
          <a:noFill/>
          <a:ln/>
        </p:spPr>
        <p:txBody>
          <a:bodyPr wrap="square" lIns="0" tIns="0" rIns="0" bIns="0" rtlCol="0" anchor="t"/>
          <a:lstStyle/>
          <a:p>
            <a:pPr marL="0" indent="0">
              <a:lnSpc>
                <a:spcPts val="950"/>
              </a:lnSpc>
              <a:buNone/>
            </a:pPr>
            <a:r>
              <a:rPr lang="en-US" sz="800" dirty="0">
                <a:solidFill>
                  <a:srgbClr val="9AA4C6"/>
                </a:solidFill>
                <a:latin typeface="Calibri" pitchFamily="34" charset="0"/>
                <a:ea typeface="Calibri" pitchFamily="34" charset="-122"/>
                <a:cs typeface="Calibri" pitchFamily="34" charset="-120"/>
              </a:rPr>
              <a:t>board-governed fraud monitoring becomes compulsory</a:t>
            </a:r>
            <a:endParaRPr lang="en-US" sz="800" dirty="0"/>
          </a:p>
        </p:txBody>
      </p:sp>
      <p:sp>
        <p:nvSpPr>
          <p:cNvPr id="91" name="Shape 87"/>
          <p:cNvSpPr/>
          <p:nvPr/>
        </p:nvSpPr>
        <p:spPr>
          <a:xfrm>
            <a:off x="3117799" y="4485132"/>
            <a:ext cx="137160" cy="137160"/>
          </a:xfrm>
          <a:prstGeom prst="ellipse">
            <a:avLst/>
          </a:prstGeom>
          <a:solidFill>
            <a:srgbClr val="ED7D31"/>
          </a:solidFill>
          <a:ln w="9525">
            <a:solidFill>
              <a:srgbClr val="FFFFFF"/>
            </a:solidFill>
            <a:prstDash val="solid"/>
          </a:ln>
        </p:spPr>
      </p:sp>
      <p:sp>
        <p:nvSpPr>
          <p:cNvPr id="92" name="Text 88"/>
          <p:cNvSpPr txBox="1"/>
          <p:nvPr/>
        </p:nvSpPr>
        <p:spPr>
          <a:xfrm>
            <a:off x="3168091" y="4663440"/>
            <a:ext cx="2164080" cy="182880"/>
          </a:xfrm>
          <a:prstGeom prst="rect">
            <a:avLst/>
          </a:prstGeom>
          <a:noFill/>
          <a:ln/>
        </p:spPr>
        <p:txBody>
          <a:bodyPr wrap="square" lIns="0" tIns="0" rIns="0" bIns="0" rtlCol="0" anchor="ctr"/>
          <a:lstStyle/>
          <a:p>
            <a:pPr marL="0" indent="0">
              <a:buNone/>
            </a:pPr>
            <a:r>
              <a:rPr lang="en-US" sz="800" b="1" dirty="0">
                <a:solidFill>
                  <a:srgbClr val="F7B183"/>
                </a:solidFill>
                <a:latin typeface="Calibri" pitchFamily="34" charset="0"/>
                <a:ea typeface="Calibri" pitchFamily="34" charset="-122"/>
                <a:cs typeface="Calibri" pitchFamily="34" charset="-120"/>
              </a:rPr>
              <a:t>JUN 2026</a:t>
            </a:r>
            <a:endParaRPr lang="en-US" sz="800" dirty="0"/>
          </a:p>
        </p:txBody>
      </p:sp>
      <p:sp>
        <p:nvSpPr>
          <p:cNvPr id="93" name="Text 89"/>
          <p:cNvSpPr txBox="1"/>
          <p:nvPr/>
        </p:nvSpPr>
        <p:spPr>
          <a:xfrm>
            <a:off x="3168091" y="4828032"/>
            <a:ext cx="2164080" cy="219456"/>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IRDAI AI Working Group constituted</a:t>
            </a:r>
            <a:endParaRPr lang="en-US" sz="900" dirty="0"/>
          </a:p>
        </p:txBody>
      </p:sp>
      <p:sp>
        <p:nvSpPr>
          <p:cNvPr id="94" name="Text 90"/>
          <p:cNvSpPr txBox="1"/>
          <p:nvPr/>
        </p:nvSpPr>
        <p:spPr>
          <a:xfrm>
            <a:off x="3168091" y="5029200"/>
            <a:ext cx="2164080" cy="475488"/>
          </a:xfrm>
          <a:prstGeom prst="rect">
            <a:avLst/>
          </a:prstGeom>
          <a:noFill/>
          <a:ln/>
        </p:spPr>
        <p:txBody>
          <a:bodyPr wrap="square" lIns="0" tIns="0" rIns="0" bIns="0" rtlCol="0" anchor="t"/>
          <a:lstStyle/>
          <a:p>
            <a:pPr marL="0" indent="0">
              <a:lnSpc>
                <a:spcPts val="950"/>
              </a:lnSpc>
              <a:buNone/>
            </a:pPr>
            <a:r>
              <a:rPr lang="en-US" sz="800" dirty="0">
                <a:solidFill>
                  <a:srgbClr val="9AA4C6"/>
                </a:solidFill>
                <a:latin typeface="Calibri" pitchFamily="34" charset="0"/>
                <a:ea typeface="Calibri" pitchFamily="34" charset="-122"/>
                <a:cs typeface="Calibri" pitchFamily="34" charset="-120"/>
              </a:rPr>
              <a:t>governance, safeguards and an AI audit framework</a:t>
            </a:r>
            <a:endParaRPr lang="en-US" sz="800" dirty="0"/>
          </a:p>
        </p:txBody>
      </p:sp>
      <p:sp>
        <p:nvSpPr>
          <p:cNvPr id="95" name="Shape 91"/>
          <p:cNvSpPr/>
          <p:nvPr/>
        </p:nvSpPr>
        <p:spPr>
          <a:xfrm>
            <a:off x="5428183" y="4485132"/>
            <a:ext cx="137160" cy="137160"/>
          </a:xfrm>
          <a:prstGeom prst="ellipse">
            <a:avLst/>
          </a:prstGeom>
          <a:solidFill>
            <a:srgbClr val="ED7D31"/>
          </a:solidFill>
          <a:ln w="9525">
            <a:solidFill>
              <a:srgbClr val="FFFFFF"/>
            </a:solidFill>
            <a:prstDash val="solid"/>
          </a:ln>
        </p:spPr>
      </p:sp>
      <p:sp>
        <p:nvSpPr>
          <p:cNvPr id="96" name="Text 92"/>
          <p:cNvSpPr txBox="1"/>
          <p:nvPr/>
        </p:nvSpPr>
        <p:spPr>
          <a:xfrm>
            <a:off x="5478475" y="4663440"/>
            <a:ext cx="2401824" cy="182880"/>
          </a:xfrm>
          <a:prstGeom prst="rect">
            <a:avLst/>
          </a:prstGeom>
          <a:noFill/>
          <a:ln/>
        </p:spPr>
        <p:txBody>
          <a:bodyPr wrap="square" lIns="0" tIns="0" rIns="0" bIns="0" rtlCol="0" anchor="ctr"/>
          <a:lstStyle/>
          <a:p>
            <a:pPr marL="0" indent="0">
              <a:buNone/>
            </a:pPr>
            <a:r>
              <a:rPr lang="en-US" sz="800" b="1" dirty="0">
                <a:solidFill>
                  <a:srgbClr val="F7B183"/>
                </a:solidFill>
                <a:latin typeface="Calibri" pitchFamily="34" charset="0"/>
                <a:ea typeface="Calibri" pitchFamily="34" charset="-122"/>
                <a:cs typeface="Calibri" pitchFamily="34" charset="-120"/>
              </a:rPr>
              <a:t>13 MAY 2027</a:t>
            </a:r>
            <a:endParaRPr lang="en-US" sz="800" dirty="0"/>
          </a:p>
        </p:txBody>
      </p:sp>
      <p:sp>
        <p:nvSpPr>
          <p:cNvPr id="97" name="Text 93"/>
          <p:cNvSpPr txBox="1"/>
          <p:nvPr/>
        </p:nvSpPr>
        <p:spPr>
          <a:xfrm>
            <a:off x="5478475" y="4828032"/>
            <a:ext cx="2401824" cy="219456"/>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DPDP Rules 2025 — full compliance</a:t>
            </a:r>
            <a:endParaRPr lang="en-US" sz="900" dirty="0"/>
          </a:p>
        </p:txBody>
      </p:sp>
      <p:sp>
        <p:nvSpPr>
          <p:cNvPr id="98" name="Text 94"/>
          <p:cNvSpPr txBox="1"/>
          <p:nvPr/>
        </p:nvSpPr>
        <p:spPr>
          <a:xfrm>
            <a:off x="5478475" y="5029200"/>
            <a:ext cx="2401824" cy="475488"/>
          </a:xfrm>
          <a:prstGeom prst="rect">
            <a:avLst/>
          </a:prstGeom>
          <a:noFill/>
          <a:ln/>
        </p:spPr>
        <p:txBody>
          <a:bodyPr wrap="square" lIns="0" tIns="0" rIns="0" bIns="0" rtlCol="0" anchor="t"/>
          <a:lstStyle/>
          <a:p>
            <a:pPr marL="0" indent="0">
              <a:lnSpc>
                <a:spcPts val="950"/>
              </a:lnSpc>
              <a:buNone/>
            </a:pPr>
            <a:r>
              <a:rPr lang="en-US" sz="800" dirty="0">
                <a:solidFill>
                  <a:srgbClr val="9AA4C6"/>
                </a:solidFill>
                <a:latin typeface="Calibri" pitchFamily="34" charset="0"/>
                <a:ea typeface="Calibri" pitchFamily="34" charset="-122"/>
                <a:cs typeface="Calibri" pitchFamily="34" charset="-120"/>
              </a:rPr>
              <a:t>penalties to ₹250 Cr, with no grace period</a:t>
            </a:r>
            <a:endParaRPr lang="en-US" sz="800" dirty="0"/>
          </a:p>
        </p:txBody>
      </p:sp>
      <p:sp>
        <p:nvSpPr>
          <p:cNvPr id="99" name="Shape 95"/>
          <p:cNvSpPr/>
          <p:nvPr/>
        </p:nvSpPr>
        <p:spPr>
          <a:xfrm>
            <a:off x="8246059" y="3986784"/>
            <a:ext cx="3328416" cy="1700784"/>
          </a:xfrm>
          <a:prstGeom prst="roundRect">
            <a:avLst>
              <a:gd name="adj" fmla="val 4839"/>
            </a:avLst>
          </a:prstGeom>
          <a:solidFill>
            <a:srgbClr val="111C55">
              <a:alpha val="74000"/>
            </a:srgbClr>
          </a:solidFill>
          <a:ln w="12700">
            <a:solidFill>
              <a:srgbClr val="E06666">
                <a:alpha val="78000"/>
              </a:srgbClr>
            </a:solidFill>
            <a:prstDash val="solid"/>
          </a:ln>
        </p:spPr>
      </p:sp>
      <p:sp>
        <p:nvSpPr>
          <p:cNvPr id="100" name="Shape 96"/>
          <p:cNvSpPr/>
          <p:nvPr/>
        </p:nvSpPr>
        <p:spPr>
          <a:xfrm>
            <a:off x="8392363" y="4096512"/>
            <a:ext cx="173736" cy="173736"/>
          </a:xfrm>
          <a:prstGeom prst="triangle">
            <a:avLst/>
          </a:prstGeom>
          <a:ln w="13970">
            <a:solidFill>
              <a:srgbClr val="E06666"/>
            </a:solidFill>
            <a:prstDash val="solid"/>
          </a:ln>
        </p:spPr>
      </p:sp>
      <p:sp>
        <p:nvSpPr>
          <p:cNvPr id="101" name="Shape 97"/>
          <p:cNvSpPr/>
          <p:nvPr/>
        </p:nvSpPr>
        <p:spPr>
          <a:xfrm>
            <a:off x="8474019" y="4155582"/>
            <a:ext cx="10424" cy="52121"/>
          </a:xfrm>
          <a:prstGeom prst="rect">
            <a:avLst/>
          </a:prstGeom>
          <a:solidFill>
            <a:srgbClr val="E06666"/>
          </a:solidFill>
          <a:ln/>
        </p:spPr>
      </p:sp>
      <p:sp>
        <p:nvSpPr>
          <p:cNvPr id="102" name="Shape 98"/>
          <p:cNvSpPr/>
          <p:nvPr/>
        </p:nvSpPr>
        <p:spPr>
          <a:xfrm>
            <a:off x="8474019" y="4221602"/>
            <a:ext cx="10424" cy="12162"/>
          </a:xfrm>
          <a:prstGeom prst="rect">
            <a:avLst/>
          </a:prstGeom>
          <a:solidFill>
            <a:srgbClr val="E06666"/>
          </a:solidFill>
          <a:ln/>
        </p:spPr>
      </p:sp>
      <p:sp>
        <p:nvSpPr>
          <p:cNvPr id="103" name="Text 99"/>
          <p:cNvSpPr txBox="1"/>
          <p:nvPr/>
        </p:nvSpPr>
        <p:spPr>
          <a:xfrm>
            <a:off x="8639251" y="4059936"/>
            <a:ext cx="2788920" cy="237744"/>
          </a:xfrm>
          <a:prstGeom prst="rect">
            <a:avLst/>
          </a:prstGeom>
          <a:noFill/>
          <a:ln/>
        </p:spPr>
        <p:txBody>
          <a:bodyPr wrap="square" lIns="0" tIns="0" rIns="0" bIns="0" rtlCol="0" anchor="ctr"/>
          <a:lstStyle/>
          <a:p>
            <a:pPr marL="0" indent="0">
              <a:buNone/>
            </a:pPr>
            <a:r>
              <a:rPr lang="en-US" sz="900" b="1" kern="0" spc="110" dirty="0">
                <a:solidFill>
                  <a:srgbClr val="E06666"/>
                </a:solidFill>
                <a:latin typeface="Calibri" pitchFamily="34" charset="0"/>
                <a:ea typeface="Calibri" pitchFamily="34" charset="-122"/>
                <a:cs typeface="Calibri" pitchFamily="34" charset="-120"/>
              </a:rPr>
              <a:t>THE ONE THAT THREATENS US</a:t>
            </a:r>
            <a:endParaRPr lang="en-US" sz="900" dirty="0"/>
          </a:p>
        </p:txBody>
      </p:sp>
      <p:sp>
        <p:nvSpPr>
          <p:cNvPr id="104" name="Text 100"/>
          <p:cNvSpPr txBox="1"/>
          <p:nvPr/>
        </p:nvSpPr>
        <p:spPr>
          <a:xfrm>
            <a:off x="8392363" y="4352544"/>
            <a:ext cx="3035808" cy="384048"/>
          </a:xfrm>
          <a:prstGeom prst="rect">
            <a:avLst/>
          </a:prstGeom>
          <a:noFill/>
          <a:ln/>
        </p:spPr>
        <p:txBody>
          <a:bodyPr wrap="square" lIns="0" tIns="0" rIns="0" bIns="0" rtlCol="0" anchor="t"/>
          <a:lstStyle/>
          <a:p>
            <a:pPr marL="0" indent="0">
              <a:lnSpc>
                <a:spcPts val="1300"/>
              </a:lnSpc>
              <a:buNone/>
            </a:pPr>
            <a:r>
              <a:rPr lang="en-US" sz="1100" b="1" dirty="0">
                <a:solidFill>
                  <a:srgbClr val="FFFFFF"/>
                </a:solidFill>
                <a:latin typeface="Calibri" pitchFamily="34" charset="0"/>
                <a:ea typeface="Calibri" pitchFamily="34" charset="-122"/>
                <a:cs typeface="Calibri" pitchFamily="34" charset="-120"/>
              </a:rPr>
              <a:t>No published incidence of synthetic claim media exists anywhere.</a:t>
            </a:r>
            <a:endParaRPr lang="en-US" sz="1100" dirty="0"/>
          </a:p>
        </p:txBody>
      </p:sp>
      <p:sp>
        <p:nvSpPr>
          <p:cNvPr id="105" name="Text 101"/>
          <p:cNvSpPr txBox="1"/>
          <p:nvPr/>
        </p:nvSpPr>
        <p:spPr>
          <a:xfrm>
            <a:off x="8392363" y="4736592"/>
            <a:ext cx="3035808" cy="420624"/>
          </a:xfrm>
          <a:prstGeom prst="rect">
            <a:avLst/>
          </a:prstGeom>
          <a:noFill/>
          <a:ln/>
        </p:spPr>
        <p:txBody>
          <a:bodyPr wrap="square" lIns="0" tIns="0" rIns="0" bIns="0" rtlCol="0" anchor="t"/>
          <a:lstStyle/>
          <a:p>
            <a:pPr marL="0" indent="0">
              <a:lnSpc>
                <a:spcPts val="1050"/>
              </a:lnSpc>
              <a:buNone/>
            </a:pPr>
            <a:r>
              <a:rPr lang="en-US" sz="850" dirty="0">
                <a:solidFill>
                  <a:srgbClr val="C6CEE4"/>
                </a:solidFill>
                <a:latin typeface="Calibri" pitchFamily="34" charset="0"/>
                <a:ea typeface="Calibri" pitchFamily="34" charset="-122"/>
                <a:cs typeface="Calibri" pitchFamily="34" charset="-120"/>
              </a:rPr>
              <a:t>The only vector that moves this case materially, and the only one nobody can size — so we built the architecture around it rather than pricing it in.</a:t>
            </a:r>
            <a:endParaRPr lang="en-US" sz="850" dirty="0"/>
          </a:p>
        </p:txBody>
      </p:sp>
      <p:sp>
        <p:nvSpPr>
          <p:cNvPr id="106" name="Text 102"/>
          <p:cNvSpPr txBox="1"/>
          <p:nvPr/>
        </p:nvSpPr>
        <p:spPr>
          <a:xfrm>
            <a:off x="8392363" y="5138928"/>
            <a:ext cx="3035808" cy="146304"/>
          </a:xfrm>
          <a:prstGeom prst="rect">
            <a:avLst/>
          </a:prstGeom>
          <a:noFill/>
          <a:ln/>
        </p:spPr>
        <p:txBody>
          <a:bodyPr wrap="square" lIns="0" tIns="0" rIns="0" bIns="0" rtlCol="0" anchor="ctr"/>
          <a:lstStyle/>
          <a:p>
            <a:pPr marL="0" indent="0">
              <a:buNone/>
            </a:pPr>
            <a:r>
              <a:rPr lang="en-US" sz="700" b="1" kern="0" spc="90" dirty="0">
                <a:solidFill>
                  <a:srgbClr val="9AD672"/>
                </a:solidFill>
                <a:latin typeface="Calibri" pitchFamily="34" charset="0"/>
                <a:ea typeface="Calibri" pitchFamily="34" charset="-122"/>
                <a:cs typeface="Calibri" pitchFamily="34" charset="-120"/>
              </a:rPr>
              <a:t>EVIDENCE DISCIPLINE</a:t>
            </a:r>
            <a:endParaRPr lang="en-US" sz="700" dirty="0"/>
          </a:p>
        </p:txBody>
      </p:sp>
      <p:sp>
        <p:nvSpPr>
          <p:cNvPr id="107" name="Shape 103"/>
          <p:cNvSpPr/>
          <p:nvPr/>
        </p:nvSpPr>
        <p:spPr>
          <a:xfrm>
            <a:off x="8392363" y="5285232"/>
            <a:ext cx="963168" cy="256032"/>
          </a:xfrm>
          <a:prstGeom prst="roundRect">
            <a:avLst>
              <a:gd name="adj" fmla="val 21429"/>
            </a:avLst>
          </a:prstGeom>
          <a:solidFill>
            <a:srgbClr val="111C55">
              <a:alpha val="70000"/>
            </a:srgbClr>
          </a:solidFill>
          <a:ln w="9525">
            <a:solidFill>
              <a:srgbClr val="3A4A8C">
                <a:alpha val="70000"/>
              </a:srgbClr>
            </a:solidFill>
            <a:prstDash val="solid"/>
          </a:ln>
        </p:spPr>
      </p:sp>
      <p:sp>
        <p:nvSpPr>
          <p:cNvPr id="108" name="Text 104"/>
          <p:cNvSpPr txBox="1"/>
          <p:nvPr/>
        </p:nvSpPr>
        <p:spPr>
          <a:xfrm>
            <a:off x="8392363" y="5285232"/>
            <a:ext cx="963168" cy="256032"/>
          </a:xfrm>
          <a:prstGeom prst="rect">
            <a:avLst/>
          </a:prstGeom>
          <a:noFill/>
          <a:ln/>
        </p:spPr>
        <p:txBody>
          <a:bodyPr wrap="square" lIns="0" tIns="0" rIns="0" bIns="0" rtlCol="0" anchor="ctr"/>
          <a:lstStyle/>
          <a:p>
            <a:pPr marL="0" indent="0" algn="ctr">
              <a:buNone/>
            </a:pPr>
            <a:r>
              <a:rPr lang="en-US" sz="1000" b="1" dirty="0">
                <a:solidFill>
                  <a:srgbClr val="9AD672"/>
                </a:solidFill>
                <a:latin typeface="Calibri" pitchFamily="34" charset="0"/>
                <a:ea typeface="Calibri" pitchFamily="34" charset="-122"/>
                <a:cs typeface="Calibri" pitchFamily="34" charset="-120"/>
              </a:rPr>
              <a:t>18  </a:t>
            </a:r>
            <a:r>
              <a:rPr lang="en-US" sz="750" dirty="0">
                <a:solidFill>
                  <a:srgbClr val="C6CEE4"/>
                </a:solidFill>
                <a:latin typeface="Calibri" pitchFamily="34" charset="0"/>
                <a:ea typeface="Calibri" pitchFamily="34" charset="-122"/>
                <a:cs typeface="Calibri" pitchFamily="34" charset="-120"/>
              </a:rPr>
              <a:t>verified</a:t>
            </a:r>
            <a:endParaRPr lang="en-US" sz="1000" dirty="0"/>
          </a:p>
        </p:txBody>
      </p:sp>
      <p:sp>
        <p:nvSpPr>
          <p:cNvPr id="109" name="Shape 105"/>
          <p:cNvSpPr/>
          <p:nvPr/>
        </p:nvSpPr>
        <p:spPr>
          <a:xfrm>
            <a:off x="9428683" y="5285232"/>
            <a:ext cx="963168" cy="256032"/>
          </a:xfrm>
          <a:prstGeom prst="roundRect">
            <a:avLst>
              <a:gd name="adj" fmla="val 21429"/>
            </a:avLst>
          </a:prstGeom>
          <a:solidFill>
            <a:srgbClr val="111C55">
              <a:alpha val="70000"/>
            </a:srgbClr>
          </a:solidFill>
          <a:ln w="9525">
            <a:solidFill>
              <a:srgbClr val="3A4A8C">
                <a:alpha val="70000"/>
              </a:srgbClr>
            </a:solidFill>
            <a:prstDash val="solid"/>
          </a:ln>
        </p:spPr>
      </p:sp>
      <p:sp>
        <p:nvSpPr>
          <p:cNvPr id="110" name="Text 106"/>
          <p:cNvSpPr txBox="1"/>
          <p:nvPr/>
        </p:nvSpPr>
        <p:spPr>
          <a:xfrm>
            <a:off x="9428683" y="5285232"/>
            <a:ext cx="963168" cy="256032"/>
          </a:xfrm>
          <a:prstGeom prst="rect">
            <a:avLst/>
          </a:prstGeom>
          <a:noFill/>
          <a:ln/>
        </p:spPr>
        <p:txBody>
          <a:bodyPr wrap="square" lIns="0" tIns="0" rIns="0" bIns="0" rtlCol="0" anchor="ctr"/>
          <a:lstStyle/>
          <a:p>
            <a:pPr marL="0" indent="0" algn="ctr">
              <a:buNone/>
            </a:pPr>
            <a:r>
              <a:rPr lang="en-US" sz="1000" b="1" dirty="0">
                <a:solidFill>
                  <a:srgbClr val="F5D076"/>
                </a:solidFill>
                <a:latin typeface="Calibri" pitchFamily="34" charset="0"/>
                <a:ea typeface="Calibri" pitchFamily="34" charset="-122"/>
                <a:cs typeface="Calibri" pitchFamily="34" charset="-120"/>
              </a:rPr>
              <a:t>9  </a:t>
            </a:r>
            <a:r>
              <a:rPr lang="en-US" sz="750" dirty="0">
                <a:solidFill>
                  <a:srgbClr val="C6CEE4"/>
                </a:solidFill>
                <a:latin typeface="Calibri" pitchFamily="34" charset="0"/>
                <a:ea typeface="Calibri" pitchFamily="34" charset="-122"/>
                <a:cs typeface="Calibri" pitchFamily="34" charset="-120"/>
              </a:rPr>
              <a:t>lower tier</a:t>
            </a:r>
            <a:endParaRPr lang="en-US" sz="1000" dirty="0"/>
          </a:p>
        </p:txBody>
      </p:sp>
      <p:sp>
        <p:nvSpPr>
          <p:cNvPr id="111" name="Shape 107"/>
          <p:cNvSpPr/>
          <p:nvPr/>
        </p:nvSpPr>
        <p:spPr>
          <a:xfrm>
            <a:off x="10465003" y="5285232"/>
            <a:ext cx="963168" cy="256032"/>
          </a:xfrm>
          <a:prstGeom prst="roundRect">
            <a:avLst>
              <a:gd name="adj" fmla="val 21429"/>
            </a:avLst>
          </a:prstGeom>
          <a:solidFill>
            <a:srgbClr val="111C55">
              <a:alpha val="70000"/>
            </a:srgbClr>
          </a:solidFill>
          <a:ln w="9525">
            <a:solidFill>
              <a:srgbClr val="3A4A8C">
                <a:alpha val="70000"/>
              </a:srgbClr>
            </a:solidFill>
            <a:prstDash val="solid"/>
          </a:ln>
        </p:spPr>
      </p:sp>
      <p:sp>
        <p:nvSpPr>
          <p:cNvPr id="112" name="Text 108"/>
          <p:cNvSpPr txBox="1"/>
          <p:nvPr/>
        </p:nvSpPr>
        <p:spPr>
          <a:xfrm>
            <a:off x="10465003" y="5285232"/>
            <a:ext cx="963168" cy="256032"/>
          </a:xfrm>
          <a:prstGeom prst="rect">
            <a:avLst/>
          </a:prstGeom>
          <a:noFill/>
          <a:ln/>
        </p:spPr>
        <p:txBody>
          <a:bodyPr wrap="square" lIns="0" tIns="0" rIns="0" bIns="0" rtlCol="0" anchor="ctr"/>
          <a:lstStyle/>
          <a:p>
            <a:pPr marL="0" indent="0" algn="ctr">
              <a:buNone/>
            </a:pPr>
            <a:r>
              <a:rPr lang="en-US" sz="1000" b="1" dirty="0">
                <a:solidFill>
                  <a:srgbClr val="9AA4C6"/>
                </a:solidFill>
                <a:latin typeface="Calibri" pitchFamily="34" charset="0"/>
                <a:ea typeface="Calibri" pitchFamily="34" charset="-122"/>
                <a:cs typeface="Calibri" pitchFamily="34" charset="-120"/>
              </a:rPr>
              <a:t>8  </a:t>
            </a:r>
            <a:r>
              <a:rPr lang="en-US" sz="750" dirty="0">
                <a:solidFill>
                  <a:srgbClr val="C6CEE4"/>
                </a:solidFill>
                <a:latin typeface="Calibri" pitchFamily="34" charset="0"/>
                <a:ea typeface="Calibri" pitchFamily="34" charset="-122"/>
                <a:cs typeface="Calibri" pitchFamily="34" charset="-120"/>
              </a:rPr>
              <a:t>declared</a:t>
            </a:r>
            <a:endParaRPr lang="en-US" sz="1000" dirty="0"/>
          </a:p>
        </p:txBody>
      </p:sp>
      <p:sp>
        <p:nvSpPr>
          <p:cNvPr id="113" name="Shape 109"/>
          <p:cNvSpPr/>
          <p:nvPr/>
        </p:nvSpPr>
        <p:spPr>
          <a:xfrm>
            <a:off x="638251" y="5724144"/>
            <a:ext cx="10936224" cy="347472"/>
          </a:xfrm>
          <a:prstGeom prst="roundRect">
            <a:avLst>
              <a:gd name="adj" fmla="val 21053"/>
            </a:avLst>
          </a:prstGeom>
          <a:solidFill>
            <a:srgbClr val="0A1550">
              <a:alpha val="86000"/>
            </a:srgbClr>
          </a:solidFill>
          <a:ln w="9525">
            <a:solidFill>
              <a:srgbClr val="ED7D31">
                <a:alpha val="55000"/>
              </a:srgbClr>
            </a:solidFill>
            <a:prstDash val="solid"/>
          </a:ln>
        </p:spPr>
      </p:sp>
      <p:sp>
        <p:nvSpPr>
          <p:cNvPr id="114" name="Shape 110"/>
          <p:cNvSpPr/>
          <p:nvPr/>
        </p:nvSpPr>
        <p:spPr>
          <a:xfrm>
            <a:off x="747979" y="5797296"/>
            <a:ext cx="41148" cy="201168"/>
          </a:xfrm>
          <a:prstGeom prst="roundRect">
            <a:avLst>
              <a:gd name="adj" fmla="val 48889"/>
            </a:avLst>
          </a:prstGeom>
          <a:solidFill>
            <a:srgbClr val="ED7D31"/>
          </a:solidFill>
          <a:ln/>
        </p:spPr>
      </p:sp>
      <p:sp>
        <p:nvSpPr>
          <p:cNvPr id="115" name="Text 111"/>
          <p:cNvSpPr txBox="1"/>
          <p:nvPr/>
        </p:nvSpPr>
        <p:spPr>
          <a:xfrm>
            <a:off x="894283" y="5724144"/>
            <a:ext cx="10533888" cy="347472"/>
          </a:xfrm>
          <a:prstGeom prst="rect">
            <a:avLst/>
          </a:prstGeom>
          <a:noFill/>
          <a:ln/>
        </p:spPr>
        <p:txBody>
          <a:bodyPr wrap="square" lIns="0" tIns="0" rIns="0" bIns="0" rtlCol="0" anchor="ctr"/>
          <a:lstStyle/>
          <a:p>
            <a:pPr marL="0" indent="0">
              <a:lnSpc>
                <a:spcPts val="1150"/>
              </a:lnSpc>
              <a:buNone/>
            </a:pPr>
            <a:r>
              <a:rPr lang="en-US" sz="950" b="1" kern="0" spc="100" dirty="0">
                <a:solidFill>
                  <a:srgbClr val="ED7D31"/>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The trend work constrained the model rather than decorating it — we capped our own fraud target and left repair-network gains out of the case entirely.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ANALYSIS   02 / 02</a:t>
            </a:r>
            <a:endParaRPr lang="en-US" sz="1000" dirty="0"/>
          </a:p>
        </p:txBody>
      </p:sp>
      <p:pic>
        <p:nvPicPr>
          <p:cNvPr id="4" name="Image 0" descr="media/image4.png"/>
          <p:cNvPicPr>
            <a:picLocks noChangeAspect="1"/>
          </p:cNvPicPr>
          <p:nvPr/>
        </p:nvPicPr>
        <p:blipFill>
          <a:blip r:embed="rId4"/>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5"/>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Not every claim needs the same treatment. 65% of Motor OD claims are structurally deterministic — the delay is not difficulty, it is that nothing today decides which claims are which.</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Analysis: Key Insights/Opportunities/Challenges</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3 Workings (Part B, W-10 to W-17); Sheet 1 (Tables B and J). Leakage benchmark: BCG &amp; Medi Assist, Nov 2025.</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Shape 11"/>
          <p:cNvSpPr/>
          <p:nvPr/>
        </p:nvSpPr>
        <p:spPr>
          <a:xfrm>
            <a:off x="638251" y="1609344"/>
            <a:ext cx="6537960" cy="4041648"/>
          </a:xfrm>
          <a:prstGeom prst="roundRect">
            <a:avLst>
              <a:gd name="adj" fmla="val 2036"/>
            </a:avLst>
          </a:prstGeom>
          <a:solidFill>
            <a:srgbClr val="111C55">
              <a:alpha val="74000"/>
            </a:srgbClr>
          </a:solidFill>
          <a:ln w="9525">
            <a:solidFill>
              <a:srgbClr val="3A4A8C">
                <a:alpha val="70000"/>
              </a:srgbClr>
            </a:solidFill>
            <a:prstDash val="solid"/>
          </a:ln>
        </p:spPr>
      </p:sp>
      <p:sp>
        <p:nvSpPr>
          <p:cNvPr id="16" name="Shape 12"/>
          <p:cNvSpPr/>
          <p:nvPr/>
        </p:nvSpPr>
        <p:spPr>
          <a:xfrm>
            <a:off x="855787" y="1703436"/>
            <a:ext cx="31272" cy="31272"/>
          </a:xfrm>
          <a:prstGeom prst="ellipse">
            <a:avLst/>
          </a:prstGeom>
          <a:solidFill>
            <a:srgbClr val="9CC3E8"/>
          </a:solidFill>
          <a:ln/>
        </p:spPr>
      </p:sp>
      <p:sp>
        <p:nvSpPr>
          <p:cNvPr id="17" name="Shape 13"/>
          <p:cNvSpPr/>
          <p:nvPr/>
        </p:nvSpPr>
        <p:spPr>
          <a:xfrm>
            <a:off x="768919" y="1776405"/>
            <a:ext cx="31272" cy="31272"/>
          </a:xfrm>
          <a:prstGeom prst="ellipse">
            <a:avLst/>
          </a:prstGeom>
          <a:solidFill>
            <a:srgbClr val="9CC3E8"/>
          </a:solidFill>
          <a:ln/>
        </p:spPr>
      </p:sp>
      <p:sp>
        <p:nvSpPr>
          <p:cNvPr id="18" name="Shape 14"/>
          <p:cNvSpPr/>
          <p:nvPr/>
        </p:nvSpPr>
        <p:spPr>
          <a:xfrm>
            <a:off x="807141" y="1877172"/>
            <a:ext cx="31272" cy="31272"/>
          </a:xfrm>
          <a:prstGeom prst="ellipse">
            <a:avLst/>
          </a:prstGeom>
          <a:solidFill>
            <a:srgbClr val="9CC3E8"/>
          </a:solidFill>
          <a:ln/>
        </p:spPr>
      </p:sp>
      <p:sp>
        <p:nvSpPr>
          <p:cNvPr id="19" name="Shape 15"/>
          <p:cNvSpPr/>
          <p:nvPr/>
        </p:nvSpPr>
        <p:spPr>
          <a:xfrm>
            <a:off x="904433" y="1877172"/>
            <a:ext cx="31272" cy="31272"/>
          </a:xfrm>
          <a:prstGeom prst="ellipse">
            <a:avLst/>
          </a:prstGeom>
          <a:solidFill>
            <a:srgbClr val="9CC3E8"/>
          </a:solidFill>
          <a:ln/>
        </p:spPr>
      </p:sp>
      <p:sp>
        <p:nvSpPr>
          <p:cNvPr id="20" name="Shape 16"/>
          <p:cNvSpPr/>
          <p:nvPr/>
        </p:nvSpPr>
        <p:spPr>
          <a:xfrm>
            <a:off x="942655" y="1776405"/>
            <a:ext cx="31272" cy="31272"/>
          </a:xfrm>
          <a:prstGeom prst="ellipse">
            <a:avLst/>
          </a:prstGeom>
          <a:solidFill>
            <a:srgbClr val="9CC3E8"/>
          </a:solidFill>
          <a:ln/>
        </p:spPr>
      </p:sp>
      <p:sp>
        <p:nvSpPr>
          <p:cNvPr id="21" name="Shape 17"/>
          <p:cNvSpPr/>
          <p:nvPr/>
        </p:nvSpPr>
        <p:spPr>
          <a:xfrm flipV="1">
            <a:off x="784555" y="1719072"/>
            <a:ext cx="86868" cy="72969"/>
          </a:xfrm>
          <a:prstGeom prst="line">
            <a:avLst/>
          </a:prstGeom>
          <a:noFill/>
          <a:ln w="9525">
            <a:solidFill>
              <a:srgbClr val="9CC3E8"/>
            </a:solidFill>
            <a:prstDash val="solid"/>
          </a:ln>
        </p:spPr>
      </p:sp>
      <p:sp>
        <p:nvSpPr>
          <p:cNvPr id="22" name="Shape 18"/>
          <p:cNvSpPr/>
          <p:nvPr/>
        </p:nvSpPr>
        <p:spPr>
          <a:xfrm>
            <a:off x="871423" y="1719072"/>
            <a:ext cx="86868" cy="72969"/>
          </a:xfrm>
          <a:prstGeom prst="line">
            <a:avLst/>
          </a:prstGeom>
          <a:noFill/>
          <a:ln w="9525">
            <a:solidFill>
              <a:srgbClr val="9CC3E8"/>
            </a:solidFill>
            <a:prstDash val="solid"/>
          </a:ln>
        </p:spPr>
      </p:sp>
      <p:sp>
        <p:nvSpPr>
          <p:cNvPr id="23" name="Shape 19"/>
          <p:cNvSpPr/>
          <p:nvPr/>
        </p:nvSpPr>
        <p:spPr>
          <a:xfrm>
            <a:off x="822777" y="1892808"/>
            <a:ext cx="97292" cy="0"/>
          </a:xfrm>
          <a:prstGeom prst="line">
            <a:avLst/>
          </a:prstGeom>
          <a:noFill/>
          <a:ln w="9525">
            <a:solidFill>
              <a:srgbClr val="9CC3E8"/>
            </a:solidFill>
            <a:prstDash val="solid"/>
          </a:ln>
        </p:spPr>
      </p:sp>
      <p:sp>
        <p:nvSpPr>
          <p:cNvPr id="24" name="Text 20"/>
          <p:cNvSpPr txBox="1"/>
          <p:nvPr/>
        </p:nvSpPr>
        <p:spPr>
          <a:xfrm>
            <a:off x="1031443" y="1682496"/>
            <a:ext cx="5998464"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ROOT CAUSE</a:t>
            </a:r>
            <a:r>
              <a:rPr lang="en-US" sz="900" dirty="0">
                <a:solidFill>
                  <a:srgbClr val="9AA4C6"/>
                </a:solidFill>
                <a:latin typeface="Calibri" pitchFamily="34" charset="0"/>
                <a:ea typeface="Calibri" pitchFamily="34" charset="-122"/>
                <a:cs typeface="Calibri" pitchFamily="34" charset="-120"/>
              </a:rPr>
              <a:t>   ·   five drivers, each a costed line in the model</a:t>
            </a:r>
            <a:endParaRPr lang="en-US" sz="900" dirty="0"/>
          </a:p>
        </p:txBody>
      </p:sp>
      <p:sp>
        <p:nvSpPr>
          <p:cNvPr id="25" name="Shape 21"/>
          <p:cNvSpPr/>
          <p:nvPr/>
        </p:nvSpPr>
        <p:spPr>
          <a:xfrm>
            <a:off x="784555" y="2039112"/>
            <a:ext cx="237744" cy="237744"/>
          </a:xfrm>
          <a:prstGeom prst="ellipse">
            <a:avLst/>
          </a:prstGeom>
          <a:solidFill>
            <a:srgbClr val="5B9BD5">
              <a:alpha val="45000"/>
            </a:srgbClr>
          </a:solidFill>
          <a:ln w="11430">
            <a:solidFill>
              <a:srgbClr val="5B9BD5"/>
            </a:solidFill>
            <a:prstDash val="solid"/>
          </a:ln>
        </p:spPr>
      </p:sp>
      <p:sp>
        <p:nvSpPr>
          <p:cNvPr id="26" name="Text 22"/>
          <p:cNvSpPr txBox="1"/>
          <p:nvPr/>
        </p:nvSpPr>
        <p:spPr>
          <a:xfrm>
            <a:off x="784555" y="2039112"/>
            <a:ext cx="237744" cy="237744"/>
          </a:xfrm>
          <a:prstGeom prst="rect">
            <a:avLst/>
          </a:prstGeom>
          <a:noFill/>
          <a:ln/>
        </p:spPr>
        <p:txBody>
          <a:bodyPr wrap="square" lIns="0" tIns="0" rIns="0" bIns="0" rtlCol="0" anchor="ctr"/>
          <a:lstStyle/>
          <a:p>
            <a:pPr marL="0" indent="0" algn="ctr">
              <a:buNone/>
            </a:pPr>
            <a:r>
              <a:rPr lang="en-US" sz="900" b="1" dirty="0">
                <a:solidFill>
                  <a:srgbClr val="5B9BD5"/>
                </a:solidFill>
                <a:latin typeface="Calibri" pitchFamily="34" charset="0"/>
                <a:ea typeface="Calibri" pitchFamily="34" charset="-122"/>
                <a:cs typeface="Calibri" pitchFamily="34" charset="-120"/>
              </a:rPr>
              <a:t>1</a:t>
            </a:r>
            <a:endParaRPr lang="en-US" sz="900" dirty="0"/>
          </a:p>
        </p:txBody>
      </p:sp>
      <p:sp>
        <p:nvSpPr>
          <p:cNvPr id="27" name="Shape 23"/>
          <p:cNvSpPr/>
          <p:nvPr/>
        </p:nvSpPr>
        <p:spPr>
          <a:xfrm>
            <a:off x="1135685" y="2048256"/>
            <a:ext cx="138989" cy="182880"/>
          </a:xfrm>
          <a:prstGeom prst="flowChartDocument">
            <a:avLst/>
          </a:prstGeom>
          <a:ln w="13970">
            <a:solidFill>
              <a:srgbClr val="5B9BD5"/>
            </a:solidFill>
            <a:prstDash val="solid"/>
          </a:ln>
        </p:spPr>
      </p:sp>
      <p:sp>
        <p:nvSpPr>
          <p:cNvPr id="28" name="Shape 24"/>
          <p:cNvSpPr/>
          <p:nvPr/>
        </p:nvSpPr>
        <p:spPr>
          <a:xfrm>
            <a:off x="1164946" y="2099462"/>
            <a:ext cx="80467" cy="0"/>
          </a:xfrm>
          <a:prstGeom prst="line">
            <a:avLst/>
          </a:prstGeom>
          <a:noFill/>
          <a:ln w="9525">
            <a:solidFill>
              <a:srgbClr val="5B9BD5"/>
            </a:solidFill>
            <a:prstDash val="solid"/>
          </a:ln>
        </p:spPr>
      </p:sp>
      <p:sp>
        <p:nvSpPr>
          <p:cNvPr id="29" name="Shape 25"/>
          <p:cNvSpPr/>
          <p:nvPr/>
        </p:nvSpPr>
        <p:spPr>
          <a:xfrm>
            <a:off x="1164946" y="2132381"/>
            <a:ext cx="80467" cy="0"/>
          </a:xfrm>
          <a:prstGeom prst="line">
            <a:avLst/>
          </a:prstGeom>
          <a:noFill/>
          <a:ln w="9525">
            <a:solidFill>
              <a:srgbClr val="5B9BD5"/>
            </a:solidFill>
            <a:prstDash val="solid"/>
          </a:ln>
        </p:spPr>
      </p:sp>
      <p:sp>
        <p:nvSpPr>
          <p:cNvPr id="30" name="Shape 26"/>
          <p:cNvSpPr/>
          <p:nvPr/>
        </p:nvSpPr>
        <p:spPr>
          <a:xfrm>
            <a:off x="1164946" y="2165299"/>
            <a:ext cx="80467" cy="0"/>
          </a:xfrm>
          <a:prstGeom prst="line">
            <a:avLst/>
          </a:prstGeom>
          <a:noFill/>
          <a:ln w="9525">
            <a:solidFill>
              <a:srgbClr val="5B9BD5"/>
            </a:solidFill>
            <a:prstDash val="solid"/>
          </a:ln>
        </p:spPr>
      </p:sp>
      <p:sp>
        <p:nvSpPr>
          <p:cNvPr id="31" name="Text 27"/>
          <p:cNvSpPr txBox="1"/>
          <p:nvPr/>
        </p:nvSpPr>
        <p:spPr>
          <a:xfrm>
            <a:off x="1388059" y="1993392"/>
            <a:ext cx="5641848"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Manual, document-heavy verification</a:t>
            </a:r>
            <a:endParaRPr lang="en-US" sz="1000" dirty="0"/>
          </a:p>
        </p:txBody>
      </p:sp>
      <p:sp>
        <p:nvSpPr>
          <p:cNvPr id="32" name="Text 28"/>
          <p:cNvSpPr txBox="1"/>
          <p:nvPr/>
        </p:nvSpPr>
        <p:spPr>
          <a:xfrm>
            <a:off x="1388059" y="2203704"/>
            <a:ext cx="5641848" cy="438912"/>
          </a:xfrm>
          <a:prstGeom prst="rect">
            <a:avLst/>
          </a:prstGeom>
          <a:noFill/>
          <a:ln/>
        </p:spPr>
        <p:txBody>
          <a:bodyPr wrap="square" lIns="0" tIns="0" rIns="0" bIns="0" rtlCol="0" anchor="t"/>
          <a:lstStyle/>
          <a:p>
            <a:pPr marL="0" indent="0">
              <a:lnSpc>
                <a:spcPts val="1100"/>
              </a:lnSpc>
              <a:buNone/>
            </a:pPr>
            <a:r>
              <a:rPr lang="en-US" sz="850" dirty="0">
                <a:solidFill>
                  <a:srgbClr val="9AA4C6"/>
                </a:solidFill>
                <a:latin typeface="Calibri" pitchFamily="34" charset="0"/>
                <a:ea typeface="Calibri" pitchFamily="34" charset="-122"/>
                <a:cs typeface="Calibri" pitchFamily="34" charset="-120"/>
              </a:rPr>
              <a:t>Nothing decides which files actually need a person to read them   </a:t>
            </a:r>
            <a:r>
              <a:rPr lang="en-US" sz="850" b="1" kern="0" spc="50" dirty="0">
                <a:solidFill>
                  <a:srgbClr val="9AD672"/>
                </a:solidFill>
                <a:latin typeface="Calibri" pitchFamily="34" charset="0"/>
                <a:ea typeface="Calibri" pitchFamily="34" charset="-122"/>
                <a:cs typeface="Calibri" pitchFamily="34" charset="-120"/>
              </a:rPr>
              <a:t>MODEL</a:t>
            </a:r>
            <a:endParaRPr lang="en-US" sz="850" dirty="0"/>
          </a:p>
        </p:txBody>
      </p:sp>
      <p:sp>
        <p:nvSpPr>
          <p:cNvPr id="33" name="Shape 29"/>
          <p:cNvSpPr/>
          <p:nvPr/>
        </p:nvSpPr>
        <p:spPr>
          <a:xfrm>
            <a:off x="784555" y="2660904"/>
            <a:ext cx="6245352" cy="0"/>
          </a:xfrm>
          <a:prstGeom prst="line">
            <a:avLst/>
          </a:prstGeom>
          <a:noFill/>
          <a:ln w="6350">
            <a:solidFill>
              <a:srgbClr val="3A4A8C">
                <a:alpha val="40000"/>
              </a:srgbClr>
            </a:solidFill>
            <a:prstDash val="solid"/>
          </a:ln>
        </p:spPr>
      </p:sp>
      <p:sp>
        <p:nvSpPr>
          <p:cNvPr id="34" name="Shape 30"/>
          <p:cNvSpPr/>
          <p:nvPr/>
        </p:nvSpPr>
        <p:spPr>
          <a:xfrm>
            <a:off x="784555" y="2734056"/>
            <a:ext cx="237744" cy="237744"/>
          </a:xfrm>
          <a:prstGeom prst="ellipse">
            <a:avLst/>
          </a:prstGeom>
          <a:solidFill>
            <a:srgbClr val="5B9BD5">
              <a:alpha val="45000"/>
            </a:srgbClr>
          </a:solidFill>
          <a:ln w="11430">
            <a:solidFill>
              <a:srgbClr val="5B9BD5"/>
            </a:solidFill>
            <a:prstDash val="solid"/>
          </a:ln>
        </p:spPr>
      </p:sp>
      <p:sp>
        <p:nvSpPr>
          <p:cNvPr id="35" name="Text 31"/>
          <p:cNvSpPr txBox="1"/>
          <p:nvPr/>
        </p:nvSpPr>
        <p:spPr>
          <a:xfrm>
            <a:off x="784555" y="2734056"/>
            <a:ext cx="237744" cy="237744"/>
          </a:xfrm>
          <a:prstGeom prst="rect">
            <a:avLst/>
          </a:prstGeom>
          <a:noFill/>
          <a:ln/>
        </p:spPr>
        <p:txBody>
          <a:bodyPr wrap="square" lIns="0" tIns="0" rIns="0" bIns="0" rtlCol="0" anchor="ctr"/>
          <a:lstStyle/>
          <a:p>
            <a:pPr marL="0" indent="0" algn="ctr">
              <a:buNone/>
            </a:pPr>
            <a:r>
              <a:rPr lang="en-US" sz="900" b="1" dirty="0">
                <a:solidFill>
                  <a:srgbClr val="5B9BD5"/>
                </a:solidFill>
                <a:latin typeface="Calibri" pitchFamily="34" charset="0"/>
                <a:ea typeface="Calibri" pitchFamily="34" charset="-122"/>
                <a:cs typeface="Calibri" pitchFamily="34" charset="-120"/>
              </a:rPr>
              <a:t>2</a:t>
            </a:r>
            <a:endParaRPr lang="en-US" sz="900" dirty="0"/>
          </a:p>
        </p:txBody>
      </p:sp>
      <p:sp>
        <p:nvSpPr>
          <p:cNvPr id="36" name="Shape 32"/>
          <p:cNvSpPr/>
          <p:nvPr/>
        </p:nvSpPr>
        <p:spPr>
          <a:xfrm>
            <a:off x="1113739" y="2783434"/>
            <a:ext cx="182880" cy="102413"/>
          </a:xfrm>
          <a:prstGeom prst="ellipse">
            <a:avLst/>
          </a:prstGeom>
          <a:ln w="13970">
            <a:solidFill>
              <a:srgbClr val="5B9BD5"/>
            </a:solidFill>
            <a:prstDash val="solid"/>
          </a:ln>
        </p:spPr>
      </p:sp>
      <p:sp>
        <p:nvSpPr>
          <p:cNvPr id="37" name="Shape 33"/>
          <p:cNvSpPr/>
          <p:nvPr/>
        </p:nvSpPr>
        <p:spPr>
          <a:xfrm>
            <a:off x="1179576" y="2809037"/>
            <a:ext cx="51206" cy="51206"/>
          </a:xfrm>
          <a:prstGeom prst="ellipse">
            <a:avLst/>
          </a:prstGeom>
          <a:solidFill>
            <a:srgbClr val="5B9BD5"/>
          </a:solidFill>
          <a:ln/>
        </p:spPr>
      </p:sp>
      <p:sp>
        <p:nvSpPr>
          <p:cNvPr id="38" name="Text 34"/>
          <p:cNvSpPr txBox="1"/>
          <p:nvPr/>
        </p:nvSpPr>
        <p:spPr>
          <a:xfrm>
            <a:off x="1388059" y="2688336"/>
            <a:ext cx="5641848"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Physical inspection as the default</a:t>
            </a:r>
            <a:endParaRPr lang="en-US" sz="1000" dirty="0"/>
          </a:p>
        </p:txBody>
      </p:sp>
      <p:sp>
        <p:nvSpPr>
          <p:cNvPr id="39" name="Text 35"/>
          <p:cNvSpPr txBox="1"/>
          <p:nvPr/>
        </p:nvSpPr>
        <p:spPr>
          <a:xfrm>
            <a:off x="1388059" y="2898648"/>
            <a:ext cx="5641848" cy="438912"/>
          </a:xfrm>
          <a:prstGeom prst="rect">
            <a:avLst/>
          </a:prstGeom>
          <a:noFill/>
          <a:ln/>
        </p:spPr>
        <p:txBody>
          <a:bodyPr wrap="square" lIns="0" tIns="0" rIns="0" bIns="0" rtlCol="0" anchor="t"/>
          <a:lstStyle/>
          <a:p>
            <a:pPr marL="0" indent="0">
              <a:lnSpc>
                <a:spcPts val="1100"/>
              </a:lnSpc>
              <a:buNone/>
            </a:pPr>
            <a:r>
              <a:rPr lang="en-US" sz="850" dirty="0">
                <a:solidFill>
                  <a:srgbClr val="9AA4C6"/>
                </a:solidFill>
                <a:latin typeface="Calibri" pitchFamily="34" charset="0"/>
                <a:ea typeface="Calibri" pitchFamily="34" charset="-122"/>
                <a:cs typeface="Calibri" pitchFamily="34" charset="-120"/>
              </a:rPr>
              <a:t>Surveyors’ own top complaint is re-inspection caused by poor first images   </a:t>
            </a:r>
            <a:r>
              <a:rPr lang="en-US" sz="850" b="1" kern="0" spc="50" dirty="0">
                <a:solidFill>
                  <a:srgbClr val="F7B183"/>
                </a:solidFill>
                <a:latin typeface="Calibri" pitchFamily="34" charset="0"/>
                <a:ea typeface="Calibri" pitchFamily="34" charset="-122"/>
                <a:cs typeface="Calibri" pitchFamily="34" charset="-120"/>
              </a:rPr>
              <a:t>FIELD RESEARCH</a:t>
            </a:r>
            <a:endParaRPr lang="en-US" sz="850" dirty="0"/>
          </a:p>
        </p:txBody>
      </p:sp>
      <p:sp>
        <p:nvSpPr>
          <p:cNvPr id="40" name="Shape 36"/>
          <p:cNvSpPr/>
          <p:nvPr/>
        </p:nvSpPr>
        <p:spPr>
          <a:xfrm>
            <a:off x="784555" y="3355848"/>
            <a:ext cx="6245352" cy="0"/>
          </a:xfrm>
          <a:prstGeom prst="line">
            <a:avLst/>
          </a:prstGeom>
          <a:noFill/>
          <a:ln w="6350">
            <a:solidFill>
              <a:srgbClr val="3A4A8C">
                <a:alpha val="40000"/>
              </a:srgbClr>
            </a:solidFill>
            <a:prstDash val="solid"/>
          </a:ln>
        </p:spPr>
      </p:sp>
      <p:sp>
        <p:nvSpPr>
          <p:cNvPr id="41" name="Shape 37"/>
          <p:cNvSpPr/>
          <p:nvPr/>
        </p:nvSpPr>
        <p:spPr>
          <a:xfrm>
            <a:off x="784555" y="3429000"/>
            <a:ext cx="237744" cy="237744"/>
          </a:xfrm>
          <a:prstGeom prst="ellipse">
            <a:avLst/>
          </a:prstGeom>
          <a:solidFill>
            <a:srgbClr val="ED7D31">
              <a:alpha val="45000"/>
            </a:srgbClr>
          </a:solidFill>
          <a:ln w="11430">
            <a:solidFill>
              <a:srgbClr val="ED7D31"/>
            </a:solidFill>
            <a:prstDash val="solid"/>
          </a:ln>
        </p:spPr>
      </p:sp>
      <p:sp>
        <p:nvSpPr>
          <p:cNvPr id="42" name="Text 38"/>
          <p:cNvSpPr txBox="1"/>
          <p:nvPr/>
        </p:nvSpPr>
        <p:spPr>
          <a:xfrm>
            <a:off x="784555" y="3429000"/>
            <a:ext cx="237744" cy="237744"/>
          </a:xfrm>
          <a:prstGeom prst="rect">
            <a:avLst/>
          </a:prstGeom>
          <a:noFill/>
          <a:ln/>
        </p:spPr>
        <p:txBody>
          <a:bodyPr wrap="square" lIns="0" tIns="0" rIns="0" bIns="0" rtlCol="0" anchor="ctr"/>
          <a:lstStyle/>
          <a:p>
            <a:pPr marL="0" indent="0" algn="ctr">
              <a:buNone/>
            </a:pPr>
            <a:r>
              <a:rPr lang="en-US" sz="900" b="1" dirty="0">
                <a:solidFill>
                  <a:srgbClr val="ED7D31"/>
                </a:solidFill>
                <a:latin typeface="Calibri" pitchFamily="34" charset="0"/>
                <a:ea typeface="Calibri" pitchFamily="34" charset="-122"/>
                <a:cs typeface="Calibri" pitchFamily="34" charset="-120"/>
              </a:rPr>
              <a:t>3</a:t>
            </a:r>
            <a:endParaRPr lang="en-US" sz="900" dirty="0"/>
          </a:p>
        </p:txBody>
      </p:sp>
      <p:sp>
        <p:nvSpPr>
          <p:cNvPr id="43" name="Shape 39"/>
          <p:cNvSpPr/>
          <p:nvPr/>
        </p:nvSpPr>
        <p:spPr>
          <a:xfrm>
            <a:off x="1188720" y="3421685"/>
            <a:ext cx="32918" cy="32918"/>
          </a:xfrm>
          <a:prstGeom prst="ellipse">
            <a:avLst/>
          </a:prstGeom>
          <a:solidFill>
            <a:srgbClr val="ED7D31"/>
          </a:solidFill>
          <a:ln/>
        </p:spPr>
      </p:sp>
      <p:sp>
        <p:nvSpPr>
          <p:cNvPr id="44" name="Shape 40"/>
          <p:cNvSpPr/>
          <p:nvPr/>
        </p:nvSpPr>
        <p:spPr>
          <a:xfrm>
            <a:off x="1097280" y="3498494"/>
            <a:ext cx="32918" cy="32918"/>
          </a:xfrm>
          <a:prstGeom prst="ellipse">
            <a:avLst/>
          </a:prstGeom>
          <a:solidFill>
            <a:srgbClr val="ED7D31"/>
          </a:solidFill>
          <a:ln/>
        </p:spPr>
      </p:sp>
      <p:sp>
        <p:nvSpPr>
          <p:cNvPr id="45" name="Shape 41"/>
          <p:cNvSpPr/>
          <p:nvPr/>
        </p:nvSpPr>
        <p:spPr>
          <a:xfrm>
            <a:off x="1137514" y="3604565"/>
            <a:ext cx="32918" cy="32918"/>
          </a:xfrm>
          <a:prstGeom prst="ellipse">
            <a:avLst/>
          </a:prstGeom>
          <a:solidFill>
            <a:srgbClr val="ED7D31"/>
          </a:solidFill>
          <a:ln/>
        </p:spPr>
      </p:sp>
      <p:sp>
        <p:nvSpPr>
          <p:cNvPr id="46" name="Shape 42"/>
          <p:cNvSpPr/>
          <p:nvPr/>
        </p:nvSpPr>
        <p:spPr>
          <a:xfrm>
            <a:off x="1239926" y="3604565"/>
            <a:ext cx="32918" cy="32918"/>
          </a:xfrm>
          <a:prstGeom prst="ellipse">
            <a:avLst/>
          </a:prstGeom>
          <a:solidFill>
            <a:srgbClr val="ED7D31"/>
          </a:solidFill>
          <a:ln/>
        </p:spPr>
      </p:sp>
      <p:sp>
        <p:nvSpPr>
          <p:cNvPr id="47" name="Shape 43"/>
          <p:cNvSpPr/>
          <p:nvPr/>
        </p:nvSpPr>
        <p:spPr>
          <a:xfrm>
            <a:off x="1280160" y="3498494"/>
            <a:ext cx="32918" cy="32918"/>
          </a:xfrm>
          <a:prstGeom prst="ellipse">
            <a:avLst/>
          </a:prstGeom>
          <a:solidFill>
            <a:srgbClr val="ED7D31"/>
          </a:solidFill>
          <a:ln/>
        </p:spPr>
      </p:sp>
      <p:sp>
        <p:nvSpPr>
          <p:cNvPr id="48" name="Shape 44"/>
          <p:cNvSpPr/>
          <p:nvPr/>
        </p:nvSpPr>
        <p:spPr>
          <a:xfrm flipV="1">
            <a:off x="1113739" y="3438144"/>
            <a:ext cx="91440" cy="76810"/>
          </a:xfrm>
          <a:prstGeom prst="line">
            <a:avLst/>
          </a:prstGeom>
          <a:noFill/>
          <a:ln w="9525">
            <a:solidFill>
              <a:srgbClr val="ED7D31"/>
            </a:solidFill>
            <a:prstDash val="solid"/>
          </a:ln>
        </p:spPr>
      </p:sp>
      <p:sp>
        <p:nvSpPr>
          <p:cNvPr id="49" name="Shape 45"/>
          <p:cNvSpPr/>
          <p:nvPr/>
        </p:nvSpPr>
        <p:spPr>
          <a:xfrm>
            <a:off x="1205179" y="3438144"/>
            <a:ext cx="91440" cy="76810"/>
          </a:xfrm>
          <a:prstGeom prst="line">
            <a:avLst/>
          </a:prstGeom>
          <a:noFill/>
          <a:ln w="9525">
            <a:solidFill>
              <a:srgbClr val="ED7D31"/>
            </a:solidFill>
            <a:prstDash val="solid"/>
          </a:ln>
        </p:spPr>
      </p:sp>
      <p:sp>
        <p:nvSpPr>
          <p:cNvPr id="50" name="Shape 46"/>
          <p:cNvSpPr/>
          <p:nvPr/>
        </p:nvSpPr>
        <p:spPr>
          <a:xfrm>
            <a:off x="1153973" y="3621024"/>
            <a:ext cx="102413" cy="0"/>
          </a:xfrm>
          <a:prstGeom prst="line">
            <a:avLst/>
          </a:prstGeom>
          <a:noFill/>
          <a:ln w="9525">
            <a:solidFill>
              <a:srgbClr val="ED7D31"/>
            </a:solidFill>
            <a:prstDash val="solid"/>
          </a:ln>
        </p:spPr>
      </p:sp>
      <p:sp>
        <p:nvSpPr>
          <p:cNvPr id="51" name="Text 47"/>
          <p:cNvSpPr txBox="1"/>
          <p:nvPr/>
        </p:nvSpPr>
        <p:spPr>
          <a:xfrm>
            <a:off x="1388059" y="3383280"/>
            <a:ext cx="5641848"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Rules cannot see a ring</a:t>
            </a:r>
            <a:endParaRPr lang="en-US" sz="1000" dirty="0"/>
          </a:p>
        </p:txBody>
      </p:sp>
      <p:sp>
        <p:nvSpPr>
          <p:cNvPr id="52" name="Text 48"/>
          <p:cNvSpPr txBox="1"/>
          <p:nvPr/>
        </p:nvSpPr>
        <p:spPr>
          <a:xfrm>
            <a:off x="1388059" y="3593592"/>
            <a:ext cx="5641848" cy="438912"/>
          </a:xfrm>
          <a:prstGeom prst="rect">
            <a:avLst/>
          </a:prstGeom>
          <a:noFill/>
          <a:ln/>
        </p:spPr>
        <p:txBody>
          <a:bodyPr wrap="square" lIns="0" tIns="0" rIns="0" bIns="0" rtlCol="0" anchor="t"/>
          <a:lstStyle/>
          <a:p>
            <a:pPr marL="0" indent="0">
              <a:lnSpc>
                <a:spcPts val="1100"/>
              </a:lnSpc>
              <a:buNone/>
            </a:pPr>
            <a:r>
              <a:rPr lang="en-US" sz="850" dirty="0">
                <a:solidFill>
                  <a:srgbClr val="9AA4C6"/>
                </a:solidFill>
                <a:latin typeface="Calibri" pitchFamily="34" charset="0"/>
                <a:ea typeface="Calibri" pitchFamily="34" charset="-122"/>
                <a:cs typeface="Calibri" pitchFamily="34" charset="-120"/>
              </a:rPr>
              <a:t>A rule scores one claim at a time; organised fraud only shows up across claims   </a:t>
            </a:r>
            <a:r>
              <a:rPr lang="en-US" sz="850" b="1" kern="0" spc="50" dirty="0">
                <a:solidFill>
                  <a:srgbClr val="9AD672"/>
                </a:solidFill>
                <a:latin typeface="Calibri" pitchFamily="34" charset="0"/>
                <a:ea typeface="Calibri" pitchFamily="34" charset="-122"/>
                <a:cs typeface="Calibri" pitchFamily="34" charset="-120"/>
              </a:rPr>
              <a:t>MODEL</a:t>
            </a:r>
            <a:endParaRPr lang="en-US" sz="850" dirty="0"/>
          </a:p>
        </p:txBody>
      </p:sp>
      <p:sp>
        <p:nvSpPr>
          <p:cNvPr id="53" name="Shape 49"/>
          <p:cNvSpPr/>
          <p:nvPr/>
        </p:nvSpPr>
        <p:spPr>
          <a:xfrm>
            <a:off x="784555" y="4050792"/>
            <a:ext cx="6245352" cy="0"/>
          </a:xfrm>
          <a:prstGeom prst="line">
            <a:avLst/>
          </a:prstGeom>
          <a:noFill/>
          <a:ln w="6350">
            <a:solidFill>
              <a:srgbClr val="3A4A8C">
                <a:alpha val="40000"/>
              </a:srgbClr>
            </a:solidFill>
            <a:prstDash val="solid"/>
          </a:ln>
        </p:spPr>
      </p:sp>
      <p:sp>
        <p:nvSpPr>
          <p:cNvPr id="54" name="Shape 50"/>
          <p:cNvSpPr/>
          <p:nvPr/>
        </p:nvSpPr>
        <p:spPr>
          <a:xfrm>
            <a:off x="784555" y="4123944"/>
            <a:ext cx="237744" cy="237744"/>
          </a:xfrm>
          <a:prstGeom prst="ellipse">
            <a:avLst/>
          </a:prstGeom>
          <a:solidFill>
            <a:srgbClr val="ED7D31">
              <a:alpha val="45000"/>
            </a:srgbClr>
          </a:solidFill>
          <a:ln w="11430">
            <a:solidFill>
              <a:srgbClr val="ED7D31"/>
            </a:solidFill>
            <a:prstDash val="solid"/>
          </a:ln>
        </p:spPr>
      </p:sp>
      <p:sp>
        <p:nvSpPr>
          <p:cNvPr id="55" name="Text 51"/>
          <p:cNvSpPr txBox="1"/>
          <p:nvPr/>
        </p:nvSpPr>
        <p:spPr>
          <a:xfrm>
            <a:off x="784555" y="4123944"/>
            <a:ext cx="237744" cy="237744"/>
          </a:xfrm>
          <a:prstGeom prst="rect">
            <a:avLst/>
          </a:prstGeom>
          <a:noFill/>
          <a:ln/>
        </p:spPr>
        <p:txBody>
          <a:bodyPr wrap="square" lIns="0" tIns="0" rIns="0" bIns="0" rtlCol="0" anchor="ctr"/>
          <a:lstStyle/>
          <a:p>
            <a:pPr marL="0" indent="0" algn="ctr">
              <a:buNone/>
            </a:pPr>
            <a:r>
              <a:rPr lang="en-US" sz="900" b="1" dirty="0">
                <a:solidFill>
                  <a:srgbClr val="ED7D31"/>
                </a:solidFill>
                <a:latin typeface="Calibri" pitchFamily="34" charset="0"/>
                <a:ea typeface="Calibri" pitchFamily="34" charset="-122"/>
                <a:cs typeface="Calibri" pitchFamily="34" charset="-120"/>
              </a:rPr>
              <a:t>4</a:t>
            </a:r>
            <a:endParaRPr lang="en-US" sz="900" dirty="0"/>
          </a:p>
        </p:txBody>
      </p:sp>
      <p:sp>
        <p:nvSpPr>
          <p:cNvPr id="56" name="Shape 52"/>
          <p:cNvSpPr/>
          <p:nvPr/>
        </p:nvSpPr>
        <p:spPr>
          <a:xfrm>
            <a:off x="1113739" y="4133088"/>
            <a:ext cx="182880" cy="182880"/>
          </a:xfrm>
          <a:prstGeom prst="roundRect">
            <a:avLst>
              <a:gd name="adj" fmla="val 22000"/>
            </a:avLst>
          </a:prstGeom>
          <a:ln w="13970">
            <a:solidFill>
              <a:srgbClr val="ED7D31"/>
            </a:solidFill>
            <a:prstDash val="solid"/>
          </a:ln>
        </p:spPr>
      </p:sp>
      <p:sp>
        <p:nvSpPr>
          <p:cNvPr id="57" name="Text 53"/>
          <p:cNvSpPr txBox="1"/>
          <p:nvPr/>
        </p:nvSpPr>
        <p:spPr>
          <a:xfrm>
            <a:off x="1113739" y="4133088"/>
            <a:ext cx="182880" cy="182880"/>
          </a:xfrm>
          <a:prstGeom prst="rect">
            <a:avLst/>
          </a:prstGeom>
          <a:noFill/>
          <a:ln/>
        </p:spPr>
        <p:txBody>
          <a:bodyPr wrap="square" lIns="0" tIns="0" rIns="0" bIns="0" rtlCol="0" anchor="ctr"/>
          <a:lstStyle/>
          <a:p>
            <a:pPr marL="0" indent="0" algn="ctr">
              <a:buNone/>
            </a:pPr>
            <a:r>
              <a:rPr lang="en-US" sz="1240" b="1" dirty="0">
                <a:solidFill>
                  <a:srgbClr val="ED7D31"/>
                </a:solidFill>
                <a:latin typeface="Calibri" pitchFamily="34" charset="0"/>
                <a:ea typeface="Calibri" pitchFamily="34" charset="-122"/>
                <a:cs typeface="Calibri" pitchFamily="34" charset="-120"/>
              </a:rPr>
              <a:t>₹</a:t>
            </a:r>
            <a:endParaRPr lang="en-US" sz="1240" dirty="0"/>
          </a:p>
        </p:txBody>
      </p:sp>
      <p:sp>
        <p:nvSpPr>
          <p:cNvPr id="58" name="Text 54"/>
          <p:cNvSpPr txBox="1"/>
          <p:nvPr/>
        </p:nvSpPr>
        <p:spPr>
          <a:xfrm>
            <a:off x="1388059" y="4078224"/>
            <a:ext cx="5641848"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Leakage is priced in, not detected</a:t>
            </a:r>
            <a:endParaRPr lang="en-US" sz="1000" dirty="0"/>
          </a:p>
        </p:txBody>
      </p:sp>
      <p:sp>
        <p:nvSpPr>
          <p:cNvPr id="59" name="Text 55"/>
          <p:cNvSpPr txBox="1"/>
          <p:nvPr/>
        </p:nvSpPr>
        <p:spPr>
          <a:xfrm>
            <a:off x="1388059" y="4288536"/>
            <a:ext cx="5641848" cy="438912"/>
          </a:xfrm>
          <a:prstGeom prst="rect">
            <a:avLst/>
          </a:prstGeom>
          <a:noFill/>
          <a:ln/>
        </p:spPr>
        <p:txBody>
          <a:bodyPr wrap="square" lIns="0" tIns="0" rIns="0" bIns="0" rtlCol="0" anchor="t"/>
          <a:lstStyle/>
          <a:p>
            <a:pPr marL="0" indent="0">
              <a:lnSpc>
                <a:spcPts val="1100"/>
              </a:lnSpc>
              <a:buNone/>
            </a:pPr>
            <a:r>
              <a:rPr lang="en-US" sz="850" dirty="0">
                <a:solidFill>
                  <a:srgbClr val="9AA4C6"/>
                </a:solidFill>
                <a:latin typeface="Calibri" pitchFamily="34" charset="0"/>
                <a:ea typeface="Calibri" pitchFamily="34" charset="-122"/>
                <a:cs typeface="Calibri" pitchFamily="34" charset="-120"/>
              </a:rPr>
              <a:t>It is carried as a cost of doing business rather than found   </a:t>
            </a:r>
            <a:r>
              <a:rPr lang="en-US" sz="850" b="1" kern="0" spc="50" dirty="0">
                <a:solidFill>
                  <a:srgbClr val="BDB6F5"/>
                </a:solidFill>
                <a:latin typeface="Calibri" pitchFamily="34" charset="0"/>
                <a:ea typeface="Calibri" pitchFamily="34" charset="-122"/>
                <a:cs typeface="Calibri" pitchFamily="34" charset="-120"/>
              </a:rPr>
              <a:t>PROXY</a:t>
            </a:r>
            <a:endParaRPr lang="en-US" sz="850" dirty="0"/>
          </a:p>
        </p:txBody>
      </p:sp>
      <p:sp>
        <p:nvSpPr>
          <p:cNvPr id="60" name="Shape 56"/>
          <p:cNvSpPr/>
          <p:nvPr/>
        </p:nvSpPr>
        <p:spPr>
          <a:xfrm>
            <a:off x="784555" y="4745736"/>
            <a:ext cx="6245352" cy="0"/>
          </a:xfrm>
          <a:prstGeom prst="line">
            <a:avLst/>
          </a:prstGeom>
          <a:noFill/>
          <a:ln w="6350">
            <a:solidFill>
              <a:srgbClr val="3A4A8C">
                <a:alpha val="40000"/>
              </a:srgbClr>
            </a:solidFill>
            <a:prstDash val="solid"/>
          </a:ln>
        </p:spPr>
      </p:sp>
      <p:sp>
        <p:nvSpPr>
          <p:cNvPr id="61" name="Shape 57"/>
          <p:cNvSpPr/>
          <p:nvPr/>
        </p:nvSpPr>
        <p:spPr>
          <a:xfrm>
            <a:off x="784555" y="4818888"/>
            <a:ext cx="237744" cy="237744"/>
          </a:xfrm>
          <a:prstGeom prst="ellipse">
            <a:avLst/>
          </a:prstGeom>
          <a:solidFill>
            <a:srgbClr val="E06666">
              <a:alpha val="45000"/>
            </a:srgbClr>
          </a:solidFill>
          <a:ln w="11430">
            <a:solidFill>
              <a:srgbClr val="E06666"/>
            </a:solidFill>
            <a:prstDash val="solid"/>
          </a:ln>
        </p:spPr>
      </p:sp>
      <p:sp>
        <p:nvSpPr>
          <p:cNvPr id="62" name="Text 58"/>
          <p:cNvSpPr txBox="1"/>
          <p:nvPr/>
        </p:nvSpPr>
        <p:spPr>
          <a:xfrm>
            <a:off x="784555" y="4818888"/>
            <a:ext cx="237744" cy="237744"/>
          </a:xfrm>
          <a:prstGeom prst="rect">
            <a:avLst/>
          </a:prstGeom>
          <a:noFill/>
          <a:ln/>
        </p:spPr>
        <p:txBody>
          <a:bodyPr wrap="square" lIns="0" tIns="0" rIns="0" bIns="0" rtlCol="0" anchor="ctr"/>
          <a:lstStyle/>
          <a:p>
            <a:pPr marL="0" indent="0" algn="ctr">
              <a:buNone/>
            </a:pPr>
            <a:r>
              <a:rPr lang="en-US" sz="900" b="1" dirty="0">
                <a:solidFill>
                  <a:srgbClr val="E06666"/>
                </a:solidFill>
                <a:latin typeface="Calibri" pitchFamily="34" charset="0"/>
                <a:ea typeface="Calibri" pitchFamily="34" charset="-122"/>
                <a:cs typeface="Calibri" pitchFamily="34" charset="-120"/>
              </a:rPr>
              <a:t>5</a:t>
            </a:r>
            <a:endParaRPr lang="en-US" sz="900" dirty="0"/>
          </a:p>
        </p:txBody>
      </p:sp>
      <p:sp>
        <p:nvSpPr>
          <p:cNvPr id="63" name="Shape 59"/>
          <p:cNvSpPr/>
          <p:nvPr/>
        </p:nvSpPr>
        <p:spPr>
          <a:xfrm>
            <a:off x="1113739" y="4828032"/>
            <a:ext cx="182880" cy="182880"/>
          </a:xfrm>
          <a:prstGeom prst="triangle">
            <a:avLst/>
          </a:prstGeom>
          <a:ln w="13970">
            <a:solidFill>
              <a:srgbClr val="E06666"/>
            </a:solidFill>
            <a:prstDash val="solid"/>
          </a:ln>
        </p:spPr>
      </p:sp>
      <p:sp>
        <p:nvSpPr>
          <p:cNvPr id="64" name="Shape 60"/>
          <p:cNvSpPr/>
          <p:nvPr/>
        </p:nvSpPr>
        <p:spPr>
          <a:xfrm>
            <a:off x="1199693" y="4890211"/>
            <a:ext cx="10973" cy="54864"/>
          </a:xfrm>
          <a:prstGeom prst="rect">
            <a:avLst/>
          </a:prstGeom>
          <a:solidFill>
            <a:srgbClr val="E06666"/>
          </a:solidFill>
          <a:ln/>
        </p:spPr>
      </p:sp>
      <p:sp>
        <p:nvSpPr>
          <p:cNvPr id="65" name="Shape 61"/>
          <p:cNvSpPr/>
          <p:nvPr/>
        </p:nvSpPr>
        <p:spPr>
          <a:xfrm>
            <a:off x="1199693" y="4959706"/>
            <a:ext cx="10973" cy="12802"/>
          </a:xfrm>
          <a:prstGeom prst="rect">
            <a:avLst/>
          </a:prstGeom>
          <a:solidFill>
            <a:srgbClr val="E06666"/>
          </a:solidFill>
          <a:ln/>
        </p:spPr>
      </p:sp>
      <p:sp>
        <p:nvSpPr>
          <p:cNvPr id="66" name="Text 62"/>
          <p:cNvSpPr txBox="1"/>
          <p:nvPr/>
        </p:nvSpPr>
        <p:spPr>
          <a:xfrm>
            <a:off x="1388059" y="4773168"/>
            <a:ext cx="5641848"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Nothing today tests whether the evidence is real</a:t>
            </a:r>
            <a:endParaRPr lang="en-US" sz="1000" dirty="0"/>
          </a:p>
        </p:txBody>
      </p:sp>
      <p:sp>
        <p:nvSpPr>
          <p:cNvPr id="67" name="Text 63"/>
          <p:cNvSpPr txBox="1"/>
          <p:nvPr/>
        </p:nvSpPr>
        <p:spPr>
          <a:xfrm>
            <a:off x="1388059" y="4983480"/>
            <a:ext cx="5641848" cy="438912"/>
          </a:xfrm>
          <a:prstGeom prst="rect">
            <a:avLst/>
          </a:prstGeom>
          <a:noFill/>
          <a:ln/>
        </p:spPr>
        <p:txBody>
          <a:bodyPr wrap="square" lIns="0" tIns="0" rIns="0" bIns="0" rtlCol="0" anchor="t"/>
          <a:lstStyle/>
          <a:p>
            <a:pPr marL="0" indent="0">
              <a:lnSpc>
                <a:spcPts val="1100"/>
              </a:lnSpc>
              <a:buNone/>
            </a:pPr>
            <a:r>
              <a:rPr lang="en-US" sz="850" dirty="0">
                <a:solidFill>
                  <a:srgbClr val="9AA4C6"/>
                </a:solidFill>
                <a:latin typeface="Calibri" pitchFamily="34" charset="0"/>
                <a:ea typeface="Calibri" pitchFamily="34" charset="-122"/>
                <a:cs typeface="Calibri" pitchFamily="34" charset="-120"/>
              </a:rPr>
              <a:t>The whole process assumes the photograph is what it claims to be   </a:t>
            </a:r>
            <a:r>
              <a:rPr lang="en-US" sz="850" b="1" kern="0" spc="50" dirty="0">
                <a:solidFill>
                  <a:srgbClr val="F7B183"/>
                </a:solidFill>
                <a:latin typeface="Calibri" pitchFamily="34" charset="0"/>
                <a:ea typeface="Calibri" pitchFamily="34" charset="-122"/>
                <a:cs typeface="Calibri" pitchFamily="34" charset="-120"/>
              </a:rPr>
              <a:t>PRIMARY RESEARCH</a:t>
            </a:r>
            <a:endParaRPr lang="en-US" sz="850" dirty="0"/>
          </a:p>
        </p:txBody>
      </p:sp>
      <p:sp>
        <p:nvSpPr>
          <p:cNvPr id="68" name="Shape 64"/>
          <p:cNvSpPr/>
          <p:nvPr/>
        </p:nvSpPr>
        <p:spPr>
          <a:xfrm>
            <a:off x="7377379" y="1609344"/>
            <a:ext cx="4197096" cy="4041648"/>
          </a:xfrm>
          <a:prstGeom prst="roundRect">
            <a:avLst>
              <a:gd name="adj" fmla="val 2036"/>
            </a:avLst>
          </a:prstGeom>
          <a:solidFill>
            <a:srgbClr val="111C55">
              <a:alpha val="74000"/>
            </a:srgbClr>
          </a:solidFill>
          <a:ln w="9525">
            <a:solidFill>
              <a:srgbClr val="3A4A8C">
                <a:alpha val="70000"/>
              </a:srgbClr>
            </a:solidFill>
            <a:prstDash val="solid"/>
          </a:ln>
        </p:spPr>
      </p:sp>
      <p:sp>
        <p:nvSpPr>
          <p:cNvPr id="69" name="Shape 65"/>
          <p:cNvSpPr/>
          <p:nvPr/>
        </p:nvSpPr>
        <p:spPr>
          <a:xfrm>
            <a:off x="7523683" y="1781617"/>
            <a:ext cx="45171" cy="45171"/>
          </a:xfrm>
          <a:prstGeom prst="ellipse">
            <a:avLst/>
          </a:prstGeom>
          <a:solidFill>
            <a:srgbClr val="9AD672"/>
          </a:solidFill>
          <a:ln/>
        </p:spPr>
      </p:sp>
      <p:sp>
        <p:nvSpPr>
          <p:cNvPr id="70" name="Shape 66"/>
          <p:cNvSpPr/>
          <p:nvPr/>
        </p:nvSpPr>
        <p:spPr>
          <a:xfrm flipV="1">
            <a:off x="7568855" y="1748607"/>
            <a:ext cx="52121" cy="55596"/>
          </a:xfrm>
          <a:prstGeom prst="line">
            <a:avLst/>
          </a:prstGeom>
          <a:noFill/>
          <a:ln w="12700">
            <a:solidFill>
              <a:srgbClr val="9AD672"/>
            </a:solidFill>
            <a:prstDash val="solid"/>
          </a:ln>
        </p:spPr>
      </p:sp>
      <p:sp>
        <p:nvSpPr>
          <p:cNvPr id="71" name="Shape 67"/>
          <p:cNvSpPr/>
          <p:nvPr/>
        </p:nvSpPr>
        <p:spPr>
          <a:xfrm>
            <a:off x="7568855" y="1804203"/>
            <a:ext cx="52121" cy="55596"/>
          </a:xfrm>
          <a:prstGeom prst="line">
            <a:avLst/>
          </a:prstGeom>
          <a:noFill/>
          <a:ln w="12700">
            <a:solidFill>
              <a:srgbClr val="9AD672"/>
            </a:solidFill>
            <a:prstDash val="solid"/>
          </a:ln>
        </p:spPr>
      </p:sp>
      <p:sp>
        <p:nvSpPr>
          <p:cNvPr id="72" name="Shape 68"/>
          <p:cNvSpPr/>
          <p:nvPr/>
        </p:nvSpPr>
        <p:spPr>
          <a:xfrm>
            <a:off x="7627925" y="1726021"/>
            <a:ext cx="38222" cy="38222"/>
          </a:xfrm>
          <a:prstGeom prst="ellipse">
            <a:avLst/>
          </a:prstGeom>
          <a:ln w="12700">
            <a:solidFill>
              <a:srgbClr val="9AD672"/>
            </a:solidFill>
            <a:prstDash val="solid"/>
          </a:ln>
        </p:spPr>
      </p:sp>
      <p:sp>
        <p:nvSpPr>
          <p:cNvPr id="73" name="Shape 69"/>
          <p:cNvSpPr/>
          <p:nvPr/>
        </p:nvSpPr>
        <p:spPr>
          <a:xfrm>
            <a:off x="7627925" y="1837212"/>
            <a:ext cx="38222" cy="38222"/>
          </a:xfrm>
          <a:prstGeom prst="ellipse">
            <a:avLst/>
          </a:prstGeom>
          <a:ln w="12700">
            <a:solidFill>
              <a:srgbClr val="9AD672"/>
            </a:solidFill>
            <a:prstDash val="solid"/>
          </a:ln>
        </p:spPr>
      </p:sp>
      <p:sp>
        <p:nvSpPr>
          <p:cNvPr id="74" name="Text 70"/>
          <p:cNvSpPr txBox="1"/>
          <p:nvPr/>
        </p:nvSpPr>
        <p:spPr>
          <a:xfrm>
            <a:off x="7770571" y="1682496"/>
            <a:ext cx="3657600" cy="237744"/>
          </a:xfrm>
          <a:prstGeom prst="rect">
            <a:avLst/>
          </a:prstGeom>
          <a:noFill/>
          <a:ln/>
        </p:spPr>
        <p:txBody>
          <a:bodyPr wrap="square" lIns="0" tIns="0" rIns="0" bIns="0" rtlCol="0" anchor="ctr"/>
          <a:lstStyle/>
          <a:p>
            <a:pPr marL="0" indent="0">
              <a:buNone/>
            </a:pPr>
            <a:r>
              <a:rPr lang="en-US" sz="900" b="1" kern="0" spc="110" dirty="0">
                <a:solidFill>
                  <a:srgbClr val="9AD672"/>
                </a:solidFill>
                <a:latin typeface="Calibri" pitchFamily="34" charset="0"/>
                <a:ea typeface="Calibri" pitchFamily="34" charset="-122"/>
                <a:cs typeface="Calibri" pitchFamily="34" charset="-120"/>
              </a:rPr>
              <a:t>THE ADDRESSABILITY TEST</a:t>
            </a:r>
            <a:r>
              <a:rPr lang="en-US" sz="900" dirty="0">
                <a:solidFill>
                  <a:srgbClr val="9AA4C6"/>
                </a:solidFill>
                <a:latin typeface="Calibri" pitchFamily="34" charset="0"/>
                <a:ea typeface="Calibri" pitchFamily="34" charset="-122"/>
                <a:cs typeface="Calibri" pitchFamily="34" charset="-120"/>
              </a:rPr>
              <a:t>   ·   what routing has to decide</a:t>
            </a:r>
            <a:endParaRPr lang="en-US" sz="900" dirty="0"/>
          </a:p>
        </p:txBody>
      </p:sp>
      <p:sp>
        <p:nvSpPr>
          <p:cNvPr id="75" name="Text 71"/>
          <p:cNvSpPr txBox="1"/>
          <p:nvPr/>
        </p:nvSpPr>
        <p:spPr>
          <a:xfrm>
            <a:off x="7523683" y="1993392"/>
            <a:ext cx="2990088" cy="201168"/>
          </a:xfrm>
          <a:prstGeom prst="rect">
            <a:avLst/>
          </a:prstGeom>
          <a:noFill/>
          <a:ln/>
        </p:spPr>
        <p:txBody>
          <a:bodyPr wrap="square" lIns="0" tIns="0" rIns="0" bIns="0" rtlCol="0" anchor="ctr"/>
          <a:lstStyle/>
          <a:p>
            <a:pPr marL="0" indent="0">
              <a:buNone/>
            </a:pPr>
            <a:r>
              <a:rPr lang="en-US" sz="950" b="1" kern="0" spc="60" dirty="0">
                <a:solidFill>
                  <a:srgbClr val="9CC3E8"/>
                </a:solidFill>
                <a:latin typeface="Calibri" pitchFamily="34" charset="0"/>
                <a:ea typeface="Calibri" pitchFamily="34" charset="-122"/>
                <a:cs typeface="Calibri" pitchFamily="34" charset="-120"/>
              </a:rPr>
              <a:t>GATE 00  ·  SCREENED FIRST</a:t>
            </a:r>
            <a:endParaRPr lang="en-US" sz="950" dirty="0"/>
          </a:p>
        </p:txBody>
      </p:sp>
      <p:sp>
        <p:nvSpPr>
          <p:cNvPr id="76" name="Text 72"/>
          <p:cNvSpPr txBox="1"/>
          <p:nvPr/>
        </p:nvSpPr>
        <p:spPr>
          <a:xfrm>
            <a:off x="10513771" y="1975104"/>
            <a:ext cx="914400" cy="237744"/>
          </a:xfrm>
          <a:prstGeom prst="rect">
            <a:avLst/>
          </a:prstGeom>
          <a:noFill/>
          <a:ln/>
        </p:spPr>
        <p:txBody>
          <a:bodyPr wrap="square" lIns="0" tIns="0" rIns="0" bIns="0" rtlCol="0" anchor="ctr"/>
          <a:lstStyle/>
          <a:p>
            <a:pPr marL="0" indent="0" algn="r">
              <a:buNone/>
            </a:pPr>
            <a:r>
              <a:rPr lang="en-US" sz="1400" b="1" dirty="0">
                <a:solidFill>
                  <a:srgbClr val="9CC3E8"/>
                </a:solidFill>
                <a:latin typeface="Calibri" pitchFamily="34" charset="0"/>
                <a:ea typeface="Calibri" pitchFamily="34" charset="-122"/>
                <a:cs typeface="Calibri" pitchFamily="34" charset="-120"/>
              </a:rPr>
              <a:t>100%</a:t>
            </a:r>
            <a:endParaRPr lang="en-US" sz="1400" dirty="0"/>
          </a:p>
        </p:txBody>
      </p:sp>
      <p:sp>
        <p:nvSpPr>
          <p:cNvPr id="77" name="Text 73"/>
          <p:cNvSpPr txBox="1"/>
          <p:nvPr/>
        </p:nvSpPr>
        <p:spPr>
          <a:xfrm>
            <a:off x="7523683" y="2167128"/>
            <a:ext cx="3904488" cy="219456"/>
          </a:xfrm>
          <a:prstGeom prst="rect">
            <a:avLst/>
          </a:prstGeom>
          <a:noFill/>
          <a:ln/>
        </p:spPr>
        <p:txBody>
          <a:bodyPr wrap="square" lIns="0" tIns="0" rIns="0" bIns="0" rtlCol="0" anchor="t"/>
          <a:lstStyle/>
          <a:p>
            <a:pPr marL="0" indent="0">
              <a:lnSpc>
                <a:spcPts val="900"/>
              </a:lnSpc>
              <a:buNone/>
            </a:pPr>
            <a:r>
              <a:rPr lang="en-US" sz="750" dirty="0">
                <a:solidFill>
                  <a:srgbClr val="9AA4C6"/>
                </a:solidFill>
                <a:latin typeface="Calibri" pitchFamily="34" charset="0"/>
                <a:ea typeface="Calibri" pitchFamily="34" charset="-122"/>
                <a:cs typeface="Calibri" pitchFamily="34" charset="-120"/>
              </a:rPr>
              <a:t>Is the evidence real?</a:t>
            </a:r>
            <a:endParaRPr lang="en-US" sz="750" dirty="0"/>
          </a:p>
        </p:txBody>
      </p:sp>
      <p:sp>
        <p:nvSpPr>
          <p:cNvPr id="78" name="Shape 74"/>
          <p:cNvSpPr/>
          <p:nvPr/>
        </p:nvSpPr>
        <p:spPr>
          <a:xfrm>
            <a:off x="7523683" y="2414016"/>
            <a:ext cx="3904488" cy="118872"/>
          </a:xfrm>
          <a:prstGeom prst="roundRect">
            <a:avLst>
              <a:gd name="adj" fmla="val 50000"/>
            </a:avLst>
          </a:prstGeom>
          <a:solidFill>
            <a:srgbClr val="0A1550">
              <a:alpha val="60000"/>
            </a:srgbClr>
          </a:solidFill>
          <a:ln/>
        </p:spPr>
      </p:sp>
      <p:sp>
        <p:nvSpPr>
          <p:cNvPr id="79" name="Shape 75"/>
          <p:cNvSpPr/>
          <p:nvPr/>
        </p:nvSpPr>
        <p:spPr>
          <a:xfrm>
            <a:off x="7523683" y="2414016"/>
            <a:ext cx="3904488" cy="118872"/>
          </a:xfrm>
          <a:prstGeom prst="roundRect">
            <a:avLst>
              <a:gd name="adj" fmla="val 50000"/>
            </a:avLst>
          </a:prstGeom>
          <a:solidFill>
            <a:srgbClr val="9CC3E8"/>
          </a:solidFill>
          <a:ln/>
        </p:spPr>
      </p:sp>
      <p:sp>
        <p:nvSpPr>
          <p:cNvPr id="80" name="Text 76"/>
          <p:cNvSpPr txBox="1"/>
          <p:nvPr/>
        </p:nvSpPr>
        <p:spPr>
          <a:xfrm>
            <a:off x="7523683" y="2551176"/>
            <a:ext cx="3904488" cy="18288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every claim, before any engine runs</a:t>
            </a:r>
            <a:endParaRPr lang="en-US" sz="800" dirty="0"/>
          </a:p>
        </p:txBody>
      </p:sp>
      <p:sp>
        <p:nvSpPr>
          <p:cNvPr id="81" name="Text 77"/>
          <p:cNvSpPr txBox="1"/>
          <p:nvPr/>
        </p:nvSpPr>
        <p:spPr>
          <a:xfrm>
            <a:off x="7523683" y="2855214"/>
            <a:ext cx="2990088" cy="201168"/>
          </a:xfrm>
          <a:prstGeom prst="rect">
            <a:avLst/>
          </a:prstGeom>
          <a:noFill/>
          <a:ln/>
        </p:spPr>
        <p:txBody>
          <a:bodyPr wrap="square" lIns="0" tIns="0" rIns="0" bIns="0" rtlCol="0" anchor="ctr"/>
          <a:lstStyle/>
          <a:p>
            <a:pPr marL="0" indent="0">
              <a:buNone/>
            </a:pPr>
            <a:r>
              <a:rPr lang="en-US" sz="950" b="1" kern="0" spc="60" dirty="0">
                <a:solidFill>
                  <a:srgbClr val="70AD47"/>
                </a:solidFill>
                <a:latin typeface="Calibri" pitchFamily="34" charset="0"/>
                <a:ea typeface="Calibri" pitchFamily="34" charset="-122"/>
                <a:cs typeface="Calibri" pitchFamily="34" charset="-120"/>
              </a:rPr>
              <a:t>GREEN  ·  DECIDABLE</a:t>
            </a:r>
            <a:endParaRPr lang="en-US" sz="950" dirty="0"/>
          </a:p>
        </p:txBody>
      </p:sp>
      <p:sp>
        <p:nvSpPr>
          <p:cNvPr id="82" name="Text 78"/>
          <p:cNvSpPr txBox="1"/>
          <p:nvPr/>
        </p:nvSpPr>
        <p:spPr>
          <a:xfrm>
            <a:off x="10513771" y="2836926"/>
            <a:ext cx="914400" cy="237744"/>
          </a:xfrm>
          <a:prstGeom prst="rect">
            <a:avLst/>
          </a:prstGeom>
          <a:noFill/>
          <a:ln/>
        </p:spPr>
        <p:txBody>
          <a:bodyPr wrap="square" lIns="0" tIns="0" rIns="0" bIns="0" rtlCol="0" anchor="ctr"/>
          <a:lstStyle/>
          <a:p>
            <a:pPr marL="0" indent="0" algn="r">
              <a:buNone/>
            </a:pPr>
            <a:r>
              <a:rPr lang="en-US" sz="1400" b="1" dirty="0">
                <a:solidFill>
                  <a:srgbClr val="70AD47"/>
                </a:solidFill>
                <a:latin typeface="Calibri" pitchFamily="34" charset="0"/>
                <a:ea typeface="Calibri" pitchFamily="34" charset="-122"/>
                <a:cs typeface="Calibri" pitchFamily="34" charset="-120"/>
              </a:rPr>
              <a:t>65%</a:t>
            </a:r>
            <a:endParaRPr lang="en-US" sz="1400" dirty="0"/>
          </a:p>
        </p:txBody>
      </p:sp>
      <p:sp>
        <p:nvSpPr>
          <p:cNvPr id="83" name="Text 79"/>
          <p:cNvSpPr txBox="1"/>
          <p:nvPr/>
        </p:nvSpPr>
        <p:spPr>
          <a:xfrm>
            <a:off x="7523683" y="3028950"/>
            <a:ext cx="3904488" cy="219456"/>
          </a:xfrm>
          <a:prstGeom prst="rect">
            <a:avLst/>
          </a:prstGeom>
          <a:noFill/>
          <a:ln/>
        </p:spPr>
        <p:txBody>
          <a:bodyPr wrap="square" lIns="0" tIns="0" rIns="0" bIns="0" rtlCol="0" anchor="t"/>
          <a:lstStyle/>
          <a:p>
            <a:pPr marL="0" indent="0">
              <a:lnSpc>
                <a:spcPts val="900"/>
              </a:lnSpc>
              <a:buNone/>
            </a:pPr>
            <a:r>
              <a:rPr lang="en-US" sz="750" dirty="0">
                <a:solidFill>
                  <a:srgbClr val="9AA4C6"/>
                </a:solidFill>
                <a:latin typeface="Calibri" pitchFamily="34" charset="0"/>
                <a:ea typeface="Calibri" pitchFamily="34" charset="-122"/>
                <a:cs typeface="Calibri" pitchFamily="34" charset="-120"/>
              </a:rPr>
              <a:t>Repair cost inside the IRDAI ₹50,000 corridor, fraud graph clean, policy clause matched</a:t>
            </a:r>
            <a:endParaRPr lang="en-US" sz="750" dirty="0"/>
          </a:p>
        </p:txBody>
      </p:sp>
      <p:sp>
        <p:nvSpPr>
          <p:cNvPr id="84" name="Shape 80"/>
          <p:cNvSpPr/>
          <p:nvPr/>
        </p:nvSpPr>
        <p:spPr>
          <a:xfrm>
            <a:off x="7523683" y="3275838"/>
            <a:ext cx="3904488" cy="118872"/>
          </a:xfrm>
          <a:prstGeom prst="roundRect">
            <a:avLst>
              <a:gd name="adj" fmla="val 50000"/>
            </a:avLst>
          </a:prstGeom>
          <a:solidFill>
            <a:srgbClr val="0A1550">
              <a:alpha val="60000"/>
            </a:srgbClr>
          </a:solidFill>
          <a:ln/>
        </p:spPr>
      </p:sp>
      <p:sp>
        <p:nvSpPr>
          <p:cNvPr id="85" name="Shape 81"/>
          <p:cNvSpPr/>
          <p:nvPr/>
        </p:nvSpPr>
        <p:spPr>
          <a:xfrm>
            <a:off x="7523683" y="3275838"/>
            <a:ext cx="2537917" cy="118872"/>
          </a:xfrm>
          <a:prstGeom prst="roundRect">
            <a:avLst>
              <a:gd name="adj" fmla="val 50000"/>
            </a:avLst>
          </a:prstGeom>
          <a:solidFill>
            <a:srgbClr val="70AD47"/>
          </a:solidFill>
          <a:ln/>
        </p:spPr>
      </p:sp>
      <p:sp>
        <p:nvSpPr>
          <p:cNvPr id="86" name="Text 82"/>
          <p:cNvSpPr txBox="1"/>
          <p:nvPr/>
        </p:nvSpPr>
        <p:spPr>
          <a:xfrm>
            <a:off x="7523683" y="3412998"/>
            <a:ext cx="3904488" cy="18288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all three must hold</a:t>
            </a:r>
            <a:endParaRPr lang="en-US" sz="800" dirty="0"/>
          </a:p>
        </p:txBody>
      </p:sp>
      <p:sp>
        <p:nvSpPr>
          <p:cNvPr id="87" name="Text 83"/>
          <p:cNvSpPr txBox="1"/>
          <p:nvPr/>
        </p:nvSpPr>
        <p:spPr>
          <a:xfrm>
            <a:off x="7523683" y="3717036"/>
            <a:ext cx="2990088" cy="201168"/>
          </a:xfrm>
          <a:prstGeom prst="rect">
            <a:avLst/>
          </a:prstGeom>
          <a:noFill/>
          <a:ln/>
        </p:spPr>
        <p:txBody>
          <a:bodyPr wrap="square" lIns="0" tIns="0" rIns="0" bIns="0" rtlCol="0" anchor="ctr"/>
          <a:lstStyle/>
          <a:p>
            <a:pPr marL="0" indent="0">
              <a:buNone/>
            </a:pPr>
            <a:r>
              <a:rPr lang="en-US" sz="950" b="1" kern="0" spc="60" dirty="0">
                <a:solidFill>
                  <a:srgbClr val="E8B33A"/>
                </a:solidFill>
                <a:latin typeface="Calibri" pitchFamily="34" charset="0"/>
                <a:ea typeface="Calibri" pitchFamily="34" charset="-122"/>
                <a:cs typeface="Calibri" pitchFamily="34" charset="-120"/>
              </a:rPr>
              <a:t>AMBER  ·  JUDGEMENTAL</a:t>
            </a:r>
            <a:endParaRPr lang="en-US" sz="950" dirty="0"/>
          </a:p>
        </p:txBody>
      </p:sp>
      <p:sp>
        <p:nvSpPr>
          <p:cNvPr id="88" name="Text 84"/>
          <p:cNvSpPr txBox="1"/>
          <p:nvPr/>
        </p:nvSpPr>
        <p:spPr>
          <a:xfrm>
            <a:off x="10513771" y="3698748"/>
            <a:ext cx="914400" cy="237744"/>
          </a:xfrm>
          <a:prstGeom prst="rect">
            <a:avLst/>
          </a:prstGeom>
          <a:noFill/>
          <a:ln/>
        </p:spPr>
        <p:txBody>
          <a:bodyPr wrap="square" lIns="0" tIns="0" rIns="0" bIns="0" rtlCol="0" anchor="ctr"/>
          <a:lstStyle/>
          <a:p>
            <a:pPr marL="0" indent="0" algn="r">
              <a:buNone/>
            </a:pPr>
            <a:r>
              <a:rPr lang="en-US" sz="1400" b="1" dirty="0">
                <a:solidFill>
                  <a:srgbClr val="E8B33A"/>
                </a:solidFill>
                <a:latin typeface="Calibri" pitchFamily="34" charset="0"/>
                <a:ea typeface="Calibri" pitchFamily="34" charset="-122"/>
                <a:cs typeface="Calibri" pitchFamily="34" charset="-120"/>
              </a:rPr>
              <a:t>25%</a:t>
            </a:r>
            <a:endParaRPr lang="en-US" sz="1400" dirty="0"/>
          </a:p>
        </p:txBody>
      </p:sp>
      <p:sp>
        <p:nvSpPr>
          <p:cNvPr id="89" name="Text 85"/>
          <p:cNvSpPr txBox="1"/>
          <p:nvPr/>
        </p:nvSpPr>
        <p:spPr>
          <a:xfrm>
            <a:off x="7523683" y="3890772"/>
            <a:ext cx="3904488" cy="219456"/>
          </a:xfrm>
          <a:prstGeom prst="rect">
            <a:avLst/>
          </a:prstGeom>
          <a:noFill/>
          <a:ln/>
        </p:spPr>
        <p:txBody>
          <a:bodyPr wrap="square" lIns="0" tIns="0" rIns="0" bIns="0" rtlCol="0" anchor="t"/>
          <a:lstStyle/>
          <a:p>
            <a:pPr marL="0" indent="0">
              <a:lnSpc>
                <a:spcPts val="900"/>
              </a:lnSpc>
              <a:buNone/>
            </a:pPr>
            <a:r>
              <a:rPr lang="en-US" sz="750" dirty="0">
                <a:solidFill>
                  <a:srgbClr val="9AA4C6"/>
                </a:solidFill>
                <a:latin typeface="Calibri" pitchFamily="34" charset="0"/>
                <a:ea typeface="Calibri" pitchFamily="34" charset="-122"/>
                <a:cs typeface="Calibri" pitchFamily="34" charset="-120"/>
              </a:rPr>
              <a:t>Structured, but one signal is inconclusive</a:t>
            </a:r>
            <a:endParaRPr lang="en-US" sz="750" dirty="0"/>
          </a:p>
        </p:txBody>
      </p:sp>
      <p:sp>
        <p:nvSpPr>
          <p:cNvPr id="90" name="Shape 86"/>
          <p:cNvSpPr/>
          <p:nvPr/>
        </p:nvSpPr>
        <p:spPr>
          <a:xfrm>
            <a:off x="7523683" y="4137660"/>
            <a:ext cx="3904488" cy="118872"/>
          </a:xfrm>
          <a:prstGeom prst="roundRect">
            <a:avLst>
              <a:gd name="adj" fmla="val 50000"/>
            </a:avLst>
          </a:prstGeom>
          <a:solidFill>
            <a:srgbClr val="0A1550">
              <a:alpha val="60000"/>
            </a:srgbClr>
          </a:solidFill>
          <a:ln/>
        </p:spPr>
      </p:sp>
      <p:sp>
        <p:nvSpPr>
          <p:cNvPr id="91" name="Shape 87"/>
          <p:cNvSpPr/>
          <p:nvPr/>
        </p:nvSpPr>
        <p:spPr>
          <a:xfrm>
            <a:off x="7523683" y="4137660"/>
            <a:ext cx="976122" cy="118872"/>
          </a:xfrm>
          <a:prstGeom prst="roundRect">
            <a:avLst>
              <a:gd name="adj" fmla="val 50000"/>
            </a:avLst>
          </a:prstGeom>
          <a:solidFill>
            <a:srgbClr val="E8B33A"/>
          </a:solidFill>
          <a:ln/>
        </p:spPr>
      </p:sp>
      <p:sp>
        <p:nvSpPr>
          <p:cNvPr id="92" name="Text 88"/>
          <p:cNvSpPr txBox="1"/>
          <p:nvPr/>
        </p:nvSpPr>
        <p:spPr>
          <a:xfrm>
            <a:off x="7523683" y="4274820"/>
            <a:ext cx="3904488" cy="18288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a person decides, on a built dossier</a:t>
            </a:r>
            <a:endParaRPr lang="en-US" sz="800" dirty="0"/>
          </a:p>
        </p:txBody>
      </p:sp>
      <p:sp>
        <p:nvSpPr>
          <p:cNvPr id="93" name="Text 89"/>
          <p:cNvSpPr txBox="1"/>
          <p:nvPr/>
        </p:nvSpPr>
        <p:spPr>
          <a:xfrm>
            <a:off x="7523683" y="4578858"/>
            <a:ext cx="2990088" cy="201168"/>
          </a:xfrm>
          <a:prstGeom prst="rect">
            <a:avLst/>
          </a:prstGeom>
          <a:noFill/>
          <a:ln/>
        </p:spPr>
        <p:txBody>
          <a:bodyPr wrap="square" lIns="0" tIns="0" rIns="0" bIns="0" rtlCol="0" anchor="ctr"/>
          <a:lstStyle/>
          <a:p>
            <a:pPr marL="0" indent="0">
              <a:buNone/>
            </a:pPr>
            <a:r>
              <a:rPr lang="en-US" sz="950" b="1" kern="0" spc="60" dirty="0">
                <a:solidFill>
                  <a:srgbClr val="E06666"/>
                </a:solidFill>
                <a:latin typeface="Calibri" pitchFamily="34" charset="0"/>
                <a:ea typeface="Calibri" pitchFamily="34" charset="-122"/>
                <a:cs typeface="Calibri" pitchFamily="34" charset="-120"/>
              </a:rPr>
              <a:t>RED  ·  AMBIGUOUS</a:t>
            </a:r>
            <a:endParaRPr lang="en-US" sz="950" dirty="0"/>
          </a:p>
        </p:txBody>
      </p:sp>
      <p:sp>
        <p:nvSpPr>
          <p:cNvPr id="94" name="Text 90"/>
          <p:cNvSpPr txBox="1"/>
          <p:nvPr/>
        </p:nvSpPr>
        <p:spPr>
          <a:xfrm>
            <a:off x="10513771" y="4560570"/>
            <a:ext cx="914400" cy="237744"/>
          </a:xfrm>
          <a:prstGeom prst="rect">
            <a:avLst/>
          </a:prstGeom>
          <a:noFill/>
          <a:ln/>
        </p:spPr>
        <p:txBody>
          <a:bodyPr wrap="square" lIns="0" tIns="0" rIns="0" bIns="0" rtlCol="0" anchor="ctr"/>
          <a:lstStyle/>
          <a:p>
            <a:pPr marL="0" indent="0" algn="r">
              <a:buNone/>
            </a:pPr>
            <a:r>
              <a:rPr lang="en-US" sz="1400" b="1" dirty="0">
                <a:solidFill>
                  <a:srgbClr val="E06666"/>
                </a:solidFill>
                <a:latin typeface="Calibri" pitchFamily="34" charset="0"/>
                <a:ea typeface="Calibri" pitchFamily="34" charset="-122"/>
                <a:cs typeface="Calibri" pitchFamily="34" charset="-120"/>
              </a:rPr>
              <a:t>10%</a:t>
            </a:r>
            <a:endParaRPr lang="en-US" sz="1400" dirty="0"/>
          </a:p>
        </p:txBody>
      </p:sp>
      <p:sp>
        <p:nvSpPr>
          <p:cNvPr id="95" name="Text 91"/>
          <p:cNvSpPr txBox="1"/>
          <p:nvPr/>
        </p:nvSpPr>
        <p:spPr>
          <a:xfrm>
            <a:off x="7523683" y="4752594"/>
            <a:ext cx="3904488" cy="219456"/>
          </a:xfrm>
          <a:prstGeom prst="rect">
            <a:avLst/>
          </a:prstGeom>
          <a:noFill/>
          <a:ln/>
        </p:spPr>
        <p:txBody>
          <a:bodyPr wrap="square" lIns="0" tIns="0" rIns="0" bIns="0" rtlCol="0" anchor="t"/>
          <a:lstStyle/>
          <a:p>
            <a:pPr marL="0" indent="0">
              <a:lnSpc>
                <a:spcPts val="900"/>
              </a:lnSpc>
              <a:buNone/>
            </a:pPr>
            <a:r>
              <a:rPr lang="en-US" sz="750" dirty="0">
                <a:solidFill>
                  <a:srgbClr val="9AA4C6"/>
                </a:solidFill>
                <a:latin typeface="Calibri" pitchFamily="34" charset="0"/>
                <a:ea typeface="Calibri" pitchFamily="34" charset="-122"/>
                <a:cs typeface="Calibri" pitchFamily="34" charset="-120"/>
              </a:rPr>
              <a:t>Signals contradict, or the claim is contested</a:t>
            </a:r>
            <a:endParaRPr lang="en-US" sz="750" dirty="0"/>
          </a:p>
        </p:txBody>
      </p:sp>
      <p:sp>
        <p:nvSpPr>
          <p:cNvPr id="96" name="Shape 92"/>
          <p:cNvSpPr/>
          <p:nvPr/>
        </p:nvSpPr>
        <p:spPr>
          <a:xfrm>
            <a:off x="7523683" y="4999482"/>
            <a:ext cx="3904488" cy="118872"/>
          </a:xfrm>
          <a:prstGeom prst="roundRect">
            <a:avLst>
              <a:gd name="adj" fmla="val 50000"/>
            </a:avLst>
          </a:prstGeom>
          <a:solidFill>
            <a:srgbClr val="0A1550">
              <a:alpha val="60000"/>
            </a:srgbClr>
          </a:solidFill>
          <a:ln/>
        </p:spPr>
      </p:sp>
      <p:sp>
        <p:nvSpPr>
          <p:cNvPr id="97" name="Shape 93"/>
          <p:cNvSpPr/>
          <p:nvPr/>
        </p:nvSpPr>
        <p:spPr>
          <a:xfrm>
            <a:off x="7523683" y="4999482"/>
            <a:ext cx="390449" cy="118872"/>
          </a:xfrm>
          <a:prstGeom prst="roundRect">
            <a:avLst>
              <a:gd name="adj" fmla="val 50000"/>
            </a:avLst>
          </a:prstGeom>
          <a:solidFill>
            <a:srgbClr val="E06666"/>
          </a:solidFill>
          <a:ln/>
        </p:spPr>
      </p:sp>
      <p:sp>
        <p:nvSpPr>
          <p:cNvPr id="98" name="Text 94"/>
          <p:cNvSpPr txBox="1"/>
          <p:nvPr/>
        </p:nvSpPr>
        <p:spPr>
          <a:xfrm>
            <a:off x="7523683" y="5136642"/>
            <a:ext cx="3904488" cy="18288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investigation, not automation</a:t>
            </a:r>
            <a:endParaRPr lang="en-US" sz="800" dirty="0"/>
          </a:p>
        </p:txBody>
      </p:sp>
      <p:sp>
        <p:nvSpPr>
          <p:cNvPr id="99" name="Shape 95"/>
          <p:cNvSpPr/>
          <p:nvPr/>
        </p:nvSpPr>
        <p:spPr>
          <a:xfrm>
            <a:off x="638251" y="5724144"/>
            <a:ext cx="10936224" cy="347472"/>
          </a:xfrm>
          <a:prstGeom prst="roundRect">
            <a:avLst>
              <a:gd name="adj" fmla="val 21053"/>
            </a:avLst>
          </a:prstGeom>
          <a:solidFill>
            <a:srgbClr val="0A1550">
              <a:alpha val="86000"/>
            </a:srgbClr>
          </a:solidFill>
          <a:ln w="9525">
            <a:solidFill>
              <a:srgbClr val="70AD47">
                <a:alpha val="55000"/>
              </a:srgbClr>
            </a:solidFill>
            <a:prstDash val="solid"/>
          </a:ln>
        </p:spPr>
      </p:sp>
      <p:sp>
        <p:nvSpPr>
          <p:cNvPr id="100" name="Shape 96"/>
          <p:cNvSpPr/>
          <p:nvPr/>
        </p:nvSpPr>
        <p:spPr>
          <a:xfrm>
            <a:off x="747979" y="5797296"/>
            <a:ext cx="41148" cy="201168"/>
          </a:xfrm>
          <a:prstGeom prst="roundRect">
            <a:avLst>
              <a:gd name="adj" fmla="val 48889"/>
            </a:avLst>
          </a:prstGeom>
          <a:solidFill>
            <a:srgbClr val="70AD47"/>
          </a:solidFill>
          <a:ln/>
        </p:spPr>
      </p:sp>
      <p:sp>
        <p:nvSpPr>
          <p:cNvPr id="101" name="Text 97"/>
          <p:cNvSpPr txBox="1"/>
          <p:nvPr/>
        </p:nvSpPr>
        <p:spPr>
          <a:xfrm>
            <a:off x="894283" y="5724144"/>
            <a:ext cx="10533888" cy="347472"/>
          </a:xfrm>
          <a:prstGeom prst="rect">
            <a:avLst/>
          </a:prstGeom>
          <a:noFill/>
          <a:ln/>
        </p:spPr>
        <p:txBody>
          <a:bodyPr wrap="square" lIns="0" tIns="0" rIns="0" bIns="0" rtlCol="0" anchor="ctr"/>
          <a:lstStyle/>
          <a:p>
            <a:pPr marL="0" indent="0">
              <a:lnSpc>
                <a:spcPts val="1150"/>
              </a:lnSpc>
              <a:buNone/>
            </a:pPr>
            <a:r>
              <a:rPr lang="en-US" sz="950" b="1" kern="0" spc="100" dirty="0">
                <a:solidFill>
                  <a:srgbClr val="70AD47"/>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The expensive part of a claim is not the decision. It is assembling evidence nobody has verified, on claims that never needed a person at all.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SOLUTION   01 / 05</a:t>
            </a:r>
            <a:endParaRPr lang="en-US" sz="1000" dirty="0"/>
          </a:p>
        </p:txBody>
      </p:sp>
      <p:pic>
        <p:nvPicPr>
          <p:cNvPr id="4" name="Image 0" descr="media/image4.png"/>
          <p:cNvPicPr>
            <a:picLocks noChangeAspect="1"/>
          </p:cNvPicPr>
          <p:nvPr/>
        </p:nvPicPr>
        <p:blipFill>
          <a:blip r:embed="rId6"/>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7"/>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The same claim, four clocks. Green settles on day 1.5, while today’s file is still chasing documents.</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Solution Proposed</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3 Workings (Part B, W-12 to W-17). Lane turnaround and lane mix are team estimates, calibrated on live claims during the 90-day pilot.</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Text 11"/>
          <p:cNvSpPr txBox="1"/>
          <p:nvPr/>
        </p:nvSpPr>
        <p:spPr>
          <a:xfrm>
            <a:off x="656539" y="1609344"/>
            <a:ext cx="10899648" cy="274320"/>
          </a:xfrm>
          <a:prstGeom prst="rect">
            <a:avLst/>
          </a:prstGeom>
          <a:noFill/>
          <a:ln/>
        </p:spPr>
        <p:txBody>
          <a:bodyPr wrap="square" lIns="0" tIns="0" rIns="0" bIns="0" rtlCol="0" anchor="ctr"/>
          <a:lstStyle/>
          <a:p>
            <a:pPr marL="0" indent="0">
              <a:buNone/>
            </a:pPr>
            <a:r>
              <a:rPr lang="en-US" sz="950" b="1" kern="0" spc="110" dirty="0">
                <a:solidFill>
                  <a:srgbClr val="9CC3E8"/>
                </a:solidFill>
                <a:latin typeface="Calibri" pitchFamily="34" charset="0"/>
                <a:ea typeface="Calibri" pitchFamily="34" charset="-122"/>
                <a:cs typeface="Calibri" pitchFamily="34" charset="-120"/>
              </a:rPr>
              <a:t>ONE CLAIM, FOUR FINISHING TIMES — TODAY’S PROCESS AGAINST THE THREE CLAIMPULSE LANES, ON ONE CLOCK</a:t>
            </a:r>
            <a:endParaRPr lang="en-US" sz="950" dirty="0"/>
          </a:p>
        </p:txBody>
      </p:sp>
      <p:sp>
        <p:nvSpPr>
          <p:cNvPr id="16" name="Shape 12"/>
          <p:cNvSpPr/>
          <p:nvPr/>
        </p:nvSpPr>
        <p:spPr>
          <a:xfrm>
            <a:off x="638251" y="1920240"/>
            <a:ext cx="10936224" cy="4151376"/>
          </a:xfrm>
          <a:prstGeom prst="roundRect">
            <a:avLst>
              <a:gd name="adj" fmla="val 2423"/>
            </a:avLst>
          </a:prstGeom>
          <a:solidFill>
            <a:srgbClr val="09122C"/>
          </a:solidFill>
          <a:ln w="9525">
            <a:solidFill>
              <a:srgbClr val="9CC3E8">
                <a:alpha val="45000"/>
              </a:srgbClr>
            </a:solidFill>
            <a:prstDash val="solid"/>
          </a:ln>
        </p:spPr>
      </p:sp>
      <p:pic>
        <p:nvPicPr>
          <p:cNvPr id="17"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1306277" y="1993392"/>
            <a:ext cx="9600173" cy="40050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32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SOLUTION   02 / 05</a:t>
            </a:r>
            <a:endParaRPr lang="en-US" sz="1000" dirty="0"/>
          </a:p>
        </p:txBody>
      </p:sp>
      <p:pic>
        <p:nvPicPr>
          <p:cNvPr id="4" name="Image 0" descr="media/image4.png"/>
          <p:cNvPicPr>
            <a:picLocks noChangeAspect="1"/>
          </p:cNvPicPr>
          <p:nvPr/>
        </p:nvPicPr>
        <p:blipFill>
          <a:blip r:embed="rId6"/>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7"/>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One claim, one architecture: gate the evidence, score it five ways, then route on one number.</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Solution Proposed</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3 Workings (Parts B and D); Sheet 1 Assumptions (Tables B and D). Our primary research: gallery uploads silently break metadata forensics, so capture is live-only.</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Text 11"/>
          <p:cNvSpPr txBox="1"/>
          <p:nvPr/>
        </p:nvSpPr>
        <p:spPr>
          <a:xfrm>
            <a:off x="656539" y="1609344"/>
            <a:ext cx="7552944" cy="274320"/>
          </a:xfrm>
          <a:prstGeom prst="rect">
            <a:avLst/>
          </a:prstGeom>
          <a:noFill/>
          <a:ln/>
        </p:spPr>
        <p:txBody>
          <a:bodyPr wrap="square" lIns="0" tIns="0" rIns="0" bIns="0" rtlCol="0" anchor="ctr"/>
          <a:lstStyle/>
          <a:p>
            <a:pPr marL="0" indent="0">
              <a:buNone/>
            </a:pPr>
            <a:r>
              <a:rPr lang="en-US" sz="950" b="1" kern="0" spc="110" dirty="0">
                <a:solidFill>
                  <a:srgbClr val="9CC3E8"/>
                </a:solidFill>
                <a:latin typeface="Calibri" pitchFamily="34" charset="0"/>
                <a:ea typeface="Calibri" pitchFamily="34" charset="-122"/>
                <a:cs typeface="Calibri" pitchFamily="34" charset="-120"/>
              </a:rPr>
              <a:t>HOW A CLAIM SETTLES TODAY, AND WHAT CLAIMPULSE PROPOSES INSTEAD</a:t>
            </a:r>
            <a:endParaRPr lang="en-US" sz="950" dirty="0"/>
          </a:p>
        </p:txBody>
      </p:sp>
      <p:sp>
        <p:nvSpPr>
          <p:cNvPr id="16" name="Shape 12"/>
          <p:cNvSpPr/>
          <p:nvPr/>
        </p:nvSpPr>
        <p:spPr>
          <a:xfrm>
            <a:off x="638251" y="1920240"/>
            <a:ext cx="7589520" cy="3730752"/>
          </a:xfrm>
          <a:prstGeom prst="roundRect">
            <a:avLst>
              <a:gd name="adj" fmla="val 2696"/>
            </a:avLst>
          </a:prstGeom>
          <a:solidFill>
            <a:srgbClr val="09122C"/>
          </a:solidFill>
          <a:ln w="9525">
            <a:solidFill>
              <a:srgbClr val="9CC3E8">
                <a:alpha val="45000"/>
              </a:srgbClr>
            </a:solidFill>
            <a:prstDash val="solid"/>
          </a:ln>
        </p:spPr>
      </p:sp>
      <p:pic>
        <p:nvPicPr>
          <p:cNvPr id="66"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1246835" y="1993392"/>
            <a:ext cx="6372352" cy="3584448"/>
          </a:xfrm>
          <a:prstGeom prst="rect">
            <a:avLst/>
          </a:prstGeom>
        </p:spPr>
      </p:pic>
      <p:sp>
        <p:nvSpPr>
          <p:cNvPr id="18" name="Shape 13"/>
          <p:cNvSpPr/>
          <p:nvPr/>
        </p:nvSpPr>
        <p:spPr>
          <a:xfrm>
            <a:off x="8428939" y="1609344"/>
            <a:ext cx="3145536" cy="4041648"/>
          </a:xfrm>
          <a:prstGeom prst="roundRect">
            <a:avLst>
              <a:gd name="adj" fmla="val 2616"/>
            </a:avLst>
          </a:prstGeom>
          <a:solidFill>
            <a:srgbClr val="111C55">
              <a:alpha val="74000"/>
            </a:srgbClr>
          </a:solidFill>
          <a:ln w="12700">
            <a:solidFill>
              <a:srgbClr val="9085E9">
                <a:alpha val="78000"/>
              </a:srgbClr>
            </a:solidFill>
            <a:prstDash val="solid"/>
          </a:ln>
        </p:spPr>
      </p:sp>
      <p:sp>
        <p:nvSpPr>
          <p:cNvPr id="19" name="Shape 14"/>
          <p:cNvSpPr/>
          <p:nvPr/>
        </p:nvSpPr>
        <p:spPr>
          <a:xfrm>
            <a:off x="8606516" y="1750344"/>
            <a:ext cx="111191" cy="111191"/>
          </a:xfrm>
          <a:prstGeom prst="roundRect">
            <a:avLst>
              <a:gd name="adj" fmla="val 15625"/>
            </a:avLst>
          </a:prstGeom>
          <a:ln w="13970">
            <a:solidFill>
              <a:srgbClr val="9085E9"/>
            </a:solidFill>
            <a:prstDash val="solid"/>
          </a:ln>
        </p:spPr>
      </p:sp>
      <p:sp>
        <p:nvSpPr>
          <p:cNvPr id="20" name="Shape 15"/>
          <p:cNvSpPr/>
          <p:nvPr/>
        </p:nvSpPr>
        <p:spPr>
          <a:xfrm>
            <a:off x="8627364" y="1722547"/>
            <a:ext cx="0" cy="27798"/>
          </a:xfrm>
          <a:prstGeom prst="line">
            <a:avLst/>
          </a:prstGeom>
          <a:noFill/>
          <a:ln w="9525">
            <a:solidFill>
              <a:srgbClr val="9085E9"/>
            </a:solidFill>
            <a:prstDash val="solid"/>
          </a:ln>
        </p:spPr>
      </p:sp>
      <p:sp>
        <p:nvSpPr>
          <p:cNvPr id="21" name="Shape 16"/>
          <p:cNvSpPr/>
          <p:nvPr/>
        </p:nvSpPr>
        <p:spPr>
          <a:xfrm>
            <a:off x="8627364" y="1861536"/>
            <a:ext cx="0" cy="27798"/>
          </a:xfrm>
          <a:prstGeom prst="line">
            <a:avLst/>
          </a:prstGeom>
          <a:noFill/>
          <a:ln w="9525">
            <a:solidFill>
              <a:srgbClr val="9085E9"/>
            </a:solidFill>
            <a:prstDash val="solid"/>
          </a:ln>
        </p:spPr>
      </p:sp>
      <p:sp>
        <p:nvSpPr>
          <p:cNvPr id="22" name="Shape 17"/>
          <p:cNvSpPr/>
          <p:nvPr/>
        </p:nvSpPr>
        <p:spPr>
          <a:xfrm>
            <a:off x="8578718" y="1771193"/>
            <a:ext cx="27798" cy="0"/>
          </a:xfrm>
          <a:prstGeom prst="line">
            <a:avLst/>
          </a:prstGeom>
          <a:noFill/>
          <a:ln w="9525">
            <a:solidFill>
              <a:srgbClr val="9085E9"/>
            </a:solidFill>
            <a:prstDash val="solid"/>
          </a:ln>
        </p:spPr>
      </p:sp>
      <p:sp>
        <p:nvSpPr>
          <p:cNvPr id="23" name="Shape 18"/>
          <p:cNvSpPr/>
          <p:nvPr/>
        </p:nvSpPr>
        <p:spPr>
          <a:xfrm>
            <a:off x="8717707" y="1771193"/>
            <a:ext cx="27798" cy="0"/>
          </a:xfrm>
          <a:prstGeom prst="line">
            <a:avLst/>
          </a:prstGeom>
          <a:noFill/>
          <a:ln w="9525">
            <a:solidFill>
              <a:srgbClr val="9085E9"/>
            </a:solidFill>
            <a:prstDash val="solid"/>
          </a:ln>
        </p:spPr>
      </p:sp>
      <p:sp>
        <p:nvSpPr>
          <p:cNvPr id="24" name="Shape 19"/>
          <p:cNvSpPr/>
          <p:nvPr/>
        </p:nvSpPr>
        <p:spPr>
          <a:xfrm>
            <a:off x="8662111" y="1722547"/>
            <a:ext cx="0" cy="27798"/>
          </a:xfrm>
          <a:prstGeom prst="line">
            <a:avLst/>
          </a:prstGeom>
          <a:noFill/>
          <a:ln w="9525">
            <a:solidFill>
              <a:srgbClr val="9085E9"/>
            </a:solidFill>
            <a:prstDash val="solid"/>
          </a:ln>
        </p:spPr>
      </p:sp>
      <p:sp>
        <p:nvSpPr>
          <p:cNvPr id="25" name="Shape 20"/>
          <p:cNvSpPr/>
          <p:nvPr/>
        </p:nvSpPr>
        <p:spPr>
          <a:xfrm>
            <a:off x="8662111" y="1861536"/>
            <a:ext cx="0" cy="27798"/>
          </a:xfrm>
          <a:prstGeom prst="line">
            <a:avLst/>
          </a:prstGeom>
          <a:noFill/>
          <a:ln w="9525">
            <a:solidFill>
              <a:srgbClr val="9085E9"/>
            </a:solidFill>
            <a:prstDash val="solid"/>
          </a:ln>
        </p:spPr>
      </p:sp>
      <p:sp>
        <p:nvSpPr>
          <p:cNvPr id="26" name="Shape 21"/>
          <p:cNvSpPr/>
          <p:nvPr/>
        </p:nvSpPr>
        <p:spPr>
          <a:xfrm>
            <a:off x="8578718" y="1805940"/>
            <a:ext cx="27798" cy="0"/>
          </a:xfrm>
          <a:prstGeom prst="line">
            <a:avLst/>
          </a:prstGeom>
          <a:noFill/>
          <a:ln w="9525">
            <a:solidFill>
              <a:srgbClr val="9085E9"/>
            </a:solidFill>
            <a:prstDash val="solid"/>
          </a:ln>
        </p:spPr>
      </p:sp>
      <p:sp>
        <p:nvSpPr>
          <p:cNvPr id="27" name="Shape 22"/>
          <p:cNvSpPr/>
          <p:nvPr/>
        </p:nvSpPr>
        <p:spPr>
          <a:xfrm>
            <a:off x="8717707" y="1805940"/>
            <a:ext cx="27798" cy="0"/>
          </a:xfrm>
          <a:prstGeom prst="line">
            <a:avLst/>
          </a:prstGeom>
          <a:noFill/>
          <a:ln w="9525">
            <a:solidFill>
              <a:srgbClr val="9085E9"/>
            </a:solidFill>
            <a:prstDash val="solid"/>
          </a:ln>
        </p:spPr>
      </p:sp>
      <p:sp>
        <p:nvSpPr>
          <p:cNvPr id="28" name="Shape 23"/>
          <p:cNvSpPr/>
          <p:nvPr/>
        </p:nvSpPr>
        <p:spPr>
          <a:xfrm>
            <a:off x="8696858" y="1722547"/>
            <a:ext cx="0" cy="27798"/>
          </a:xfrm>
          <a:prstGeom prst="line">
            <a:avLst/>
          </a:prstGeom>
          <a:noFill/>
          <a:ln w="9525">
            <a:solidFill>
              <a:srgbClr val="9085E9"/>
            </a:solidFill>
            <a:prstDash val="solid"/>
          </a:ln>
        </p:spPr>
      </p:sp>
      <p:sp>
        <p:nvSpPr>
          <p:cNvPr id="29" name="Shape 24"/>
          <p:cNvSpPr/>
          <p:nvPr/>
        </p:nvSpPr>
        <p:spPr>
          <a:xfrm>
            <a:off x="8696858" y="1861536"/>
            <a:ext cx="0" cy="27798"/>
          </a:xfrm>
          <a:prstGeom prst="line">
            <a:avLst/>
          </a:prstGeom>
          <a:noFill/>
          <a:ln w="9525">
            <a:solidFill>
              <a:srgbClr val="9085E9"/>
            </a:solidFill>
            <a:prstDash val="solid"/>
          </a:ln>
        </p:spPr>
      </p:sp>
      <p:sp>
        <p:nvSpPr>
          <p:cNvPr id="30" name="Shape 25"/>
          <p:cNvSpPr/>
          <p:nvPr/>
        </p:nvSpPr>
        <p:spPr>
          <a:xfrm>
            <a:off x="8578718" y="1840687"/>
            <a:ext cx="27798" cy="0"/>
          </a:xfrm>
          <a:prstGeom prst="line">
            <a:avLst/>
          </a:prstGeom>
          <a:noFill/>
          <a:ln w="9525">
            <a:solidFill>
              <a:srgbClr val="9085E9"/>
            </a:solidFill>
            <a:prstDash val="solid"/>
          </a:ln>
        </p:spPr>
      </p:sp>
      <p:sp>
        <p:nvSpPr>
          <p:cNvPr id="31" name="Shape 26"/>
          <p:cNvSpPr/>
          <p:nvPr/>
        </p:nvSpPr>
        <p:spPr>
          <a:xfrm>
            <a:off x="8717707" y="1840687"/>
            <a:ext cx="27798" cy="0"/>
          </a:xfrm>
          <a:prstGeom prst="line">
            <a:avLst/>
          </a:prstGeom>
          <a:noFill/>
          <a:ln w="9525">
            <a:solidFill>
              <a:srgbClr val="9085E9"/>
            </a:solidFill>
            <a:prstDash val="solid"/>
          </a:ln>
        </p:spPr>
      </p:sp>
      <p:sp>
        <p:nvSpPr>
          <p:cNvPr id="32" name="Text 27"/>
          <p:cNvSpPr txBox="1"/>
          <p:nvPr/>
        </p:nvSpPr>
        <p:spPr>
          <a:xfrm>
            <a:off x="8822131" y="1682496"/>
            <a:ext cx="2606040" cy="237744"/>
          </a:xfrm>
          <a:prstGeom prst="rect">
            <a:avLst/>
          </a:prstGeom>
          <a:noFill/>
          <a:ln/>
        </p:spPr>
        <p:txBody>
          <a:bodyPr wrap="square" lIns="0" tIns="0" rIns="0" bIns="0" rtlCol="0" anchor="ctr"/>
          <a:lstStyle/>
          <a:p>
            <a:pPr marL="0" indent="0">
              <a:buNone/>
            </a:pPr>
            <a:r>
              <a:rPr lang="en-US" sz="900" b="1" kern="0" spc="110" dirty="0">
                <a:solidFill>
                  <a:srgbClr val="9085E9"/>
                </a:solidFill>
                <a:latin typeface="Calibri" pitchFamily="34" charset="0"/>
                <a:ea typeface="Calibri" pitchFamily="34" charset="-122"/>
                <a:cs typeface="Calibri" pitchFamily="34" charset="-120"/>
              </a:rPr>
              <a:t>GATE 0 — THE MODEL BUILD</a:t>
            </a:r>
            <a:r>
              <a:rPr lang="en-US" sz="900" dirty="0">
                <a:solidFill>
                  <a:srgbClr val="9AA4C6"/>
                </a:solidFill>
                <a:latin typeface="Calibri" pitchFamily="34" charset="0"/>
                <a:ea typeface="Calibri" pitchFamily="34" charset="-122"/>
                <a:cs typeface="Calibri" pitchFamily="34" charset="-120"/>
              </a:rPr>
              <a:t>   ·   before any engine can score a claim</a:t>
            </a:r>
            <a:endParaRPr lang="en-US" sz="900" dirty="0"/>
          </a:p>
        </p:txBody>
      </p:sp>
      <p:sp>
        <p:nvSpPr>
          <p:cNvPr id="33" name="Text 28"/>
          <p:cNvSpPr txBox="1"/>
          <p:nvPr/>
        </p:nvSpPr>
        <p:spPr>
          <a:xfrm>
            <a:off x="8575243" y="1975104"/>
            <a:ext cx="2852928" cy="475488"/>
          </a:xfrm>
          <a:prstGeom prst="rect">
            <a:avLst/>
          </a:prstGeom>
          <a:noFill/>
          <a:ln/>
        </p:spPr>
        <p:txBody>
          <a:bodyPr wrap="square" lIns="0" tIns="0" rIns="0" bIns="0" rtlCol="0" anchor="t"/>
          <a:lstStyle/>
          <a:p>
            <a:pPr marL="0" indent="0">
              <a:lnSpc>
                <a:spcPts val="1100"/>
              </a:lnSpc>
              <a:buNone/>
            </a:pPr>
            <a:r>
              <a:rPr lang="en-US" sz="900" dirty="0">
                <a:solidFill>
                  <a:srgbClr val="C6CEE4"/>
                </a:solidFill>
                <a:latin typeface="Calibri" pitchFamily="34" charset="0"/>
                <a:ea typeface="Calibri" pitchFamily="34" charset="-122"/>
                <a:cs typeface="Calibri" pitchFamily="34" charset="-120"/>
              </a:rPr>
              <a:t>Every engine is a model that has to be built before it can be trusted. Gate 0 is that foundation, and it runs across all five.</a:t>
            </a:r>
            <a:endParaRPr lang="en-US" sz="900" dirty="0"/>
          </a:p>
        </p:txBody>
      </p:sp>
      <p:sp>
        <p:nvSpPr>
          <p:cNvPr id="34" name="Shape 29"/>
          <p:cNvSpPr/>
          <p:nvPr/>
        </p:nvSpPr>
        <p:spPr>
          <a:xfrm>
            <a:off x="8575243" y="2505456"/>
            <a:ext cx="219456" cy="219456"/>
          </a:xfrm>
          <a:prstGeom prst="ellipse">
            <a:avLst/>
          </a:prstGeom>
          <a:solidFill>
            <a:srgbClr val="9085E9">
              <a:alpha val="45000"/>
            </a:srgbClr>
          </a:solidFill>
          <a:ln w="11430">
            <a:solidFill>
              <a:srgbClr val="9085E9"/>
            </a:solidFill>
            <a:prstDash val="solid"/>
          </a:ln>
        </p:spPr>
      </p:sp>
      <p:sp>
        <p:nvSpPr>
          <p:cNvPr id="35" name="Text 30"/>
          <p:cNvSpPr txBox="1"/>
          <p:nvPr/>
        </p:nvSpPr>
        <p:spPr>
          <a:xfrm>
            <a:off x="8575243" y="2505456"/>
            <a:ext cx="219456" cy="219456"/>
          </a:xfrm>
          <a:prstGeom prst="rect">
            <a:avLst/>
          </a:prstGeom>
          <a:noFill/>
          <a:ln/>
        </p:spPr>
        <p:txBody>
          <a:bodyPr wrap="square" lIns="0" tIns="0" rIns="0" bIns="0" rtlCol="0" anchor="ctr"/>
          <a:lstStyle/>
          <a:p>
            <a:pPr marL="0" indent="0" algn="ctr">
              <a:buNone/>
            </a:pPr>
            <a:r>
              <a:rPr lang="en-US" sz="900" b="1" dirty="0">
                <a:solidFill>
                  <a:srgbClr val="9085E9"/>
                </a:solidFill>
                <a:latin typeface="Calibri" pitchFamily="34" charset="0"/>
                <a:ea typeface="Calibri" pitchFamily="34" charset="-122"/>
                <a:cs typeface="Calibri" pitchFamily="34" charset="-120"/>
              </a:rPr>
              <a:t>1</a:t>
            </a:r>
            <a:endParaRPr lang="en-US" sz="900" dirty="0"/>
          </a:p>
        </p:txBody>
      </p:sp>
      <p:sp>
        <p:nvSpPr>
          <p:cNvPr id="36" name="Text 31"/>
          <p:cNvSpPr txBox="1"/>
          <p:nvPr/>
        </p:nvSpPr>
        <p:spPr>
          <a:xfrm>
            <a:off x="8886139" y="2487168"/>
            <a:ext cx="960120" cy="219456"/>
          </a:xfrm>
          <a:prstGeom prst="rect">
            <a:avLst/>
          </a:prstGeom>
          <a:noFill/>
          <a:ln/>
        </p:spPr>
        <p:txBody>
          <a:bodyPr wrap="square" lIns="0" tIns="0" rIns="0" bIns="0" rtlCol="0" anchor="ctr"/>
          <a:lstStyle/>
          <a:p>
            <a:pPr marL="0" indent="0">
              <a:buNone/>
            </a:pPr>
            <a:r>
              <a:rPr lang="en-US" sz="850" b="1" kern="0" spc="80" dirty="0">
                <a:solidFill>
                  <a:srgbClr val="BDB6F5"/>
                </a:solidFill>
                <a:latin typeface="Calibri" pitchFamily="34" charset="0"/>
                <a:ea typeface="Calibri" pitchFamily="34" charset="-122"/>
                <a:cs typeface="Calibri" pitchFamily="34" charset="-120"/>
              </a:rPr>
              <a:t>BUILD</a:t>
            </a:r>
            <a:endParaRPr lang="en-US" sz="850" dirty="0"/>
          </a:p>
        </p:txBody>
      </p:sp>
      <p:sp>
        <p:nvSpPr>
          <p:cNvPr id="37" name="Text 32"/>
          <p:cNvSpPr txBox="1"/>
          <p:nvPr/>
        </p:nvSpPr>
        <p:spPr>
          <a:xfrm>
            <a:off x="9818827" y="2487168"/>
            <a:ext cx="1609344" cy="219456"/>
          </a:xfrm>
          <a:prstGeom prst="rect">
            <a:avLst/>
          </a:prstGeom>
          <a:noFill/>
          <a:ln/>
        </p:spPr>
        <p:txBody>
          <a:bodyPr wrap="square" lIns="0" tIns="0" rIns="0" bIns="0" rtlCol="0" anchor="ctr"/>
          <a:lstStyle/>
          <a:p>
            <a:pPr marL="0" indent="0">
              <a:buNone/>
            </a:pPr>
            <a:r>
              <a:rPr lang="en-US" sz="800" dirty="0">
                <a:solidFill>
                  <a:srgbClr val="9AA4C6"/>
                </a:solidFill>
                <a:latin typeface="Calibri" pitchFamily="34" charset="0"/>
                <a:ea typeface="Calibri" pitchFamily="34" charset="-122"/>
                <a:cs typeface="Calibri" pitchFamily="34" charset="-120"/>
              </a:rPr>
              <a:t>labelled claim media, ICE and EV</a:t>
            </a:r>
            <a:endParaRPr lang="en-US" sz="800" dirty="0"/>
          </a:p>
        </p:txBody>
      </p:sp>
      <p:sp>
        <p:nvSpPr>
          <p:cNvPr id="38" name="Shape 33"/>
          <p:cNvSpPr/>
          <p:nvPr/>
        </p:nvSpPr>
        <p:spPr>
          <a:xfrm>
            <a:off x="8575243" y="2857500"/>
            <a:ext cx="219456" cy="219456"/>
          </a:xfrm>
          <a:prstGeom prst="ellipse">
            <a:avLst/>
          </a:prstGeom>
          <a:solidFill>
            <a:srgbClr val="9085E9">
              <a:alpha val="45000"/>
            </a:srgbClr>
          </a:solidFill>
          <a:ln w="11430">
            <a:solidFill>
              <a:srgbClr val="9085E9"/>
            </a:solidFill>
            <a:prstDash val="solid"/>
          </a:ln>
        </p:spPr>
      </p:sp>
      <p:sp>
        <p:nvSpPr>
          <p:cNvPr id="39" name="Text 34"/>
          <p:cNvSpPr txBox="1"/>
          <p:nvPr/>
        </p:nvSpPr>
        <p:spPr>
          <a:xfrm>
            <a:off x="8575243" y="2857500"/>
            <a:ext cx="219456" cy="219456"/>
          </a:xfrm>
          <a:prstGeom prst="rect">
            <a:avLst/>
          </a:prstGeom>
          <a:noFill/>
          <a:ln/>
        </p:spPr>
        <p:txBody>
          <a:bodyPr wrap="square" lIns="0" tIns="0" rIns="0" bIns="0" rtlCol="0" anchor="ctr"/>
          <a:lstStyle/>
          <a:p>
            <a:pPr marL="0" indent="0" algn="ctr">
              <a:buNone/>
            </a:pPr>
            <a:r>
              <a:rPr lang="en-US" sz="900" b="1" dirty="0">
                <a:solidFill>
                  <a:srgbClr val="9085E9"/>
                </a:solidFill>
                <a:latin typeface="Calibri" pitchFamily="34" charset="0"/>
                <a:ea typeface="Calibri" pitchFamily="34" charset="-122"/>
                <a:cs typeface="Calibri" pitchFamily="34" charset="-120"/>
              </a:rPr>
              <a:t>2</a:t>
            </a:r>
            <a:endParaRPr lang="en-US" sz="900" dirty="0"/>
          </a:p>
        </p:txBody>
      </p:sp>
      <p:sp>
        <p:nvSpPr>
          <p:cNvPr id="40" name="Text 35"/>
          <p:cNvSpPr txBox="1"/>
          <p:nvPr/>
        </p:nvSpPr>
        <p:spPr>
          <a:xfrm>
            <a:off x="8886139" y="2839212"/>
            <a:ext cx="960120" cy="219456"/>
          </a:xfrm>
          <a:prstGeom prst="rect">
            <a:avLst/>
          </a:prstGeom>
          <a:noFill/>
          <a:ln/>
        </p:spPr>
        <p:txBody>
          <a:bodyPr wrap="square" lIns="0" tIns="0" rIns="0" bIns="0" rtlCol="0" anchor="ctr"/>
          <a:lstStyle/>
          <a:p>
            <a:pPr marL="0" indent="0">
              <a:buNone/>
            </a:pPr>
            <a:r>
              <a:rPr lang="en-US" sz="850" b="1" kern="0" spc="80" dirty="0">
                <a:solidFill>
                  <a:srgbClr val="BDB6F5"/>
                </a:solidFill>
                <a:latin typeface="Calibri" pitchFamily="34" charset="0"/>
                <a:ea typeface="Calibri" pitchFamily="34" charset="-122"/>
                <a:cs typeface="Calibri" pitchFamily="34" charset="-120"/>
              </a:rPr>
              <a:t>TRAIN</a:t>
            </a:r>
            <a:endParaRPr lang="en-US" sz="850" dirty="0"/>
          </a:p>
        </p:txBody>
      </p:sp>
      <p:sp>
        <p:nvSpPr>
          <p:cNvPr id="41" name="Text 36"/>
          <p:cNvSpPr txBox="1"/>
          <p:nvPr/>
        </p:nvSpPr>
        <p:spPr>
          <a:xfrm>
            <a:off x="9818827" y="2839212"/>
            <a:ext cx="1609344" cy="219456"/>
          </a:xfrm>
          <a:prstGeom prst="rect">
            <a:avLst/>
          </a:prstGeom>
          <a:noFill/>
          <a:ln/>
        </p:spPr>
        <p:txBody>
          <a:bodyPr wrap="square" lIns="0" tIns="0" rIns="0" bIns="0" rtlCol="0" anchor="ctr"/>
          <a:lstStyle/>
          <a:p>
            <a:pPr marL="0" indent="0">
              <a:buNone/>
            </a:pPr>
            <a:r>
              <a:rPr lang="en-US" sz="800" dirty="0">
                <a:solidFill>
                  <a:srgbClr val="9AA4C6"/>
                </a:solidFill>
                <a:latin typeface="Calibri" pitchFamily="34" charset="0"/>
                <a:ea typeface="Calibri" pitchFamily="34" charset="-122"/>
                <a:cs typeface="Calibri" pitchFamily="34" charset="-120"/>
              </a:rPr>
              <a:t>on Bajaj’s own archive, not a vendor’s</a:t>
            </a:r>
            <a:endParaRPr lang="en-US" sz="800" dirty="0"/>
          </a:p>
        </p:txBody>
      </p:sp>
      <p:sp>
        <p:nvSpPr>
          <p:cNvPr id="42" name="Shape 37"/>
          <p:cNvSpPr/>
          <p:nvPr/>
        </p:nvSpPr>
        <p:spPr>
          <a:xfrm>
            <a:off x="8575243" y="3209544"/>
            <a:ext cx="219456" cy="219456"/>
          </a:xfrm>
          <a:prstGeom prst="ellipse">
            <a:avLst/>
          </a:prstGeom>
          <a:solidFill>
            <a:srgbClr val="9085E9">
              <a:alpha val="45000"/>
            </a:srgbClr>
          </a:solidFill>
          <a:ln w="11430">
            <a:solidFill>
              <a:srgbClr val="9085E9"/>
            </a:solidFill>
            <a:prstDash val="solid"/>
          </a:ln>
        </p:spPr>
      </p:sp>
      <p:sp>
        <p:nvSpPr>
          <p:cNvPr id="43" name="Text 38"/>
          <p:cNvSpPr txBox="1"/>
          <p:nvPr/>
        </p:nvSpPr>
        <p:spPr>
          <a:xfrm>
            <a:off x="8575243" y="3209544"/>
            <a:ext cx="219456" cy="219456"/>
          </a:xfrm>
          <a:prstGeom prst="rect">
            <a:avLst/>
          </a:prstGeom>
          <a:noFill/>
          <a:ln/>
        </p:spPr>
        <p:txBody>
          <a:bodyPr wrap="square" lIns="0" tIns="0" rIns="0" bIns="0" rtlCol="0" anchor="ctr"/>
          <a:lstStyle/>
          <a:p>
            <a:pPr marL="0" indent="0" algn="ctr">
              <a:buNone/>
            </a:pPr>
            <a:r>
              <a:rPr lang="en-US" sz="900" b="1" dirty="0">
                <a:solidFill>
                  <a:srgbClr val="9085E9"/>
                </a:solidFill>
                <a:latin typeface="Calibri" pitchFamily="34" charset="0"/>
                <a:ea typeface="Calibri" pitchFamily="34" charset="-122"/>
                <a:cs typeface="Calibri" pitchFamily="34" charset="-120"/>
              </a:rPr>
              <a:t>3</a:t>
            </a:r>
            <a:endParaRPr lang="en-US" sz="900" dirty="0"/>
          </a:p>
        </p:txBody>
      </p:sp>
      <p:sp>
        <p:nvSpPr>
          <p:cNvPr id="44" name="Text 39"/>
          <p:cNvSpPr txBox="1"/>
          <p:nvPr/>
        </p:nvSpPr>
        <p:spPr>
          <a:xfrm>
            <a:off x="8886139" y="3191256"/>
            <a:ext cx="960120" cy="219456"/>
          </a:xfrm>
          <a:prstGeom prst="rect">
            <a:avLst/>
          </a:prstGeom>
          <a:noFill/>
          <a:ln/>
        </p:spPr>
        <p:txBody>
          <a:bodyPr wrap="square" lIns="0" tIns="0" rIns="0" bIns="0" rtlCol="0" anchor="ctr"/>
          <a:lstStyle/>
          <a:p>
            <a:pPr marL="0" indent="0">
              <a:buNone/>
            </a:pPr>
            <a:r>
              <a:rPr lang="en-US" sz="850" b="1" kern="0" spc="80" dirty="0">
                <a:solidFill>
                  <a:srgbClr val="BDB6F5"/>
                </a:solidFill>
                <a:latin typeface="Calibri" pitchFamily="34" charset="0"/>
                <a:ea typeface="Calibri" pitchFamily="34" charset="-122"/>
                <a:cs typeface="Calibri" pitchFamily="34" charset="-120"/>
              </a:rPr>
              <a:t>VALIDATE</a:t>
            </a:r>
            <a:endParaRPr lang="en-US" sz="850" dirty="0"/>
          </a:p>
        </p:txBody>
      </p:sp>
      <p:sp>
        <p:nvSpPr>
          <p:cNvPr id="45" name="Text 40"/>
          <p:cNvSpPr txBox="1"/>
          <p:nvPr/>
        </p:nvSpPr>
        <p:spPr>
          <a:xfrm>
            <a:off x="9818827" y="3191256"/>
            <a:ext cx="1609344" cy="219456"/>
          </a:xfrm>
          <a:prstGeom prst="rect">
            <a:avLst/>
          </a:prstGeom>
          <a:noFill/>
          <a:ln/>
        </p:spPr>
        <p:txBody>
          <a:bodyPr wrap="square" lIns="0" tIns="0" rIns="0" bIns="0" rtlCol="0" anchor="ctr"/>
          <a:lstStyle/>
          <a:p>
            <a:pPr marL="0" indent="0">
              <a:buNone/>
            </a:pPr>
            <a:r>
              <a:rPr lang="en-US" sz="800" dirty="0">
                <a:solidFill>
                  <a:srgbClr val="9AA4C6"/>
                </a:solidFill>
                <a:latin typeface="Calibri" pitchFamily="34" charset="0"/>
                <a:ea typeface="Calibri" pitchFamily="34" charset="-122"/>
                <a:cs typeface="Calibri" pitchFamily="34" charset="-120"/>
              </a:rPr>
              <a:t>held-out claims, shadow mode first</a:t>
            </a:r>
            <a:endParaRPr lang="en-US" sz="800" dirty="0"/>
          </a:p>
        </p:txBody>
      </p:sp>
      <p:sp>
        <p:nvSpPr>
          <p:cNvPr id="46" name="Shape 41"/>
          <p:cNvSpPr/>
          <p:nvPr/>
        </p:nvSpPr>
        <p:spPr>
          <a:xfrm>
            <a:off x="8575243" y="3561588"/>
            <a:ext cx="219456" cy="219456"/>
          </a:xfrm>
          <a:prstGeom prst="ellipse">
            <a:avLst/>
          </a:prstGeom>
          <a:solidFill>
            <a:srgbClr val="9085E9">
              <a:alpha val="45000"/>
            </a:srgbClr>
          </a:solidFill>
          <a:ln w="11430">
            <a:solidFill>
              <a:srgbClr val="9085E9"/>
            </a:solidFill>
            <a:prstDash val="solid"/>
          </a:ln>
        </p:spPr>
      </p:sp>
      <p:sp>
        <p:nvSpPr>
          <p:cNvPr id="47" name="Text 42"/>
          <p:cNvSpPr txBox="1"/>
          <p:nvPr/>
        </p:nvSpPr>
        <p:spPr>
          <a:xfrm>
            <a:off x="8575243" y="3561588"/>
            <a:ext cx="219456" cy="219456"/>
          </a:xfrm>
          <a:prstGeom prst="rect">
            <a:avLst/>
          </a:prstGeom>
          <a:noFill/>
          <a:ln/>
        </p:spPr>
        <p:txBody>
          <a:bodyPr wrap="square" lIns="0" tIns="0" rIns="0" bIns="0" rtlCol="0" anchor="ctr"/>
          <a:lstStyle/>
          <a:p>
            <a:pPr marL="0" indent="0" algn="ctr">
              <a:buNone/>
            </a:pPr>
            <a:r>
              <a:rPr lang="en-US" sz="900" b="1" dirty="0">
                <a:solidFill>
                  <a:srgbClr val="9085E9"/>
                </a:solidFill>
                <a:latin typeface="Calibri" pitchFamily="34" charset="0"/>
                <a:ea typeface="Calibri" pitchFamily="34" charset="-122"/>
                <a:cs typeface="Calibri" pitchFamily="34" charset="-120"/>
              </a:rPr>
              <a:t>4</a:t>
            </a:r>
            <a:endParaRPr lang="en-US" sz="900" dirty="0"/>
          </a:p>
        </p:txBody>
      </p:sp>
      <p:sp>
        <p:nvSpPr>
          <p:cNvPr id="48" name="Text 43"/>
          <p:cNvSpPr txBox="1"/>
          <p:nvPr/>
        </p:nvSpPr>
        <p:spPr>
          <a:xfrm>
            <a:off x="8886139" y="3543300"/>
            <a:ext cx="960120" cy="219456"/>
          </a:xfrm>
          <a:prstGeom prst="rect">
            <a:avLst/>
          </a:prstGeom>
          <a:noFill/>
          <a:ln/>
        </p:spPr>
        <p:txBody>
          <a:bodyPr wrap="square" lIns="0" tIns="0" rIns="0" bIns="0" rtlCol="0" anchor="ctr"/>
          <a:lstStyle/>
          <a:p>
            <a:pPr marL="0" indent="0">
              <a:buNone/>
            </a:pPr>
            <a:r>
              <a:rPr lang="en-US" sz="850" b="1" kern="0" spc="80" dirty="0">
                <a:solidFill>
                  <a:srgbClr val="BDB6F5"/>
                </a:solidFill>
                <a:latin typeface="Calibri" pitchFamily="34" charset="0"/>
                <a:ea typeface="Calibri" pitchFamily="34" charset="-122"/>
                <a:cs typeface="Calibri" pitchFamily="34" charset="-120"/>
              </a:rPr>
              <a:t>GOVERN</a:t>
            </a:r>
            <a:endParaRPr lang="en-US" sz="850" dirty="0"/>
          </a:p>
        </p:txBody>
      </p:sp>
      <p:sp>
        <p:nvSpPr>
          <p:cNvPr id="49" name="Text 44"/>
          <p:cNvSpPr txBox="1"/>
          <p:nvPr/>
        </p:nvSpPr>
        <p:spPr>
          <a:xfrm>
            <a:off x="9818827" y="3543300"/>
            <a:ext cx="1609344" cy="219456"/>
          </a:xfrm>
          <a:prstGeom prst="rect">
            <a:avLst/>
          </a:prstGeom>
          <a:noFill/>
          <a:ln/>
        </p:spPr>
        <p:txBody>
          <a:bodyPr wrap="square" lIns="0" tIns="0" rIns="0" bIns="0" rtlCol="0" anchor="ctr"/>
          <a:lstStyle/>
          <a:p>
            <a:pPr marL="0" indent="0">
              <a:buNone/>
            </a:pPr>
            <a:r>
              <a:rPr lang="en-US" sz="800" dirty="0">
                <a:solidFill>
                  <a:srgbClr val="9AA4C6"/>
                </a:solidFill>
                <a:latin typeface="Calibri" pitchFamily="34" charset="0"/>
                <a:ea typeface="Calibri" pitchFamily="34" charset="-122"/>
                <a:cs typeface="Calibri" pitchFamily="34" charset="-120"/>
              </a:rPr>
              <a:t>drift, audit trail, human override</a:t>
            </a:r>
            <a:endParaRPr lang="en-US" sz="800" dirty="0"/>
          </a:p>
        </p:txBody>
      </p:sp>
      <p:sp>
        <p:nvSpPr>
          <p:cNvPr id="50" name="Shape 45"/>
          <p:cNvSpPr/>
          <p:nvPr/>
        </p:nvSpPr>
        <p:spPr>
          <a:xfrm>
            <a:off x="8575243" y="4041648"/>
            <a:ext cx="2852928" cy="1481328"/>
          </a:xfrm>
          <a:prstGeom prst="roundRect">
            <a:avLst>
              <a:gd name="adj" fmla="val 4938"/>
            </a:avLst>
          </a:prstGeom>
          <a:solidFill>
            <a:srgbClr val="111C55">
              <a:alpha val="84000"/>
            </a:srgbClr>
          </a:solidFill>
          <a:ln w="12700">
            <a:solidFill>
              <a:srgbClr val="3FB6C0">
                <a:alpha val="78000"/>
              </a:srgbClr>
            </a:solidFill>
            <a:prstDash val="solid"/>
          </a:ln>
        </p:spPr>
      </p:sp>
      <p:sp>
        <p:nvSpPr>
          <p:cNvPr id="51" name="Shape 46"/>
          <p:cNvSpPr/>
          <p:nvPr/>
        </p:nvSpPr>
        <p:spPr>
          <a:xfrm>
            <a:off x="8684971" y="4208252"/>
            <a:ext cx="173736" cy="55596"/>
          </a:xfrm>
          <a:prstGeom prst="roundRect">
            <a:avLst>
              <a:gd name="adj" fmla="val 31250"/>
            </a:avLst>
          </a:prstGeom>
          <a:ln w="13970">
            <a:solidFill>
              <a:srgbClr val="8FDDE3"/>
            </a:solidFill>
            <a:prstDash val="solid"/>
          </a:ln>
        </p:spPr>
      </p:sp>
      <p:sp>
        <p:nvSpPr>
          <p:cNvPr id="52" name="Shape 47"/>
          <p:cNvSpPr/>
          <p:nvPr/>
        </p:nvSpPr>
        <p:spPr>
          <a:xfrm>
            <a:off x="8716244" y="4170030"/>
            <a:ext cx="111191" cy="41697"/>
          </a:xfrm>
          <a:prstGeom prst="trapezoid">
            <a:avLst/>
          </a:prstGeom>
          <a:ln w="12700">
            <a:solidFill>
              <a:srgbClr val="8FDDE3"/>
            </a:solidFill>
            <a:prstDash val="solid"/>
          </a:ln>
        </p:spPr>
      </p:sp>
      <p:sp>
        <p:nvSpPr>
          <p:cNvPr id="53" name="Shape 48"/>
          <p:cNvSpPr/>
          <p:nvPr/>
        </p:nvSpPr>
        <p:spPr>
          <a:xfrm>
            <a:off x="8712769" y="4253423"/>
            <a:ext cx="31272" cy="31272"/>
          </a:xfrm>
          <a:prstGeom prst="ellipse">
            <a:avLst/>
          </a:prstGeom>
          <a:solidFill>
            <a:srgbClr val="8FDDE3"/>
          </a:solidFill>
          <a:ln/>
        </p:spPr>
      </p:sp>
      <p:sp>
        <p:nvSpPr>
          <p:cNvPr id="54" name="Shape 49"/>
          <p:cNvSpPr/>
          <p:nvPr/>
        </p:nvSpPr>
        <p:spPr>
          <a:xfrm>
            <a:off x="8799637" y="4253423"/>
            <a:ext cx="31272" cy="31272"/>
          </a:xfrm>
          <a:prstGeom prst="ellipse">
            <a:avLst/>
          </a:prstGeom>
          <a:solidFill>
            <a:srgbClr val="8FDDE3"/>
          </a:solidFill>
          <a:ln/>
        </p:spPr>
      </p:sp>
      <p:sp>
        <p:nvSpPr>
          <p:cNvPr id="55" name="Text 50"/>
          <p:cNvSpPr txBox="1"/>
          <p:nvPr/>
        </p:nvSpPr>
        <p:spPr>
          <a:xfrm>
            <a:off x="8922715" y="4105656"/>
            <a:ext cx="2395728" cy="219456"/>
          </a:xfrm>
          <a:prstGeom prst="rect">
            <a:avLst/>
          </a:prstGeom>
          <a:noFill/>
          <a:ln/>
        </p:spPr>
        <p:txBody>
          <a:bodyPr wrap="square" lIns="0" tIns="0" rIns="0" bIns="0" rtlCol="0" anchor="ctr"/>
          <a:lstStyle/>
          <a:p>
            <a:pPr marL="0" indent="0">
              <a:buNone/>
            </a:pPr>
            <a:r>
              <a:rPr lang="en-US" sz="800" b="1" kern="0" spc="100" dirty="0">
                <a:solidFill>
                  <a:srgbClr val="8FDDE3"/>
                </a:solidFill>
                <a:latin typeface="Calibri" pitchFamily="34" charset="0"/>
                <a:ea typeface="Calibri" pitchFamily="34" charset="-122"/>
                <a:cs typeface="Calibri" pitchFamily="34" charset="-120"/>
              </a:rPr>
              <a:t>WHERE STEP 1 BRANCHES</a:t>
            </a:r>
            <a:endParaRPr lang="en-US" sz="800" dirty="0"/>
          </a:p>
        </p:txBody>
      </p:sp>
      <p:sp>
        <p:nvSpPr>
          <p:cNvPr id="56" name="Shape 51"/>
          <p:cNvSpPr/>
          <p:nvPr/>
        </p:nvSpPr>
        <p:spPr>
          <a:xfrm>
            <a:off x="8684971" y="4352544"/>
            <a:ext cx="1252728" cy="237744"/>
          </a:xfrm>
          <a:prstGeom prst="roundRect">
            <a:avLst>
              <a:gd name="adj" fmla="val 23077"/>
            </a:avLst>
          </a:prstGeom>
          <a:solidFill>
            <a:srgbClr val="5B9BD5">
              <a:alpha val="30000"/>
            </a:srgbClr>
          </a:solidFill>
          <a:ln w="11430">
            <a:solidFill>
              <a:srgbClr val="5B9BD5">
                <a:alpha val="70000"/>
              </a:srgbClr>
            </a:solidFill>
            <a:prstDash val="solid"/>
          </a:ln>
        </p:spPr>
      </p:sp>
      <p:sp>
        <p:nvSpPr>
          <p:cNvPr id="57" name="Text 52"/>
          <p:cNvSpPr txBox="1"/>
          <p:nvPr/>
        </p:nvSpPr>
        <p:spPr>
          <a:xfrm>
            <a:off x="8684971" y="4352544"/>
            <a:ext cx="1252728" cy="237744"/>
          </a:xfrm>
          <a:prstGeom prst="rect">
            <a:avLst/>
          </a:prstGeom>
          <a:noFill/>
          <a:ln/>
        </p:spPr>
        <p:txBody>
          <a:bodyPr wrap="square" lIns="0" tIns="0" rIns="0" bIns="0" rtlCol="0" anchor="ctr"/>
          <a:lstStyle/>
          <a:p>
            <a:pPr marL="0" indent="0" algn="ctr">
              <a:buNone/>
            </a:pPr>
            <a:r>
              <a:rPr lang="en-US" sz="850" b="1" kern="0" spc="100" dirty="0">
                <a:solidFill>
                  <a:srgbClr val="9CC3E8"/>
                </a:solidFill>
                <a:latin typeface="Calibri" pitchFamily="34" charset="0"/>
                <a:ea typeface="Calibri" pitchFamily="34" charset="-122"/>
                <a:cs typeface="Calibri" pitchFamily="34" charset="-120"/>
              </a:rPr>
              <a:t>ICE</a:t>
            </a:r>
            <a:endParaRPr lang="en-US" sz="850" dirty="0"/>
          </a:p>
        </p:txBody>
      </p:sp>
      <p:sp>
        <p:nvSpPr>
          <p:cNvPr id="58" name="Text 53"/>
          <p:cNvSpPr txBox="1"/>
          <p:nvPr/>
        </p:nvSpPr>
        <p:spPr>
          <a:xfrm>
            <a:off x="8684971" y="4617720"/>
            <a:ext cx="1252728" cy="566928"/>
          </a:xfrm>
          <a:prstGeom prst="rect">
            <a:avLst/>
          </a:prstGeom>
          <a:noFill/>
          <a:ln/>
        </p:spPr>
        <p:txBody>
          <a:bodyPr wrap="square" lIns="0" tIns="0" rIns="0" bIns="0" rtlCol="0" anchor="t"/>
          <a:lstStyle/>
          <a:p>
            <a:pPr marL="0" indent="0">
              <a:lnSpc>
                <a:spcPts val="860"/>
              </a:lnSpc>
              <a:buNone/>
            </a:pPr>
            <a:r>
              <a:rPr lang="en-US" sz="730" dirty="0">
                <a:solidFill>
                  <a:srgbClr val="C6CEE4"/>
                </a:solidFill>
                <a:latin typeface="Calibri" pitchFamily="34" charset="0"/>
                <a:ea typeface="Calibri" pitchFamily="34" charset="-122"/>
                <a:cs typeface="Calibri" pitchFamily="34" charset="-120"/>
              </a:rPr>
              <a:t>Panel, paint and</a:t>
            </a:r>
            <a:endParaRPr lang="en-US" sz="730" dirty="0"/>
          </a:p>
          <a:p>
            <a:pPr marL="0" indent="0">
              <a:lnSpc>
                <a:spcPts val="860"/>
              </a:lnSpc>
              <a:buNone/>
            </a:pPr>
            <a:r>
              <a:rPr lang="en-US" sz="730" dirty="0">
                <a:solidFill>
                  <a:srgbClr val="C6CEE4"/>
                </a:solidFill>
                <a:latin typeface="Calibri" pitchFamily="34" charset="0"/>
                <a:ea typeface="Calibri" pitchFamily="34" charset="-122"/>
                <a:cs typeface="Calibri" pitchFamily="34" charset="-120"/>
              </a:rPr>
              <a:t>structural parts</a:t>
            </a:r>
            <a:endParaRPr lang="en-US" sz="730" dirty="0"/>
          </a:p>
          <a:p>
            <a:pPr marL="0" indent="0">
              <a:lnSpc>
                <a:spcPts val="860"/>
              </a:lnSpc>
              <a:buNone/>
            </a:pPr>
            <a:r>
              <a:rPr lang="en-US" sz="730" dirty="0">
                <a:solidFill>
                  <a:srgbClr val="C6CEE4"/>
                </a:solidFill>
                <a:latin typeface="Calibri" pitchFamily="34" charset="0"/>
                <a:ea typeface="Calibri" pitchFamily="34" charset="-122"/>
                <a:cs typeface="Calibri" pitchFamily="34" charset="-120"/>
              </a:rPr>
              <a:t>— already labelled</a:t>
            </a:r>
            <a:endParaRPr lang="en-US" sz="730" dirty="0"/>
          </a:p>
          <a:p>
            <a:pPr marL="0" indent="0">
              <a:lnSpc>
                <a:spcPts val="860"/>
              </a:lnSpc>
              <a:buNone/>
            </a:pPr>
            <a:r>
              <a:rPr lang="en-US" sz="730" dirty="0">
                <a:solidFill>
                  <a:srgbClr val="C6CEE4"/>
                </a:solidFill>
                <a:latin typeface="Calibri" pitchFamily="34" charset="0"/>
                <a:ea typeface="Calibri" pitchFamily="34" charset="-122"/>
                <a:cs typeface="Calibri" pitchFamily="34" charset="-120"/>
              </a:rPr>
              <a:t>in the archive</a:t>
            </a:r>
            <a:endParaRPr lang="en-US" sz="730" dirty="0"/>
          </a:p>
        </p:txBody>
      </p:sp>
      <p:sp>
        <p:nvSpPr>
          <p:cNvPr id="59" name="Shape 54"/>
          <p:cNvSpPr/>
          <p:nvPr/>
        </p:nvSpPr>
        <p:spPr>
          <a:xfrm>
            <a:off x="10065715" y="4352544"/>
            <a:ext cx="1252728" cy="237744"/>
          </a:xfrm>
          <a:prstGeom prst="roundRect">
            <a:avLst>
              <a:gd name="adj" fmla="val 23077"/>
            </a:avLst>
          </a:prstGeom>
          <a:solidFill>
            <a:srgbClr val="3FB6C0">
              <a:alpha val="30000"/>
            </a:srgbClr>
          </a:solidFill>
          <a:ln w="11430">
            <a:solidFill>
              <a:srgbClr val="3FB6C0">
                <a:alpha val="70000"/>
              </a:srgbClr>
            </a:solidFill>
            <a:prstDash val="solid"/>
          </a:ln>
        </p:spPr>
      </p:sp>
      <p:sp>
        <p:nvSpPr>
          <p:cNvPr id="60" name="Text 55"/>
          <p:cNvSpPr txBox="1"/>
          <p:nvPr/>
        </p:nvSpPr>
        <p:spPr>
          <a:xfrm>
            <a:off x="10065715" y="4352544"/>
            <a:ext cx="1252728" cy="237744"/>
          </a:xfrm>
          <a:prstGeom prst="rect">
            <a:avLst/>
          </a:prstGeom>
          <a:noFill/>
          <a:ln/>
        </p:spPr>
        <p:txBody>
          <a:bodyPr wrap="square" lIns="0" tIns="0" rIns="0" bIns="0" rtlCol="0" anchor="ctr"/>
          <a:lstStyle/>
          <a:p>
            <a:pPr marL="0" indent="0" algn="ctr">
              <a:buNone/>
            </a:pPr>
            <a:r>
              <a:rPr lang="en-US" sz="850" b="1" kern="0" spc="100" dirty="0">
                <a:solidFill>
                  <a:srgbClr val="8FDDE3"/>
                </a:solidFill>
                <a:latin typeface="Calibri" pitchFamily="34" charset="0"/>
                <a:ea typeface="Calibri" pitchFamily="34" charset="-122"/>
                <a:cs typeface="Calibri" pitchFamily="34" charset="-120"/>
              </a:rPr>
              <a:t>EV</a:t>
            </a:r>
            <a:endParaRPr lang="en-US" sz="850" dirty="0"/>
          </a:p>
        </p:txBody>
      </p:sp>
      <p:sp>
        <p:nvSpPr>
          <p:cNvPr id="61" name="Text 56"/>
          <p:cNvSpPr txBox="1"/>
          <p:nvPr/>
        </p:nvSpPr>
        <p:spPr>
          <a:xfrm>
            <a:off x="10065715" y="4617720"/>
            <a:ext cx="1252728" cy="566928"/>
          </a:xfrm>
          <a:prstGeom prst="rect">
            <a:avLst/>
          </a:prstGeom>
          <a:noFill/>
          <a:ln/>
        </p:spPr>
        <p:txBody>
          <a:bodyPr wrap="square" lIns="0" tIns="0" rIns="0" bIns="0" rtlCol="0" anchor="t"/>
          <a:lstStyle/>
          <a:p>
            <a:pPr marL="0" indent="0">
              <a:lnSpc>
                <a:spcPts val="860"/>
              </a:lnSpc>
              <a:buNone/>
            </a:pPr>
            <a:r>
              <a:rPr lang="en-US" sz="730" dirty="0">
                <a:solidFill>
                  <a:srgbClr val="C6CEE4"/>
                </a:solidFill>
                <a:latin typeface="Calibri" pitchFamily="34" charset="0"/>
                <a:ea typeface="Calibri" pitchFamily="34" charset="-122"/>
                <a:cs typeface="Calibri" pitchFamily="34" charset="-120"/>
              </a:rPr>
              <a:t>Battery-pack integrity,</a:t>
            </a:r>
            <a:endParaRPr lang="en-US" sz="730" dirty="0"/>
          </a:p>
          <a:p>
            <a:pPr marL="0" indent="0">
              <a:lnSpc>
                <a:spcPts val="860"/>
              </a:lnSpc>
              <a:buNone/>
            </a:pPr>
            <a:r>
              <a:rPr lang="en-US" sz="730" dirty="0">
                <a:solidFill>
                  <a:srgbClr val="C6CEE4"/>
                </a:solidFill>
                <a:latin typeface="Calibri" pitchFamily="34" charset="0"/>
                <a:ea typeface="Calibri" pitchFamily="34" charset="-122"/>
                <a:cs typeface="Calibri" pitchFamily="34" charset="-120"/>
              </a:rPr>
              <a:t>thermal-event triage,</a:t>
            </a:r>
            <a:endParaRPr lang="en-US" sz="730" dirty="0"/>
          </a:p>
          <a:p>
            <a:pPr marL="0" indent="0">
              <a:lnSpc>
                <a:spcPts val="860"/>
              </a:lnSpc>
              <a:buNone/>
            </a:pPr>
            <a:r>
              <a:rPr lang="en-US" sz="730" dirty="0">
                <a:solidFill>
                  <a:srgbClr val="C6CEE4"/>
                </a:solidFill>
                <a:latin typeface="Calibri" pitchFamily="34" charset="0"/>
                <a:ea typeface="Calibri" pitchFamily="34" charset="-122"/>
                <a:cs typeface="Calibri" pitchFamily="34" charset="-120"/>
              </a:rPr>
              <a:t>high-voltage handling</a:t>
            </a:r>
            <a:endParaRPr lang="en-US" sz="730" dirty="0"/>
          </a:p>
          <a:p>
            <a:pPr marL="0" indent="0">
              <a:lnSpc>
                <a:spcPts val="860"/>
              </a:lnSpc>
              <a:buNone/>
            </a:pPr>
            <a:r>
              <a:rPr lang="en-US" sz="730" dirty="0">
                <a:solidFill>
                  <a:srgbClr val="C6CEE4"/>
                </a:solidFill>
                <a:latin typeface="Calibri" pitchFamily="34" charset="0"/>
                <a:ea typeface="Calibri" pitchFamily="34" charset="-122"/>
                <a:cs typeface="Calibri" pitchFamily="34" charset="-120"/>
              </a:rPr>
              <a:t>hold before survey</a:t>
            </a:r>
            <a:endParaRPr lang="en-US" sz="730" dirty="0"/>
          </a:p>
        </p:txBody>
      </p:sp>
      <p:sp>
        <p:nvSpPr>
          <p:cNvPr id="62" name="Text 57"/>
          <p:cNvSpPr txBox="1"/>
          <p:nvPr/>
        </p:nvSpPr>
        <p:spPr>
          <a:xfrm>
            <a:off x="8684971" y="5138928"/>
            <a:ext cx="2633472" cy="329184"/>
          </a:xfrm>
          <a:prstGeom prst="rect">
            <a:avLst/>
          </a:prstGeom>
          <a:noFill/>
          <a:ln/>
        </p:spPr>
        <p:txBody>
          <a:bodyPr wrap="square" lIns="0" tIns="0" rIns="0" bIns="0" rtlCol="0" anchor="ctr"/>
          <a:lstStyle/>
          <a:p>
            <a:pPr marL="0" indent="0">
              <a:lnSpc>
                <a:spcPts val="900"/>
              </a:lnSpc>
              <a:buNone/>
            </a:pPr>
            <a:r>
              <a:rPr lang="en-US" sz="750" dirty="0">
                <a:solidFill>
                  <a:srgbClr val="8FDDE3"/>
                </a:solidFill>
                <a:latin typeface="Calibri" pitchFamily="34" charset="0"/>
                <a:ea typeface="Calibri" pitchFamily="34" charset="-122"/>
                <a:cs typeface="Calibri" pitchFamily="34" charset="-120"/>
              </a:rPr>
              <a:t>Same gate, same Trust Score, same three lanes. Only the damage models differ — which is why this is one platform, not two.</a:t>
            </a:r>
            <a:endParaRPr lang="en-US" sz="750" dirty="0"/>
          </a:p>
        </p:txBody>
      </p:sp>
      <p:sp>
        <p:nvSpPr>
          <p:cNvPr id="63" name="Shape 58"/>
          <p:cNvSpPr/>
          <p:nvPr/>
        </p:nvSpPr>
        <p:spPr>
          <a:xfrm>
            <a:off x="638251" y="5724144"/>
            <a:ext cx="10936224" cy="347472"/>
          </a:xfrm>
          <a:prstGeom prst="roundRect">
            <a:avLst>
              <a:gd name="adj" fmla="val 21053"/>
            </a:avLst>
          </a:prstGeom>
          <a:solidFill>
            <a:srgbClr val="0A1550">
              <a:alpha val="86000"/>
            </a:srgbClr>
          </a:solidFill>
          <a:ln w="9525">
            <a:solidFill>
              <a:srgbClr val="70AD47">
                <a:alpha val="55000"/>
              </a:srgbClr>
            </a:solidFill>
            <a:prstDash val="solid"/>
          </a:ln>
        </p:spPr>
      </p:sp>
      <p:sp>
        <p:nvSpPr>
          <p:cNvPr id="64" name="Shape 59"/>
          <p:cNvSpPr/>
          <p:nvPr/>
        </p:nvSpPr>
        <p:spPr>
          <a:xfrm>
            <a:off x="747979" y="5797296"/>
            <a:ext cx="41148" cy="201168"/>
          </a:xfrm>
          <a:prstGeom prst="roundRect">
            <a:avLst>
              <a:gd name="adj" fmla="val 48889"/>
            </a:avLst>
          </a:prstGeom>
          <a:solidFill>
            <a:srgbClr val="70AD47"/>
          </a:solidFill>
          <a:ln/>
        </p:spPr>
      </p:sp>
      <p:sp>
        <p:nvSpPr>
          <p:cNvPr id="65" name="Text 60"/>
          <p:cNvSpPr txBox="1"/>
          <p:nvPr/>
        </p:nvSpPr>
        <p:spPr>
          <a:xfrm>
            <a:off x="894283" y="5724144"/>
            <a:ext cx="10533888" cy="347472"/>
          </a:xfrm>
          <a:prstGeom prst="rect">
            <a:avLst/>
          </a:prstGeom>
          <a:noFill/>
          <a:ln/>
        </p:spPr>
        <p:txBody>
          <a:bodyPr wrap="square" lIns="0" tIns="0" rIns="0" bIns="0" rtlCol="0" anchor="ctr"/>
          <a:lstStyle/>
          <a:p>
            <a:pPr marL="0" indent="0">
              <a:lnSpc>
                <a:spcPts val="1150"/>
              </a:lnSpc>
              <a:buNone/>
            </a:pPr>
            <a:r>
              <a:rPr lang="en-US" sz="950" b="1" kern="0" spc="100" dirty="0">
                <a:solidFill>
                  <a:srgbClr val="70AD47"/>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The cheapest inference is the one never run — two-thirds of claims clear on rules and integrity checks without a single model call.</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00" fill="hold"/>
                                        <p:tgtEl>
                                          <p:spTgt spid="6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6"/>
                </p:tgtEl>
              </p:cMediaNode>
            </p:video>
            <p:seq concurrent="1" nextAc="seek">
              <p:cTn id="8" restart="whenNotActive" fill="hold" evtFilter="cancelBubble" nodeType="interactiveSeq">
                <p:stCondLst>
                  <p:cond evt="onClick" delay="0">
                    <p:tgtEl>
                      <p:spTgt spid="6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6"/>
                                        </p:tgtEl>
                                      </p:cBhvr>
                                    </p:cmd>
                                  </p:childTnLst>
                                </p:cTn>
                              </p:par>
                            </p:childTnLst>
                          </p:cTn>
                        </p:par>
                      </p:childTnLst>
                    </p:cTn>
                  </p:par>
                </p:childTnLst>
              </p:cTn>
              <p:nextCondLst>
                <p:cond evt="onClick" delay="0">
                  <p:tgtEl>
                    <p:spTgt spid="6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SOLUTION   03 / 05</a:t>
            </a:r>
            <a:endParaRPr lang="en-US" sz="1000" dirty="0"/>
          </a:p>
        </p:txBody>
      </p:sp>
      <p:pic>
        <p:nvPicPr>
          <p:cNvPr id="4" name="Image 0" descr="media/image4.png"/>
          <p:cNvPicPr>
            <a:picLocks noChangeAspect="1"/>
          </p:cNvPicPr>
          <p:nvPr/>
        </p:nvPicPr>
        <p:blipFill>
          <a:blip r:embed="rId6"/>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7"/>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Same damage, different evidence. Gate 00 screens integrity before any model runs — and it costs ₹0 a claim.</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Solution Proposed</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primary research on metadata survival through gallery and messaging pipelines, August 2026. Investor Dashboard R6 — Sheet 3 Workings (Part D).</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Text 11"/>
          <p:cNvSpPr txBox="1"/>
          <p:nvPr/>
        </p:nvSpPr>
        <p:spPr>
          <a:xfrm>
            <a:off x="656539" y="1609344"/>
            <a:ext cx="7552944" cy="274320"/>
          </a:xfrm>
          <a:prstGeom prst="rect">
            <a:avLst/>
          </a:prstGeom>
          <a:noFill/>
          <a:ln/>
        </p:spPr>
        <p:txBody>
          <a:bodyPr wrap="square" lIns="0" tIns="0" rIns="0" bIns="0" rtlCol="0" anchor="ctr"/>
          <a:lstStyle/>
          <a:p>
            <a:pPr marL="0" indent="0">
              <a:buNone/>
            </a:pPr>
            <a:r>
              <a:rPr lang="en-US" sz="950" b="1" kern="0" spc="110" dirty="0">
                <a:solidFill>
                  <a:srgbClr val="9CC3E8"/>
                </a:solidFill>
                <a:latin typeface="Calibri" pitchFamily="34" charset="0"/>
                <a:ea typeface="Calibri" pitchFamily="34" charset="-122"/>
                <a:cs typeface="Calibri" pitchFamily="34" charset="-120"/>
              </a:rPr>
              <a:t>TWO CLAIMS, IDENTICAL DAMAGE — ONE CAPTURED LIVE, ONE UPLOADED FROM THE GALLERY</a:t>
            </a:r>
            <a:endParaRPr lang="en-US" sz="950" dirty="0"/>
          </a:p>
        </p:txBody>
      </p:sp>
      <p:sp>
        <p:nvSpPr>
          <p:cNvPr id="16" name="Shape 12"/>
          <p:cNvSpPr/>
          <p:nvPr/>
        </p:nvSpPr>
        <p:spPr>
          <a:xfrm>
            <a:off x="638251" y="1920240"/>
            <a:ext cx="7589520" cy="3730752"/>
          </a:xfrm>
          <a:prstGeom prst="roundRect">
            <a:avLst>
              <a:gd name="adj" fmla="val 2696"/>
            </a:avLst>
          </a:prstGeom>
          <a:solidFill>
            <a:srgbClr val="09122C"/>
          </a:solidFill>
          <a:ln w="9525">
            <a:solidFill>
              <a:srgbClr val="9CC3E8">
                <a:alpha val="45000"/>
              </a:srgbClr>
            </a:solidFill>
            <a:prstDash val="solid"/>
          </a:ln>
        </p:spPr>
      </p:sp>
      <p:pic>
        <p:nvPicPr>
          <p:cNvPr id="36"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1246835" y="1993392"/>
            <a:ext cx="6372352" cy="3584448"/>
          </a:xfrm>
          <a:prstGeom prst="rect">
            <a:avLst/>
          </a:prstGeom>
        </p:spPr>
      </p:pic>
      <p:sp>
        <p:nvSpPr>
          <p:cNvPr id="18" name="Shape 13"/>
          <p:cNvSpPr/>
          <p:nvPr/>
        </p:nvSpPr>
        <p:spPr>
          <a:xfrm>
            <a:off x="8428939" y="1609344"/>
            <a:ext cx="3145536" cy="1097280"/>
          </a:xfrm>
          <a:prstGeom prst="roundRect">
            <a:avLst>
              <a:gd name="adj" fmla="val 7500"/>
            </a:avLst>
          </a:prstGeom>
          <a:solidFill>
            <a:srgbClr val="111C55">
              <a:alpha val="74000"/>
            </a:srgbClr>
          </a:solidFill>
          <a:ln w="12700">
            <a:solidFill>
              <a:srgbClr val="9CC3E8">
                <a:alpha val="78000"/>
              </a:srgbClr>
            </a:solidFill>
            <a:prstDash val="solid"/>
          </a:ln>
        </p:spPr>
      </p:sp>
      <p:sp>
        <p:nvSpPr>
          <p:cNvPr id="19" name="Shape 14"/>
          <p:cNvSpPr/>
          <p:nvPr/>
        </p:nvSpPr>
        <p:spPr>
          <a:xfrm>
            <a:off x="8575243" y="1750344"/>
            <a:ext cx="173736" cy="114666"/>
          </a:xfrm>
          <a:prstGeom prst="roundRect">
            <a:avLst>
              <a:gd name="adj" fmla="val 18182"/>
            </a:avLst>
          </a:prstGeom>
          <a:ln w="13970">
            <a:solidFill>
              <a:srgbClr val="9CC3E8"/>
            </a:solidFill>
            <a:prstDash val="solid"/>
          </a:ln>
        </p:spPr>
      </p:sp>
      <p:sp>
        <p:nvSpPr>
          <p:cNvPr id="20" name="Shape 15"/>
          <p:cNvSpPr/>
          <p:nvPr/>
        </p:nvSpPr>
        <p:spPr>
          <a:xfrm>
            <a:off x="8630839" y="1774668"/>
            <a:ext cx="62545" cy="62545"/>
          </a:xfrm>
          <a:prstGeom prst="ellipse">
            <a:avLst/>
          </a:prstGeom>
          <a:ln w="12700">
            <a:solidFill>
              <a:srgbClr val="9CC3E8"/>
            </a:solidFill>
            <a:prstDash val="solid"/>
          </a:ln>
        </p:spPr>
      </p:sp>
      <p:sp>
        <p:nvSpPr>
          <p:cNvPr id="21" name="Shape 16"/>
          <p:cNvSpPr/>
          <p:nvPr/>
        </p:nvSpPr>
        <p:spPr>
          <a:xfrm>
            <a:off x="8627364" y="1729496"/>
            <a:ext cx="48646" cy="24323"/>
          </a:xfrm>
          <a:prstGeom prst="rect">
            <a:avLst/>
          </a:prstGeom>
          <a:solidFill>
            <a:srgbClr val="9CC3E8"/>
          </a:solidFill>
          <a:ln/>
        </p:spPr>
      </p:sp>
      <p:sp>
        <p:nvSpPr>
          <p:cNvPr id="22" name="Text 17"/>
          <p:cNvSpPr txBox="1"/>
          <p:nvPr/>
        </p:nvSpPr>
        <p:spPr>
          <a:xfrm>
            <a:off x="8822131" y="1682496"/>
            <a:ext cx="2606040"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FNOL</a:t>
            </a:r>
            <a:endParaRPr lang="en-US" sz="900" dirty="0"/>
          </a:p>
        </p:txBody>
      </p:sp>
      <p:sp>
        <p:nvSpPr>
          <p:cNvPr id="23" name="Text 18"/>
          <p:cNvSpPr txBox="1"/>
          <p:nvPr/>
        </p:nvSpPr>
        <p:spPr>
          <a:xfrm>
            <a:off x="8575243" y="1975104"/>
            <a:ext cx="2852928" cy="585216"/>
          </a:xfrm>
          <a:prstGeom prst="rect">
            <a:avLst/>
          </a:prstGeom>
          <a:noFill/>
          <a:ln/>
        </p:spPr>
        <p:txBody>
          <a:bodyPr wrap="square" lIns="0" tIns="0" rIns="0" bIns="0" rtlCol="0" anchor="t"/>
          <a:lstStyle/>
          <a:p>
            <a:pPr marL="0" indent="0">
              <a:lnSpc>
                <a:spcPts val="1150"/>
              </a:lnSpc>
              <a:buNone/>
            </a:pPr>
            <a:r>
              <a:rPr lang="en-US" sz="900" dirty="0">
                <a:solidFill>
                  <a:srgbClr val="C6CEE4"/>
                </a:solidFill>
                <a:latin typeface="Calibri" pitchFamily="34" charset="0"/>
                <a:ea typeface="Calibri" pitchFamily="34" charset="-122"/>
                <a:cs typeface="Calibri" pitchFamily="34" charset="-120"/>
              </a:rPr>
              <a:t>First notice of loss — the moment a claimant reports the accident. ClaimPulse starts here, in the app, with the camera.</a:t>
            </a:r>
            <a:endParaRPr lang="en-US" sz="900" dirty="0"/>
          </a:p>
        </p:txBody>
      </p:sp>
      <p:sp>
        <p:nvSpPr>
          <p:cNvPr id="24" name="Shape 19"/>
          <p:cNvSpPr/>
          <p:nvPr/>
        </p:nvSpPr>
        <p:spPr>
          <a:xfrm>
            <a:off x="8428939" y="3081528"/>
            <a:ext cx="3145536" cy="1097280"/>
          </a:xfrm>
          <a:prstGeom prst="roundRect">
            <a:avLst>
              <a:gd name="adj" fmla="val 7500"/>
            </a:avLst>
          </a:prstGeom>
          <a:solidFill>
            <a:srgbClr val="111C55">
              <a:alpha val="74000"/>
            </a:srgbClr>
          </a:solidFill>
          <a:ln w="12700">
            <a:solidFill>
              <a:srgbClr val="9AD672">
                <a:alpha val="78000"/>
              </a:srgbClr>
            </a:solidFill>
            <a:prstDash val="solid"/>
          </a:ln>
        </p:spPr>
      </p:sp>
      <p:sp>
        <p:nvSpPr>
          <p:cNvPr id="25" name="Shape 20"/>
          <p:cNvSpPr/>
          <p:nvPr/>
        </p:nvSpPr>
        <p:spPr>
          <a:xfrm>
            <a:off x="8575243" y="3191256"/>
            <a:ext cx="173736" cy="173736"/>
          </a:xfrm>
          <a:prstGeom prst="roundRect">
            <a:avLst>
              <a:gd name="adj" fmla="val 22000"/>
            </a:avLst>
          </a:prstGeom>
          <a:ln w="13970">
            <a:solidFill>
              <a:srgbClr val="9AD672"/>
            </a:solidFill>
            <a:prstDash val="solid"/>
          </a:ln>
        </p:spPr>
      </p:sp>
      <p:sp>
        <p:nvSpPr>
          <p:cNvPr id="26" name="Text 21"/>
          <p:cNvSpPr txBox="1"/>
          <p:nvPr/>
        </p:nvSpPr>
        <p:spPr>
          <a:xfrm>
            <a:off x="8575243" y="3191256"/>
            <a:ext cx="173736" cy="173736"/>
          </a:xfrm>
          <a:prstGeom prst="rect">
            <a:avLst/>
          </a:prstGeom>
          <a:noFill/>
          <a:ln/>
        </p:spPr>
        <p:txBody>
          <a:bodyPr wrap="square" lIns="0" tIns="0" rIns="0" bIns="0" rtlCol="0" anchor="ctr"/>
          <a:lstStyle/>
          <a:p>
            <a:pPr marL="0" indent="0" algn="ctr">
              <a:buNone/>
            </a:pPr>
            <a:r>
              <a:rPr lang="en-US" sz="1178" b="1" dirty="0">
                <a:solidFill>
                  <a:srgbClr val="9AD672"/>
                </a:solidFill>
                <a:latin typeface="Calibri" pitchFamily="34" charset="0"/>
                <a:ea typeface="Calibri" pitchFamily="34" charset="-122"/>
                <a:cs typeface="Calibri" pitchFamily="34" charset="-120"/>
              </a:rPr>
              <a:t>₹</a:t>
            </a:r>
            <a:endParaRPr lang="en-US" sz="1178" dirty="0"/>
          </a:p>
        </p:txBody>
      </p:sp>
      <p:sp>
        <p:nvSpPr>
          <p:cNvPr id="27" name="Text 22"/>
          <p:cNvSpPr txBox="1"/>
          <p:nvPr/>
        </p:nvSpPr>
        <p:spPr>
          <a:xfrm>
            <a:off x="8822131" y="3154680"/>
            <a:ext cx="2606040" cy="237744"/>
          </a:xfrm>
          <a:prstGeom prst="rect">
            <a:avLst/>
          </a:prstGeom>
          <a:noFill/>
          <a:ln/>
        </p:spPr>
        <p:txBody>
          <a:bodyPr wrap="square" lIns="0" tIns="0" rIns="0" bIns="0" rtlCol="0" anchor="ctr"/>
          <a:lstStyle/>
          <a:p>
            <a:pPr marL="0" indent="0">
              <a:buNone/>
            </a:pPr>
            <a:r>
              <a:rPr lang="en-US" sz="900" b="1" kern="0" spc="110" dirty="0">
                <a:solidFill>
                  <a:srgbClr val="9AD672"/>
                </a:solidFill>
                <a:latin typeface="Calibri" pitchFamily="34" charset="0"/>
                <a:ea typeface="Calibri" pitchFamily="34" charset="-122"/>
                <a:cs typeface="Calibri" pitchFamily="34" charset="-120"/>
              </a:rPr>
              <a:t>₹0 API COST</a:t>
            </a:r>
            <a:endParaRPr lang="en-US" sz="900" dirty="0"/>
          </a:p>
        </p:txBody>
      </p:sp>
      <p:sp>
        <p:nvSpPr>
          <p:cNvPr id="28" name="Text 23"/>
          <p:cNvSpPr txBox="1"/>
          <p:nvPr/>
        </p:nvSpPr>
        <p:spPr>
          <a:xfrm>
            <a:off x="8575243" y="3447288"/>
            <a:ext cx="2852928" cy="585216"/>
          </a:xfrm>
          <a:prstGeom prst="rect">
            <a:avLst/>
          </a:prstGeom>
          <a:noFill/>
          <a:ln/>
        </p:spPr>
        <p:txBody>
          <a:bodyPr wrap="square" lIns="0" tIns="0" rIns="0" bIns="0" rtlCol="0" anchor="t"/>
          <a:lstStyle/>
          <a:p>
            <a:pPr marL="0" indent="0">
              <a:lnSpc>
                <a:spcPts val="1150"/>
              </a:lnSpc>
              <a:buNone/>
            </a:pPr>
            <a:r>
              <a:rPr lang="en-US" sz="900" dirty="0">
                <a:solidFill>
                  <a:srgbClr val="C6CEE4"/>
                </a:solidFill>
                <a:latin typeface="Calibri" pitchFamily="34" charset="0"/>
                <a:ea typeface="Calibri" pitchFamily="34" charset="-122"/>
                <a:cs typeface="Calibri" pitchFamily="34" charset="-120"/>
              </a:rPr>
              <a:t>Every Gate 00 check is deterministic. No model is called, so screening 100% of intake costs nothing per claim.</a:t>
            </a:r>
            <a:endParaRPr lang="en-US" sz="900" dirty="0"/>
          </a:p>
        </p:txBody>
      </p:sp>
      <p:sp>
        <p:nvSpPr>
          <p:cNvPr id="29" name="Shape 24"/>
          <p:cNvSpPr/>
          <p:nvPr/>
        </p:nvSpPr>
        <p:spPr>
          <a:xfrm>
            <a:off x="8428939" y="4553712"/>
            <a:ext cx="3145536" cy="1097280"/>
          </a:xfrm>
          <a:prstGeom prst="roundRect">
            <a:avLst>
              <a:gd name="adj" fmla="val 7500"/>
            </a:avLst>
          </a:prstGeom>
          <a:solidFill>
            <a:srgbClr val="111C55">
              <a:alpha val="74000"/>
            </a:srgbClr>
          </a:solidFill>
          <a:ln w="12700">
            <a:solidFill>
              <a:srgbClr val="BDB6F5">
                <a:alpha val="78000"/>
              </a:srgbClr>
            </a:solidFill>
            <a:prstDash val="solid"/>
          </a:ln>
        </p:spPr>
      </p:sp>
      <p:sp>
        <p:nvSpPr>
          <p:cNvPr id="30" name="Shape 25"/>
          <p:cNvSpPr/>
          <p:nvPr/>
        </p:nvSpPr>
        <p:spPr>
          <a:xfrm rot="5400000">
            <a:off x="8575243" y="4663440"/>
            <a:ext cx="173736" cy="173736"/>
          </a:xfrm>
          <a:prstGeom prst="homePlate">
            <a:avLst/>
          </a:prstGeom>
          <a:ln w="13970">
            <a:solidFill>
              <a:srgbClr val="BDB6F5"/>
            </a:solidFill>
            <a:prstDash val="solid"/>
          </a:ln>
        </p:spPr>
      </p:sp>
      <p:sp>
        <p:nvSpPr>
          <p:cNvPr id="31" name="Text 26"/>
          <p:cNvSpPr txBox="1"/>
          <p:nvPr/>
        </p:nvSpPr>
        <p:spPr>
          <a:xfrm>
            <a:off x="8822131" y="4626864"/>
            <a:ext cx="2606040" cy="237744"/>
          </a:xfrm>
          <a:prstGeom prst="rect">
            <a:avLst/>
          </a:prstGeom>
          <a:noFill/>
          <a:ln/>
        </p:spPr>
        <p:txBody>
          <a:bodyPr wrap="square" lIns="0" tIns="0" rIns="0" bIns="0" rtlCol="0" anchor="ctr"/>
          <a:lstStyle/>
          <a:p>
            <a:pPr marL="0" indent="0">
              <a:buNone/>
            </a:pPr>
            <a:r>
              <a:rPr lang="en-US" sz="900" b="1" kern="0" spc="110" dirty="0">
                <a:solidFill>
                  <a:srgbClr val="BDB6F5"/>
                </a:solidFill>
                <a:latin typeface="Calibri" pitchFamily="34" charset="0"/>
                <a:ea typeface="Calibri" pitchFamily="34" charset="-122"/>
                <a:cs typeface="Calibri" pitchFamily="34" charset="-120"/>
              </a:rPr>
              <a:t>VERIFIED BY THE GATE</a:t>
            </a:r>
            <a:endParaRPr lang="en-US" sz="900" dirty="0"/>
          </a:p>
        </p:txBody>
      </p:sp>
      <p:sp>
        <p:nvSpPr>
          <p:cNvPr id="32" name="Text 27"/>
          <p:cNvSpPr txBox="1"/>
          <p:nvPr/>
        </p:nvSpPr>
        <p:spPr>
          <a:xfrm>
            <a:off x="8575243" y="4919472"/>
            <a:ext cx="2852928" cy="585216"/>
          </a:xfrm>
          <a:prstGeom prst="rect">
            <a:avLst/>
          </a:prstGeom>
          <a:noFill/>
          <a:ln/>
        </p:spPr>
        <p:txBody>
          <a:bodyPr wrap="square" lIns="0" tIns="0" rIns="0" bIns="0" rtlCol="0" anchor="t"/>
          <a:lstStyle/>
          <a:p>
            <a:pPr marL="0" indent="0">
              <a:lnSpc>
                <a:spcPts val="1150"/>
              </a:lnSpc>
              <a:buNone/>
            </a:pPr>
            <a:r>
              <a:rPr lang="en-US" sz="900" dirty="0">
                <a:solidFill>
                  <a:srgbClr val="C6CEE4"/>
                </a:solidFill>
                <a:latin typeface="Calibri" pitchFamily="34" charset="0"/>
                <a:ea typeface="Calibri" pitchFamily="34" charset="-122"/>
                <a:cs typeface="Calibri" pitchFamily="34" charset="-120"/>
              </a:rPr>
              <a:t>Not by a person. Metadata, GPS, device fingerprint and the artefact screen either pass, or the claim is not green-eligible.</a:t>
            </a:r>
            <a:endParaRPr lang="en-US" sz="900" dirty="0"/>
          </a:p>
        </p:txBody>
      </p:sp>
      <p:sp>
        <p:nvSpPr>
          <p:cNvPr id="33" name="Shape 28"/>
          <p:cNvSpPr/>
          <p:nvPr/>
        </p:nvSpPr>
        <p:spPr>
          <a:xfrm>
            <a:off x="638251" y="5724144"/>
            <a:ext cx="10936224" cy="347472"/>
          </a:xfrm>
          <a:prstGeom prst="roundRect">
            <a:avLst>
              <a:gd name="adj" fmla="val 21053"/>
            </a:avLst>
          </a:prstGeom>
          <a:solidFill>
            <a:srgbClr val="0A1550">
              <a:alpha val="86000"/>
            </a:srgbClr>
          </a:solidFill>
          <a:ln w="9525">
            <a:solidFill>
              <a:srgbClr val="ED7D31">
                <a:alpha val="55000"/>
              </a:srgbClr>
            </a:solidFill>
            <a:prstDash val="solid"/>
          </a:ln>
        </p:spPr>
      </p:sp>
      <p:sp>
        <p:nvSpPr>
          <p:cNvPr id="34" name="Shape 29"/>
          <p:cNvSpPr/>
          <p:nvPr/>
        </p:nvSpPr>
        <p:spPr>
          <a:xfrm>
            <a:off x="747979" y="5797296"/>
            <a:ext cx="41148" cy="201168"/>
          </a:xfrm>
          <a:prstGeom prst="roundRect">
            <a:avLst>
              <a:gd name="adj" fmla="val 48889"/>
            </a:avLst>
          </a:prstGeom>
          <a:solidFill>
            <a:srgbClr val="ED7D31"/>
          </a:solidFill>
          <a:ln/>
        </p:spPr>
      </p:sp>
      <p:sp>
        <p:nvSpPr>
          <p:cNvPr id="35" name="Text 30"/>
          <p:cNvSpPr txBox="1"/>
          <p:nvPr/>
        </p:nvSpPr>
        <p:spPr>
          <a:xfrm>
            <a:off x="894283" y="5724144"/>
            <a:ext cx="10533888" cy="347472"/>
          </a:xfrm>
          <a:prstGeom prst="rect">
            <a:avLst/>
          </a:prstGeom>
          <a:noFill/>
          <a:ln/>
        </p:spPr>
        <p:txBody>
          <a:bodyPr wrap="square" lIns="0" tIns="0" rIns="0" bIns="0" rtlCol="0" anchor="ctr"/>
          <a:lstStyle/>
          <a:p>
            <a:pPr marL="0" indent="0">
              <a:lnSpc>
                <a:spcPts val="1150"/>
              </a:lnSpc>
              <a:buNone/>
            </a:pPr>
            <a:r>
              <a:rPr lang="en-US" sz="950" b="1" kern="0" spc="100" dirty="0">
                <a:solidFill>
                  <a:srgbClr val="ED7D31"/>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A deterministic gate means nobody has to be believed — the claim either carries its own proof, or it does not qualify for the fast lane.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667"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6"/>
                </p:tgtEl>
              </p:cMediaNode>
            </p:video>
            <p:seq concurrent="1" nextAc="seek">
              <p:cTn id="8" restart="whenNotActive" fill="hold" evtFilter="cancelBubble" nodeType="interactiveSeq">
                <p:stCondLst>
                  <p:cond evt="onClick" delay="0">
                    <p:tgtEl>
                      <p:spTgt spid="3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6"/>
                                        </p:tgtEl>
                                      </p:cBhvr>
                                    </p:cmd>
                                  </p:childTnLst>
                                </p:cTn>
                              </p:par>
                            </p:childTnLst>
                          </p:cTn>
                        </p:par>
                      </p:childTnLst>
                    </p:cTn>
                  </p:par>
                </p:childTnLst>
              </p:cTn>
              <p:nextCondLst>
                <p:cond evt="onClick" delay="0">
                  <p:tgtEl>
                    <p:spTgt spid="3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SOLUTION   04 / 05</a:t>
            </a:r>
            <a:endParaRPr lang="en-US" sz="1000" dirty="0"/>
          </a:p>
        </p:txBody>
      </p:sp>
      <p:pic>
        <p:nvPicPr>
          <p:cNvPr id="4" name="Image 0" descr="media/image4.png"/>
          <p:cNvPicPr>
            <a:picLocks noChangeAspect="1"/>
          </p:cNvPicPr>
          <p:nvPr/>
        </p:nvPicPr>
        <p:blipFill>
          <a:blip r:embed="rId6"/>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7"/>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The Trust Score is one number between 0 and 100 that answers a single question: can this claim be resolved without a person?</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Solution Proposed</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3 Workings (Part B). Band cut-points are calibrated on live claims during the 90-day pilot; they are not asserted here.</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Text 11"/>
          <p:cNvSpPr txBox="1"/>
          <p:nvPr/>
        </p:nvSpPr>
        <p:spPr>
          <a:xfrm>
            <a:off x="656539" y="1609344"/>
            <a:ext cx="7552944" cy="274320"/>
          </a:xfrm>
          <a:prstGeom prst="rect">
            <a:avLst/>
          </a:prstGeom>
          <a:noFill/>
          <a:ln/>
        </p:spPr>
        <p:txBody>
          <a:bodyPr wrap="square" lIns="0" tIns="0" rIns="0" bIns="0" rtlCol="0" anchor="ctr"/>
          <a:lstStyle/>
          <a:p>
            <a:pPr marL="0" indent="0">
              <a:buNone/>
            </a:pPr>
            <a:r>
              <a:rPr lang="en-US" sz="950" b="1" kern="0" spc="110" dirty="0">
                <a:solidFill>
                  <a:srgbClr val="9CC3E8"/>
                </a:solidFill>
                <a:latin typeface="Calibri" pitchFamily="34" charset="0"/>
                <a:ea typeface="Calibri" pitchFamily="34" charset="-122"/>
                <a:cs typeface="Calibri" pitchFamily="34" charset="-120"/>
              </a:rPr>
              <a:t>HOW FIVE SIGNALS FUSE INTO ONE SCORE — TWO WORKED CLAIMS</a:t>
            </a:r>
            <a:endParaRPr lang="en-US" sz="950" dirty="0"/>
          </a:p>
        </p:txBody>
      </p:sp>
      <p:sp>
        <p:nvSpPr>
          <p:cNvPr id="16" name="Shape 12"/>
          <p:cNvSpPr/>
          <p:nvPr/>
        </p:nvSpPr>
        <p:spPr>
          <a:xfrm>
            <a:off x="638251" y="1920240"/>
            <a:ext cx="7589520" cy="3730752"/>
          </a:xfrm>
          <a:prstGeom prst="roundRect">
            <a:avLst>
              <a:gd name="adj" fmla="val 2696"/>
            </a:avLst>
          </a:prstGeom>
          <a:solidFill>
            <a:srgbClr val="09122C"/>
          </a:solidFill>
          <a:ln w="9525">
            <a:solidFill>
              <a:srgbClr val="9CC3E8">
                <a:alpha val="45000"/>
              </a:srgbClr>
            </a:solidFill>
            <a:prstDash val="solid"/>
          </a:ln>
        </p:spPr>
      </p:sp>
      <p:pic>
        <p:nvPicPr>
          <p:cNvPr id="6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1246835" y="1993392"/>
            <a:ext cx="6372352" cy="3584448"/>
          </a:xfrm>
          <a:prstGeom prst="rect">
            <a:avLst/>
          </a:prstGeom>
        </p:spPr>
      </p:pic>
      <p:sp>
        <p:nvSpPr>
          <p:cNvPr id="18" name="Shape 13"/>
          <p:cNvSpPr/>
          <p:nvPr/>
        </p:nvSpPr>
        <p:spPr>
          <a:xfrm>
            <a:off x="8428939" y="1609344"/>
            <a:ext cx="3145536" cy="1097280"/>
          </a:xfrm>
          <a:prstGeom prst="roundRect">
            <a:avLst>
              <a:gd name="adj" fmla="val 7500"/>
            </a:avLst>
          </a:prstGeom>
          <a:solidFill>
            <a:srgbClr val="111C55">
              <a:alpha val="74000"/>
            </a:srgbClr>
          </a:solidFill>
          <a:ln w="9525">
            <a:solidFill>
              <a:srgbClr val="3A4A8C">
                <a:alpha val="70000"/>
              </a:srgbClr>
            </a:solidFill>
            <a:prstDash val="solid"/>
          </a:ln>
        </p:spPr>
      </p:sp>
      <p:sp>
        <p:nvSpPr>
          <p:cNvPr id="19" name="Shape 14"/>
          <p:cNvSpPr/>
          <p:nvPr/>
        </p:nvSpPr>
        <p:spPr>
          <a:xfrm>
            <a:off x="8646475" y="1703436"/>
            <a:ext cx="31272" cy="31272"/>
          </a:xfrm>
          <a:prstGeom prst="ellipse">
            <a:avLst/>
          </a:prstGeom>
          <a:solidFill>
            <a:srgbClr val="9CC3E8"/>
          </a:solidFill>
          <a:ln/>
        </p:spPr>
      </p:sp>
      <p:sp>
        <p:nvSpPr>
          <p:cNvPr id="20" name="Shape 15"/>
          <p:cNvSpPr/>
          <p:nvPr/>
        </p:nvSpPr>
        <p:spPr>
          <a:xfrm>
            <a:off x="8559607" y="1776405"/>
            <a:ext cx="31272" cy="31272"/>
          </a:xfrm>
          <a:prstGeom prst="ellipse">
            <a:avLst/>
          </a:prstGeom>
          <a:solidFill>
            <a:srgbClr val="9CC3E8"/>
          </a:solidFill>
          <a:ln/>
        </p:spPr>
      </p:sp>
      <p:sp>
        <p:nvSpPr>
          <p:cNvPr id="21" name="Shape 16"/>
          <p:cNvSpPr/>
          <p:nvPr/>
        </p:nvSpPr>
        <p:spPr>
          <a:xfrm>
            <a:off x="8597829" y="1877172"/>
            <a:ext cx="31272" cy="31272"/>
          </a:xfrm>
          <a:prstGeom prst="ellipse">
            <a:avLst/>
          </a:prstGeom>
          <a:solidFill>
            <a:srgbClr val="9CC3E8"/>
          </a:solidFill>
          <a:ln/>
        </p:spPr>
      </p:sp>
      <p:sp>
        <p:nvSpPr>
          <p:cNvPr id="22" name="Shape 17"/>
          <p:cNvSpPr/>
          <p:nvPr/>
        </p:nvSpPr>
        <p:spPr>
          <a:xfrm>
            <a:off x="8695121" y="1877172"/>
            <a:ext cx="31272" cy="31272"/>
          </a:xfrm>
          <a:prstGeom prst="ellipse">
            <a:avLst/>
          </a:prstGeom>
          <a:solidFill>
            <a:srgbClr val="9CC3E8"/>
          </a:solidFill>
          <a:ln/>
        </p:spPr>
      </p:sp>
      <p:sp>
        <p:nvSpPr>
          <p:cNvPr id="23" name="Shape 18"/>
          <p:cNvSpPr/>
          <p:nvPr/>
        </p:nvSpPr>
        <p:spPr>
          <a:xfrm>
            <a:off x="8733343" y="1776405"/>
            <a:ext cx="31272" cy="31272"/>
          </a:xfrm>
          <a:prstGeom prst="ellipse">
            <a:avLst/>
          </a:prstGeom>
          <a:solidFill>
            <a:srgbClr val="9CC3E8"/>
          </a:solidFill>
          <a:ln/>
        </p:spPr>
      </p:sp>
      <p:sp>
        <p:nvSpPr>
          <p:cNvPr id="24" name="Shape 19"/>
          <p:cNvSpPr/>
          <p:nvPr/>
        </p:nvSpPr>
        <p:spPr>
          <a:xfrm flipV="1">
            <a:off x="8575243" y="1719072"/>
            <a:ext cx="86868" cy="72969"/>
          </a:xfrm>
          <a:prstGeom prst="line">
            <a:avLst/>
          </a:prstGeom>
          <a:noFill/>
          <a:ln w="9525">
            <a:solidFill>
              <a:srgbClr val="9CC3E8"/>
            </a:solidFill>
            <a:prstDash val="solid"/>
          </a:ln>
        </p:spPr>
      </p:sp>
      <p:sp>
        <p:nvSpPr>
          <p:cNvPr id="25" name="Shape 20"/>
          <p:cNvSpPr/>
          <p:nvPr/>
        </p:nvSpPr>
        <p:spPr>
          <a:xfrm>
            <a:off x="8662111" y="1719072"/>
            <a:ext cx="86868" cy="72969"/>
          </a:xfrm>
          <a:prstGeom prst="line">
            <a:avLst/>
          </a:prstGeom>
          <a:noFill/>
          <a:ln w="9525">
            <a:solidFill>
              <a:srgbClr val="9CC3E8"/>
            </a:solidFill>
            <a:prstDash val="solid"/>
          </a:ln>
        </p:spPr>
      </p:sp>
      <p:sp>
        <p:nvSpPr>
          <p:cNvPr id="26" name="Shape 21"/>
          <p:cNvSpPr/>
          <p:nvPr/>
        </p:nvSpPr>
        <p:spPr>
          <a:xfrm>
            <a:off x="8613465" y="1892808"/>
            <a:ext cx="97292" cy="0"/>
          </a:xfrm>
          <a:prstGeom prst="line">
            <a:avLst/>
          </a:prstGeom>
          <a:noFill/>
          <a:ln w="9525">
            <a:solidFill>
              <a:srgbClr val="9CC3E8"/>
            </a:solidFill>
            <a:prstDash val="solid"/>
          </a:ln>
        </p:spPr>
      </p:sp>
      <p:sp>
        <p:nvSpPr>
          <p:cNvPr id="27" name="Text 22"/>
          <p:cNvSpPr txBox="1"/>
          <p:nvPr/>
        </p:nvSpPr>
        <p:spPr>
          <a:xfrm>
            <a:off x="8822131" y="1682496"/>
            <a:ext cx="2606040"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WHAT IT REPRESENTS</a:t>
            </a:r>
            <a:r>
              <a:rPr lang="en-US" sz="900" dirty="0">
                <a:solidFill>
                  <a:srgbClr val="9AA4C6"/>
                </a:solidFill>
                <a:latin typeface="Calibri" pitchFamily="34" charset="0"/>
                <a:ea typeface="Calibri" pitchFamily="34" charset="-122"/>
                <a:cs typeface="Calibri" pitchFamily="34" charset="-120"/>
              </a:rPr>
              <a:t>   ·   measured, not asserted</a:t>
            </a:r>
            <a:endParaRPr lang="en-US" sz="900" dirty="0"/>
          </a:p>
        </p:txBody>
      </p:sp>
      <p:sp>
        <p:nvSpPr>
          <p:cNvPr id="28" name="Text 23"/>
          <p:cNvSpPr txBox="1"/>
          <p:nvPr/>
        </p:nvSpPr>
        <p:spPr>
          <a:xfrm>
            <a:off x="8575243" y="1975104"/>
            <a:ext cx="2852928" cy="585216"/>
          </a:xfrm>
          <a:prstGeom prst="rect">
            <a:avLst/>
          </a:prstGeom>
          <a:noFill/>
          <a:ln/>
        </p:spPr>
        <p:txBody>
          <a:bodyPr wrap="square" lIns="0" tIns="0" rIns="0" bIns="0" rtlCol="0" anchor="t"/>
          <a:lstStyle/>
          <a:p>
            <a:pPr marL="0" indent="0">
              <a:lnSpc>
                <a:spcPts val="1050"/>
              </a:lnSpc>
              <a:buNone/>
            </a:pPr>
            <a:r>
              <a:rPr lang="en-US" sz="850" dirty="0">
                <a:solidFill>
                  <a:srgbClr val="C6CEE4"/>
                </a:solidFill>
                <a:latin typeface="Calibri" pitchFamily="34" charset="0"/>
                <a:ea typeface="Calibri" pitchFamily="34" charset="-122"/>
                <a:cs typeface="Calibri" pitchFamily="34" charset="-120"/>
              </a:rPr>
              <a:t>Agreement, not confidence. A high score means the five signals corroborate each other. The cut-points are calibrated on live Bajaj claims during the 90-day pilot and reviewed quarterly — we are not asking you to accept a threshold we invented.</a:t>
            </a:r>
            <a:endParaRPr lang="en-US" sz="850" dirty="0"/>
          </a:p>
        </p:txBody>
      </p:sp>
      <p:sp>
        <p:nvSpPr>
          <p:cNvPr id="29" name="Shape 24"/>
          <p:cNvSpPr/>
          <p:nvPr/>
        </p:nvSpPr>
        <p:spPr>
          <a:xfrm>
            <a:off x="8428939" y="2852928"/>
            <a:ext cx="3145536" cy="1481328"/>
          </a:xfrm>
          <a:prstGeom prst="roundRect">
            <a:avLst>
              <a:gd name="adj" fmla="val 5556"/>
            </a:avLst>
          </a:prstGeom>
          <a:solidFill>
            <a:srgbClr val="111C55">
              <a:alpha val="74000"/>
            </a:srgbClr>
          </a:solidFill>
          <a:ln w="12700">
            <a:solidFill>
              <a:srgbClr val="9085E9">
                <a:alpha val="78000"/>
              </a:srgbClr>
            </a:solidFill>
            <a:prstDash val="solid"/>
          </a:ln>
        </p:spPr>
      </p:sp>
      <p:sp>
        <p:nvSpPr>
          <p:cNvPr id="30" name="Shape 25"/>
          <p:cNvSpPr/>
          <p:nvPr/>
        </p:nvSpPr>
        <p:spPr>
          <a:xfrm rot="5400000">
            <a:off x="8575243" y="2962656"/>
            <a:ext cx="173736" cy="173736"/>
          </a:xfrm>
          <a:prstGeom prst="homePlate">
            <a:avLst/>
          </a:prstGeom>
          <a:ln w="13970">
            <a:solidFill>
              <a:srgbClr val="9085E9"/>
            </a:solidFill>
            <a:prstDash val="solid"/>
          </a:ln>
        </p:spPr>
      </p:sp>
      <p:sp>
        <p:nvSpPr>
          <p:cNvPr id="31" name="Text 26"/>
          <p:cNvSpPr txBox="1"/>
          <p:nvPr/>
        </p:nvSpPr>
        <p:spPr>
          <a:xfrm>
            <a:off x="8822131" y="2926080"/>
            <a:ext cx="2606040" cy="237744"/>
          </a:xfrm>
          <a:prstGeom prst="rect">
            <a:avLst/>
          </a:prstGeom>
          <a:noFill/>
          <a:ln/>
        </p:spPr>
        <p:txBody>
          <a:bodyPr wrap="square" lIns="0" tIns="0" rIns="0" bIns="0" rtlCol="0" anchor="ctr"/>
          <a:lstStyle/>
          <a:p>
            <a:pPr marL="0" indent="0">
              <a:buNone/>
            </a:pPr>
            <a:r>
              <a:rPr lang="en-US" sz="900" b="1" kern="0" spc="110" dirty="0">
                <a:solidFill>
                  <a:srgbClr val="9085E9"/>
                </a:solidFill>
                <a:latin typeface="Calibri" pitchFamily="34" charset="0"/>
                <a:ea typeface="Calibri" pitchFamily="34" charset="-122"/>
                <a:cs typeface="Calibri" pitchFamily="34" charset="-120"/>
              </a:rPr>
              <a:t>NOTHING IS UNATTENDED</a:t>
            </a:r>
            <a:r>
              <a:rPr lang="en-US" sz="900" dirty="0">
                <a:solidFill>
                  <a:srgbClr val="9AA4C6"/>
                </a:solidFill>
                <a:latin typeface="Calibri" pitchFamily="34" charset="0"/>
                <a:ea typeface="Calibri" pitchFamily="34" charset="-122"/>
                <a:cs typeface="Calibri" pitchFamily="34" charset="-120"/>
              </a:rPr>
              <a:t>   ·   the controls</a:t>
            </a:r>
            <a:endParaRPr lang="en-US" sz="900" dirty="0"/>
          </a:p>
        </p:txBody>
      </p:sp>
      <p:sp>
        <p:nvSpPr>
          <p:cNvPr id="32" name="Shape 27"/>
          <p:cNvSpPr/>
          <p:nvPr/>
        </p:nvSpPr>
        <p:spPr>
          <a:xfrm>
            <a:off x="8593531" y="3287268"/>
            <a:ext cx="54864" cy="54864"/>
          </a:xfrm>
          <a:prstGeom prst="ellipse">
            <a:avLst/>
          </a:prstGeom>
          <a:solidFill>
            <a:srgbClr val="9085E9"/>
          </a:solidFill>
          <a:ln/>
        </p:spPr>
      </p:sp>
      <p:sp>
        <p:nvSpPr>
          <p:cNvPr id="33" name="Text 28"/>
          <p:cNvSpPr txBox="1"/>
          <p:nvPr/>
        </p:nvSpPr>
        <p:spPr>
          <a:xfrm>
            <a:off x="8712403" y="3236976"/>
            <a:ext cx="2715768" cy="155448"/>
          </a:xfrm>
          <a:prstGeom prst="rect">
            <a:avLst/>
          </a:prstGeom>
          <a:noFill/>
          <a:ln/>
        </p:spPr>
        <p:txBody>
          <a:bodyPr wrap="square" lIns="0" tIns="0" rIns="0" bIns="0" rtlCol="0" anchor="ctr"/>
          <a:lstStyle/>
          <a:p>
            <a:pPr marL="0" indent="0">
              <a:buNone/>
            </a:pPr>
            <a:r>
              <a:rPr lang="en-US" sz="750" b="1" dirty="0">
                <a:solidFill>
                  <a:srgbClr val="BDB6F5"/>
                </a:solidFill>
                <a:latin typeface="Calibri" pitchFamily="34" charset="0"/>
                <a:ea typeface="Calibri" pitchFamily="34" charset="-122"/>
                <a:cs typeface="Calibri" pitchFamily="34" charset="-120"/>
              </a:rPr>
              <a:t>Override  </a:t>
            </a:r>
            <a:r>
              <a:rPr lang="en-US" sz="750" dirty="0">
                <a:solidFill>
                  <a:srgbClr val="C6CEE4"/>
                </a:solidFill>
                <a:latin typeface="Calibri" pitchFamily="34" charset="0"/>
                <a:ea typeface="Calibri" pitchFamily="34" charset="-122"/>
                <a:cs typeface="Calibri" pitchFamily="34" charset="-120"/>
              </a:rPr>
              <a:t>a surveyor can overturn any lane</a:t>
            </a:r>
            <a:endParaRPr lang="en-US" sz="750" dirty="0"/>
          </a:p>
        </p:txBody>
      </p:sp>
      <p:sp>
        <p:nvSpPr>
          <p:cNvPr id="34" name="Shape 29"/>
          <p:cNvSpPr/>
          <p:nvPr/>
        </p:nvSpPr>
        <p:spPr>
          <a:xfrm>
            <a:off x="8593531" y="3442716"/>
            <a:ext cx="54864" cy="54864"/>
          </a:xfrm>
          <a:prstGeom prst="ellipse">
            <a:avLst/>
          </a:prstGeom>
          <a:solidFill>
            <a:srgbClr val="9085E9"/>
          </a:solidFill>
          <a:ln/>
        </p:spPr>
      </p:sp>
      <p:sp>
        <p:nvSpPr>
          <p:cNvPr id="35" name="Text 30"/>
          <p:cNvSpPr txBox="1"/>
          <p:nvPr/>
        </p:nvSpPr>
        <p:spPr>
          <a:xfrm>
            <a:off x="8712403" y="3392424"/>
            <a:ext cx="2715768" cy="155448"/>
          </a:xfrm>
          <a:prstGeom prst="rect">
            <a:avLst/>
          </a:prstGeom>
          <a:noFill/>
          <a:ln/>
        </p:spPr>
        <p:txBody>
          <a:bodyPr wrap="square" lIns="0" tIns="0" rIns="0" bIns="0" rtlCol="0" anchor="ctr"/>
          <a:lstStyle/>
          <a:p>
            <a:pPr marL="0" indent="0">
              <a:buNone/>
            </a:pPr>
            <a:r>
              <a:rPr lang="en-US" sz="750" b="1" dirty="0">
                <a:solidFill>
                  <a:srgbClr val="BDB6F5"/>
                </a:solidFill>
                <a:latin typeface="Calibri" pitchFamily="34" charset="0"/>
                <a:ea typeface="Calibri" pitchFamily="34" charset="-122"/>
                <a:cs typeface="Calibri" pitchFamily="34" charset="-120"/>
              </a:rPr>
              <a:t>Audit trail  </a:t>
            </a:r>
            <a:r>
              <a:rPr lang="en-US" sz="750" dirty="0">
                <a:solidFill>
                  <a:srgbClr val="C6CEE4"/>
                </a:solidFill>
                <a:latin typeface="Calibri" pitchFamily="34" charset="0"/>
                <a:ea typeface="Calibri" pitchFamily="34" charset="-122"/>
                <a:cs typeface="Calibri" pitchFamily="34" charset="-120"/>
              </a:rPr>
              <a:t>every decision, reason and model version stored</a:t>
            </a:r>
            <a:endParaRPr lang="en-US" sz="750" dirty="0"/>
          </a:p>
        </p:txBody>
      </p:sp>
      <p:sp>
        <p:nvSpPr>
          <p:cNvPr id="36" name="Shape 31"/>
          <p:cNvSpPr/>
          <p:nvPr/>
        </p:nvSpPr>
        <p:spPr>
          <a:xfrm>
            <a:off x="8593531" y="3598164"/>
            <a:ext cx="54864" cy="54864"/>
          </a:xfrm>
          <a:prstGeom prst="ellipse">
            <a:avLst/>
          </a:prstGeom>
          <a:solidFill>
            <a:srgbClr val="9085E9"/>
          </a:solidFill>
          <a:ln/>
        </p:spPr>
      </p:sp>
      <p:sp>
        <p:nvSpPr>
          <p:cNvPr id="37" name="Text 32"/>
          <p:cNvSpPr txBox="1"/>
          <p:nvPr/>
        </p:nvSpPr>
        <p:spPr>
          <a:xfrm>
            <a:off x="8712403" y="3547872"/>
            <a:ext cx="2715768" cy="155448"/>
          </a:xfrm>
          <a:prstGeom prst="rect">
            <a:avLst/>
          </a:prstGeom>
          <a:noFill/>
          <a:ln/>
        </p:spPr>
        <p:txBody>
          <a:bodyPr wrap="square" lIns="0" tIns="0" rIns="0" bIns="0" rtlCol="0" anchor="ctr"/>
          <a:lstStyle/>
          <a:p>
            <a:pPr marL="0" indent="0">
              <a:buNone/>
            </a:pPr>
            <a:r>
              <a:rPr lang="en-US" sz="750" b="1" dirty="0">
                <a:solidFill>
                  <a:srgbClr val="BDB6F5"/>
                </a:solidFill>
                <a:latin typeface="Calibri" pitchFamily="34" charset="0"/>
                <a:ea typeface="Calibri" pitchFamily="34" charset="-122"/>
                <a:cs typeface="Calibri" pitchFamily="34" charset="-120"/>
              </a:rPr>
              <a:t>Explanation  </a:t>
            </a:r>
            <a:r>
              <a:rPr lang="en-US" sz="750" dirty="0">
                <a:solidFill>
                  <a:srgbClr val="C6CEE4"/>
                </a:solidFill>
                <a:latin typeface="Calibri" pitchFamily="34" charset="0"/>
                <a:ea typeface="Calibri" pitchFamily="34" charset="-122"/>
                <a:cs typeface="Calibri" pitchFamily="34" charset="-120"/>
              </a:rPr>
              <a:t>the dossier shows why, not only what</a:t>
            </a:r>
            <a:endParaRPr lang="en-US" sz="750" dirty="0"/>
          </a:p>
        </p:txBody>
      </p:sp>
      <p:sp>
        <p:nvSpPr>
          <p:cNvPr id="38" name="Shape 33"/>
          <p:cNvSpPr/>
          <p:nvPr/>
        </p:nvSpPr>
        <p:spPr>
          <a:xfrm>
            <a:off x="8593531" y="3753612"/>
            <a:ext cx="54864" cy="54864"/>
          </a:xfrm>
          <a:prstGeom prst="ellipse">
            <a:avLst/>
          </a:prstGeom>
          <a:solidFill>
            <a:srgbClr val="9085E9"/>
          </a:solidFill>
          <a:ln/>
        </p:spPr>
      </p:sp>
      <p:sp>
        <p:nvSpPr>
          <p:cNvPr id="39" name="Text 34"/>
          <p:cNvSpPr txBox="1"/>
          <p:nvPr/>
        </p:nvSpPr>
        <p:spPr>
          <a:xfrm>
            <a:off x="8712403" y="3703320"/>
            <a:ext cx="2715768" cy="155448"/>
          </a:xfrm>
          <a:prstGeom prst="rect">
            <a:avLst/>
          </a:prstGeom>
          <a:noFill/>
          <a:ln/>
        </p:spPr>
        <p:txBody>
          <a:bodyPr wrap="square" lIns="0" tIns="0" rIns="0" bIns="0" rtlCol="0" anchor="ctr"/>
          <a:lstStyle/>
          <a:p>
            <a:pPr marL="0" indent="0">
              <a:buNone/>
            </a:pPr>
            <a:r>
              <a:rPr lang="en-US" sz="750" b="1" dirty="0">
                <a:solidFill>
                  <a:srgbClr val="BDB6F5"/>
                </a:solidFill>
                <a:latin typeface="Calibri" pitchFamily="34" charset="0"/>
                <a:ea typeface="Calibri" pitchFamily="34" charset="-122"/>
                <a:cs typeface="Calibri" pitchFamily="34" charset="-120"/>
              </a:rPr>
              <a:t>Rollback  </a:t>
            </a:r>
            <a:r>
              <a:rPr lang="en-US" sz="750" dirty="0">
                <a:solidFill>
                  <a:srgbClr val="C6CEE4"/>
                </a:solidFill>
                <a:latin typeface="Calibri" pitchFamily="34" charset="0"/>
                <a:ea typeface="Calibri" pitchFamily="34" charset="-122"/>
                <a:cs typeface="Calibri" pitchFamily="34" charset="-120"/>
              </a:rPr>
              <a:t>any model reverts in a single release</a:t>
            </a:r>
            <a:endParaRPr lang="en-US" sz="750" dirty="0"/>
          </a:p>
        </p:txBody>
      </p:sp>
      <p:sp>
        <p:nvSpPr>
          <p:cNvPr id="40" name="Shape 35"/>
          <p:cNvSpPr/>
          <p:nvPr/>
        </p:nvSpPr>
        <p:spPr>
          <a:xfrm>
            <a:off x="8593531" y="3909060"/>
            <a:ext cx="54864" cy="54864"/>
          </a:xfrm>
          <a:prstGeom prst="ellipse">
            <a:avLst/>
          </a:prstGeom>
          <a:solidFill>
            <a:srgbClr val="9085E9"/>
          </a:solidFill>
          <a:ln/>
        </p:spPr>
      </p:sp>
      <p:sp>
        <p:nvSpPr>
          <p:cNvPr id="41" name="Text 36"/>
          <p:cNvSpPr txBox="1"/>
          <p:nvPr/>
        </p:nvSpPr>
        <p:spPr>
          <a:xfrm>
            <a:off x="8712403" y="3858768"/>
            <a:ext cx="2715768" cy="155448"/>
          </a:xfrm>
          <a:prstGeom prst="rect">
            <a:avLst/>
          </a:prstGeom>
          <a:noFill/>
          <a:ln/>
        </p:spPr>
        <p:txBody>
          <a:bodyPr wrap="square" lIns="0" tIns="0" rIns="0" bIns="0" rtlCol="0" anchor="ctr"/>
          <a:lstStyle/>
          <a:p>
            <a:pPr marL="0" indent="0">
              <a:buNone/>
            </a:pPr>
            <a:r>
              <a:rPr lang="en-US" sz="750" b="1" dirty="0">
                <a:solidFill>
                  <a:srgbClr val="BDB6F5"/>
                </a:solidFill>
                <a:latin typeface="Calibri" pitchFamily="34" charset="0"/>
                <a:ea typeface="Calibri" pitchFamily="34" charset="-122"/>
                <a:cs typeface="Calibri" pitchFamily="34" charset="-120"/>
              </a:rPr>
              <a:t>Escalation  </a:t>
            </a:r>
            <a:r>
              <a:rPr lang="en-US" sz="750" dirty="0">
                <a:solidFill>
                  <a:srgbClr val="C6CEE4"/>
                </a:solidFill>
                <a:latin typeface="Calibri" pitchFamily="34" charset="0"/>
                <a:ea typeface="Calibri" pitchFamily="34" charset="-122"/>
                <a:cs typeface="Calibri" pitchFamily="34" charset="-120"/>
              </a:rPr>
              <a:t>Red hands to SIU with the pack already built</a:t>
            </a:r>
            <a:endParaRPr lang="en-US" sz="750" dirty="0"/>
          </a:p>
        </p:txBody>
      </p:sp>
      <p:sp>
        <p:nvSpPr>
          <p:cNvPr id="42" name="Shape 37"/>
          <p:cNvSpPr/>
          <p:nvPr/>
        </p:nvSpPr>
        <p:spPr>
          <a:xfrm>
            <a:off x="8575243" y="4023360"/>
            <a:ext cx="2852928" cy="219456"/>
          </a:xfrm>
          <a:prstGeom prst="roundRect">
            <a:avLst>
              <a:gd name="adj" fmla="val 25000"/>
            </a:avLst>
          </a:prstGeom>
          <a:solidFill>
            <a:srgbClr val="111C55">
              <a:alpha val="78000"/>
            </a:srgbClr>
          </a:solidFill>
          <a:ln w="9525">
            <a:solidFill>
              <a:srgbClr val="3A4A8C">
                <a:alpha val="70000"/>
              </a:srgbClr>
            </a:solidFill>
            <a:prstDash val="solid"/>
          </a:ln>
        </p:spPr>
      </p:sp>
      <p:sp>
        <p:nvSpPr>
          <p:cNvPr id="43" name="Text 38"/>
          <p:cNvSpPr txBox="1"/>
          <p:nvPr/>
        </p:nvSpPr>
        <p:spPr>
          <a:xfrm>
            <a:off x="8666683" y="4023360"/>
            <a:ext cx="2670048" cy="21945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GenAI never sees raw customer data — only the prepared dossier.</a:t>
            </a:r>
            <a:endParaRPr lang="en-US" sz="750" dirty="0"/>
          </a:p>
        </p:txBody>
      </p:sp>
      <p:sp>
        <p:nvSpPr>
          <p:cNvPr id="44" name="Shape 39"/>
          <p:cNvSpPr/>
          <p:nvPr/>
        </p:nvSpPr>
        <p:spPr>
          <a:xfrm>
            <a:off x="8428939" y="4480560"/>
            <a:ext cx="3145536" cy="1170432"/>
          </a:xfrm>
          <a:prstGeom prst="roundRect">
            <a:avLst>
              <a:gd name="adj" fmla="val 7031"/>
            </a:avLst>
          </a:prstGeom>
          <a:solidFill>
            <a:srgbClr val="111C55">
              <a:alpha val="74000"/>
            </a:srgbClr>
          </a:solidFill>
          <a:ln w="12700">
            <a:solidFill>
              <a:srgbClr val="70AD47">
                <a:alpha val="78000"/>
              </a:srgbClr>
            </a:solidFill>
            <a:prstDash val="solid"/>
          </a:ln>
        </p:spPr>
      </p:sp>
      <p:sp>
        <p:nvSpPr>
          <p:cNvPr id="45" name="Shape 40"/>
          <p:cNvSpPr/>
          <p:nvPr/>
        </p:nvSpPr>
        <p:spPr>
          <a:xfrm>
            <a:off x="8575243" y="4652833"/>
            <a:ext cx="45171" cy="45171"/>
          </a:xfrm>
          <a:prstGeom prst="ellipse">
            <a:avLst/>
          </a:prstGeom>
          <a:solidFill>
            <a:srgbClr val="70AD47"/>
          </a:solidFill>
          <a:ln/>
        </p:spPr>
      </p:sp>
      <p:sp>
        <p:nvSpPr>
          <p:cNvPr id="46" name="Shape 41"/>
          <p:cNvSpPr/>
          <p:nvPr/>
        </p:nvSpPr>
        <p:spPr>
          <a:xfrm flipV="1">
            <a:off x="8620415" y="4619823"/>
            <a:ext cx="52121" cy="55596"/>
          </a:xfrm>
          <a:prstGeom prst="line">
            <a:avLst/>
          </a:prstGeom>
          <a:noFill/>
          <a:ln w="12700">
            <a:solidFill>
              <a:srgbClr val="70AD47"/>
            </a:solidFill>
            <a:prstDash val="solid"/>
          </a:ln>
        </p:spPr>
      </p:sp>
      <p:sp>
        <p:nvSpPr>
          <p:cNvPr id="47" name="Shape 42"/>
          <p:cNvSpPr/>
          <p:nvPr/>
        </p:nvSpPr>
        <p:spPr>
          <a:xfrm>
            <a:off x="8620415" y="4675419"/>
            <a:ext cx="52121" cy="55596"/>
          </a:xfrm>
          <a:prstGeom prst="line">
            <a:avLst/>
          </a:prstGeom>
          <a:noFill/>
          <a:ln w="12700">
            <a:solidFill>
              <a:srgbClr val="70AD47"/>
            </a:solidFill>
            <a:prstDash val="solid"/>
          </a:ln>
        </p:spPr>
      </p:sp>
      <p:sp>
        <p:nvSpPr>
          <p:cNvPr id="48" name="Shape 43"/>
          <p:cNvSpPr/>
          <p:nvPr/>
        </p:nvSpPr>
        <p:spPr>
          <a:xfrm>
            <a:off x="8679485" y="4597237"/>
            <a:ext cx="38222" cy="38222"/>
          </a:xfrm>
          <a:prstGeom prst="ellipse">
            <a:avLst/>
          </a:prstGeom>
          <a:ln w="12700">
            <a:solidFill>
              <a:srgbClr val="70AD47"/>
            </a:solidFill>
            <a:prstDash val="solid"/>
          </a:ln>
        </p:spPr>
      </p:sp>
      <p:sp>
        <p:nvSpPr>
          <p:cNvPr id="49" name="Shape 44"/>
          <p:cNvSpPr/>
          <p:nvPr/>
        </p:nvSpPr>
        <p:spPr>
          <a:xfrm>
            <a:off x="8679485" y="4708428"/>
            <a:ext cx="38222" cy="38222"/>
          </a:xfrm>
          <a:prstGeom prst="ellipse">
            <a:avLst/>
          </a:prstGeom>
          <a:ln w="12700">
            <a:solidFill>
              <a:srgbClr val="70AD47"/>
            </a:solidFill>
            <a:prstDash val="solid"/>
          </a:ln>
        </p:spPr>
      </p:sp>
      <p:sp>
        <p:nvSpPr>
          <p:cNvPr id="50" name="Text 45"/>
          <p:cNvSpPr txBox="1"/>
          <p:nvPr/>
        </p:nvSpPr>
        <p:spPr>
          <a:xfrm>
            <a:off x="8822131" y="4553712"/>
            <a:ext cx="2606040" cy="237744"/>
          </a:xfrm>
          <a:prstGeom prst="rect">
            <a:avLst/>
          </a:prstGeom>
          <a:noFill/>
          <a:ln/>
        </p:spPr>
        <p:txBody>
          <a:bodyPr wrap="square" lIns="0" tIns="0" rIns="0" bIns="0" rtlCol="0" anchor="ctr"/>
          <a:lstStyle/>
          <a:p>
            <a:pPr marL="0" indent="0">
              <a:buNone/>
            </a:pPr>
            <a:r>
              <a:rPr lang="en-US" sz="900" b="1" kern="0" spc="110" dirty="0">
                <a:solidFill>
                  <a:srgbClr val="70AD47"/>
                </a:solidFill>
                <a:latin typeface="Calibri" pitchFamily="34" charset="0"/>
                <a:ea typeface="Calibri" pitchFamily="34" charset="-122"/>
                <a:cs typeface="Calibri" pitchFamily="34" charset="-120"/>
              </a:rPr>
              <a:t>WHAT THE SCORE DECIDES</a:t>
            </a:r>
            <a:r>
              <a:rPr lang="en-US" sz="900" dirty="0">
                <a:solidFill>
                  <a:srgbClr val="9AA4C6"/>
                </a:solidFill>
                <a:latin typeface="Calibri" pitchFamily="34" charset="0"/>
                <a:ea typeface="Calibri" pitchFamily="34" charset="-122"/>
                <a:cs typeface="Calibri" pitchFamily="34" charset="-120"/>
              </a:rPr>
              <a:t>   ·   the lane, and what that lane costs</a:t>
            </a:r>
            <a:endParaRPr lang="en-US" sz="900" dirty="0"/>
          </a:p>
        </p:txBody>
      </p:sp>
      <p:sp>
        <p:nvSpPr>
          <p:cNvPr id="51" name="Shape 46"/>
          <p:cNvSpPr/>
          <p:nvPr/>
        </p:nvSpPr>
        <p:spPr>
          <a:xfrm>
            <a:off x="8575243" y="4919472"/>
            <a:ext cx="841248" cy="219456"/>
          </a:xfrm>
          <a:prstGeom prst="roundRect">
            <a:avLst>
              <a:gd name="adj" fmla="val 50000"/>
            </a:avLst>
          </a:prstGeom>
          <a:solidFill>
            <a:srgbClr val="70AD47"/>
          </a:solidFill>
          <a:ln w="9525">
            <a:solidFill>
              <a:srgbClr val="70AD47"/>
            </a:solidFill>
            <a:prstDash val="solid"/>
          </a:ln>
        </p:spPr>
      </p:sp>
      <p:sp>
        <p:nvSpPr>
          <p:cNvPr id="52" name="Text 47"/>
          <p:cNvSpPr txBox="1"/>
          <p:nvPr/>
        </p:nvSpPr>
        <p:spPr>
          <a:xfrm>
            <a:off x="8575243" y="4919472"/>
            <a:ext cx="841248" cy="219456"/>
          </a:xfrm>
          <a:prstGeom prst="rect">
            <a:avLst/>
          </a:prstGeom>
          <a:noFill/>
          <a:ln/>
        </p:spPr>
        <p:txBody>
          <a:bodyPr wrap="square" lIns="0" tIns="0" rIns="0" bIns="0" rtlCol="0" anchor="ctr"/>
          <a:lstStyle/>
          <a:p>
            <a:pPr marL="0" indent="0" algn="ctr">
              <a:buNone/>
            </a:pPr>
            <a:r>
              <a:rPr lang="en-US" sz="800" b="1" kern="0" spc="60" dirty="0">
                <a:solidFill>
                  <a:srgbClr val="09122C"/>
                </a:solidFill>
                <a:latin typeface="Calibri" pitchFamily="34" charset="0"/>
                <a:ea typeface="Calibri" pitchFamily="34" charset="-122"/>
                <a:cs typeface="Calibri" pitchFamily="34" charset="-120"/>
              </a:rPr>
              <a:t>GREEN</a:t>
            </a:r>
            <a:endParaRPr lang="en-US" sz="800" dirty="0"/>
          </a:p>
        </p:txBody>
      </p:sp>
      <p:sp>
        <p:nvSpPr>
          <p:cNvPr id="53" name="Text 48"/>
          <p:cNvSpPr txBox="1"/>
          <p:nvPr/>
        </p:nvSpPr>
        <p:spPr>
          <a:xfrm>
            <a:off x="9526219" y="4882896"/>
            <a:ext cx="1901952" cy="292608"/>
          </a:xfrm>
          <a:prstGeom prst="rect">
            <a:avLst/>
          </a:prstGeom>
          <a:noFill/>
          <a:ln/>
        </p:spPr>
        <p:txBody>
          <a:bodyPr wrap="square" lIns="0" tIns="0" rIns="0" bIns="0" rtlCol="0" anchor="ctr"/>
          <a:lstStyle/>
          <a:p>
            <a:pPr marL="0" indent="0">
              <a:buNone/>
            </a:pPr>
            <a:r>
              <a:rPr lang="en-US" sz="900" b="1" dirty="0">
                <a:solidFill>
                  <a:srgbClr val="70AD47"/>
                </a:solidFill>
                <a:latin typeface="Calibri" pitchFamily="34" charset="0"/>
                <a:ea typeface="Calibri" pitchFamily="34" charset="-122"/>
                <a:cs typeface="Calibri" pitchFamily="34" charset="-120"/>
              </a:rPr>
              <a:t>₹0 API cost  ·  no model call</a:t>
            </a:r>
            <a:endParaRPr lang="en-US" sz="900" dirty="0"/>
          </a:p>
        </p:txBody>
      </p:sp>
      <p:sp>
        <p:nvSpPr>
          <p:cNvPr id="54" name="Shape 49"/>
          <p:cNvSpPr/>
          <p:nvPr/>
        </p:nvSpPr>
        <p:spPr>
          <a:xfrm>
            <a:off x="8575243" y="5126736"/>
            <a:ext cx="841248" cy="219456"/>
          </a:xfrm>
          <a:prstGeom prst="roundRect">
            <a:avLst>
              <a:gd name="adj" fmla="val 50000"/>
            </a:avLst>
          </a:prstGeom>
          <a:solidFill>
            <a:srgbClr val="E8B33A"/>
          </a:solidFill>
          <a:ln w="9525">
            <a:solidFill>
              <a:srgbClr val="E8B33A"/>
            </a:solidFill>
            <a:prstDash val="solid"/>
          </a:ln>
        </p:spPr>
      </p:sp>
      <p:sp>
        <p:nvSpPr>
          <p:cNvPr id="55" name="Text 50"/>
          <p:cNvSpPr txBox="1"/>
          <p:nvPr/>
        </p:nvSpPr>
        <p:spPr>
          <a:xfrm>
            <a:off x="8575243" y="5126736"/>
            <a:ext cx="841248" cy="219456"/>
          </a:xfrm>
          <a:prstGeom prst="rect">
            <a:avLst/>
          </a:prstGeom>
          <a:noFill/>
          <a:ln/>
        </p:spPr>
        <p:txBody>
          <a:bodyPr wrap="square" lIns="0" tIns="0" rIns="0" bIns="0" rtlCol="0" anchor="ctr"/>
          <a:lstStyle/>
          <a:p>
            <a:pPr marL="0" indent="0" algn="ctr">
              <a:buNone/>
            </a:pPr>
            <a:r>
              <a:rPr lang="en-US" sz="800" b="1" kern="0" spc="60" dirty="0">
                <a:solidFill>
                  <a:srgbClr val="09122C"/>
                </a:solidFill>
                <a:latin typeface="Calibri" pitchFamily="34" charset="0"/>
                <a:ea typeface="Calibri" pitchFamily="34" charset="-122"/>
                <a:cs typeface="Calibri" pitchFamily="34" charset="-120"/>
              </a:rPr>
              <a:t>AMBER</a:t>
            </a:r>
            <a:endParaRPr lang="en-US" sz="800" dirty="0"/>
          </a:p>
        </p:txBody>
      </p:sp>
      <p:sp>
        <p:nvSpPr>
          <p:cNvPr id="56" name="Text 51"/>
          <p:cNvSpPr txBox="1"/>
          <p:nvPr/>
        </p:nvSpPr>
        <p:spPr>
          <a:xfrm>
            <a:off x="9526219" y="5090160"/>
            <a:ext cx="1901952" cy="292608"/>
          </a:xfrm>
          <a:prstGeom prst="rect">
            <a:avLst/>
          </a:prstGeom>
          <a:noFill/>
          <a:ln/>
        </p:spPr>
        <p:txBody>
          <a:bodyPr wrap="square" lIns="0" tIns="0" rIns="0" bIns="0" rtlCol="0" anchor="ctr"/>
          <a:lstStyle/>
          <a:p>
            <a:pPr marL="0" indent="0">
              <a:buNone/>
            </a:pPr>
            <a:r>
              <a:rPr lang="en-US" sz="900" b="1" dirty="0">
                <a:solidFill>
                  <a:srgbClr val="E8B33A"/>
                </a:solidFill>
                <a:latin typeface="Calibri" pitchFamily="34" charset="0"/>
                <a:ea typeface="Calibri" pitchFamily="34" charset="-122"/>
                <a:cs typeface="Calibri" pitchFamily="34" charset="-120"/>
              </a:rPr>
              <a:t>API included  ·  dossier pre-built</a:t>
            </a:r>
            <a:endParaRPr lang="en-US" sz="900" dirty="0"/>
          </a:p>
        </p:txBody>
      </p:sp>
      <p:sp>
        <p:nvSpPr>
          <p:cNvPr id="57" name="Shape 52"/>
          <p:cNvSpPr/>
          <p:nvPr/>
        </p:nvSpPr>
        <p:spPr>
          <a:xfrm>
            <a:off x="8575243" y="5334000"/>
            <a:ext cx="841248" cy="219456"/>
          </a:xfrm>
          <a:prstGeom prst="roundRect">
            <a:avLst>
              <a:gd name="adj" fmla="val 50000"/>
            </a:avLst>
          </a:prstGeom>
          <a:solidFill>
            <a:srgbClr val="E06666"/>
          </a:solidFill>
          <a:ln w="9525">
            <a:solidFill>
              <a:srgbClr val="E06666"/>
            </a:solidFill>
            <a:prstDash val="solid"/>
          </a:ln>
        </p:spPr>
      </p:sp>
      <p:sp>
        <p:nvSpPr>
          <p:cNvPr id="58" name="Text 53"/>
          <p:cNvSpPr txBox="1"/>
          <p:nvPr/>
        </p:nvSpPr>
        <p:spPr>
          <a:xfrm>
            <a:off x="8575243" y="5334000"/>
            <a:ext cx="841248" cy="219456"/>
          </a:xfrm>
          <a:prstGeom prst="rect">
            <a:avLst/>
          </a:prstGeom>
          <a:noFill/>
          <a:ln/>
        </p:spPr>
        <p:txBody>
          <a:bodyPr wrap="square" lIns="0" tIns="0" rIns="0" bIns="0" rtlCol="0" anchor="ctr"/>
          <a:lstStyle/>
          <a:p>
            <a:pPr marL="0" indent="0" algn="ctr">
              <a:buNone/>
            </a:pPr>
            <a:r>
              <a:rPr lang="en-US" sz="800" b="1" kern="0" spc="60" dirty="0">
                <a:solidFill>
                  <a:srgbClr val="09122C"/>
                </a:solidFill>
                <a:latin typeface="Calibri" pitchFamily="34" charset="0"/>
                <a:ea typeface="Calibri" pitchFamily="34" charset="-122"/>
                <a:cs typeface="Calibri" pitchFamily="34" charset="-120"/>
              </a:rPr>
              <a:t>RED</a:t>
            </a:r>
            <a:endParaRPr lang="en-US" sz="800" dirty="0"/>
          </a:p>
        </p:txBody>
      </p:sp>
      <p:sp>
        <p:nvSpPr>
          <p:cNvPr id="59" name="Text 54"/>
          <p:cNvSpPr txBox="1"/>
          <p:nvPr/>
        </p:nvSpPr>
        <p:spPr>
          <a:xfrm>
            <a:off x="9526219" y="5297424"/>
            <a:ext cx="1901952" cy="292608"/>
          </a:xfrm>
          <a:prstGeom prst="rect">
            <a:avLst/>
          </a:prstGeom>
          <a:noFill/>
          <a:ln/>
        </p:spPr>
        <p:txBody>
          <a:bodyPr wrap="square" lIns="0" tIns="0" rIns="0" bIns="0" rtlCol="0" anchor="ctr"/>
          <a:lstStyle/>
          <a:p>
            <a:pPr marL="0" indent="0">
              <a:buNone/>
            </a:pPr>
            <a:r>
              <a:rPr lang="en-US" sz="900" b="1" dirty="0">
                <a:solidFill>
                  <a:srgbClr val="E06666"/>
                </a:solidFill>
                <a:latin typeface="Calibri" pitchFamily="34" charset="0"/>
                <a:ea typeface="Calibri" pitchFamily="34" charset="-122"/>
                <a:cs typeface="Calibri" pitchFamily="34" charset="-120"/>
              </a:rPr>
              <a:t>Deep forensics  ·  SIU pack attached</a:t>
            </a:r>
            <a:endParaRPr lang="en-US" sz="900" dirty="0"/>
          </a:p>
        </p:txBody>
      </p:sp>
      <p:sp>
        <p:nvSpPr>
          <p:cNvPr id="60" name="Shape 55"/>
          <p:cNvSpPr/>
          <p:nvPr/>
        </p:nvSpPr>
        <p:spPr>
          <a:xfrm>
            <a:off x="638251" y="5724144"/>
            <a:ext cx="10936224" cy="347472"/>
          </a:xfrm>
          <a:prstGeom prst="roundRect">
            <a:avLst>
              <a:gd name="adj" fmla="val 21053"/>
            </a:avLst>
          </a:prstGeom>
          <a:solidFill>
            <a:srgbClr val="0A1550">
              <a:alpha val="86000"/>
            </a:srgbClr>
          </a:solidFill>
          <a:ln w="9525">
            <a:solidFill>
              <a:srgbClr val="70AD47">
                <a:alpha val="55000"/>
              </a:srgbClr>
            </a:solidFill>
            <a:prstDash val="solid"/>
          </a:ln>
        </p:spPr>
      </p:sp>
      <p:sp>
        <p:nvSpPr>
          <p:cNvPr id="61" name="Shape 56"/>
          <p:cNvSpPr/>
          <p:nvPr/>
        </p:nvSpPr>
        <p:spPr>
          <a:xfrm>
            <a:off x="747979" y="5797296"/>
            <a:ext cx="41148" cy="201168"/>
          </a:xfrm>
          <a:prstGeom prst="roundRect">
            <a:avLst>
              <a:gd name="adj" fmla="val 48889"/>
            </a:avLst>
          </a:prstGeom>
          <a:solidFill>
            <a:srgbClr val="70AD47"/>
          </a:solidFill>
          <a:ln/>
        </p:spPr>
      </p:sp>
      <p:sp>
        <p:nvSpPr>
          <p:cNvPr id="62" name="Text 57"/>
          <p:cNvSpPr txBox="1"/>
          <p:nvPr/>
        </p:nvSpPr>
        <p:spPr>
          <a:xfrm>
            <a:off x="894283" y="5724144"/>
            <a:ext cx="10533888" cy="347472"/>
          </a:xfrm>
          <a:prstGeom prst="rect">
            <a:avLst/>
          </a:prstGeom>
          <a:noFill/>
          <a:ln/>
        </p:spPr>
        <p:txBody>
          <a:bodyPr wrap="square" lIns="0" tIns="0" rIns="0" bIns="0" rtlCol="0" anchor="ctr"/>
          <a:lstStyle/>
          <a:p>
            <a:pPr marL="0" indent="0">
              <a:lnSpc>
                <a:spcPts val="1150"/>
              </a:lnSpc>
              <a:buNone/>
            </a:pPr>
            <a:r>
              <a:rPr lang="en-US" sz="950" b="1" kern="0" spc="100" dirty="0">
                <a:solidFill>
                  <a:srgbClr val="70AD47"/>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One number, taken once, at intake — and every downstream decision inherits it rather than re-deriving it.</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000" fill="hold"/>
                                        <p:tgtEl>
                                          <p:spTgt spid="6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3"/>
                </p:tgtEl>
              </p:cMediaNode>
            </p:video>
            <p:seq concurrent="1" nextAc="seek">
              <p:cTn id="8" restart="whenNotActive" fill="hold" evtFilter="cancelBubble" nodeType="interactiveSeq">
                <p:stCondLst>
                  <p:cond evt="onClick" delay="0">
                    <p:tgtEl>
                      <p:spTgt spid="6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3"/>
                                        </p:tgtEl>
                                      </p:cBhvr>
                                    </p:cmd>
                                  </p:childTnLst>
                                </p:cTn>
                              </p:par>
                            </p:childTnLst>
                          </p:cTn>
                        </p:par>
                      </p:childTnLst>
                    </p:cTn>
                  </p:par>
                </p:childTnLst>
              </p:cTn>
              <p:nextCondLst>
                <p:cond evt="onClick" delay="0">
                  <p:tgtEl>
                    <p:spTgt spid="6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SOLUTION   05 / 05</a:t>
            </a:r>
            <a:endParaRPr lang="en-US" sz="1000" dirty="0"/>
          </a:p>
        </p:txBody>
      </p:sp>
      <p:pic>
        <p:nvPicPr>
          <p:cNvPr id="4" name="Image 0" descr="media/image4.png"/>
          <p:cNvPicPr>
            <a:picLocks noChangeAspect="1"/>
          </p:cNvPicPr>
          <p:nvPr/>
        </p:nvPicPr>
        <p:blipFill>
          <a:blip r:embed="rId6"/>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7"/>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Inference is priced per token and the rate card moves, so the case is built to hold across the whole plausible range.</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Solution Proposed</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Every rate taken from the vendor’s own published pricing page, retrieved 12 Aug 2026; batch (−50%) and cached-input (−90%) discounts withheld from the buy case. Investor Dashboard R6 — Sheet 12.</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Text 11"/>
          <p:cNvSpPr txBox="1"/>
          <p:nvPr/>
        </p:nvSpPr>
        <p:spPr>
          <a:xfrm>
            <a:off x="656539" y="1609344"/>
            <a:ext cx="7004304" cy="274320"/>
          </a:xfrm>
          <a:prstGeom prst="rect">
            <a:avLst/>
          </a:prstGeom>
          <a:noFill/>
          <a:ln/>
        </p:spPr>
        <p:txBody>
          <a:bodyPr wrap="square" lIns="0" tIns="0" rIns="0" bIns="0" rtlCol="0" anchor="ctr"/>
          <a:lstStyle/>
          <a:p>
            <a:pPr marL="0" indent="0">
              <a:buNone/>
            </a:pPr>
            <a:r>
              <a:rPr lang="en-US" sz="950" b="1" kern="0" spc="110" dirty="0">
                <a:solidFill>
                  <a:srgbClr val="9CC3E8"/>
                </a:solidFill>
                <a:latin typeface="Calibri" pitchFamily="34" charset="0"/>
                <a:ea typeface="Calibri" pitchFamily="34" charset="-122"/>
                <a:cs typeface="Calibri" pitchFamily="34" charset="-120"/>
              </a:rPr>
              <a:t>WHAT A CLAIM ACTUALLY COSTS IN TOKENS, LOW TO HIGH</a:t>
            </a:r>
            <a:endParaRPr lang="en-US" sz="950" dirty="0"/>
          </a:p>
        </p:txBody>
      </p:sp>
      <p:sp>
        <p:nvSpPr>
          <p:cNvPr id="16" name="Shape 12"/>
          <p:cNvSpPr/>
          <p:nvPr/>
        </p:nvSpPr>
        <p:spPr>
          <a:xfrm>
            <a:off x="638251" y="1920240"/>
            <a:ext cx="7040880" cy="3730752"/>
          </a:xfrm>
          <a:prstGeom prst="roundRect">
            <a:avLst>
              <a:gd name="adj" fmla="val 2696"/>
            </a:avLst>
          </a:prstGeom>
          <a:solidFill>
            <a:srgbClr val="09122C"/>
          </a:solidFill>
          <a:ln w="9525">
            <a:solidFill>
              <a:srgbClr val="9CC3E8">
                <a:alpha val="45000"/>
              </a:srgbClr>
            </a:solidFill>
            <a:prstDash val="solid"/>
          </a:ln>
        </p:spPr>
      </p:sp>
      <p:pic>
        <p:nvPicPr>
          <p:cNvPr id="55"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881482" y="1993392"/>
            <a:ext cx="6554419" cy="3584448"/>
          </a:xfrm>
          <a:prstGeom prst="rect">
            <a:avLst/>
          </a:prstGeom>
        </p:spPr>
      </p:pic>
      <p:sp>
        <p:nvSpPr>
          <p:cNvPr id="18" name="Shape 13"/>
          <p:cNvSpPr/>
          <p:nvPr/>
        </p:nvSpPr>
        <p:spPr>
          <a:xfrm>
            <a:off x="7880299" y="1609344"/>
            <a:ext cx="3694176" cy="1389888"/>
          </a:xfrm>
          <a:prstGeom prst="roundRect">
            <a:avLst>
              <a:gd name="adj" fmla="val 5921"/>
            </a:avLst>
          </a:prstGeom>
          <a:solidFill>
            <a:srgbClr val="111C55">
              <a:alpha val="78000"/>
            </a:srgbClr>
          </a:solidFill>
          <a:ln w="12700">
            <a:solidFill>
              <a:srgbClr val="70AD47">
                <a:alpha val="78000"/>
              </a:srgbClr>
            </a:solidFill>
            <a:prstDash val="solid"/>
          </a:ln>
        </p:spPr>
      </p:sp>
      <p:sp>
        <p:nvSpPr>
          <p:cNvPr id="19" name="Shape 14"/>
          <p:cNvSpPr/>
          <p:nvPr/>
        </p:nvSpPr>
        <p:spPr>
          <a:xfrm>
            <a:off x="8026603" y="1719072"/>
            <a:ext cx="201168" cy="201168"/>
          </a:xfrm>
          <a:prstGeom prst="roundRect">
            <a:avLst>
              <a:gd name="adj" fmla="val 22000"/>
            </a:avLst>
          </a:prstGeom>
          <a:ln w="13970">
            <a:solidFill>
              <a:srgbClr val="70AD47"/>
            </a:solidFill>
            <a:prstDash val="solid"/>
          </a:ln>
        </p:spPr>
      </p:sp>
      <p:sp>
        <p:nvSpPr>
          <p:cNvPr id="20" name="Text 15"/>
          <p:cNvSpPr txBox="1"/>
          <p:nvPr/>
        </p:nvSpPr>
        <p:spPr>
          <a:xfrm>
            <a:off x="8026603" y="1719072"/>
            <a:ext cx="201168" cy="201168"/>
          </a:xfrm>
          <a:prstGeom prst="rect">
            <a:avLst/>
          </a:prstGeom>
          <a:noFill/>
          <a:ln/>
        </p:spPr>
        <p:txBody>
          <a:bodyPr wrap="square" lIns="0" tIns="0" rIns="0" bIns="0" rtlCol="0" anchor="ctr"/>
          <a:lstStyle/>
          <a:p>
            <a:pPr marL="0" indent="0" algn="ctr">
              <a:buNone/>
            </a:pPr>
            <a:r>
              <a:rPr lang="en-US" sz="1364" b="1" dirty="0">
                <a:solidFill>
                  <a:srgbClr val="70AD47"/>
                </a:solidFill>
                <a:latin typeface="Calibri" pitchFamily="34" charset="0"/>
                <a:ea typeface="Calibri" pitchFamily="34" charset="-122"/>
                <a:cs typeface="Calibri" pitchFamily="34" charset="-120"/>
              </a:rPr>
              <a:t>₹</a:t>
            </a:r>
            <a:endParaRPr lang="en-US" sz="1364" dirty="0"/>
          </a:p>
        </p:txBody>
      </p:sp>
      <p:sp>
        <p:nvSpPr>
          <p:cNvPr id="21" name="Text 16"/>
          <p:cNvSpPr txBox="1"/>
          <p:nvPr/>
        </p:nvSpPr>
        <p:spPr>
          <a:xfrm>
            <a:off x="8319211" y="1682496"/>
            <a:ext cx="3108960" cy="237744"/>
          </a:xfrm>
          <a:prstGeom prst="rect">
            <a:avLst/>
          </a:prstGeom>
          <a:noFill/>
          <a:ln/>
        </p:spPr>
        <p:txBody>
          <a:bodyPr wrap="square" lIns="0" tIns="0" rIns="0" bIns="0" rtlCol="0" anchor="ctr"/>
          <a:lstStyle/>
          <a:p>
            <a:pPr marL="0" indent="0">
              <a:buNone/>
            </a:pPr>
            <a:r>
              <a:rPr lang="en-US" sz="850" b="1" kern="0" spc="100" dirty="0">
                <a:solidFill>
                  <a:srgbClr val="70AD47"/>
                </a:solidFill>
                <a:latin typeface="Calibri" pitchFamily="34" charset="0"/>
                <a:ea typeface="Calibri" pitchFamily="34" charset="-122"/>
                <a:cs typeface="Calibri" pitchFamily="34" charset="-120"/>
              </a:rPr>
              <a:t>COST PER CLAIM, MEDIUM CASE</a:t>
            </a:r>
            <a:endParaRPr lang="en-US" sz="850" dirty="0"/>
          </a:p>
        </p:txBody>
      </p:sp>
      <p:sp>
        <p:nvSpPr>
          <p:cNvPr id="22" name="Text 17"/>
          <p:cNvSpPr txBox="1"/>
          <p:nvPr/>
        </p:nvSpPr>
        <p:spPr>
          <a:xfrm>
            <a:off x="8026603" y="1938528"/>
            <a:ext cx="3401568" cy="660400"/>
          </a:xfrm>
          <a:prstGeom prst="rect">
            <a:avLst/>
          </a:prstGeom>
          <a:noFill/>
          <a:ln/>
        </p:spPr>
        <p:txBody>
          <a:bodyPr wrap="square" lIns="0" tIns="0" rIns="0" bIns="0" rtlCol="0" anchor="ctr"/>
          <a:lstStyle/>
          <a:p>
            <a:pPr marL="0" indent="0">
              <a:buNone/>
            </a:pPr>
            <a:r>
              <a:rPr lang="en-US" sz="4000" b="1" dirty="0">
                <a:solidFill>
                  <a:srgbClr val="9AD672"/>
                </a:solidFill>
                <a:latin typeface="Calibri" pitchFamily="34" charset="0"/>
                <a:ea typeface="Calibri" pitchFamily="34" charset="-122"/>
                <a:cs typeface="Calibri" pitchFamily="34" charset="-120"/>
              </a:rPr>
              <a:t>₹0.76</a:t>
            </a:r>
            <a:endParaRPr lang="en-US" sz="4000" dirty="0"/>
          </a:p>
        </p:txBody>
      </p:sp>
      <p:sp>
        <p:nvSpPr>
          <p:cNvPr id="23" name="Text 18"/>
          <p:cNvSpPr txBox="1"/>
          <p:nvPr/>
        </p:nvSpPr>
        <p:spPr>
          <a:xfrm>
            <a:off x="8026603" y="2617216"/>
            <a:ext cx="3401568" cy="382016"/>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economy tier with batching  ·  ₹5.56 at mid-tier list price</a:t>
            </a:r>
            <a:endParaRPr lang="en-US" sz="800" dirty="0"/>
          </a:p>
        </p:txBody>
      </p:sp>
      <p:sp>
        <p:nvSpPr>
          <p:cNvPr id="24" name="Shape 19"/>
          <p:cNvSpPr/>
          <p:nvPr/>
        </p:nvSpPr>
        <p:spPr>
          <a:xfrm>
            <a:off x="7880299" y="3127248"/>
            <a:ext cx="3694176" cy="1225296"/>
          </a:xfrm>
          <a:prstGeom prst="roundRect">
            <a:avLst>
              <a:gd name="adj" fmla="val 6716"/>
            </a:avLst>
          </a:prstGeom>
          <a:solidFill>
            <a:srgbClr val="111C55">
              <a:alpha val="78000"/>
            </a:srgbClr>
          </a:solidFill>
          <a:ln w="12700">
            <a:solidFill>
              <a:srgbClr val="E8B33A">
                <a:alpha val="78000"/>
              </a:srgbClr>
            </a:solidFill>
            <a:prstDash val="solid"/>
          </a:ln>
        </p:spPr>
      </p:sp>
      <p:sp>
        <p:nvSpPr>
          <p:cNvPr id="25" name="Shape 20"/>
          <p:cNvSpPr/>
          <p:nvPr/>
        </p:nvSpPr>
        <p:spPr>
          <a:xfrm>
            <a:off x="8058790" y="3236976"/>
            <a:ext cx="136794" cy="201168"/>
          </a:xfrm>
          <a:prstGeom prst="lightningBolt">
            <a:avLst/>
          </a:prstGeom>
          <a:ln w="13970">
            <a:solidFill>
              <a:srgbClr val="E8B33A"/>
            </a:solidFill>
            <a:prstDash val="solid"/>
          </a:ln>
        </p:spPr>
      </p:sp>
      <p:sp>
        <p:nvSpPr>
          <p:cNvPr id="26" name="Text 21"/>
          <p:cNvSpPr txBox="1"/>
          <p:nvPr/>
        </p:nvSpPr>
        <p:spPr>
          <a:xfrm>
            <a:off x="8319211" y="3200400"/>
            <a:ext cx="3108960" cy="237744"/>
          </a:xfrm>
          <a:prstGeom prst="rect">
            <a:avLst/>
          </a:prstGeom>
          <a:noFill/>
          <a:ln/>
        </p:spPr>
        <p:txBody>
          <a:bodyPr wrap="square" lIns="0" tIns="0" rIns="0" bIns="0" rtlCol="0" anchor="ctr"/>
          <a:lstStyle/>
          <a:p>
            <a:pPr marL="0" indent="0">
              <a:buNone/>
            </a:pPr>
            <a:r>
              <a:rPr lang="en-US" sz="850" b="1" kern="0" spc="100" dirty="0">
                <a:solidFill>
                  <a:srgbClr val="E8B33A"/>
                </a:solidFill>
                <a:latin typeface="Calibri" pitchFamily="34" charset="0"/>
                <a:ea typeface="Calibri" pitchFamily="34" charset="-122"/>
                <a:cs typeface="Calibri" pitchFamily="34" charset="-120"/>
              </a:rPr>
              <a:t>LOW TO HIGH SWING</a:t>
            </a:r>
            <a:endParaRPr lang="en-US" sz="850" dirty="0"/>
          </a:p>
        </p:txBody>
      </p:sp>
      <p:sp>
        <p:nvSpPr>
          <p:cNvPr id="27" name="Text 22"/>
          <p:cNvSpPr txBox="1"/>
          <p:nvPr/>
        </p:nvSpPr>
        <p:spPr>
          <a:xfrm>
            <a:off x="8026603" y="3456432"/>
            <a:ext cx="3401568" cy="561340"/>
          </a:xfrm>
          <a:prstGeom prst="rect">
            <a:avLst/>
          </a:prstGeom>
          <a:noFill/>
          <a:ln/>
        </p:spPr>
        <p:txBody>
          <a:bodyPr wrap="square" lIns="0" tIns="0" rIns="0" bIns="0" rtlCol="0" anchor="ctr"/>
          <a:lstStyle/>
          <a:p>
            <a:pPr marL="0" indent="0">
              <a:buNone/>
            </a:pPr>
            <a:r>
              <a:rPr lang="en-US" sz="3400" b="1" dirty="0">
                <a:solidFill>
                  <a:srgbClr val="F5D076"/>
                </a:solidFill>
                <a:latin typeface="Calibri" pitchFamily="34" charset="0"/>
                <a:ea typeface="Calibri" pitchFamily="34" charset="-122"/>
                <a:cs typeface="Calibri" pitchFamily="34" charset="-120"/>
              </a:rPr>
              <a:t>18×</a:t>
            </a:r>
            <a:endParaRPr lang="en-US" sz="3400" dirty="0"/>
          </a:p>
        </p:txBody>
      </p:sp>
      <p:sp>
        <p:nvSpPr>
          <p:cNvPr id="28" name="Text 23"/>
          <p:cNvSpPr txBox="1"/>
          <p:nvPr/>
        </p:nvSpPr>
        <p:spPr>
          <a:xfrm>
            <a:off x="8026603" y="4036060"/>
            <a:ext cx="3401568" cy="31648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and payback moves 0.02 months across all of it</a:t>
            </a:r>
            <a:endParaRPr lang="en-US" sz="800" dirty="0"/>
          </a:p>
        </p:txBody>
      </p:sp>
      <p:sp>
        <p:nvSpPr>
          <p:cNvPr id="29" name="Shape 24"/>
          <p:cNvSpPr/>
          <p:nvPr/>
        </p:nvSpPr>
        <p:spPr>
          <a:xfrm>
            <a:off x="7880299" y="4480560"/>
            <a:ext cx="3694176" cy="1170432"/>
          </a:xfrm>
          <a:prstGeom prst="roundRect">
            <a:avLst>
              <a:gd name="adj" fmla="val 7031"/>
            </a:avLst>
          </a:prstGeom>
          <a:solidFill>
            <a:srgbClr val="111C55">
              <a:alpha val="74000"/>
            </a:srgbClr>
          </a:solidFill>
          <a:ln w="9525">
            <a:solidFill>
              <a:srgbClr val="3A4A8C">
                <a:alpha val="70000"/>
              </a:srgbClr>
            </a:solidFill>
            <a:prstDash val="solid"/>
          </a:ln>
        </p:spPr>
      </p:sp>
      <p:sp>
        <p:nvSpPr>
          <p:cNvPr id="30" name="Shape 25"/>
          <p:cNvSpPr/>
          <p:nvPr/>
        </p:nvSpPr>
        <p:spPr>
          <a:xfrm>
            <a:off x="8057876" y="4621560"/>
            <a:ext cx="111191" cy="111191"/>
          </a:xfrm>
          <a:prstGeom prst="roundRect">
            <a:avLst>
              <a:gd name="adj" fmla="val 15625"/>
            </a:avLst>
          </a:prstGeom>
          <a:ln w="13970">
            <a:solidFill>
              <a:srgbClr val="9CC3E8"/>
            </a:solidFill>
            <a:prstDash val="solid"/>
          </a:ln>
        </p:spPr>
      </p:sp>
      <p:sp>
        <p:nvSpPr>
          <p:cNvPr id="31" name="Shape 26"/>
          <p:cNvSpPr/>
          <p:nvPr/>
        </p:nvSpPr>
        <p:spPr>
          <a:xfrm>
            <a:off x="8078724" y="4593763"/>
            <a:ext cx="0" cy="27798"/>
          </a:xfrm>
          <a:prstGeom prst="line">
            <a:avLst/>
          </a:prstGeom>
          <a:noFill/>
          <a:ln w="9525">
            <a:solidFill>
              <a:srgbClr val="9CC3E8"/>
            </a:solidFill>
            <a:prstDash val="solid"/>
          </a:ln>
        </p:spPr>
      </p:sp>
      <p:sp>
        <p:nvSpPr>
          <p:cNvPr id="32" name="Shape 27"/>
          <p:cNvSpPr/>
          <p:nvPr/>
        </p:nvSpPr>
        <p:spPr>
          <a:xfrm>
            <a:off x="8078724" y="4732752"/>
            <a:ext cx="0" cy="27798"/>
          </a:xfrm>
          <a:prstGeom prst="line">
            <a:avLst/>
          </a:prstGeom>
          <a:noFill/>
          <a:ln w="9525">
            <a:solidFill>
              <a:srgbClr val="9CC3E8"/>
            </a:solidFill>
            <a:prstDash val="solid"/>
          </a:ln>
        </p:spPr>
      </p:sp>
      <p:sp>
        <p:nvSpPr>
          <p:cNvPr id="33" name="Shape 28"/>
          <p:cNvSpPr/>
          <p:nvPr/>
        </p:nvSpPr>
        <p:spPr>
          <a:xfrm>
            <a:off x="8030078" y="4642409"/>
            <a:ext cx="27798" cy="0"/>
          </a:xfrm>
          <a:prstGeom prst="line">
            <a:avLst/>
          </a:prstGeom>
          <a:noFill/>
          <a:ln w="9525">
            <a:solidFill>
              <a:srgbClr val="9CC3E8"/>
            </a:solidFill>
            <a:prstDash val="solid"/>
          </a:ln>
        </p:spPr>
      </p:sp>
      <p:sp>
        <p:nvSpPr>
          <p:cNvPr id="34" name="Shape 29"/>
          <p:cNvSpPr/>
          <p:nvPr/>
        </p:nvSpPr>
        <p:spPr>
          <a:xfrm>
            <a:off x="8169067" y="4642409"/>
            <a:ext cx="27798" cy="0"/>
          </a:xfrm>
          <a:prstGeom prst="line">
            <a:avLst/>
          </a:prstGeom>
          <a:noFill/>
          <a:ln w="9525">
            <a:solidFill>
              <a:srgbClr val="9CC3E8"/>
            </a:solidFill>
            <a:prstDash val="solid"/>
          </a:ln>
        </p:spPr>
      </p:sp>
      <p:sp>
        <p:nvSpPr>
          <p:cNvPr id="35" name="Shape 30"/>
          <p:cNvSpPr/>
          <p:nvPr/>
        </p:nvSpPr>
        <p:spPr>
          <a:xfrm>
            <a:off x="8113471" y="4593763"/>
            <a:ext cx="0" cy="27798"/>
          </a:xfrm>
          <a:prstGeom prst="line">
            <a:avLst/>
          </a:prstGeom>
          <a:noFill/>
          <a:ln w="9525">
            <a:solidFill>
              <a:srgbClr val="9CC3E8"/>
            </a:solidFill>
            <a:prstDash val="solid"/>
          </a:ln>
        </p:spPr>
      </p:sp>
      <p:sp>
        <p:nvSpPr>
          <p:cNvPr id="36" name="Shape 31"/>
          <p:cNvSpPr/>
          <p:nvPr/>
        </p:nvSpPr>
        <p:spPr>
          <a:xfrm>
            <a:off x="8113471" y="4732752"/>
            <a:ext cx="0" cy="27798"/>
          </a:xfrm>
          <a:prstGeom prst="line">
            <a:avLst/>
          </a:prstGeom>
          <a:noFill/>
          <a:ln w="9525">
            <a:solidFill>
              <a:srgbClr val="9CC3E8"/>
            </a:solidFill>
            <a:prstDash val="solid"/>
          </a:ln>
        </p:spPr>
      </p:sp>
      <p:sp>
        <p:nvSpPr>
          <p:cNvPr id="37" name="Shape 32"/>
          <p:cNvSpPr/>
          <p:nvPr/>
        </p:nvSpPr>
        <p:spPr>
          <a:xfrm>
            <a:off x="8030078" y="4677156"/>
            <a:ext cx="27798" cy="0"/>
          </a:xfrm>
          <a:prstGeom prst="line">
            <a:avLst/>
          </a:prstGeom>
          <a:noFill/>
          <a:ln w="9525">
            <a:solidFill>
              <a:srgbClr val="9CC3E8"/>
            </a:solidFill>
            <a:prstDash val="solid"/>
          </a:ln>
        </p:spPr>
      </p:sp>
      <p:sp>
        <p:nvSpPr>
          <p:cNvPr id="38" name="Shape 33"/>
          <p:cNvSpPr/>
          <p:nvPr/>
        </p:nvSpPr>
        <p:spPr>
          <a:xfrm>
            <a:off x="8169067" y="4677156"/>
            <a:ext cx="27798" cy="0"/>
          </a:xfrm>
          <a:prstGeom prst="line">
            <a:avLst/>
          </a:prstGeom>
          <a:noFill/>
          <a:ln w="9525">
            <a:solidFill>
              <a:srgbClr val="9CC3E8"/>
            </a:solidFill>
            <a:prstDash val="solid"/>
          </a:ln>
        </p:spPr>
      </p:sp>
      <p:sp>
        <p:nvSpPr>
          <p:cNvPr id="39" name="Shape 34"/>
          <p:cNvSpPr/>
          <p:nvPr/>
        </p:nvSpPr>
        <p:spPr>
          <a:xfrm>
            <a:off x="8148218" y="4593763"/>
            <a:ext cx="0" cy="27798"/>
          </a:xfrm>
          <a:prstGeom prst="line">
            <a:avLst/>
          </a:prstGeom>
          <a:noFill/>
          <a:ln w="9525">
            <a:solidFill>
              <a:srgbClr val="9CC3E8"/>
            </a:solidFill>
            <a:prstDash val="solid"/>
          </a:ln>
        </p:spPr>
      </p:sp>
      <p:sp>
        <p:nvSpPr>
          <p:cNvPr id="40" name="Shape 35"/>
          <p:cNvSpPr/>
          <p:nvPr/>
        </p:nvSpPr>
        <p:spPr>
          <a:xfrm>
            <a:off x="8148218" y="4732752"/>
            <a:ext cx="0" cy="27798"/>
          </a:xfrm>
          <a:prstGeom prst="line">
            <a:avLst/>
          </a:prstGeom>
          <a:noFill/>
          <a:ln w="9525">
            <a:solidFill>
              <a:srgbClr val="9CC3E8"/>
            </a:solidFill>
            <a:prstDash val="solid"/>
          </a:ln>
        </p:spPr>
      </p:sp>
      <p:sp>
        <p:nvSpPr>
          <p:cNvPr id="41" name="Shape 36"/>
          <p:cNvSpPr/>
          <p:nvPr/>
        </p:nvSpPr>
        <p:spPr>
          <a:xfrm>
            <a:off x="8030078" y="4711903"/>
            <a:ext cx="27798" cy="0"/>
          </a:xfrm>
          <a:prstGeom prst="line">
            <a:avLst/>
          </a:prstGeom>
          <a:noFill/>
          <a:ln w="9525">
            <a:solidFill>
              <a:srgbClr val="9CC3E8"/>
            </a:solidFill>
            <a:prstDash val="solid"/>
          </a:ln>
        </p:spPr>
      </p:sp>
      <p:sp>
        <p:nvSpPr>
          <p:cNvPr id="42" name="Shape 37"/>
          <p:cNvSpPr/>
          <p:nvPr/>
        </p:nvSpPr>
        <p:spPr>
          <a:xfrm>
            <a:off x="8169067" y="4711903"/>
            <a:ext cx="27798" cy="0"/>
          </a:xfrm>
          <a:prstGeom prst="line">
            <a:avLst/>
          </a:prstGeom>
          <a:noFill/>
          <a:ln w="9525">
            <a:solidFill>
              <a:srgbClr val="9CC3E8"/>
            </a:solidFill>
            <a:prstDash val="solid"/>
          </a:ln>
        </p:spPr>
      </p:sp>
      <p:sp>
        <p:nvSpPr>
          <p:cNvPr id="43" name="Text 38"/>
          <p:cNvSpPr txBox="1"/>
          <p:nvPr/>
        </p:nvSpPr>
        <p:spPr>
          <a:xfrm>
            <a:off x="8273491" y="4553712"/>
            <a:ext cx="3154680"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BUILD VS BUY</a:t>
            </a:r>
            <a:r>
              <a:rPr lang="en-US" sz="900" dirty="0">
                <a:solidFill>
                  <a:srgbClr val="9AA4C6"/>
                </a:solidFill>
                <a:latin typeface="Calibri" pitchFamily="34" charset="0"/>
                <a:ea typeface="Calibri" pitchFamily="34" charset="-122"/>
                <a:cs typeface="Calibri" pitchFamily="34" charset="-120"/>
              </a:rPr>
              <a:t>   ·   on the in-scope 45%</a:t>
            </a:r>
            <a:endParaRPr lang="en-US" sz="900" dirty="0"/>
          </a:p>
        </p:txBody>
      </p:sp>
      <p:sp>
        <p:nvSpPr>
          <p:cNvPr id="44" name="Text 39"/>
          <p:cNvSpPr txBox="1"/>
          <p:nvPr/>
        </p:nvSpPr>
        <p:spPr>
          <a:xfrm>
            <a:off x="8026603" y="4846320"/>
            <a:ext cx="2177004" cy="246888"/>
          </a:xfrm>
          <a:prstGeom prst="rect">
            <a:avLst/>
          </a:prstGeom>
          <a:noFill/>
          <a:ln/>
        </p:spPr>
        <p:txBody>
          <a:bodyPr wrap="square" lIns="0" tIns="0" rIns="0" bIns="0" rtlCol="0" anchor="ctr"/>
          <a:lstStyle/>
          <a:p>
            <a:pPr marL="0" indent="0">
              <a:buNone/>
            </a:pPr>
            <a:r>
              <a:rPr lang="en-US" sz="850" dirty="0">
                <a:solidFill>
                  <a:srgbClr val="C6CEE4"/>
                </a:solidFill>
                <a:latin typeface="Calibri" pitchFamily="34" charset="0"/>
                <a:ea typeface="Calibri" pitchFamily="34" charset="-122"/>
                <a:cs typeface="Calibri" pitchFamily="34" charset="-120"/>
              </a:rPr>
              <a:t>Buy — 5-year NPV advantage</a:t>
            </a:r>
            <a:endParaRPr lang="en-US" sz="850" dirty="0"/>
          </a:p>
        </p:txBody>
      </p:sp>
      <p:sp>
        <p:nvSpPr>
          <p:cNvPr id="45" name="Text 40"/>
          <p:cNvSpPr txBox="1"/>
          <p:nvPr/>
        </p:nvSpPr>
        <p:spPr>
          <a:xfrm>
            <a:off x="10203607" y="4846320"/>
            <a:ext cx="1224564" cy="246888"/>
          </a:xfrm>
          <a:prstGeom prst="rect">
            <a:avLst/>
          </a:prstGeom>
          <a:noFill/>
          <a:ln/>
        </p:spPr>
        <p:txBody>
          <a:bodyPr wrap="square" lIns="0" tIns="0" rIns="0" bIns="0" rtlCol="0" anchor="ctr"/>
          <a:lstStyle/>
          <a:p>
            <a:pPr marL="0" indent="0" algn="r">
              <a:buNone/>
            </a:pPr>
            <a:r>
              <a:rPr lang="en-US" sz="850" b="1" dirty="0">
                <a:solidFill>
                  <a:srgbClr val="9AD672"/>
                </a:solidFill>
                <a:latin typeface="Calibri" pitchFamily="34" charset="0"/>
                <a:ea typeface="Calibri" pitchFamily="34" charset="-122"/>
                <a:cs typeface="Calibri" pitchFamily="34" charset="-120"/>
              </a:rPr>
              <a:t>₹2.70 Cr</a:t>
            </a:r>
            <a:endParaRPr lang="en-US" sz="850" dirty="0"/>
          </a:p>
        </p:txBody>
      </p:sp>
      <p:sp>
        <p:nvSpPr>
          <p:cNvPr id="46" name="Shape 41"/>
          <p:cNvSpPr/>
          <p:nvPr/>
        </p:nvSpPr>
        <p:spPr>
          <a:xfrm>
            <a:off x="8026603" y="5093208"/>
            <a:ext cx="3401568" cy="0"/>
          </a:xfrm>
          <a:prstGeom prst="line">
            <a:avLst/>
          </a:prstGeom>
          <a:noFill/>
          <a:ln w="6350">
            <a:solidFill>
              <a:srgbClr val="3A4A8C">
                <a:alpha val="45000"/>
              </a:srgbClr>
            </a:solidFill>
            <a:prstDash val="solid"/>
          </a:ln>
        </p:spPr>
      </p:sp>
      <p:sp>
        <p:nvSpPr>
          <p:cNvPr id="47" name="Text 42"/>
          <p:cNvSpPr txBox="1"/>
          <p:nvPr/>
        </p:nvSpPr>
        <p:spPr>
          <a:xfrm>
            <a:off x="8026603" y="5093208"/>
            <a:ext cx="2177004" cy="246888"/>
          </a:xfrm>
          <a:prstGeom prst="rect">
            <a:avLst/>
          </a:prstGeom>
          <a:noFill/>
          <a:ln/>
        </p:spPr>
        <p:txBody>
          <a:bodyPr wrap="square" lIns="0" tIns="0" rIns="0" bIns="0" rtlCol="0" anchor="ctr"/>
          <a:lstStyle/>
          <a:p>
            <a:pPr marL="0" indent="0">
              <a:buNone/>
            </a:pPr>
            <a:r>
              <a:rPr lang="en-US" sz="850" dirty="0">
                <a:solidFill>
                  <a:srgbClr val="C6CEE4"/>
                </a:solidFill>
                <a:latin typeface="Calibri" pitchFamily="34" charset="0"/>
                <a:ea typeface="Calibri" pitchFamily="34" charset="-122"/>
                <a:cs typeface="Calibri" pitchFamily="34" charset="-120"/>
              </a:rPr>
              <a:t>GPU-seconds breakeven per claim</a:t>
            </a:r>
            <a:endParaRPr lang="en-US" sz="850" dirty="0"/>
          </a:p>
        </p:txBody>
      </p:sp>
      <p:sp>
        <p:nvSpPr>
          <p:cNvPr id="48" name="Text 43"/>
          <p:cNvSpPr txBox="1"/>
          <p:nvPr/>
        </p:nvSpPr>
        <p:spPr>
          <a:xfrm>
            <a:off x="10203607" y="5093208"/>
            <a:ext cx="1224564" cy="246888"/>
          </a:xfrm>
          <a:prstGeom prst="rect">
            <a:avLst/>
          </a:prstGeom>
          <a:noFill/>
          <a:ln/>
        </p:spPr>
        <p:txBody>
          <a:bodyPr wrap="square" lIns="0" tIns="0" rIns="0" bIns="0" rtlCol="0" anchor="ctr"/>
          <a:lstStyle/>
          <a:p>
            <a:pPr marL="0" indent="0" algn="r">
              <a:buNone/>
            </a:pPr>
            <a:r>
              <a:rPr lang="en-US" sz="850" b="1" dirty="0">
                <a:solidFill>
                  <a:srgbClr val="FFFFFF"/>
                </a:solidFill>
                <a:latin typeface="Calibri" pitchFamily="34" charset="0"/>
                <a:ea typeface="Calibri" pitchFamily="34" charset="-122"/>
                <a:cs typeface="Calibri" pitchFamily="34" charset="-120"/>
              </a:rPr>
              <a:t>77 s</a:t>
            </a:r>
            <a:endParaRPr lang="en-US" sz="850" dirty="0"/>
          </a:p>
        </p:txBody>
      </p:sp>
      <p:sp>
        <p:nvSpPr>
          <p:cNvPr id="49" name="Shape 44"/>
          <p:cNvSpPr/>
          <p:nvPr/>
        </p:nvSpPr>
        <p:spPr>
          <a:xfrm>
            <a:off x="8026603" y="5340096"/>
            <a:ext cx="3401568" cy="0"/>
          </a:xfrm>
          <a:prstGeom prst="line">
            <a:avLst/>
          </a:prstGeom>
          <a:noFill/>
          <a:ln w="6350">
            <a:solidFill>
              <a:srgbClr val="3A4A8C">
                <a:alpha val="45000"/>
              </a:srgbClr>
            </a:solidFill>
            <a:prstDash val="solid"/>
          </a:ln>
        </p:spPr>
      </p:sp>
      <p:sp>
        <p:nvSpPr>
          <p:cNvPr id="50" name="Text 45"/>
          <p:cNvSpPr txBox="1"/>
          <p:nvPr/>
        </p:nvSpPr>
        <p:spPr>
          <a:xfrm>
            <a:off x="8026603" y="5340096"/>
            <a:ext cx="2177004" cy="246888"/>
          </a:xfrm>
          <a:prstGeom prst="rect">
            <a:avLst/>
          </a:prstGeom>
          <a:noFill/>
          <a:ln/>
        </p:spPr>
        <p:txBody>
          <a:bodyPr wrap="square" lIns="0" tIns="0" rIns="0" bIns="0" rtlCol="0" anchor="ctr"/>
          <a:lstStyle/>
          <a:p>
            <a:pPr marL="0" indent="0">
              <a:buNone/>
            </a:pPr>
            <a:r>
              <a:rPr lang="en-US" sz="850" dirty="0">
                <a:solidFill>
                  <a:srgbClr val="C6CEE4"/>
                </a:solidFill>
                <a:latin typeface="Calibri" pitchFamily="34" charset="0"/>
                <a:ea typeface="Calibri" pitchFamily="34" charset="-122"/>
                <a:cs typeface="Calibri" pitchFamily="34" charset="-120"/>
              </a:rPr>
              <a:t>Assumed today — 8.4× over</a:t>
            </a:r>
            <a:endParaRPr lang="en-US" sz="850" dirty="0"/>
          </a:p>
        </p:txBody>
      </p:sp>
      <p:sp>
        <p:nvSpPr>
          <p:cNvPr id="51" name="Text 46"/>
          <p:cNvSpPr txBox="1"/>
          <p:nvPr/>
        </p:nvSpPr>
        <p:spPr>
          <a:xfrm>
            <a:off x="10203607" y="5340096"/>
            <a:ext cx="1224564" cy="246888"/>
          </a:xfrm>
          <a:prstGeom prst="rect">
            <a:avLst/>
          </a:prstGeom>
          <a:noFill/>
          <a:ln/>
        </p:spPr>
        <p:txBody>
          <a:bodyPr wrap="square" lIns="0" tIns="0" rIns="0" bIns="0" rtlCol="0" anchor="ctr"/>
          <a:lstStyle/>
          <a:p>
            <a:pPr marL="0" indent="0" algn="r">
              <a:buNone/>
            </a:pPr>
            <a:r>
              <a:rPr lang="en-US" sz="850" b="1" dirty="0">
                <a:solidFill>
                  <a:srgbClr val="F7B183"/>
                </a:solidFill>
                <a:latin typeface="Calibri" pitchFamily="34" charset="0"/>
                <a:ea typeface="Calibri" pitchFamily="34" charset="-122"/>
                <a:cs typeface="Calibri" pitchFamily="34" charset="-120"/>
              </a:rPr>
              <a:t>648 s</a:t>
            </a:r>
            <a:endParaRPr lang="en-US" sz="850" dirty="0"/>
          </a:p>
        </p:txBody>
      </p:sp>
      <p:sp>
        <p:nvSpPr>
          <p:cNvPr id="52" name="Shape 47"/>
          <p:cNvSpPr/>
          <p:nvPr/>
        </p:nvSpPr>
        <p:spPr>
          <a:xfrm>
            <a:off x="638251" y="5724144"/>
            <a:ext cx="10936224" cy="347472"/>
          </a:xfrm>
          <a:prstGeom prst="roundRect">
            <a:avLst>
              <a:gd name="adj" fmla="val 21053"/>
            </a:avLst>
          </a:prstGeom>
          <a:solidFill>
            <a:srgbClr val="0A1550">
              <a:alpha val="86000"/>
            </a:srgbClr>
          </a:solidFill>
          <a:ln w="9525">
            <a:solidFill>
              <a:srgbClr val="70AD47">
                <a:alpha val="55000"/>
              </a:srgbClr>
            </a:solidFill>
            <a:prstDash val="solid"/>
          </a:ln>
        </p:spPr>
      </p:sp>
      <p:sp>
        <p:nvSpPr>
          <p:cNvPr id="53" name="Shape 48"/>
          <p:cNvSpPr/>
          <p:nvPr/>
        </p:nvSpPr>
        <p:spPr>
          <a:xfrm>
            <a:off x="747979" y="5797296"/>
            <a:ext cx="41148" cy="201168"/>
          </a:xfrm>
          <a:prstGeom prst="roundRect">
            <a:avLst>
              <a:gd name="adj" fmla="val 48889"/>
            </a:avLst>
          </a:prstGeom>
          <a:solidFill>
            <a:srgbClr val="70AD47"/>
          </a:solidFill>
          <a:ln/>
        </p:spPr>
      </p:sp>
      <p:sp>
        <p:nvSpPr>
          <p:cNvPr id="54" name="Text 49"/>
          <p:cNvSpPr txBox="1"/>
          <p:nvPr/>
        </p:nvSpPr>
        <p:spPr>
          <a:xfrm>
            <a:off x="894283" y="5724144"/>
            <a:ext cx="10533888" cy="347472"/>
          </a:xfrm>
          <a:prstGeom prst="rect">
            <a:avLst/>
          </a:prstGeom>
          <a:noFill/>
          <a:ln/>
        </p:spPr>
        <p:txBody>
          <a:bodyPr wrap="square" lIns="0" tIns="0" rIns="0" bIns="0" rtlCol="0" anchor="ctr"/>
          <a:lstStyle/>
          <a:p>
            <a:pPr marL="0" indent="0">
              <a:lnSpc>
                <a:spcPts val="1150"/>
              </a:lnSpc>
              <a:buNone/>
            </a:pPr>
            <a:r>
              <a:rPr lang="en-US" sz="950" b="1" kern="0" spc="100" dirty="0">
                <a:solidFill>
                  <a:srgbClr val="70AD47"/>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Buy the commodity, build the moat. We placed generative AI where ambiguity lives, not where volume is — so the bill cannot surprise us.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667" fill="hold"/>
                                        <p:tgtEl>
                                          <p:spTgt spid="5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55"/>
                </p:tgtEl>
              </p:cMediaNode>
            </p:video>
            <p:seq concurrent="1" nextAc="seek">
              <p:cTn id="8" restart="whenNotActive" fill="hold" evtFilter="cancelBubble" nodeType="interactiveSeq">
                <p:stCondLst>
                  <p:cond evt="onClick" delay="0">
                    <p:tgtEl>
                      <p:spTgt spid="5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5"/>
                                        </p:tgtEl>
                                      </p:cBhvr>
                                    </p:cmd>
                                  </p:childTnLst>
                                </p:cTn>
                              </p:par>
                            </p:childTnLst>
                          </p:cTn>
                        </p:par>
                      </p:childTnLst>
                    </p:cTn>
                  </p:par>
                </p:childTnLst>
              </p:cTn>
              <p:nextCondLst>
                <p:cond evt="onClick" delay="0">
                  <p:tgtEl>
                    <p:spTgt spid="55"/>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IMPACT   01 / 03</a:t>
            </a:r>
            <a:endParaRPr lang="en-US" sz="1000" dirty="0"/>
          </a:p>
        </p:txBody>
      </p:sp>
      <p:pic>
        <p:nvPicPr>
          <p:cNvPr id="4" name="Image 0" descr="media/image4.png"/>
          <p:cNvPicPr>
            <a:picLocks noChangeAspect="1"/>
          </p:cNvPicPr>
          <p:nvPr/>
        </p:nvPicPr>
        <p:blipFill>
          <a:blip r:embed="rId4"/>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5"/>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One routing decision, seven stakeholders — and we name the group it costs.</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Solution Proposed</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6 Stakeholder Analysis (SC-01 to SC-18); Sheet 3 Workings (Part I, W-56 to W-80). 1,800 productive hours per FTE a year; 70% realisation on released capacity.</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Shape 11"/>
          <p:cNvSpPr/>
          <p:nvPr/>
        </p:nvSpPr>
        <p:spPr>
          <a:xfrm>
            <a:off x="638251" y="1609344"/>
            <a:ext cx="6309360" cy="4041648"/>
          </a:xfrm>
          <a:prstGeom prst="roundRect">
            <a:avLst>
              <a:gd name="adj" fmla="val 2036"/>
            </a:avLst>
          </a:prstGeom>
          <a:solidFill>
            <a:srgbClr val="111C55">
              <a:alpha val="74000"/>
            </a:srgbClr>
          </a:solidFill>
          <a:ln w="9525">
            <a:solidFill>
              <a:srgbClr val="3A4A8C">
                <a:alpha val="70000"/>
              </a:srgbClr>
            </a:solidFill>
            <a:prstDash val="solid"/>
          </a:ln>
        </p:spPr>
      </p:sp>
      <p:sp>
        <p:nvSpPr>
          <p:cNvPr id="16" name="Shape 12"/>
          <p:cNvSpPr/>
          <p:nvPr/>
        </p:nvSpPr>
        <p:spPr>
          <a:xfrm>
            <a:off x="784555" y="1781617"/>
            <a:ext cx="45171" cy="45171"/>
          </a:xfrm>
          <a:prstGeom prst="ellipse">
            <a:avLst/>
          </a:prstGeom>
          <a:solidFill>
            <a:srgbClr val="9CC3E8"/>
          </a:solidFill>
          <a:ln/>
        </p:spPr>
      </p:sp>
      <p:sp>
        <p:nvSpPr>
          <p:cNvPr id="17" name="Shape 13"/>
          <p:cNvSpPr/>
          <p:nvPr/>
        </p:nvSpPr>
        <p:spPr>
          <a:xfrm flipV="1">
            <a:off x="829727" y="1748607"/>
            <a:ext cx="52121" cy="55596"/>
          </a:xfrm>
          <a:prstGeom prst="line">
            <a:avLst/>
          </a:prstGeom>
          <a:noFill/>
          <a:ln w="12700">
            <a:solidFill>
              <a:srgbClr val="9CC3E8"/>
            </a:solidFill>
            <a:prstDash val="solid"/>
          </a:ln>
        </p:spPr>
      </p:sp>
      <p:sp>
        <p:nvSpPr>
          <p:cNvPr id="18" name="Shape 14"/>
          <p:cNvSpPr/>
          <p:nvPr/>
        </p:nvSpPr>
        <p:spPr>
          <a:xfrm>
            <a:off x="829727" y="1804203"/>
            <a:ext cx="52121" cy="55596"/>
          </a:xfrm>
          <a:prstGeom prst="line">
            <a:avLst/>
          </a:prstGeom>
          <a:noFill/>
          <a:ln w="12700">
            <a:solidFill>
              <a:srgbClr val="9CC3E8"/>
            </a:solidFill>
            <a:prstDash val="solid"/>
          </a:ln>
        </p:spPr>
      </p:sp>
      <p:sp>
        <p:nvSpPr>
          <p:cNvPr id="19" name="Shape 15"/>
          <p:cNvSpPr/>
          <p:nvPr/>
        </p:nvSpPr>
        <p:spPr>
          <a:xfrm>
            <a:off x="888797" y="1726021"/>
            <a:ext cx="38222" cy="38222"/>
          </a:xfrm>
          <a:prstGeom prst="ellipse">
            <a:avLst/>
          </a:prstGeom>
          <a:ln w="12700">
            <a:solidFill>
              <a:srgbClr val="9CC3E8"/>
            </a:solidFill>
            <a:prstDash val="solid"/>
          </a:ln>
        </p:spPr>
      </p:sp>
      <p:sp>
        <p:nvSpPr>
          <p:cNvPr id="20" name="Shape 16"/>
          <p:cNvSpPr/>
          <p:nvPr/>
        </p:nvSpPr>
        <p:spPr>
          <a:xfrm>
            <a:off x="888797" y="1837212"/>
            <a:ext cx="38222" cy="38222"/>
          </a:xfrm>
          <a:prstGeom prst="ellipse">
            <a:avLst/>
          </a:prstGeom>
          <a:ln w="12700">
            <a:solidFill>
              <a:srgbClr val="9CC3E8"/>
            </a:solidFill>
            <a:prstDash val="solid"/>
          </a:ln>
        </p:spPr>
      </p:sp>
      <p:sp>
        <p:nvSpPr>
          <p:cNvPr id="21" name="Text 17"/>
          <p:cNvSpPr txBox="1"/>
          <p:nvPr/>
        </p:nvSpPr>
        <p:spPr>
          <a:xfrm>
            <a:off x="1031443" y="1682496"/>
            <a:ext cx="5769864"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WHO INTERACTS WITH CLAIMPULSE, AND WHAT EACH ONE RECEIVES</a:t>
            </a:r>
            <a:r>
              <a:rPr lang="en-US" sz="900" dirty="0">
                <a:solidFill>
                  <a:srgbClr val="9AA4C6"/>
                </a:solidFill>
                <a:latin typeface="Calibri" pitchFamily="34" charset="0"/>
                <a:ea typeface="Calibri" pitchFamily="34" charset="-122"/>
                <a:cs typeface="Calibri" pitchFamily="34" charset="-120"/>
              </a:rPr>
              <a:t>   ·   Base plan, 60% rollout</a:t>
            </a:r>
            <a:endParaRPr lang="en-US" sz="900" dirty="0"/>
          </a:p>
        </p:txBody>
      </p:sp>
      <p:sp>
        <p:nvSpPr>
          <p:cNvPr id="22" name="Text 18"/>
          <p:cNvSpPr txBox="1"/>
          <p:nvPr/>
        </p:nvSpPr>
        <p:spPr>
          <a:xfrm>
            <a:off x="784555" y="1956816"/>
            <a:ext cx="1280160" cy="164592"/>
          </a:xfrm>
          <a:prstGeom prst="rect">
            <a:avLst/>
          </a:prstGeom>
          <a:noFill/>
          <a:ln/>
        </p:spPr>
        <p:txBody>
          <a:bodyPr wrap="square" lIns="0" tIns="0" rIns="0" bIns="0" rtlCol="0" anchor="ctr"/>
          <a:lstStyle/>
          <a:p>
            <a:pPr marL="0" indent="0" algn="l">
              <a:buNone/>
            </a:pPr>
            <a:r>
              <a:rPr lang="en-US" sz="650" b="1" kern="0" spc="70" dirty="0">
                <a:solidFill>
                  <a:srgbClr val="9AA4C6"/>
                </a:solidFill>
                <a:latin typeface="Calibri" pitchFamily="34" charset="0"/>
                <a:ea typeface="Calibri" pitchFamily="34" charset="-122"/>
                <a:cs typeface="Calibri" pitchFamily="34" charset="-120"/>
              </a:rPr>
              <a:t>STAKEHOLDER</a:t>
            </a:r>
            <a:endParaRPr lang="en-US" sz="650" dirty="0"/>
          </a:p>
        </p:txBody>
      </p:sp>
      <p:sp>
        <p:nvSpPr>
          <p:cNvPr id="23" name="Text 19"/>
          <p:cNvSpPr txBox="1"/>
          <p:nvPr/>
        </p:nvSpPr>
        <p:spPr>
          <a:xfrm>
            <a:off x="2101291" y="1956816"/>
            <a:ext cx="621792" cy="164592"/>
          </a:xfrm>
          <a:prstGeom prst="rect">
            <a:avLst/>
          </a:prstGeom>
          <a:noFill/>
          <a:ln/>
        </p:spPr>
        <p:txBody>
          <a:bodyPr wrap="square" lIns="0" tIns="0" rIns="0" bIns="0" rtlCol="0" anchor="ctr"/>
          <a:lstStyle/>
          <a:p>
            <a:pPr marL="0" indent="0" algn="l">
              <a:buNone/>
            </a:pPr>
            <a:r>
              <a:rPr lang="en-US" sz="650" b="1" kern="0" spc="70" dirty="0">
                <a:solidFill>
                  <a:srgbClr val="9AA4C6"/>
                </a:solidFill>
                <a:latin typeface="Calibri" pitchFamily="34" charset="0"/>
                <a:ea typeface="Calibri" pitchFamily="34" charset="-122"/>
                <a:cs typeface="Calibri" pitchFamily="34" charset="-120"/>
              </a:rPr>
              <a:t>TODAY</a:t>
            </a:r>
            <a:endParaRPr lang="en-US" sz="650" dirty="0"/>
          </a:p>
        </p:txBody>
      </p:sp>
      <p:sp>
        <p:nvSpPr>
          <p:cNvPr id="24" name="Text 20"/>
          <p:cNvSpPr txBox="1"/>
          <p:nvPr/>
        </p:nvSpPr>
        <p:spPr>
          <a:xfrm>
            <a:off x="2924251" y="1956816"/>
            <a:ext cx="749808" cy="164592"/>
          </a:xfrm>
          <a:prstGeom prst="rect">
            <a:avLst/>
          </a:prstGeom>
          <a:noFill/>
          <a:ln/>
        </p:spPr>
        <p:txBody>
          <a:bodyPr wrap="square" lIns="0" tIns="0" rIns="0" bIns="0" rtlCol="0" anchor="ctr"/>
          <a:lstStyle/>
          <a:p>
            <a:pPr marL="0" indent="0" algn="l">
              <a:buNone/>
            </a:pPr>
            <a:r>
              <a:rPr lang="en-US" sz="650" b="1" kern="0" spc="70" dirty="0">
                <a:solidFill>
                  <a:srgbClr val="9AA4C6"/>
                </a:solidFill>
                <a:latin typeface="Calibri" pitchFamily="34" charset="0"/>
                <a:ea typeface="Calibri" pitchFamily="34" charset="-122"/>
                <a:cs typeface="Calibri" pitchFamily="34" charset="-120"/>
              </a:rPr>
              <a:t>CLAIMPULSE</a:t>
            </a:r>
            <a:endParaRPr lang="en-US" sz="650" dirty="0"/>
          </a:p>
        </p:txBody>
      </p:sp>
      <p:sp>
        <p:nvSpPr>
          <p:cNvPr id="25" name="Text 21"/>
          <p:cNvSpPr txBox="1"/>
          <p:nvPr/>
        </p:nvSpPr>
        <p:spPr>
          <a:xfrm>
            <a:off x="3619195" y="1956816"/>
            <a:ext cx="3182112" cy="164592"/>
          </a:xfrm>
          <a:prstGeom prst="rect">
            <a:avLst/>
          </a:prstGeom>
          <a:noFill/>
          <a:ln/>
        </p:spPr>
        <p:txBody>
          <a:bodyPr wrap="square" lIns="0" tIns="0" rIns="0" bIns="0" rtlCol="0" anchor="ctr"/>
          <a:lstStyle/>
          <a:p>
            <a:pPr marL="0" indent="0" algn="r">
              <a:buNone/>
            </a:pPr>
            <a:r>
              <a:rPr lang="en-US" sz="650" b="1" kern="0" spc="70" dirty="0">
                <a:solidFill>
                  <a:srgbClr val="9AA4C6"/>
                </a:solidFill>
                <a:latin typeface="Calibri" pitchFamily="34" charset="0"/>
                <a:ea typeface="Calibri" pitchFamily="34" charset="-122"/>
                <a:cs typeface="Calibri" pitchFamily="34" charset="-120"/>
              </a:rPr>
              <a:t>VALUE RECEIVED</a:t>
            </a:r>
            <a:endParaRPr lang="en-US" sz="650" dirty="0"/>
          </a:p>
        </p:txBody>
      </p:sp>
      <p:sp>
        <p:nvSpPr>
          <p:cNvPr id="26" name="Shape 22"/>
          <p:cNvSpPr/>
          <p:nvPr/>
        </p:nvSpPr>
        <p:spPr>
          <a:xfrm>
            <a:off x="784555" y="2139696"/>
            <a:ext cx="6016752" cy="0"/>
          </a:xfrm>
          <a:prstGeom prst="line">
            <a:avLst/>
          </a:prstGeom>
          <a:noFill/>
          <a:ln w="9525">
            <a:solidFill>
              <a:srgbClr val="3A4A8C"/>
            </a:solidFill>
            <a:prstDash val="solid"/>
          </a:ln>
        </p:spPr>
      </p:sp>
      <p:sp>
        <p:nvSpPr>
          <p:cNvPr id="27" name="Shape 23"/>
          <p:cNvSpPr/>
          <p:nvPr/>
        </p:nvSpPr>
        <p:spPr>
          <a:xfrm>
            <a:off x="836676" y="2364795"/>
            <a:ext cx="69494" cy="69494"/>
          </a:xfrm>
          <a:prstGeom prst="ellipse">
            <a:avLst/>
          </a:prstGeom>
          <a:ln w="13970">
            <a:solidFill>
              <a:srgbClr val="9CC3E8"/>
            </a:solidFill>
            <a:prstDash val="solid"/>
          </a:ln>
        </p:spPr>
      </p:sp>
      <p:sp>
        <p:nvSpPr>
          <p:cNvPr id="28" name="Shape 24"/>
          <p:cNvSpPr/>
          <p:nvPr/>
        </p:nvSpPr>
        <p:spPr>
          <a:xfrm>
            <a:off x="805404" y="2437764"/>
            <a:ext cx="132039" cy="121615"/>
          </a:xfrm>
          <a:prstGeom prst="blockArc">
            <a:avLst/>
          </a:prstGeom>
          <a:ln w="13970">
            <a:solidFill>
              <a:srgbClr val="9CC3E8"/>
            </a:solidFill>
            <a:prstDash val="solid"/>
          </a:ln>
        </p:spPr>
      </p:sp>
      <p:sp>
        <p:nvSpPr>
          <p:cNvPr id="29" name="Text 25"/>
          <p:cNvSpPr txBox="1"/>
          <p:nvPr/>
        </p:nvSpPr>
        <p:spPr>
          <a:xfrm>
            <a:off x="1040587" y="2212848"/>
            <a:ext cx="1024128" cy="472875"/>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Customer</a:t>
            </a:r>
            <a:endParaRPr lang="en-US" sz="900" dirty="0"/>
          </a:p>
        </p:txBody>
      </p:sp>
      <p:sp>
        <p:nvSpPr>
          <p:cNvPr id="30" name="Shape 26"/>
          <p:cNvSpPr/>
          <p:nvPr/>
        </p:nvSpPr>
        <p:spPr>
          <a:xfrm>
            <a:off x="2101291" y="2348702"/>
            <a:ext cx="621792" cy="201168"/>
          </a:xfrm>
          <a:prstGeom prst="roundRect">
            <a:avLst>
              <a:gd name="adj" fmla="val 50000"/>
            </a:avLst>
          </a:prstGeom>
          <a:solidFill>
            <a:srgbClr val="9AA4C6">
              <a:alpha val="26000"/>
            </a:srgbClr>
          </a:solidFill>
          <a:ln w="9525">
            <a:solidFill>
              <a:srgbClr val="9AA4C6"/>
            </a:solidFill>
            <a:prstDash val="solid"/>
          </a:ln>
        </p:spPr>
      </p:sp>
      <p:sp>
        <p:nvSpPr>
          <p:cNvPr id="31" name="Text 27"/>
          <p:cNvSpPr txBox="1"/>
          <p:nvPr/>
        </p:nvSpPr>
        <p:spPr>
          <a:xfrm>
            <a:off x="2101291" y="2348702"/>
            <a:ext cx="621792" cy="201168"/>
          </a:xfrm>
          <a:prstGeom prst="rect">
            <a:avLst/>
          </a:prstGeom>
          <a:noFill/>
          <a:ln/>
        </p:spPr>
        <p:txBody>
          <a:bodyPr wrap="square" lIns="0" tIns="0" rIns="0" bIns="0" rtlCol="0" anchor="ctr"/>
          <a:lstStyle/>
          <a:p>
            <a:pPr marL="0" indent="0" algn="ctr">
              <a:buNone/>
            </a:pPr>
            <a:r>
              <a:rPr lang="en-US" sz="700" b="1" kern="0" spc="60" dirty="0">
                <a:solidFill>
                  <a:srgbClr val="9AA4C6"/>
                </a:solidFill>
                <a:latin typeface="Calibri" pitchFamily="34" charset="0"/>
                <a:ea typeface="Calibri" pitchFamily="34" charset="-122"/>
                <a:cs typeface="Calibri" pitchFamily="34" charset="-120"/>
              </a:rPr>
              <a:t>9.8 d</a:t>
            </a:r>
            <a:endParaRPr lang="en-US" sz="700" dirty="0"/>
          </a:p>
        </p:txBody>
      </p:sp>
      <p:sp>
        <p:nvSpPr>
          <p:cNvPr id="32" name="Shape 28"/>
          <p:cNvSpPr/>
          <p:nvPr/>
        </p:nvSpPr>
        <p:spPr>
          <a:xfrm rot="5400000">
            <a:off x="2777947" y="2394422"/>
            <a:ext cx="100584" cy="118872"/>
          </a:xfrm>
          <a:prstGeom prst="triangle">
            <a:avLst/>
          </a:prstGeom>
          <a:solidFill>
            <a:srgbClr val="9AD672">
              <a:alpha val="80000"/>
            </a:srgbClr>
          </a:solidFill>
          <a:ln/>
        </p:spPr>
      </p:sp>
      <p:sp>
        <p:nvSpPr>
          <p:cNvPr id="33" name="Shape 29"/>
          <p:cNvSpPr/>
          <p:nvPr/>
        </p:nvSpPr>
        <p:spPr>
          <a:xfrm>
            <a:off x="2924251" y="2348702"/>
            <a:ext cx="749808" cy="201168"/>
          </a:xfrm>
          <a:prstGeom prst="roundRect">
            <a:avLst>
              <a:gd name="adj" fmla="val 50000"/>
            </a:avLst>
          </a:prstGeom>
          <a:solidFill>
            <a:srgbClr val="70AD47">
              <a:alpha val="26000"/>
            </a:srgbClr>
          </a:solidFill>
          <a:ln w="9525">
            <a:solidFill>
              <a:srgbClr val="70AD47"/>
            </a:solidFill>
            <a:prstDash val="solid"/>
          </a:ln>
        </p:spPr>
      </p:sp>
      <p:sp>
        <p:nvSpPr>
          <p:cNvPr id="34" name="Text 30"/>
          <p:cNvSpPr txBox="1"/>
          <p:nvPr/>
        </p:nvSpPr>
        <p:spPr>
          <a:xfrm>
            <a:off x="2924251" y="2348702"/>
            <a:ext cx="749808" cy="201168"/>
          </a:xfrm>
          <a:prstGeom prst="rect">
            <a:avLst/>
          </a:prstGeom>
          <a:noFill/>
          <a:ln/>
        </p:spPr>
        <p:txBody>
          <a:bodyPr wrap="square" lIns="0" tIns="0" rIns="0" bIns="0" rtlCol="0" anchor="ctr"/>
          <a:lstStyle/>
          <a:p>
            <a:pPr marL="0" indent="0" algn="ctr">
              <a:buNone/>
            </a:pPr>
            <a:r>
              <a:rPr lang="en-US" sz="700" b="1" kern="0" spc="60" dirty="0">
                <a:solidFill>
                  <a:srgbClr val="70AD47"/>
                </a:solidFill>
                <a:latin typeface="Calibri" pitchFamily="34" charset="0"/>
                <a:ea typeface="Calibri" pitchFamily="34" charset="-122"/>
                <a:cs typeface="Calibri" pitchFamily="34" charset="-120"/>
              </a:rPr>
              <a:t>2.71 d</a:t>
            </a:r>
            <a:endParaRPr lang="en-US" sz="700" dirty="0"/>
          </a:p>
        </p:txBody>
      </p:sp>
      <p:sp>
        <p:nvSpPr>
          <p:cNvPr id="35" name="Text 31"/>
          <p:cNvSpPr txBox="1"/>
          <p:nvPr/>
        </p:nvSpPr>
        <p:spPr>
          <a:xfrm>
            <a:off x="3619195" y="2212848"/>
            <a:ext cx="3182112" cy="472875"/>
          </a:xfrm>
          <a:prstGeom prst="rect">
            <a:avLst/>
          </a:prstGeom>
          <a:noFill/>
          <a:ln/>
        </p:spPr>
        <p:txBody>
          <a:bodyPr wrap="square" lIns="0" tIns="0" rIns="0" bIns="0" rtlCol="0" anchor="ctr"/>
          <a:lstStyle/>
          <a:p>
            <a:pPr marL="0" indent="0" algn="r">
              <a:lnSpc>
                <a:spcPts val="1000"/>
              </a:lnSpc>
              <a:buNone/>
            </a:pPr>
            <a:r>
              <a:rPr lang="en-US" sz="800" b="1" dirty="0">
                <a:solidFill>
                  <a:srgbClr val="9AD672"/>
                </a:solidFill>
                <a:latin typeface="Calibri" pitchFamily="34" charset="0"/>
                <a:ea typeface="Calibri" pitchFamily="34" charset="-122"/>
                <a:cs typeface="Calibri" pitchFamily="34" charset="-120"/>
              </a:rPr>
              <a:t>1,166,904 claimant-days returned a year   </a:t>
            </a:r>
            <a:r>
              <a:rPr lang="en-US" sz="800" b="1" kern="0" spc="50" dirty="0">
                <a:solidFill>
                  <a:srgbClr val="9AD672"/>
                </a:solidFill>
                <a:latin typeface="Calibri" pitchFamily="34" charset="0"/>
                <a:ea typeface="Calibri" pitchFamily="34" charset="-122"/>
                <a:cs typeface="Calibri" pitchFamily="34" charset="-120"/>
              </a:rPr>
              <a:t>MODEL</a:t>
            </a:r>
            <a:endParaRPr lang="en-US" sz="800" dirty="0"/>
          </a:p>
        </p:txBody>
      </p:sp>
      <p:sp>
        <p:nvSpPr>
          <p:cNvPr id="36" name="Shape 32"/>
          <p:cNvSpPr/>
          <p:nvPr/>
        </p:nvSpPr>
        <p:spPr>
          <a:xfrm>
            <a:off x="784555" y="2685723"/>
            <a:ext cx="6016752" cy="0"/>
          </a:xfrm>
          <a:prstGeom prst="line">
            <a:avLst/>
          </a:prstGeom>
          <a:noFill/>
          <a:ln w="6350">
            <a:solidFill>
              <a:srgbClr val="3A4A8C">
                <a:alpha val="40000"/>
              </a:srgbClr>
            </a:solidFill>
            <a:prstDash val="solid"/>
          </a:ln>
        </p:spPr>
      </p:sp>
      <p:sp>
        <p:nvSpPr>
          <p:cNvPr id="37" name="Shape 33"/>
          <p:cNvSpPr/>
          <p:nvPr/>
        </p:nvSpPr>
        <p:spPr>
          <a:xfrm>
            <a:off x="784555" y="2830721"/>
            <a:ext cx="78181" cy="78181"/>
          </a:xfrm>
          <a:prstGeom prst="roundRect">
            <a:avLst>
              <a:gd name="adj" fmla="val 17778"/>
            </a:avLst>
          </a:prstGeom>
          <a:ln w="12700">
            <a:solidFill>
              <a:srgbClr val="9CC3E8"/>
            </a:solidFill>
            <a:prstDash val="solid"/>
          </a:ln>
        </p:spPr>
      </p:sp>
      <p:sp>
        <p:nvSpPr>
          <p:cNvPr id="38" name="Shape 34"/>
          <p:cNvSpPr/>
          <p:nvPr/>
        </p:nvSpPr>
        <p:spPr>
          <a:xfrm>
            <a:off x="880110" y="2830721"/>
            <a:ext cx="78181" cy="78181"/>
          </a:xfrm>
          <a:prstGeom prst="roundRect">
            <a:avLst>
              <a:gd name="adj" fmla="val 17778"/>
            </a:avLst>
          </a:prstGeom>
          <a:ln w="12700">
            <a:solidFill>
              <a:srgbClr val="9CC3E8"/>
            </a:solidFill>
            <a:prstDash val="solid"/>
          </a:ln>
        </p:spPr>
      </p:sp>
      <p:sp>
        <p:nvSpPr>
          <p:cNvPr id="39" name="Shape 35"/>
          <p:cNvSpPr/>
          <p:nvPr/>
        </p:nvSpPr>
        <p:spPr>
          <a:xfrm>
            <a:off x="784555" y="2926276"/>
            <a:ext cx="78181" cy="78181"/>
          </a:xfrm>
          <a:prstGeom prst="roundRect">
            <a:avLst>
              <a:gd name="adj" fmla="val 17778"/>
            </a:avLst>
          </a:prstGeom>
          <a:ln w="12700">
            <a:solidFill>
              <a:srgbClr val="9CC3E8"/>
            </a:solidFill>
            <a:prstDash val="solid"/>
          </a:ln>
        </p:spPr>
      </p:sp>
      <p:sp>
        <p:nvSpPr>
          <p:cNvPr id="40" name="Shape 36"/>
          <p:cNvSpPr/>
          <p:nvPr/>
        </p:nvSpPr>
        <p:spPr>
          <a:xfrm>
            <a:off x="880110" y="2926276"/>
            <a:ext cx="78181" cy="78181"/>
          </a:xfrm>
          <a:prstGeom prst="roundRect">
            <a:avLst>
              <a:gd name="adj" fmla="val 17778"/>
            </a:avLst>
          </a:prstGeom>
          <a:ln w="12700">
            <a:solidFill>
              <a:srgbClr val="9CC3E8"/>
            </a:solidFill>
            <a:prstDash val="solid"/>
          </a:ln>
        </p:spPr>
      </p:sp>
      <p:sp>
        <p:nvSpPr>
          <p:cNvPr id="41" name="Text 37"/>
          <p:cNvSpPr txBox="1"/>
          <p:nvPr/>
        </p:nvSpPr>
        <p:spPr>
          <a:xfrm>
            <a:off x="1040587" y="2685723"/>
            <a:ext cx="1024128" cy="472875"/>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Claims operations</a:t>
            </a:r>
            <a:endParaRPr lang="en-US" sz="900" dirty="0"/>
          </a:p>
        </p:txBody>
      </p:sp>
      <p:sp>
        <p:nvSpPr>
          <p:cNvPr id="42" name="Shape 38"/>
          <p:cNvSpPr/>
          <p:nvPr/>
        </p:nvSpPr>
        <p:spPr>
          <a:xfrm>
            <a:off x="2101291" y="2821577"/>
            <a:ext cx="621792" cy="201168"/>
          </a:xfrm>
          <a:prstGeom prst="roundRect">
            <a:avLst>
              <a:gd name="adj" fmla="val 50000"/>
            </a:avLst>
          </a:prstGeom>
          <a:solidFill>
            <a:srgbClr val="9AA4C6">
              <a:alpha val="26000"/>
            </a:srgbClr>
          </a:solidFill>
          <a:ln w="9525">
            <a:solidFill>
              <a:srgbClr val="9AA4C6"/>
            </a:solidFill>
            <a:prstDash val="solid"/>
          </a:ln>
        </p:spPr>
      </p:sp>
      <p:sp>
        <p:nvSpPr>
          <p:cNvPr id="43" name="Text 39"/>
          <p:cNvSpPr txBox="1"/>
          <p:nvPr/>
        </p:nvSpPr>
        <p:spPr>
          <a:xfrm>
            <a:off x="2101291" y="2821577"/>
            <a:ext cx="621792" cy="201168"/>
          </a:xfrm>
          <a:prstGeom prst="rect">
            <a:avLst/>
          </a:prstGeom>
          <a:noFill/>
          <a:ln/>
        </p:spPr>
        <p:txBody>
          <a:bodyPr wrap="square" lIns="0" tIns="0" rIns="0" bIns="0" rtlCol="0" anchor="ctr"/>
          <a:lstStyle/>
          <a:p>
            <a:pPr marL="0" indent="0" algn="ctr">
              <a:buNone/>
            </a:pPr>
            <a:r>
              <a:rPr lang="en-US" sz="700" b="1" kern="0" spc="60" dirty="0">
                <a:solidFill>
                  <a:srgbClr val="9AA4C6"/>
                </a:solidFill>
                <a:latin typeface="Calibri" pitchFamily="34" charset="0"/>
                <a:ea typeface="Calibri" pitchFamily="34" charset="-122"/>
                <a:cs typeface="Calibri" pitchFamily="34" charset="-120"/>
              </a:rPr>
              <a:t>7.0</a:t>
            </a:r>
            <a:endParaRPr lang="en-US" sz="700" dirty="0"/>
          </a:p>
        </p:txBody>
      </p:sp>
      <p:sp>
        <p:nvSpPr>
          <p:cNvPr id="44" name="Shape 40"/>
          <p:cNvSpPr/>
          <p:nvPr/>
        </p:nvSpPr>
        <p:spPr>
          <a:xfrm rot="5400000">
            <a:off x="2777947" y="2867297"/>
            <a:ext cx="100584" cy="118872"/>
          </a:xfrm>
          <a:prstGeom prst="triangle">
            <a:avLst/>
          </a:prstGeom>
          <a:solidFill>
            <a:srgbClr val="9AD672">
              <a:alpha val="80000"/>
            </a:srgbClr>
          </a:solidFill>
          <a:ln/>
        </p:spPr>
      </p:sp>
      <p:sp>
        <p:nvSpPr>
          <p:cNvPr id="45" name="Shape 41"/>
          <p:cNvSpPr/>
          <p:nvPr/>
        </p:nvSpPr>
        <p:spPr>
          <a:xfrm>
            <a:off x="2924251" y="2821577"/>
            <a:ext cx="749808" cy="201168"/>
          </a:xfrm>
          <a:prstGeom prst="roundRect">
            <a:avLst>
              <a:gd name="adj" fmla="val 50000"/>
            </a:avLst>
          </a:prstGeom>
          <a:solidFill>
            <a:srgbClr val="70AD47">
              <a:alpha val="26000"/>
            </a:srgbClr>
          </a:solidFill>
          <a:ln w="9525">
            <a:solidFill>
              <a:srgbClr val="70AD47"/>
            </a:solidFill>
            <a:prstDash val="solid"/>
          </a:ln>
        </p:spPr>
      </p:sp>
      <p:sp>
        <p:nvSpPr>
          <p:cNvPr id="46" name="Text 42"/>
          <p:cNvSpPr txBox="1"/>
          <p:nvPr/>
        </p:nvSpPr>
        <p:spPr>
          <a:xfrm>
            <a:off x="2924251" y="2821577"/>
            <a:ext cx="749808" cy="201168"/>
          </a:xfrm>
          <a:prstGeom prst="rect">
            <a:avLst/>
          </a:prstGeom>
          <a:noFill/>
          <a:ln/>
        </p:spPr>
        <p:txBody>
          <a:bodyPr wrap="square" lIns="0" tIns="0" rIns="0" bIns="0" rtlCol="0" anchor="ctr"/>
          <a:lstStyle/>
          <a:p>
            <a:pPr marL="0" indent="0" algn="ctr">
              <a:buNone/>
            </a:pPr>
            <a:r>
              <a:rPr lang="en-US" sz="700" b="1" kern="0" spc="60" dirty="0">
                <a:solidFill>
                  <a:srgbClr val="70AD47"/>
                </a:solidFill>
                <a:latin typeface="Calibri" pitchFamily="34" charset="0"/>
                <a:ea typeface="Calibri" pitchFamily="34" charset="-122"/>
                <a:cs typeface="Calibri" pitchFamily="34" charset="-120"/>
              </a:rPr>
              <a:t>1.23</a:t>
            </a:r>
            <a:endParaRPr lang="en-US" sz="700" dirty="0"/>
          </a:p>
        </p:txBody>
      </p:sp>
      <p:sp>
        <p:nvSpPr>
          <p:cNvPr id="47" name="Text 43"/>
          <p:cNvSpPr txBox="1"/>
          <p:nvPr/>
        </p:nvSpPr>
        <p:spPr>
          <a:xfrm>
            <a:off x="3619195" y="2685723"/>
            <a:ext cx="3182112" cy="472875"/>
          </a:xfrm>
          <a:prstGeom prst="rect">
            <a:avLst/>
          </a:prstGeom>
          <a:noFill/>
          <a:ln/>
        </p:spPr>
        <p:txBody>
          <a:bodyPr wrap="square" lIns="0" tIns="0" rIns="0" bIns="0" rtlCol="0" anchor="ctr"/>
          <a:lstStyle/>
          <a:p>
            <a:pPr marL="0" indent="0" algn="r">
              <a:lnSpc>
                <a:spcPts val="1000"/>
              </a:lnSpc>
              <a:buNone/>
            </a:pPr>
            <a:r>
              <a:rPr lang="en-US" sz="800" b="1" dirty="0">
                <a:solidFill>
                  <a:srgbClr val="9AD672"/>
                </a:solidFill>
                <a:latin typeface="Calibri" pitchFamily="34" charset="0"/>
                <a:ea typeface="Calibri" pitchFamily="34" charset="-122"/>
                <a:cs typeface="Calibri" pitchFamily="34" charset="-120"/>
              </a:rPr>
              <a:t>The queue becomes a short exception list   </a:t>
            </a:r>
            <a:r>
              <a:rPr lang="en-US" sz="800" b="1" kern="0" spc="50" dirty="0">
                <a:solidFill>
                  <a:srgbClr val="9AD672"/>
                </a:solidFill>
                <a:latin typeface="Calibri" pitchFamily="34" charset="0"/>
                <a:ea typeface="Calibri" pitchFamily="34" charset="-122"/>
                <a:cs typeface="Calibri" pitchFamily="34" charset="-120"/>
              </a:rPr>
              <a:t>MODEL</a:t>
            </a:r>
            <a:endParaRPr lang="en-US" sz="800" dirty="0"/>
          </a:p>
        </p:txBody>
      </p:sp>
      <p:sp>
        <p:nvSpPr>
          <p:cNvPr id="48" name="Shape 44"/>
          <p:cNvSpPr/>
          <p:nvPr/>
        </p:nvSpPr>
        <p:spPr>
          <a:xfrm>
            <a:off x="784555" y="3158599"/>
            <a:ext cx="6016752" cy="0"/>
          </a:xfrm>
          <a:prstGeom prst="line">
            <a:avLst/>
          </a:prstGeom>
          <a:noFill/>
          <a:ln w="6350">
            <a:solidFill>
              <a:srgbClr val="3A4A8C">
                <a:alpha val="40000"/>
              </a:srgbClr>
            </a:solidFill>
            <a:prstDash val="solid"/>
          </a:ln>
        </p:spPr>
      </p:sp>
      <p:sp>
        <p:nvSpPr>
          <p:cNvPr id="49" name="Shape 45"/>
          <p:cNvSpPr/>
          <p:nvPr/>
        </p:nvSpPr>
        <p:spPr>
          <a:xfrm>
            <a:off x="784555" y="3341818"/>
            <a:ext cx="173736" cy="97292"/>
          </a:xfrm>
          <a:prstGeom prst="ellipse">
            <a:avLst/>
          </a:prstGeom>
          <a:ln w="13970">
            <a:solidFill>
              <a:srgbClr val="9CC3E8"/>
            </a:solidFill>
            <a:prstDash val="solid"/>
          </a:ln>
        </p:spPr>
      </p:sp>
      <p:sp>
        <p:nvSpPr>
          <p:cNvPr id="50" name="Shape 46"/>
          <p:cNvSpPr/>
          <p:nvPr/>
        </p:nvSpPr>
        <p:spPr>
          <a:xfrm>
            <a:off x="847100" y="3366142"/>
            <a:ext cx="48646" cy="48646"/>
          </a:xfrm>
          <a:prstGeom prst="ellipse">
            <a:avLst/>
          </a:prstGeom>
          <a:solidFill>
            <a:srgbClr val="9CC3E8"/>
          </a:solidFill>
          <a:ln/>
        </p:spPr>
      </p:sp>
      <p:sp>
        <p:nvSpPr>
          <p:cNvPr id="51" name="Text 47"/>
          <p:cNvSpPr txBox="1"/>
          <p:nvPr/>
        </p:nvSpPr>
        <p:spPr>
          <a:xfrm>
            <a:off x="1040587" y="3158599"/>
            <a:ext cx="1024128" cy="472875"/>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Surveyors</a:t>
            </a:r>
            <a:endParaRPr lang="en-US" sz="900" dirty="0"/>
          </a:p>
        </p:txBody>
      </p:sp>
      <p:sp>
        <p:nvSpPr>
          <p:cNvPr id="52" name="Shape 48"/>
          <p:cNvSpPr/>
          <p:nvPr/>
        </p:nvSpPr>
        <p:spPr>
          <a:xfrm>
            <a:off x="2101291" y="3294453"/>
            <a:ext cx="621792" cy="201168"/>
          </a:xfrm>
          <a:prstGeom prst="roundRect">
            <a:avLst>
              <a:gd name="adj" fmla="val 50000"/>
            </a:avLst>
          </a:prstGeom>
          <a:solidFill>
            <a:srgbClr val="9AA4C6">
              <a:alpha val="26000"/>
            </a:srgbClr>
          </a:solidFill>
          <a:ln w="9525">
            <a:solidFill>
              <a:srgbClr val="9AA4C6"/>
            </a:solidFill>
            <a:prstDash val="solid"/>
          </a:ln>
        </p:spPr>
      </p:sp>
      <p:sp>
        <p:nvSpPr>
          <p:cNvPr id="53" name="Text 49"/>
          <p:cNvSpPr txBox="1"/>
          <p:nvPr/>
        </p:nvSpPr>
        <p:spPr>
          <a:xfrm>
            <a:off x="2101291" y="3294453"/>
            <a:ext cx="621792" cy="201168"/>
          </a:xfrm>
          <a:prstGeom prst="rect">
            <a:avLst/>
          </a:prstGeom>
          <a:noFill/>
          <a:ln/>
        </p:spPr>
        <p:txBody>
          <a:bodyPr wrap="square" lIns="0" tIns="0" rIns="0" bIns="0" rtlCol="0" anchor="ctr"/>
          <a:lstStyle/>
          <a:p>
            <a:pPr marL="0" indent="0" algn="ctr">
              <a:buNone/>
            </a:pPr>
            <a:r>
              <a:rPr lang="en-US" sz="700" b="1" kern="0" spc="60" dirty="0">
                <a:solidFill>
                  <a:srgbClr val="9AA4C6"/>
                </a:solidFill>
                <a:latin typeface="Calibri" pitchFamily="34" charset="0"/>
                <a:ea typeface="Calibri" pitchFamily="34" charset="-122"/>
                <a:cs typeface="Calibri" pitchFamily="34" charset="-120"/>
              </a:rPr>
              <a:t>90,521</a:t>
            </a:r>
            <a:endParaRPr lang="en-US" sz="700" dirty="0"/>
          </a:p>
        </p:txBody>
      </p:sp>
      <p:sp>
        <p:nvSpPr>
          <p:cNvPr id="54" name="Shape 50"/>
          <p:cNvSpPr/>
          <p:nvPr/>
        </p:nvSpPr>
        <p:spPr>
          <a:xfrm rot="5400000">
            <a:off x="2777947" y="3340173"/>
            <a:ext cx="100584" cy="118872"/>
          </a:xfrm>
          <a:prstGeom prst="triangle">
            <a:avLst/>
          </a:prstGeom>
          <a:solidFill>
            <a:srgbClr val="9AD672">
              <a:alpha val="80000"/>
            </a:srgbClr>
          </a:solidFill>
          <a:ln/>
        </p:spPr>
      </p:sp>
      <p:sp>
        <p:nvSpPr>
          <p:cNvPr id="55" name="Shape 51"/>
          <p:cNvSpPr/>
          <p:nvPr/>
        </p:nvSpPr>
        <p:spPr>
          <a:xfrm>
            <a:off x="2924251" y="3294453"/>
            <a:ext cx="749808" cy="201168"/>
          </a:xfrm>
          <a:prstGeom prst="roundRect">
            <a:avLst>
              <a:gd name="adj" fmla="val 50000"/>
            </a:avLst>
          </a:prstGeom>
          <a:solidFill>
            <a:srgbClr val="70AD47">
              <a:alpha val="26000"/>
            </a:srgbClr>
          </a:solidFill>
          <a:ln w="9525">
            <a:solidFill>
              <a:srgbClr val="70AD47"/>
            </a:solidFill>
            <a:prstDash val="solid"/>
          </a:ln>
        </p:spPr>
      </p:sp>
      <p:sp>
        <p:nvSpPr>
          <p:cNvPr id="56" name="Text 52"/>
          <p:cNvSpPr txBox="1"/>
          <p:nvPr/>
        </p:nvSpPr>
        <p:spPr>
          <a:xfrm>
            <a:off x="2924251" y="3294453"/>
            <a:ext cx="749808" cy="201168"/>
          </a:xfrm>
          <a:prstGeom prst="rect">
            <a:avLst/>
          </a:prstGeom>
          <a:noFill/>
          <a:ln/>
        </p:spPr>
        <p:txBody>
          <a:bodyPr wrap="square" lIns="0" tIns="0" rIns="0" bIns="0" rtlCol="0" anchor="ctr"/>
          <a:lstStyle/>
          <a:p>
            <a:pPr marL="0" indent="0" algn="ctr">
              <a:buNone/>
            </a:pPr>
            <a:r>
              <a:rPr lang="en-US" sz="700" b="1" kern="0" spc="60" dirty="0">
                <a:solidFill>
                  <a:srgbClr val="70AD47"/>
                </a:solidFill>
                <a:latin typeface="Calibri" pitchFamily="34" charset="0"/>
                <a:ea typeface="Calibri" pitchFamily="34" charset="-122"/>
                <a:cs typeface="Calibri" pitchFamily="34" charset="-120"/>
              </a:rPr>
              <a:t>16,458</a:t>
            </a:r>
            <a:endParaRPr lang="en-US" sz="700" dirty="0"/>
          </a:p>
        </p:txBody>
      </p:sp>
      <p:sp>
        <p:nvSpPr>
          <p:cNvPr id="57" name="Text 53"/>
          <p:cNvSpPr txBox="1"/>
          <p:nvPr/>
        </p:nvSpPr>
        <p:spPr>
          <a:xfrm>
            <a:off x="3619195" y="3158599"/>
            <a:ext cx="3182112" cy="472875"/>
          </a:xfrm>
          <a:prstGeom prst="rect">
            <a:avLst/>
          </a:prstGeom>
          <a:noFill/>
          <a:ln/>
        </p:spPr>
        <p:txBody>
          <a:bodyPr wrap="square" lIns="0" tIns="0" rIns="0" bIns="0" rtlCol="0" anchor="ctr"/>
          <a:lstStyle/>
          <a:p>
            <a:pPr marL="0" indent="0" algn="r">
              <a:lnSpc>
                <a:spcPts val="1000"/>
              </a:lnSpc>
              <a:buNone/>
            </a:pPr>
            <a:r>
              <a:rPr lang="en-US" sz="800" b="1" dirty="0">
                <a:solidFill>
                  <a:srgbClr val="9AD672"/>
                </a:solidFill>
                <a:latin typeface="Calibri" pitchFamily="34" charset="0"/>
                <a:ea typeface="Calibri" pitchFamily="34" charset="-122"/>
                <a:cs typeface="Calibri" pitchFamily="34" charset="-120"/>
              </a:rPr>
              <a:t>74,063 physical visits avoided a year   </a:t>
            </a:r>
            <a:r>
              <a:rPr lang="en-US" sz="800" b="1" kern="0" spc="50" dirty="0">
                <a:solidFill>
                  <a:srgbClr val="9AD672"/>
                </a:solidFill>
                <a:latin typeface="Calibri" pitchFamily="34" charset="0"/>
                <a:ea typeface="Calibri" pitchFamily="34" charset="-122"/>
                <a:cs typeface="Calibri" pitchFamily="34" charset="-120"/>
              </a:rPr>
              <a:t>MODEL</a:t>
            </a:r>
            <a:endParaRPr lang="en-US" sz="800" dirty="0"/>
          </a:p>
        </p:txBody>
      </p:sp>
      <p:sp>
        <p:nvSpPr>
          <p:cNvPr id="58" name="Shape 54"/>
          <p:cNvSpPr/>
          <p:nvPr/>
        </p:nvSpPr>
        <p:spPr>
          <a:xfrm>
            <a:off x="784555" y="3631474"/>
            <a:ext cx="6016752" cy="0"/>
          </a:xfrm>
          <a:prstGeom prst="line">
            <a:avLst/>
          </a:prstGeom>
          <a:noFill/>
          <a:ln w="6350">
            <a:solidFill>
              <a:srgbClr val="3A4A8C">
                <a:alpha val="40000"/>
              </a:srgbClr>
            </a:solidFill>
            <a:prstDash val="solid"/>
          </a:ln>
        </p:spPr>
      </p:sp>
      <p:sp>
        <p:nvSpPr>
          <p:cNvPr id="59" name="Shape 55"/>
          <p:cNvSpPr/>
          <p:nvPr/>
        </p:nvSpPr>
        <p:spPr>
          <a:xfrm>
            <a:off x="784555" y="3842492"/>
            <a:ext cx="173736" cy="55596"/>
          </a:xfrm>
          <a:prstGeom prst="roundRect">
            <a:avLst>
              <a:gd name="adj" fmla="val 31250"/>
            </a:avLst>
          </a:prstGeom>
          <a:ln w="13970">
            <a:solidFill>
              <a:srgbClr val="9CC3E8"/>
            </a:solidFill>
            <a:prstDash val="solid"/>
          </a:ln>
        </p:spPr>
      </p:sp>
      <p:sp>
        <p:nvSpPr>
          <p:cNvPr id="60" name="Shape 56"/>
          <p:cNvSpPr/>
          <p:nvPr/>
        </p:nvSpPr>
        <p:spPr>
          <a:xfrm>
            <a:off x="815828" y="3804270"/>
            <a:ext cx="111191" cy="41697"/>
          </a:xfrm>
          <a:prstGeom prst="trapezoid">
            <a:avLst/>
          </a:prstGeom>
          <a:ln w="12700">
            <a:solidFill>
              <a:srgbClr val="9CC3E8"/>
            </a:solidFill>
            <a:prstDash val="solid"/>
          </a:ln>
        </p:spPr>
      </p:sp>
      <p:sp>
        <p:nvSpPr>
          <p:cNvPr id="61" name="Shape 57"/>
          <p:cNvSpPr/>
          <p:nvPr/>
        </p:nvSpPr>
        <p:spPr>
          <a:xfrm>
            <a:off x="812353" y="3887663"/>
            <a:ext cx="31272" cy="31272"/>
          </a:xfrm>
          <a:prstGeom prst="ellipse">
            <a:avLst/>
          </a:prstGeom>
          <a:solidFill>
            <a:srgbClr val="9CC3E8"/>
          </a:solidFill>
          <a:ln/>
        </p:spPr>
      </p:sp>
      <p:sp>
        <p:nvSpPr>
          <p:cNvPr id="62" name="Shape 58"/>
          <p:cNvSpPr/>
          <p:nvPr/>
        </p:nvSpPr>
        <p:spPr>
          <a:xfrm>
            <a:off x="899221" y="3887663"/>
            <a:ext cx="31272" cy="31272"/>
          </a:xfrm>
          <a:prstGeom prst="ellipse">
            <a:avLst/>
          </a:prstGeom>
          <a:solidFill>
            <a:srgbClr val="9CC3E8"/>
          </a:solidFill>
          <a:ln/>
        </p:spPr>
      </p:sp>
      <p:sp>
        <p:nvSpPr>
          <p:cNvPr id="63" name="Text 59"/>
          <p:cNvSpPr txBox="1"/>
          <p:nvPr/>
        </p:nvSpPr>
        <p:spPr>
          <a:xfrm>
            <a:off x="1040587" y="3631474"/>
            <a:ext cx="1024128" cy="472875"/>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Garages</a:t>
            </a:r>
            <a:endParaRPr lang="en-US" sz="900" dirty="0"/>
          </a:p>
        </p:txBody>
      </p:sp>
      <p:sp>
        <p:nvSpPr>
          <p:cNvPr id="64" name="Shape 60"/>
          <p:cNvSpPr/>
          <p:nvPr/>
        </p:nvSpPr>
        <p:spPr>
          <a:xfrm>
            <a:off x="2101291" y="3767328"/>
            <a:ext cx="621792" cy="201168"/>
          </a:xfrm>
          <a:prstGeom prst="roundRect">
            <a:avLst>
              <a:gd name="adj" fmla="val 50000"/>
            </a:avLst>
          </a:prstGeom>
          <a:solidFill>
            <a:srgbClr val="9AA4C6">
              <a:alpha val="26000"/>
            </a:srgbClr>
          </a:solidFill>
          <a:ln w="9525">
            <a:solidFill>
              <a:srgbClr val="9AA4C6"/>
            </a:solidFill>
            <a:prstDash val="solid"/>
          </a:ln>
        </p:spPr>
      </p:sp>
      <p:sp>
        <p:nvSpPr>
          <p:cNvPr id="65" name="Text 61"/>
          <p:cNvSpPr txBox="1"/>
          <p:nvPr/>
        </p:nvSpPr>
        <p:spPr>
          <a:xfrm>
            <a:off x="2101291" y="3767328"/>
            <a:ext cx="621792" cy="201168"/>
          </a:xfrm>
          <a:prstGeom prst="rect">
            <a:avLst/>
          </a:prstGeom>
          <a:noFill/>
          <a:ln/>
        </p:spPr>
        <p:txBody>
          <a:bodyPr wrap="square" lIns="0" tIns="0" rIns="0" bIns="0" rtlCol="0" anchor="ctr"/>
          <a:lstStyle/>
          <a:p>
            <a:pPr marL="0" indent="0" algn="ctr">
              <a:buNone/>
            </a:pPr>
            <a:r>
              <a:rPr lang="en-US" sz="700" b="1" kern="0" spc="60" dirty="0">
                <a:solidFill>
                  <a:srgbClr val="9AA4C6"/>
                </a:solidFill>
                <a:latin typeface="Calibri" pitchFamily="34" charset="0"/>
                <a:ea typeface="Calibri" pitchFamily="34" charset="-122"/>
                <a:cs typeface="Calibri" pitchFamily="34" charset="-120"/>
              </a:rPr>
              <a:t>4 d</a:t>
            </a:r>
            <a:endParaRPr lang="en-US" sz="700" dirty="0"/>
          </a:p>
        </p:txBody>
      </p:sp>
      <p:sp>
        <p:nvSpPr>
          <p:cNvPr id="66" name="Shape 62"/>
          <p:cNvSpPr/>
          <p:nvPr/>
        </p:nvSpPr>
        <p:spPr>
          <a:xfrm rot="5400000">
            <a:off x="2777947" y="3813048"/>
            <a:ext cx="100584" cy="118872"/>
          </a:xfrm>
          <a:prstGeom prst="triangle">
            <a:avLst/>
          </a:prstGeom>
          <a:solidFill>
            <a:srgbClr val="9AD672">
              <a:alpha val="80000"/>
            </a:srgbClr>
          </a:solidFill>
          <a:ln/>
        </p:spPr>
      </p:sp>
      <p:sp>
        <p:nvSpPr>
          <p:cNvPr id="67" name="Shape 63"/>
          <p:cNvSpPr/>
          <p:nvPr/>
        </p:nvSpPr>
        <p:spPr>
          <a:xfrm>
            <a:off x="2924251" y="3767328"/>
            <a:ext cx="749808" cy="201168"/>
          </a:xfrm>
          <a:prstGeom prst="roundRect">
            <a:avLst>
              <a:gd name="adj" fmla="val 50000"/>
            </a:avLst>
          </a:prstGeom>
          <a:solidFill>
            <a:srgbClr val="70AD47">
              <a:alpha val="26000"/>
            </a:srgbClr>
          </a:solidFill>
          <a:ln w="9525">
            <a:solidFill>
              <a:srgbClr val="70AD47"/>
            </a:solidFill>
            <a:prstDash val="solid"/>
          </a:ln>
        </p:spPr>
      </p:sp>
      <p:sp>
        <p:nvSpPr>
          <p:cNvPr id="68" name="Text 64"/>
          <p:cNvSpPr txBox="1"/>
          <p:nvPr/>
        </p:nvSpPr>
        <p:spPr>
          <a:xfrm>
            <a:off x="2924251" y="3767328"/>
            <a:ext cx="749808" cy="201168"/>
          </a:xfrm>
          <a:prstGeom prst="rect">
            <a:avLst/>
          </a:prstGeom>
          <a:noFill/>
          <a:ln/>
        </p:spPr>
        <p:txBody>
          <a:bodyPr wrap="square" lIns="0" tIns="0" rIns="0" bIns="0" rtlCol="0" anchor="ctr"/>
          <a:lstStyle/>
          <a:p>
            <a:pPr marL="0" indent="0" algn="ctr">
              <a:buNone/>
            </a:pPr>
            <a:r>
              <a:rPr lang="en-US" sz="700" b="1" kern="0" spc="60" dirty="0">
                <a:solidFill>
                  <a:srgbClr val="70AD47"/>
                </a:solidFill>
                <a:latin typeface="Calibri" pitchFamily="34" charset="0"/>
                <a:ea typeface="Calibri" pitchFamily="34" charset="-122"/>
                <a:cs typeface="Calibri" pitchFamily="34" charset="-120"/>
              </a:rPr>
              <a:t>1 d</a:t>
            </a:r>
            <a:endParaRPr lang="en-US" sz="700" dirty="0"/>
          </a:p>
        </p:txBody>
      </p:sp>
      <p:sp>
        <p:nvSpPr>
          <p:cNvPr id="69" name="Text 65"/>
          <p:cNvSpPr txBox="1"/>
          <p:nvPr/>
        </p:nvSpPr>
        <p:spPr>
          <a:xfrm>
            <a:off x="3619195" y="3631474"/>
            <a:ext cx="3182112" cy="472875"/>
          </a:xfrm>
          <a:prstGeom prst="rect">
            <a:avLst/>
          </a:prstGeom>
          <a:noFill/>
          <a:ln/>
        </p:spPr>
        <p:txBody>
          <a:bodyPr wrap="square" lIns="0" tIns="0" rIns="0" bIns="0" rtlCol="0" anchor="ctr"/>
          <a:lstStyle/>
          <a:p>
            <a:pPr marL="0" indent="0" algn="r">
              <a:lnSpc>
                <a:spcPts val="1000"/>
              </a:lnSpc>
              <a:buNone/>
            </a:pPr>
            <a:r>
              <a:rPr lang="en-US" sz="800" b="1" dirty="0">
                <a:solidFill>
                  <a:srgbClr val="9AD672"/>
                </a:solidFill>
                <a:latin typeface="Calibri" pitchFamily="34" charset="0"/>
                <a:ea typeface="Calibri" pitchFamily="34" charset="-122"/>
                <a:cs typeface="Calibri" pitchFamily="34" charset="-120"/>
              </a:rPr>
              <a:t>3 days cut from estimate to approval   </a:t>
            </a:r>
            <a:r>
              <a:rPr lang="en-US" sz="800" b="1" kern="0" spc="50" dirty="0">
                <a:solidFill>
                  <a:srgbClr val="9AD672"/>
                </a:solidFill>
                <a:latin typeface="Calibri" pitchFamily="34" charset="0"/>
                <a:ea typeface="Calibri" pitchFamily="34" charset="-122"/>
                <a:cs typeface="Calibri" pitchFamily="34" charset="-120"/>
              </a:rPr>
              <a:t>MODEL</a:t>
            </a:r>
            <a:endParaRPr lang="en-US" sz="800" dirty="0"/>
          </a:p>
        </p:txBody>
      </p:sp>
      <p:sp>
        <p:nvSpPr>
          <p:cNvPr id="70" name="Shape 66"/>
          <p:cNvSpPr/>
          <p:nvPr/>
        </p:nvSpPr>
        <p:spPr>
          <a:xfrm>
            <a:off x="784555" y="4104350"/>
            <a:ext cx="6016752" cy="0"/>
          </a:xfrm>
          <a:prstGeom prst="line">
            <a:avLst/>
          </a:prstGeom>
          <a:noFill/>
          <a:ln w="6350">
            <a:solidFill>
              <a:srgbClr val="3A4A8C">
                <a:alpha val="40000"/>
              </a:srgbClr>
            </a:solidFill>
            <a:prstDash val="solid"/>
          </a:ln>
        </p:spPr>
      </p:sp>
      <p:sp>
        <p:nvSpPr>
          <p:cNvPr id="71" name="Shape 67"/>
          <p:cNvSpPr/>
          <p:nvPr/>
        </p:nvSpPr>
        <p:spPr>
          <a:xfrm>
            <a:off x="855787" y="4233711"/>
            <a:ext cx="31272" cy="31272"/>
          </a:xfrm>
          <a:prstGeom prst="ellipse">
            <a:avLst/>
          </a:prstGeom>
          <a:solidFill>
            <a:srgbClr val="9CC3E8"/>
          </a:solidFill>
          <a:ln/>
        </p:spPr>
      </p:sp>
      <p:sp>
        <p:nvSpPr>
          <p:cNvPr id="72" name="Shape 68"/>
          <p:cNvSpPr/>
          <p:nvPr/>
        </p:nvSpPr>
        <p:spPr>
          <a:xfrm>
            <a:off x="768919" y="4306680"/>
            <a:ext cx="31272" cy="31272"/>
          </a:xfrm>
          <a:prstGeom prst="ellipse">
            <a:avLst/>
          </a:prstGeom>
          <a:solidFill>
            <a:srgbClr val="9CC3E8"/>
          </a:solidFill>
          <a:ln/>
        </p:spPr>
      </p:sp>
      <p:sp>
        <p:nvSpPr>
          <p:cNvPr id="73" name="Shape 69"/>
          <p:cNvSpPr/>
          <p:nvPr/>
        </p:nvSpPr>
        <p:spPr>
          <a:xfrm>
            <a:off x="807141" y="4407447"/>
            <a:ext cx="31272" cy="31272"/>
          </a:xfrm>
          <a:prstGeom prst="ellipse">
            <a:avLst/>
          </a:prstGeom>
          <a:solidFill>
            <a:srgbClr val="9CC3E8"/>
          </a:solidFill>
          <a:ln/>
        </p:spPr>
      </p:sp>
      <p:sp>
        <p:nvSpPr>
          <p:cNvPr id="74" name="Shape 70"/>
          <p:cNvSpPr/>
          <p:nvPr/>
        </p:nvSpPr>
        <p:spPr>
          <a:xfrm>
            <a:off x="904433" y="4407447"/>
            <a:ext cx="31272" cy="31272"/>
          </a:xfrm>
          <a:prstGeom prst="ellipse">
            <a:avLst/>
          </a:prstGeom>
          <a:solidFill>
            <a:srgbClr val="9CC3E8"/>
          </a:solidFill>
          <a:ln/>
        </p:spPr>
      </p:sp>
      <p:sp>
        <p:nvSpPr>
          <p:cNvPr id="75" name="Shape 71"/>
          <p:cNvSpPr/>
          <p:nvPr/>
        </p:nvSpPr>
        <p:spPr>
          <a:xfrm>
            <a:off x="942655" y="4306680"/>
            <a:ext cx="31272" cy="31272"/>
          </a:xfrm>
          <a:prstGeom prst="ellipse">
            <a:avLst/>
          </a:prstGeom>
          <a:solidFill>
            <a:srgbClr val="9CC3E8"/>
          </a:solidFill>
          <a:ln/>
        </p:spPr>
      </p:sp>
      <p:sp>
        <p:nvSpPr>
          <p:cNvPr id="76" name="Shape 72"/>
          <p:cNvSpPr/>
          <p:nvPr/>
        </p:nvSpPr>
        <p:spPr>
          <a:xfrm flipV="1">
            <a:off x="784555" y="4249347"/>
            <a:ext cx="86868" cy="72969"/>
          </a:xfrm>
          <a:prstGeom prst="line">
            <a:avLst/>
          </a:prstGeom>
          <a:noFill/>
          <a:ln w="9525">
            <a:solidFill>
              <a:srgbClr val="9CC3E8"/>
            </a:solidFill>
            <a:prstDash val="solid"/>
          </a:ln>
        </p:spPr>
      </p:sp>
      <p:sp>
        <p:nvSpPr>
          <p:cNvPr id="77" name="Shape 73"/>
          <p:cNvSpPr/>
          <p:nvPr/>
        </p:nvSpPr>
        <p:spPr>
          <a:xfrm>
            <a:off x="871423" y="4249347"/>
            <a:ext cx="86868" cy="72969"/>
          </a:xfrm>
          <a:prstGeom prst="line">
            <a:avLst/>
          </a:prstGeom>
          <a:noFill/>
          <a:ln w="9525">
            <a:solidFill>
              <a:srgbClr val="9CC3E8"/>
            </a:solidFill>
            <a:prstDash val="solid"/>
          </a:ln>
        </p:spPr>
      </p:sp>
      <p:sp>
        <p:nvSpPr>
          <p:cNvPr id="78" name="Shape 74"/>
          <p:cNvSpPr/>
          <p:nvPr/>
        </p:nvSpPr>
        <p:spPr>
          <a:xfrm>
            <a:off x="822777" y="4423083"/>
            <a:ext cx="97292" cy="0"/>
          </a:xfrm>
          <a:prstGeom prst="line">
            <a:avLst/>
          </a:prstGeom>
          <a:noFill/>
          <a:ln w="9525">
            <a:solidFill>
              <a:srgbClr val="9CC3E8"/>
            </a:solidFill>
            <a:prstDash val="solid"/>
          </a:ln>
        </p:spPr>
      </p:sp>
      <p:sp>
        <p:nvSpPr>
          <p:cNvPr id="79" name="Text 75"/>
          <p:cNvSpPr txBox="1"/>
          <p:nvPr/>
        </p:nvSpPr>
        <p:spPr>
          <a:xfrm>
            <a:off x="1040587" y="4104350"/>
            <a:ext cx="1024128" cy="472875"/>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Fraud / SIU</a:t>
            </a:r>
            <a:endParaRPr lang="en-US" sz="900" dirty="0"/>
          </a:p>
        </p:txBody>
      </p:sp>
      <p:sp>
        <p:nvSpPr>
          <p:cNvPr id="80" name="Shape 76"/>
          <p:cNvSpPr/>
          <p:nvPr/>
        </p:nvSpPr>
        <p:spPr>
          <a:xfrm>
            <a:off x="2101291" y="4240203"/>
            <a:ext cx="621792" cy="201168"/>
          </a:xfrm>
          <a:prstGeom prst="roundRect">
            <a:avLst>
              <a:gd name="adj" fmla="val 50000"/>
            </a:avLst>
          </a:prstGeom>
          <a:solidFill>
            <a:srgbClr val="9AA4C6">
              <a:alpha val="26000"/>
            </a:srgbClr>
          </a:solidFill>
          <a:ln w="9525">
            <a:solidFill>
              <a:srgbClr val="9AA4C6"/>
            </a:solidFill>
            <a:prstDash val="solid"/>
          </a:ln>
        </p:spPr>
      </p:sp>
      <p:sp>
        <p:nvSpPr>
          <p:cNvPr id="81" name="Text 77"/>
          <p:cNvSpPr txBox="1"/>
          <p:nvPr/>
        </p:nvSpPr>
        <p:spPr>
          <a:xfrm>
            <a:off x="2101291" y="4240203"/>
            <a:ext cx="621792" cy="201168"/>
          </a:xfrm>
          <a:prstGeom prst="rect">
            <a:avLst/>
          </a:prstGeom>
          <a:noFill/>
          <a:ln/>
        </p:spPr>
        <p:txBody>
          <a:bodyPr wrap="square" lIns="0" tIns="0" rIns="0" bIns="0" rtlCol="0" anchor="ctr"/>
          <a:lstStyle/>
          <a:p>
            <a:pPr marL="0" indent="0" algn="ctr">
              <a:buNone/>
            </a:pPr>
            <a:r>
              <a:rPr lang="en-US" sz="700" b="1" kern="0" spc="60" dirty="0">
                <a:solidFill>
                  <a:srgbClr val="9AA4C6"/>
                </a:solidFill>
                <a:latin typeface="Calibri" pitchFamily="34" charset="0"/>
                <a:ea typeface="Calibri" pitchFamily="34" charset="-122"/>
                <a:cs typeface="Calibri" pitchFamily="34" charset="-120"/>
              </a:rPr>
              <a:t>62%</a:t>
            </a:r>
            <a:endParaRPr lang="en-US" sz="700" dirty="0"/>
          </a:p>
        </p:txBody>
      </p:sp>
      <p:sp>
        <p:nvSpPr>
          <p:cNvPr id="82" name="Shape 78"/>
          <p:cNvSpPr/>
          <p:nvPr/>
        </p:nvSpPr>
        <p:spPr>
          <a:xfrm rot="5400000">
            <a:off x="2777947" y="4285923"/>
            <a:ext cx="100584" cy="118872"/>
          </a:xfrm>
          <a:prstGeom prst="triangle">
            <a:avLst/>
          </a:prstGeom>
          <a:solidFill>
            <a:srgbClr val="9AD672">
              <a:alpha val="80000"/>
            </a:srgbClr>
          </a:solidFill>
          <a:ln/>
        </p:spPr>
      </p:sp>
      <p:sp>
        <p:nvSpPr>
          <p:cNvPr id="83" name="Shape 79"/>
          <p:cNvSpPr/>
          <p:nvPr/>
        </p:nvSpPr>
        <p:spPr>
          <a:xfrm>
            <a:off x="2924251" y="4240203"/>
            <a:ext cx="749808" cy="201168"/>
          </a:xfrm>
          <a:prstGeom prst="roundRect">
            <a:avLst>
              <a:gd name="adj" fmla="val 50000"/>
            </a:avLst>
          </a:prstGeom>
          <a:solidFill>
            <a:srgbClr val="70AD47">
              <a:alpha val="26000"/>
            </a:srgbClr>
          </a:solidFill>
          <a:ln w="9525">
            <a:solidFill>
              <a:srgbClr val="70AD47"/>
            </a:solidFill>
            <a:prstDash val="solid"/>
          </a:ln>
        </p:spPr>
      </p:sp>
      <p:sp>
        <p:nvSpPr>
          <p:cNvPr id="84" name="Text 80"/>
          <p:cNvSpPr txBox="1"/>
          <p:nvPr/>
        </p:nvSpPr>
        <p:spPr>
          <a:xfrm>
            <a:off x="2924251" y="4240203"/>
            <a:ext cx="749808" cy="201168"/>
          </a:xfrm>
          <a:prstGeom prst="rect">
            <a:avLst/>
          </a:prstGeom>
          <a:noFill/>
          <a:ln/>
        </p:spPr>
        <p:txBody>
          <a:bodyPr wrap="square" lIns="0" tIns="0" rIns="0" bIns="0" rtlCol="0" anchor="ctr"/>
          <a:lstStyle/>
          <a:p>
            <a:pPr marL="0" indent="0" algn="ctr">
              <a:buNone/>
            </a:pPr>
            <a:r>
              <a:rPr lang="en-US" sz="700" b="1" kern="0" spc="60" dirty="0">
                <a:solidFill>
                  <a:srgbClr val="70AD47"/>
                </a:solidFill>
                <a:latin typeface="Calibri" pitchFamily="34" charset="0"/>
                <a:ea typeface="Calibri" pitchFamily="34" charset="-122"/>
                <a:cs typeface="Calibri" pitchFamily="34" charset="-120"/>
              </a:rPr>
              <a:t>90%</a:t>
            </a:r>
            <a:endParaRPr lang="en-US" sz="700" dirty="0"/>
          </a:p>
        </p:txBody>
      </p:sp>
      <p:sp>
        <p:nvSpPr>
          <p:cNvPr id="85" name="Text 81"/>
          <p:cNvSpPr txBox="1"/>
          <p:nvPr/>
        </p:nvSpPr>
        <p:spPr>
          <a:xfrm>
            <a:off x="3619195" y="4104350"/>
            <a:ext cx="3182112" cy="472875"/>
          </a:xfrm>
          <a:prstGeom prst="rect">
            <a:avLst/>
          </a:prstGeom>
          <a:noFill/>
          <a:ln/>
        </p:spPr>
        <p:txBody>
          <a:bodyPr wrap="square" lIns="0" tIns="0" rIns="0" bIns="0" rtlCol="0" anchor="ctr"/>
          <a:lstStyle/>
          <a:p>
            <a:pPr marL="0" indent="0" algn="r">
              <a:lnSpc>
                <a:spcPts val="1000"/>
              </a:lnSpc>
              <a:buNone/>
            </a:pPr>
            <a:r>
              <a:rPr lang="en-US" sz="800" b="1" dirty="0">
                <a:solidFill>
                  <a:srgbClr val="9AD672"/>
                </a:solidFill>
                <a:latin typeface="Calibri" pitchFamily="34" charset="0"/>
                <a:ea typeface="Calibri" pitchFamily="34" charset="-122"/>
                <a:cs typeface="Calibri" pitchFamily="34" charset="-120"/>
              </a:rPr>
              <a:t>undetected share falls 38% → 10%   </a:t>
            </a:r>
            <a:r>
              <a:rPr lang="en-US" sz="800" b="1" kern="0" spc="50" dirty="0">
                <a:solidFill>
                  <a:srgbClr val="9AD672"/>
                </a:solidFill>
                <a:latin typeface="Calibri" pitchFamily="34" charset="0"/>
                <a:ea typeface="Calibri" pitchFamily="34" charset="-122"/>
                <a:cs typeface="Calibri" pitchFamily="34" charset="-120"/>
              </a:rPr>
              <a:t>MODEL</a:t>
            </a:r>
            <a:endParaRPr lang="en-US" sz="800" dirty="0"/>
          </a:p>
        </p:txBody>
      </p:sp>
      <p:sp>
        <p:nvSpPr>
          <p:cNvPr id="86" name="Shape 82"/>
          <p:cNvSpPr/>
          <p:nvPr/>
        </p:nvSpPr>
        <p:spPr>
          <a:xfrm>
            <a:off x="784555" y="4577225"/>
            <a:ext cx="6016752" cy="0"/>
          </a:xfrm>
          <a:prstGeom prst="line">
            <a:avLst/>
          </a:prstGeom>
          <a:noFill/>
          <a:ln w="6350">
            <a:solidFill>
              <a:srgbClr val="3A4A8C">
                <a:alpha val="40000"/>
              </a:srgbClr>
            </a:solidFill>
            <a:prstDash val="solid"/>
          </a:ln>
        </p:spPr>
      </p:sp>
      <p:sp>
        <p:nvSpPr>
          <p:cNvPr id="87" name="Shape 83"/>
          <p:cNvSpPr/>
          <p:nvPr/>
        </p:nvSpPr>
        <p:spPr>
          <a:xfrm>
            <a:off x="801929" y="4795192"/>
            <a:ext cx="138989" cy="90343"/>
          </a:xfrm>
          <a:prstGeom prst="roundRect">
            <a:avLst>
              <a:gd name="adj" fmla="val 15385"/>
            </a:avLst>
          </a:prstGeom>
          <a:ln w="13970">
            <a:solidFill>
              <a:srgbClr val="9CC3E8"/>
            </a:solidFill>
            <a:prstDash val="solid"/>
          </a:ln>
        </p:spPr>
      </p:sp>
      <p:sp>
        <p:nvSpPr>
          <p:cNvPr id="88" name="Shape 84"/>
          <p:cNvSpPr/>
          <p:nvPr/>
        </p:nvSpPr>
        <p:spPr>
          <a:xfrm>
            <a:off x="829727" y="4732647"/>
            <a:ext cx="83393" cy="104242"/>
          </a:xfrm>
          <a:prstGeom prst="blockArc">
            <a:avLst/>
          </a:prstGeom>
          <a:ln w="13970">
            <a:solidFill>
              <a:srgbClr val="9CC3E8"/>
            </a:solidFill>
            <a:prstDash val="solid"/>
          </a:ln>
        </p:spPr>
      </p:sp>
      <p:sp>
        <p:nvSpPr>
          <p:cNvPr id="89" name="Text 85"/>
          <p:cNvSpPr txBox="1"/>
          <p:nvPr/>
        </p:nvSpPr>
        <p:spPr>
          <a:xfrm>
            <a:off x="1040587" y="4577225"/>
            <a:ext cx="1024128" cy="472875"/>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Regulator</a:t>
            </a:r>
            <a:endParaRPr lang="en-US" sz="900" dirty="0"/>
          </a:p>
        </p:txBody>
      </p:sp>
      <p:sp>
        <p:nvSpPr>
          <p:cNvPr id="90" name="Shape 86"/>
          <p:cNvSpPr/>
          <p:nvPr/>
        </p:nvSpPr>
        <p:spPr>
          <a:xfrm>
            <a:off x="2101291" y="4713079"/>
            <a:ext cx="621792" cy="201168"/>
          </a:xfrm>
          <a:prstGeom prst="roundRect">
            <a:avLst>
              <a:gd name="adj" fmla="val 50000"/>
            </a:avLst>
          </a:prstGeom>
          <a:solidFill>
            <a:srgbClr val="9AA4C6">
              <a:alpha val="26000"/>
            </a:srgbClr>
          </a:solidFill>
          <a:ln w="9525">
            <a:solidFill>
              <a:srgbClr val="9AA4C6"/>
            </a:solidFill>
            <a:prstDash val="solid"/>
          </a:ln>
        </p:spPr>
      </p:sp>
      <p:sp>
        <p:nvSpPr>
          <p:cNvPr id="91" name="Text 87"/>
          <p:cNvSpPr txBox="1"/>
          <p:nvPr/>
        </p:nvSpPr>
        <p:spPr>
          <a:xfrm>
            <a:off x="2101291" y="4713079"/>
            <a:ext cx="621792" cy="201168"/>
          </a:xfrm>
          <a:prstGeom prst="rect">
            <a:avLst/>
          </a:prstGeom>
          <a:noFill/>
          <a:ln/>
        </p:spPr>
        <p:txBody>
          <a:bodyPr wrap="square" lIns="0" tIns="0" rIns="0" bIns="0" rtlCol="0" anchor="ctr"/>
          <a:lstStyle/>
          <a:p>
            <a:pPr marL="0" indent="0" algn="ctr">
              <a:buNone/>
            </a:pPr>
            <a:r>
              <a:rPr lang="en-US" sz="700" b="1" kern="0" spc="60" dirty="0">
                <a:solidFill>
                  <a:srgbClr val="9AA4C6"/>
                </a:solidFill>
                <a:latin typeface="Calibri" pitchFamily="34" charset="0"/>
                <a:ea typeface="Calibri" pitchFamily="34" charset="-122"/>
                <a:cs typeface="Calibri" pitchFamily="34" charset="-120"/>
              </a:rPr>
              <a:t>no trail</a:t>
            </a:r>
            <a:endParaRPr lang="en-US" sz="700" dirty="0"/>
          </a:p>
        </p:txBody>
      </p:sp>
      <p:sp>
        <p:nvSpPr>
          <p:cNvPr id="92" name="Shape 88"/>
          <p:cNvSpPr/>
          <p:nvPr/>
        </p:nvSpPr>
        <p:spPr>
          <a:xfrm rot="5400000">
            <a:off x="2777947" y="4758799"/>
            <a:ext cx="100584" cy="118872"/>
          </a:xfrm>
          <a:prstGeom prst="triangle">
            <a:avLst/>
          </a:prstGeom>
          <a:solidFill>
            <a:srgbClr val="9AD672">
              <a:alpha val="80000"/>
            </a:srgbClr>
          </a:solidFill>
          <a:ln/>
        </p:spPr>
      </p:sp>
      <p:sp>
        <p:nvSpPr>
          <p:cNvPr id="93" name="Shape 89"/>
          <p:cNvSpPr/>
          <p:nvPr/>
        </p:nvSpPr>
        <p:spPr>
          <a:xfrm>
            <a:off x="2924251" y="4713079"/>
            <a:ext cx="749808" cy="201168"/>
          </a:xfrm>
          <a:prstGeom prst="roundRect">
            <a:avLst>
              <a:gd name="adj" fmla="val 50000"/>
            </a:avLst>
          </a:prstGeom>
          <a:solidFill>
            <a:srgbClr val="70AD47">
              <a:alpha val="26000"/>
            </a:srgbClr>
          </a:solidFill>
          <a:ln w="9525">
            <a:solidFill>
              <a:srgbClr val="70AD47"/>
            </a:solidFill>
            <a:prstDash val="solid"/>
          </a:ln>
        </p:spPr>
      </p:sp>
      <p:sp>
        <p:nvSpPr>
          <p:cNvPr id="94" name="Text 90"/>
          <p:cNvSpPr txBox="1"/>
          <p:nvPr/>
        </p:nvSpPr>
        <p:spPr>
          <a:xfrm>
            <a:off x="2924251" y="4713079"/>
            <a:ext cx="749808" cy="201168"/>
          </a:xfrm>
          <a:prstGeom prst="rect">
            <a:avLst/>
          </a:prstGeom>
          <a:noFill/>
          <a:ln/>
        </p:spPr>
        <p:txBody>
          <a:bodyPr wrap="square" lIns="0" tIns="0" rIns="0" bIns="0" rtlCol="0" anchor="ctr"/>
          <a:lstStyle/>
          <a:p>
            <a:pPr marL="0" indent="0" algn="ctr">
              <a:buNone/>
            </a:pPr>
            <a:r>
              <a:rPr lang="en-US" sz="700" b="1" kern="0" spc="60" dirty="0">
                <a:solidFill>
                  <a:srgbClr val="70AD47"/>
                </a:solidFill>
                <a:latin typeface="Calibri" pitchFamily="34" charset="0"/>
                <a:ea typeface="Calibri" pitchFamily="34" charset="-122"/>
                <a:cs typeface="Calibri" pitchFamily="34" charset="-120"/>
              </a:rPr>
              <a:t>auditable</a:t>
            </a:r>
            <a:endParaRPr lang="en-US" sz="700" dirty="0"/>
          </a:p>
        </p:txBody>
      </p:sp>
      <p:sp>
        <p:nvSpPr>
          <p:cNvPr id="95" name="Text 91"/>
          <p:cNvSpPr txBox="1"/>
          <p:nvPr/>
        </p:nvSpPr>
        <p:spPr>
          <a:xfrm>
            <a:off x="3619195" y="4577225"/>
            <a:ext cx="3182112" cy="472875"/>
          </a:xfrm>
          <a:prstGeom prst="rect">
            <a:avLst/>
          </a:prstGeom>
          <a:noFill/>
          <a:ln/>
        </p:spPr>
        <p:txBody>
          <a:bodyPr wrap="square" lIns="0" tIns="0" rIns="0" bIns="0" rtlCol="0" anchor="ctr"/>
          <a:lstStyle/>
          <a:p>
            <a:pPr marL="0" indent="0" algn="r">
              <a:lnSpc>
                <a:spcPts val="1000"/>
              </a:lnSpc>
              <a:buNone/>
            </a:pPr>
            <a:r>
              <a:rPr lang="en-US" sz="800" b="1" dirty="0">
                <a:solidFill>
                  <a:srgbClr val="BDB6F5"/>
                </a:solidFill>
                <a:latin typeface="Calibri" pitchFamily="34" charset="0"/>
                <a:ea typeface="Calibri" pitchFamily="34" charset="-122"/>
                <a:cs typeface="Calibri" pitchFamily="34" charset="-120"/>
              </a:rPr>
              <a:t>Every decision carries its evidence and its reason   </a:t>
            </a:r>
            <a:r>
              <a:rPr lang="en-US" sz="800" b="1" kern="0" spc="50" dirty="0">
                <a:solidFill>
                  <a:srgbClr val="F5D076"/>
                </a:solidFill>
                <a:latin typeface="Calibri" pitchFamily="34" charset="0"/>
                <a:ea typeface="Calibri" pitchFamily="34" charset="-122"/>
                <a:cs typeface="Calibri" pitchFamily="34" charset="-120"/>
              </a:rPr>
              <a:t>REGULATION</a:t>
            </a:r>
            <a:endParaRPr lang="en-US" sz="800" dirty="0"/>
          </a:p>
        </p:txBody>
      </p:sp>
      <p:sp>
        <p:nvSpPr>
          <p:cNvPr id="96" name="Shape 92"/>
          <p:cNvSpPr/>
          <p:nvPr/>
        </p:nvSpPr>
        <p:spPr>
          <a:xfrm>
            <a:off x="784555" y="5050101"/>
            <a:ext cx="6016752" cy="0"/>
          </a:xfrm>
          <a:prstGeom prst="line">
            <a:avLst/>
          </a:prstGeom>
          <a:noFill/>
          <a:ln w="6350">
            <a:solidFill>
              <a:srgbClr val="3A4A8C">
                <a:alpha val="40000"/>
              </a:srgbClr>
            </a:solidFill>
            <a:prstDash val="solid"/>
          </a:ln>
        </p:spPr>
      </p:sp>
      <p:sp>
        <p:nvSpPr>
          <p:cNvPr id="97" name="Shape 93"/>
          <p:cNvSpPr/>
          <p:nvPr/>
        </p:nvSpPr>
        <p:spPr>
          <a:xfrm>
            <a:off x="784555" y="5205522"/>
            <a:ext cx="173736" cy="152888"/>
          </a:xfrm>
          <a:prstGeom prst="heart">
            <a:avLst/>
          </a:prstGeom>
          <a:ln w="13970">
            <a:solidFill>
              <a:srgbClr val="9CC3E8"/>
            </a:solidFill>
            <a:prstDash val="solid"/>
          </a:ln>
        </p:spPr>
      </p:sp>
      <p:sp>
        <p:nvSpPr>
          <p:cNvPr id="98" name="Text 94"/>
          <p:cNvSpPr txBox="1"/>
          <p:nvPr/>
        </p:nvSpPr>
        <p:spPr>
          <a:xfrm>
            <a:off x="1040587" y="5050101"/>
            <a:ext cx="1024128" cy="472875"/>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Marketing / renewal</a:t>
            </a:r>
            <a:endParaRPr lang="en-US" sz="900" dirty="0"/>
          </a:p>
        </p:txBody>
      </p:sp>
      <p:sp>
        <p:nvSpPr>
          <p:cNvPr id="99" name="Shape 95"/>
          <p:cNvSpPr/>
          <p:nvPr/>
        </p:nvSpPr>
        <p:spPr>
          <a:xfrm>
            <a:off x="2101291" y="5185954"/>
            <a:ext cx="621792" cy="201168"/>
          </a:xfrm>
          <a:prstGeom prst="roundRect">
            <a:avLst>
              <a:gd name="adj" fmla="val 50000"/>
            </a:avLst>
          </a:prstGeom>
          <a:solidFill>
            <a:srgbClr val="9AA4C6">
              <a:alpha val="26000"/>
            </a:srgbClr>
          </a:solidFill>
          <a:ln w="9525">
            <a:solidFill>
              <a:srgbClr val="9AA4C6"/>
            </a:solidFill>
            <a:prstDash val="solid"/>
          </a:ln>
        </p:spPr>
      </p:sp>
      <p:sp>
        <p:nvSpPr>
          <p:cNvPr id="100" name="Text 96"/>
          <p:cNvSpPr txBox="1"/>
          <p:nvPr/>
        </p:nvSpPr>
        <p:spPr>
          <a:xfrm>
            <a:off x="2101291" y="5185954"/>
            <a:ext cx="621792" cy="201168"/>
          </a:xfrm>
          <a:prstGeom prst="rect">
            <a:avLst/>
          </a:prstGeom>
          <a:noFill/>
          <a:ln/>
        </p:spPr>
        <p:txBody>
          <a:bodyPr wrap="square" lIns="0" tIns="0" rIns="0" bIns="0" rtlCol="0" anchor="ctr"/>
          <a:lstStyle/>
          <a:p>
            <a:pPr marL="0" indent="0" algn="ctr">
              <a:buNone/>
            </a:pPr>
            <a:r>
              <a:rPr lang="en-US" sz="700" b="1" kern="0" spc="60" dirty="0">
                <a:solidFill>
                  <a:srgbClr val="9AA4C6"/>
                </a:solidFill>
                <a:latin typeface="Calibri" pitchFamily="34" charset="0"/>
                <a:ea typeface="Calibri" pitchFamily="34" charset="-122"/>
                <a:cs typeface="Calibri" pitchFamily="34" charset="-120"/>
              </a:rPr>
              <a:t>not costed</a:t>
            </a:r>
            <a:endParaRPr lang="en-US" sz="700" dirty="0"/>
          </a:p>
        </p:txBody>
      </p:sp>
      <p:sp>
        <p:nvSpPr>
          <p:cNvPr id="101" name="Shape 97"/>
          <p:cNvSpPr/>
          <p:nvPr/>
        </p:nvSpPr>
        <p:spPr>
          <a:xfrm rot="5400000">
            <a:off x="2777947" y="5231674"/>
            <a:ext cx="100584" cy="118872"/>
          </a:xfrm>
          <a:prstGeom prst="triangle">
            <a:avLst/>
          </a:prstGeom>
          <a:solidFill>
            <a:srgbClr val="9AD672">
              <a:alpha val="80000"/>
            </a:srgbClr>
          </a:solidFill>
          <a:ln/>
        </p:spPr>
      </p:sp>
      <p:sp>
        <p:nvSpPr>
          <p:cNvPr id="102" name="Shape 98"/>
          <p:cNvSpPr/>
          <p:nvPr/>
        </p:nvSpPr>
        <p:spPr>
          <a:xfrm>
            <a:off x="2924251" y="5185954"/>
            <a:ext cx="749808" cy="201168"/>
          </a:xfrm>
          <a:prstGeom prst="roundRect">
            <a:avLst>
              <a:gd name="adj" fmla="val 50000"/>
            </a:avLst>
          </a:prstGeom>
          <a:solidFill>
            <a:srgbClr val="3FB6C0">
              <a:alpha val="26000"/>
            </a:srgbClr>
          </a:solidFill>
          <a:ln w="9525">
            <a:solidFill>
              <a:srgbClr val="3FB6C0"/>
            </a:solidFill>
            <a:prstDash val="solid"/>
          </a:ln>
        </p:spPr>
      </p:sp>
      <p:sp>
        <p:nvSpPr>
          <p:cNvPr id="103" name="Text 99"/>
          <p:cNvSpPr txBox="1"/>
          <p:nvPr/>
        </p:nvSpPr>
        <p:spPr>
          <a:xfrm>
            <a:off x="2924251" y="5185954"/>
            <a:ext cx="749808" cy="201168"/>
          </a:xfrm>
          <a:prstGeom prst="rect">
            <a:avLst/>
          </a:prstGeom>
          <a:noFill/>
          <a:ln/>
        </p:spPr>
        <p:txBody>
          <a:bodyPr wrap="square" lIns="0" tIns="0" rIns="0" bIns="0" rtlCol="0" anchor="ctr"/>
          <a:lstStyle/>
          <a:p>
            <a:pPr marL="0" indent="0" algn="ctr">
              <a:buNone/>
            </a:pPr>
            <a:r>
              <a:rPr lang="en-US" sz="700" b="1" kern="0" spc="60" dirty="0">
                <a:solidFill>
                  <a:srgbClr val="3FB6C0"/>
                </a:solidFill>
                <a:latin typeface="Calibri" pitchFamily="34" charset="0"/>
                <a:ea typeface="Calibri" pitchFamily="34" charset="-122"/>
                <a:cs typeface="Calibri" pitchFamily="34" charset="-120"/>
              </a:rPr>
              <a:t>₹0.58 Cr</a:t>
            </a:r>
            <a:endParaRPr lang="en-US" sz="700" dirty="0"/>
          </a:p>
        </p:txBody>
      </p:sp>
      <p:sp>
        <p:nvSpPr>
          <p:cNvPr id="104" name="Text 100"/>
          <p:cNvSpPr txBox="1"/>
          <p:nvPr/>
        </p:nvSpPr>
        <p:spPr>
          <a:xfrm>
            <a:off x="3619195" y="5050101"/>
            <a:ext cx="3182112" cy="472875"/>
          </a:xfrm>
          <a:prstGeom prst="rect">
            <a:avLst/>
          </a:prstGeom>
          <a:noFill/>
          <a:ln/>
        </p:spPr>
        <p:txBody>
          <a:bodyPr wrap="square" lIns="0" tIns="0" rIns="0" bIns="0" rtlCol="0" anchor="ctr"/>
          <a:lstStyle/>
          <a:p>
            <a:pPr marL="0" indent="0" algn="r">
              <a:lnSpc>
                <a:spcPts val="1000"/>
              </a:lnSpc>
              <a:buNone/>
            </a:pPr>
            <a:r>
              <a:rPr lang="en-US" sz="800" b="1" dirty="0">
                <a:solidFill>
                  <a:srgbClr val="8FDDE3"/>
                </a:solidFill>
                <a:latin typeface="Calibri" pitchFamily="34" charset="0"/>
                <a:ea typeface="Calibri" pitchFamily="34" charset="-122"/>
                <a:cs typeface="Calibri" pitchFamily="34" charset="-120"/>
              </a:rPr>
              <a:t>Scenario assumption — retention value, to be validated   </a:t>
            </a:r>
            <a:r>
              <a:rPr lang="en-US" sz="800" b="1" kern="0" spc="50" dirty="0">
                <a:solidFill>
                  <a:srgbClr val="F5D076"/>
                </a:solidFill>
                <a:latin typeface="Calibri" pitchFamily="34" charset="0"/>
                <a:ea typeface="Calibri" pitchFamily="34" charset="-122"/>
                <a:cs typeface="Calibri" pitchFamily="34" charset="-120"/>
              </a:rPr>
              <a:t>TIER 2</a:t>
            </a:r>
            <a:endParaRPr lang="en-US" sz="800" dirty="0"/>
          </a:p>
        </p:txBody>
      </p:sp>
      <p:sp>
        <p:nvSpPr>
          <p:cNvPr id="105" name="Shape 101"/>
          <p:cNvSpPr/>
          <p:nvPr/>
        </p:nvSpPr>
        <p:spPr>
          <a:xfrm>
            <a:off x="7148779" y="1609344"/>
            <a:ext cx="4425696" cy="1572768"/>
          </a:xfrm>
          <a:prstGeom prst="roundRect">
            <a:avLst>
              <a:gd name="adj" fmla="val 5233"/>
            </a:avLst>
          </a:prstGeom>
          <a:solidFill>
            <a:srgbClr val="111C55">
              <a:alpha val="74000"/>
            </a:srgbClr>
          </a:solidFill>
          <a:ln w="12700">
            <a:solidFill>
              <a:srgbClr val="70AD47">
                <a:alpha val="78000"/>
              </a:srgbClr>
            </a:solidFill>
            <a:prstDash val="solid"/>
          </a:ln>
        </p:spPr>
      </p:sp>
      <p:sp>
        <p:nvSpPr>
          <p:cNvPr id="106" name="Shape 102"/>
          <p:cNvSpPr/>
          <p:nvPr/>
        </p:nvSpPr>
        <p:spPr>
          <a:xfrm>
            <a:off x="7302033" y="1736446"/>
            <a:ext cx="52121" cy="52121"/>
          </a:xfrm>
          <a:prstGeom prst="ellipse">
            <a:avLst/>
          </a:prstGeom>
          <a:ln w="13970">
            <a:solidFill>
              <a:srgbClr val="70AD47"/>
            </a:solidFill>
            <a:prstDash val="solid"/>
          </a:ln>
        </p:spPr>
      </p:sp>
      <p:sp>
        <p:nvSpPr>
          <p:cNvPr id="107" name="Shape 103"/>
          <p:cNvSpPr/>
          <p:nvPr/>
        </p:nvSpPr>
        <p:spPr>
          <a:xfrm>
            <a:off x="7295083" y="1788566"/>
            <a:ext cx="66020" cy="90343"/>
          </a:xfrm>
          <a:prstGeom prst="blockArc">
            <a:avLst/>
          </a:prstGeom>
          <a:ln w="13970">
            <a:solidFill>
              <a:srgbClr val="70AD47"/>
            </a:solidFill>
            <a:prstDash val="solid"/>
          </a:ln>
        </p:spPr>
      </p:sp>
      <p:sp>
        <p:nvSpPr>
          <p:cNvPr id="108" name="Shape 104"/>
          <p:cNvSpPr/>
          <p:nvPr/>
        </p:nvSpPr>
        <p:spPr>
          <a:xfrm>
            <a:off x="7395850" y="1736446"/>
            <a:ext cx="52121" cy="52121"/>
          </a:xfrm>
          <a:prstGeom prst="ellipse">
            <a:avLst/>
          </a:prstGeom>
          <a:ln w="13970">
            <a:solidFill>
              <a:srgbClr val="70AD47"/>
            </a:solidFill>
            <a:prstDash val="solid"/>
          </a:ln>
        </p:spPr>
      </p:sp>
      <p:sp>
        <p:nvSpPr>
          <p:cNvPr id="109" name="Shape 105"/>
          <p:cNvSpPr/>
          <p:nvPr/>
        </p:nvSpPr>
        <p:spPr>
          <a:xfrm>
            <a:off x="7388901" y="1788566"/>
            <a:ext cx="66020" cy="90343"/>
          </a:xfrm>
          <a:prstGeom prst="blockArc">
            <a:avLst/>
          </a:prstGeom>
          <a:ln w="13970">
            <a:solidFill>
              <a:srgbClr val="70AD47"/>
            </a:solidFill>
            <a:prstDash val="solid"/>
          </a:ln>
        </p:spPr>
      </p:sp>
      <p:sp>
        <p:nvSpPr>
          <p:cNvPr id="110" name="Text 106"/>
          <p:cNvSpPr txBox="1"/>
          <p:nvPr/>
        </p:nvSpPr>
        <p:spPr>
          <a:xfrm>
            <a:off x="7541971" y="1682496"/>
            <a:ext cx="3886200" cy="237744"/>
          </a:xfrm>
          <a:prstGeom prst="rect">
            <a:avLst/>
          </a:prstGeom>
          <a:noFill/>
          <a:ln/>
        </p:spPr>
        <p:txBody>
          <a:bodyPr wrap="square" lIns="0" tIns="0" rIns="0" bIns="0" rtlCol="0" anchor="ctr"/>
          <a:lstStyle/>
          <a:p>
            <a:pPr marL="0" indent="0">
              <a:buNone/>
            </a:pPr>
            <a:r>
              <a:rPr lang="en-US" sz="900" b="1" kern="0" spc="110" dirty="0">
                <a:solidFill>
                  <a:srgbClr val="70AD47"/>
                </a:solidFill>
                <a:latin typeface="Calibri" pitchFamily="34" charset="0"/>
                <a:ea typeface="Calibri" pitchFamily="34" charset="-122"/>
                <a:cs typeface="Calibri" pitchFamily="34" charset="-120"/>
              </a:rPr>
              <a:t>THE CAPACITY LOOP</a:t>
            </a:r>
            <a:r>
              <a:rPr lang="en-US" sz="900" dirty="0">
                <a:solidFill>
                  <a:srgbClr val="9AA4C6"/>
                </a:solidFill>
                <a:latin typeface="Calibri" pitchFamily="34" charset="0"/>
                <a:ea typeface="Calibri" pitchFamily="34" charset="-122"/>
                <a:cs typeface="Calibri" pitchFamily="34" charset="-120"/>
              </a:rPr>
              <a:t>   ·   W-66 → W-69</a:t>
            </a:r>
            <a:endParaRPr lang="en-US" sz="900" dirty="0"/>
          </a:p>
        </p:txBody>
      </p:sp>
      <p:sp>
        <p:nvSpPr>
          <p:cNvPr id="111" name="Shape 107"/>
          <p:cNvSpPr/>
          <p:nvPr/>
        </p:nvSpPr>
        <p:spPr>
          <a:xfrm>
            <a:off x="8410651" y="2100834"/>
            <a:ext cx="0" cy="644652"/>
          </a:xfrm>
          <a:prstGeom prst="line">
            <a:avLst/>
          </a:prstGeom>
          <a:noFill/>
          <a:ln w="12700">
            <a:solidFill>
              <a:srgbClr val="70AD47">
                <a:alpha val="60000"/>
              </a:srgbClr>
            </a:solidFill>
            <a:prstDash val="solid"/>
          </a:ln>
        </p:spPr>
      </p:sp>
      <p:sp>
        <p:nvSpPr>
          <p:cNvPr id="112" name="Text 108"/>
          <p:cNvSpPr txBox="1"/>
          <p:nvPr/>
        </p:nvSpPr>
        <p:spPr>
          <a:xfrm>
            <a:off x="7295083" y="1993392"/>
            <a:ext cx="987552" cy="214884"/>
          </a:xfrm>
          <a:prstGeom prst="rect">
            <a:avLst/>
          </a:prstGeom>
          <a:noFill/>
          <a:ln/>
        </p:spPr>
        <p:txBody>
          <a:bodyPr wrap="square" lIns="0" tIns="0" rIns="0" bIns="0" rtlCol="0" anchor="ctr"/>
          <a:lstStyle/>
          <a:p>
            <a:pPr marL="0" indent="0" algn="r">
              <a:buNone/>
            </a:pPr>
            <a:r>
              <a:rPr lang="en-US" sz="1000" b="1" dirty="0">
                <a:solidFill>
                  <a:srgbClr val="9CC3E8"/>
                </a:solidFill>
                <a:latin typeface="Calibri" pitchFamily="34" charset="0"/>
                <a:ea typeface="Calibri" pitchFamily="34" charset="-122"/>
                <a:cs typeface="Calibri" pitchFamily="34" charset="-120"/>
              </a:rPr>
              <a:t>949,652</a:t>
            </a:r>
            <a:endParaRPr lang="en-US" sz="1000" dirty="0"/>
          </a:p>
        </p:txBody>
      </p:sp>
      <p:sp>
        <p:nvSpPr>
          <p:cNvPr id="113" name="Shape 109"/>
          <p:cNvSpPr/>
          <p:nvPr/>
        </p:nvSpPr>
        <p:spPr>
          <a:xfrm>
            <a:off x="8369503" y="2059686"/>
            <a:ext cx="82296" cy="82296"/>
          </a:xfrm>
          <a:prstGeom prst="ellipse">
            <a:avLst/>
          </a:prstGeom>
          <a:solidFill>
            <a:srgbClr val="9CC3E8"/>
          </a:solidFill>
          <a:ln/>
        </p:spPr>
      </p:sp>
      <p:sp>
        <p:nvSpPr>
          <p:cNvPr id="114" name="Text 110"/>
          <p:cNvSpPr txBox="1"/>
          <p:nvPr/>
        </p:nvSpPr>
        <p:spPr>
          <a:xfrm>
            <a:off x="8529523" y="1993392"/>
            <a:ext cx="2898648" cy="214884"/>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manual touches automation removes</a:t>
            </a:r>
            <a:endParaRPr lang="en-US" sz="800" dirty="0"/>
          </a:p>
        </p:txBody>
      </p:sp>
      <p:sp>
        <p:nvSpPr>
          <p:cNvPr id="115" name="Text 111"/>
          <p:cNvSpPr txBox="1"/>
          <p:nvPr/>
        </p:nvSpPr>
        <p:spPr>
          <a:xfrm>
            <a:off x="7295083" y="2208276"/>
            <a:ext cx="987552" cy="214884"/>
          </a:xfrm>
          <a:prstGeom prst="rect">
            <a:avLst/>
          </a:prstGeom>
          <a:noFill/>
          <a:ln/>
        </p:spPr>
        <p:txBody>
          <a:bodyPr wrap="square" lIns="0" tIns="0" rIns="0" bIns="0" rtlCol="0" anchor="ctr"/>
          <a:lstStyle/>
          <a:p>
            <a:pPr marL="0" indent="0" algn="r">
              <a:buNone/>
            </a:pPr>
            <a:r>
              <a:rPr lang="en-US" sz="1000" b="1" dirty="0">
                <a:solidFill>
                  <a:srgbClr val="9CC3E8"/>
                </a:solidFill>
                <a:latin typeface="Calibri" pitchFamily="34" charset="0"/>
                <a:ea typeface="Calibri" pitchFamily="34" charset="-122"/>
                <a:cs typeface="Calibri" pitchFamily="34" charset="-120"/>
              </a:rPr>
              <a:t>316,551</a:t>
            </a:r>
            <a:endParaRPr lang="en-US" sz="1000" dirty="0"/>
          </a:p>
        </p:txBody>
      </p:sp>
      <p:sp>
        <p:nvSpPr>
          <p:cNvPr id="116" name="Shape 112"/>
          <p:cNvSpPr/>
          <p:nvPr/>
        </p:nvSpPr>
        <p:spPr>
          <a:xfrm>
            <a:off x="8369503" y="2274570"/>
            <a:ext cx="82296" cy="82296"/>
          </a:xfrm>
          <a:prstGeom prst="ellipse">
            <a:avLst/>
          </a:prstGeom>
          <a:solidFill>
            <a:srgbClr val="9CC3E8"/>
          </a:solidFill>
          <a:ln/>
        </p:spPr>
      </p:sp>
      <p:sp>
        <p:nvSpPr>
          <p:cNvPr id="117" name="Text 113"/>
          <p:cNvSpPr txBox="1"/>
          <p:nvPr/>
        </p:nvSpPr>
        <p:spPr>
          <a:xfrm>
            <a:off x="8529523" y="2208276"/>
            <a:ext cx="2898648" cy="214884"/>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claims-handling hours released a year</a:t>
            </a:r>
            <a:endParaRPr lang="en-US" sz="800" dirty="0"/>
          </a:p>
        </p:txBody>
      </p:sp>
      <p:sp>
        <p:nvSpPr>
          <p:cNvPr id="118" name="Text 114"/>
          <p:cNvSpPr txBox="1"/>
          <p:nvPr/>
        </p:nvSpPr>
        <p:spPr>
          <a:xfrm>
            <a:off x="7295083" y="2423160"/>
            <a:ext cx="987552" cy="214884"/>
          </a:xfrm>
          <a:prstGeom prst="rect">
            <a:avLst/>
          </a:prstGeom>
          <a:noFill/>
          <a:ln/>
        </p:spPr>
        <p:txBody>
          <a:bodyPr wrap="square" lIns="0" tIns="0" rIns="0" bIns="0" rtlCol="0" anchor="ctr"/>
          <a:lstStyle/>
          <a:p>
            <a:pPr marL="0" indent="0" algn="r">
              <a:buNone/>
            </a:pPr>
            <a:r>
              <a:rPr lang="en-US" sz="1000" b="1" dirty="0">
                <a:solidFill>
                  <a:srgbClr val="9AD672"/>
                </a:solidFill>
                <a:latin typeface="Calibri" pitchFamily="34" charset="0"/>
                <a:ea typeface="Calibri" pitchFamily="34" charset="-122"/>
                <a:cs typeface="Calibri" pitchFamily="34" charset="-120"/>
              </a:rPr>
              <a:t>176 FTE</a:t>
            </a:r>
            <a:endParaRPr lang="en-US" sz="1000" dirty="0"/>
          </a:p>
        </p:txBody>
      </p:sp>
      <p:sp>
        <p:nvSpPr>
          <p:cNvPr id="119" name="Shape 115"/>
          <p:cNvSpPr/>
          <p:nvPr/>
        </p:nvSpPr>
        <p:spPr>
          <a:xfrm>
            <a:off x="8369503" y="2489454"/>
            <a:ext cx="82296" cy="82296"/>
          </a:xfrm>
          <a:prstGeom prst="ellipse">
            <a:avLst/>
          </a:prstGeom>
          <a:solidFill>
            <a:srgbClr val="9AD672"/>
          </a:solidFill>
          <a:ln/>
        </p:spPr>
      </p:sp>
      <p:sp>
        <p:nvSpPr>
          <p:cNvPr id="120" name="Text 116"/>
          <p:cNvSpPr txBox="1"/>
          <p:nvPr/>
        </p:nvSpPr>
        <p:spPr>
          <a:xfrm>
            <a:off x="8529523" y="2423160"/>
            <a:ext cx="2898648" cy="214884"/>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of capacity — redeployed, not removed</a:t>
            </a:r>
            <a:endParaRPr lang="en-US" sz="800" dirty="0"/>
          </a:p>
        </p:txBody>
      </p:sp>
      <p:sp>
        <p:nvSpPr>
          <p:cNvPr id="121" name="Text 117"/>
          <p:cNvSpPr txBox="1"/>
          <p:nvPr/>
        </p:nvSpPr>
        <p:spPr>
          <a:xfrm>
            <a:off x="7295083" y="2638044"/>
            <a:ext cx="987552" cy="214884"/>
          </a:xfrm>
          <a:prstGeom prst="rect">
            <a:avLst/>
          </a:prstGeom>
          <a:noFill/>
          <a:ln/>
        </p:spPr>
        <p:txBody>
          <a:bodyPr wrap="square" lIns="0" tIns="0" rIns="0" bIns="0" rtlCol="0" anchor="ctr"/>
          <a:lstStyle/>
          <a:p>
            <a:pPr marL="0" indent="0" algn="r">
              <a:buNone/>
            </a:pPr>
            <a:r>
              <a:rPr lang="en-US" sz="1000" b="1" dirty="0">
                <a:solidFill>
                  <a:srgbClr val="9AD672"/>
                </a:solidFill>
                <a:latin typeface="Calibri" pitchFamily="34" charset="0"/>
                <a:ea typeface="Calibri" pitchFamily="34" charset="-122"/>
                <a:cs typeface="Calibri" pitchFamily="34" charset="-120"/>
              </a:rPr>
              <a:t>5.69×</a:t>
            </a:r>
            <a:endParaRPr lang="en-US" sz="1000" dirty="0"/>
          </a:p>
        </p:txBody>
      </p:sp>
      <p:sp>
        <p:nvSpPr>
          <p:cNvPr id="122" name="Shape 118"/>
          <p:cNvSpPr/>
          <p:nvPr/>
        </p:nvSpPr>
        <p:spPr>
          <a:xfrm>
            <a:off x="8369503" y="2704338"/>
            <a:ext cx="82296" cy="82296"/>
          </a:xfrm>
          <a:prstGeom prst="ellipse">
            <a:avLst/>
          </a:prstGeom>
          <a:solidFill>
            <a:srgbClr val="9AD672"/>
          </a:solidFill>
          <a:ln/>
        </p:spPr>
      </p:sp>
      <p:sp>
        <p:nvSpPr>
          <p:cNvPr id="123" name="Text 119"/>
          <p:cNvSpPr txBox="1"/>
          <p:nvPr/>
        </p:nvSpPr>
        <p:spPr>
          <a:xfrm>
            <a:off x="8529523" y="2638044"/>
            <a:ext cx="2898648" cy="214884"/>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adjuster throughput from the same team</a:t>
            </a:r>
            <a:endParaRPr lang="en-US" sz="800" dirty="0"/>
          </a:p>
        </p:txBody>
      </p:sp>
      <p:sp>
        <p:nvSpPr>
          <p:cNvPr id="124" name="Text 120"/>
          <p:cNvSpPr txBox="1"/>
          <p:nvPr/>
        </p:nvSpPr>
        <p:spPr>
          <a:xfrm>
            <a:off x="7295083" y="2871216"/>
            <a:ext cx="4133088" cy="274320"/>
          </a:xfrm>
          <a:prstGeom prst="rect">
            <a:avLst/>
          </a:prstGeom>
          <a:noFill/>
          <a:ln/>
        </p:spPr>
        <p:txBody>
          <a:bodyPr wrap="square" lIns="0" tIns="0" rIns="0" bIns="0" rtlCol="0" anchor="t"/>
          <a:lstStyle/>
          <a:p>
            <a:pPr marL="0" indent="0">
              <a:lnSpc>
                <a:spcPts val="900"/>
              </a:lnSpc>
              <a:buNone/>
            </a:pPr>
            <a:r>
              <a:rPr lang="en-US" sz="750" dirty="0">
                <a:solidFill>
                  <a:srgbClr val="9AA4C6"/>
                </a:solidFill>
                <a:latin typeface="Calibri" pitchFamily="34" charset="0"/>
                <a:ea typeface="Calibri" pitchFamily="34" charset="-122"/>
                <a:cs typeface="Calibri" pitchFamily="34" charset="-120"/>
              </a:rPr>
              <a:t>Those hours go to the 57,605 claims a year that still need a person. </a:t>
            </a:r>
            <a:r>
              <a:rPr lang="en-US" sz="750" b="1" dirty="0">
                <a:solidFill>
                  <a:srgbClr val="F5D076"/>
                </a:solidFill>
                <a:latin typeface="Calibri" pitchFamily="34" charset="0"/>
                <a:ea typeface="Calibri" pitchFamily="34" charset="-122"/>
                <a:cs typeface="Calibri" pitchFamily="34" charset="-120"/>
              </a:rPr>
              <a:t>Capacity, not cash — no salary is removed, so no salary funds the marketing below.</a:t>
            </a:r>
            <a:endParaRPr lang="en-US" sz="750" dirty="0"/>
          </a:p>
        </p:txBody>
      </p:sp>
      <p:sp>
        <p:nvSpPr>
          <p:cNvPr id="125" name="Shape 121"/>
          <p:cNvSpPr/>
          <p:nvPr/>
        </p:nvSpPr>
        <p:spPr>
          <a:xfrm>
            <a:off x="7148779" y="3328416"/>
            <a:ext cx="4425696" cy="2322576"/>
          </a:xfrm>
          <a:prstGeom prst="roundRect">
            <a:avLst>
              <a:gd name="adj" fmla="val 3543"/>
            </a:avLst>
          </a:prstGeom>
          <a:solidFill>
            <a:srgbClr val="111C55">
              <a:alpha val="74000"/>
            </a:srgbClr>
          </a:solidFill>
          <a:ln w="12700">
            <a:solidFill>
              <a:srgbClr val="3FB6C0">
                <a:alpha val="78000"/>
              </a:srgbClr>
            </a:solidFill>
            <a:prstDash val="solid"/>
          </a:ln>
        </p:spPr>
      </p:sp>
      <p:sp>
        <p:nvSpPr>
          <p:cNvPr id="126" name="Shape 122"/>
          <p:cNvSpPr/>
          <p:nvPr/>
        </p:nvSpPr>
        <p:spPr>
          <a:xfrm>
            <a:off x="7295083" y="3448568"/>
            <a:ext cx="173736" cy="152888"/>
          </a:xfrm>
          <a:prstGeom prst="heart">
            <a:avLst/>
          </a:prstGeom>
          <a:ln w="13970">
            <a:solidFill>
              <a:srgbClr val="3FB6C0"/>
            </a:solidFill>
            <a:prstDash val="solid"/>
          </a:ln>
        </p:spPr>
      </p:sp>
      <p:sp>
        <p:nvSpPr>
          <p:cNvPr id="127" name="Text 123"/>
          <p:cNvSpPr txBox="1"/>
          <p:nvPr/>
        </p:nvSpPr>
        <p:spPr>
          <a:xfrm>
            <a:off x="7541971" y="3401568"/>
            <a:ext cx="3886200" cy="237744"/>
          </a:xfrm>
          <a:prstGeom prst="rect">
            <a:avLst/>
          </a:prstGeom>
          <a:noFill/>
          <a:ln/>
        </p:spPr>
        <p:txBody>
          <a:bodyPr wrap="square" lIns="0" tIns="0" rIns="0" bIns="0" rtlCol="0" anchor="ctr"/>
          <a:lstStyle/>
          <a:p>
            <a:pPr marL="0" indent="0">
              <a:buNone/>
            </a:pPr>
            <a:r>
              <a:rPr lang="en-US" sz="900" b="1" kern="0" spc="110" dirty="0">
                <a:solidFill>
                  <a:srgbClr val="3FB6C0"/>
                </a:solidFill>
                <a:latin typeface="Calibri" pitchFamily="34" charset="0"/>
                <a:ea typeface="Calibri" pitchFamily="34" charset="-122"/>
                <a:cs typeface="Calibri" pitchFamily="34" charset="-120"/>
              </a:rPr>
              <a:t>MARKETING — HUNT AND FARM</a:t>
            </a:r>
            <a:r>
              <a:rPr lang="en-US" sz="900" dirty="0">
                <a:solidFill>
                  <a:srgbClr val="9AA4C6"/>
                </a:solidFill>
                <a:latin typeface="Calibri" pitchFamily="34" charset="0"/>
                <a:ea typeface="Calibri" pitchFamily="34" charset="-122"/>
                <a:cs typeface="Calibri" pitchFamily="34" charset="-120"/>
              </a:rPr>
              <a:t>   ·   ₹ Cr at full coverage</a:t>
            </a:r>
            <a:endParaRPr lang="en-US" sz="900" dirty="0"/>
          </a:p>
        </p:txBody>
      </p:sp>
      <p:sp>
        <p:nvSpPr>
          <p:cNvPr id="128" name="Text 124"/>
          <p:cNvSpPr txBox="1"/>
          <p:nvPr/>
        </p:nvSpPr>
        <p:spPr>
          <a:xfrm>
            <a:off x="7295083" y="3666744"/>
            <a:ext cx="1984248" cy="164592"/>
          </a:xfrm>
          <a:prstGeom prst="rect">
            <a:avLst/>
          </a:prstGeom>
          <a:noFill/>
          <a:ln/>
        </p:spPr>
        <p:txBody>
          <a:bodyPr wrap="square" lIns="0" tIns="0" rIns="0" bIns="0" rtlCol="0" anchor="ctr"/>
          <a:lstStyle/>
          <a:p>
            <a:pPr marL="0" indent="0">
              <a:buNone/>
            </a:pPr>
            <a:r>
              <a:rPr lang="en-US" sz="750" b="1" kern="0" spc="70" dirty="0">
                <a:solidFill>
                  <a:srgbClr val="8FDDE3"/>
                </a:solidFill>
                <a:latin typeface="Calibri" pitchFamily="34" charset="0"/>
                <a:ea typeface="Calibri" pitchFamily="34" charset="-122"/>
                <a:cs typeface="Calibri" pitchFamily="34" charset="-120"/>
              </a:rPr>
              <a:t>HUNT   </a:t>
            </a:r>
            <a:r>
              <a:rPr lang="en-US" sz="750" dirty="0">
                <a:solidFill>
                  <a:srgbClr val="727EA6"/>
                </a:solidFill>
                <a:latin typeface="Calibri" pitchFamily="34" charset="0"/>
                <a:ea typeface="Calibri" pitchFamily="34" charset="-122"/>
                <a:cs typeface="Calibri" pitchFamily="34" charset="-120"/>
              </a:rPr>
              <a:t>acquire</a:t>
            </a:r>
            <a:r>
              <a:rPr lang="en-US" sz="750" b="1" dirty="0">
                <a:solidFill>
                  <a:srgbClr val="8FDDE3"/>
                </a:solidFill>
                <a:latin typeface="Calibri" pitchFamily="34" charset="0"/>
                <a:ea typeface="Calibri" pitchFamily="34" charset="-122"/>
                <a:cs typeface="Calibri" pitchFamily="34" charset="-120"/>
              </a:rPr>
              <a:t>   ₹8.27 Cr</a:t>
            </a:r>
            <a:endParaRPr lang="en-US" sz="750" dirty="0"/>
          </a:p>
        </p:txBody>
      </p:sp>
      <p:sp>
        <p:nvSpPr>
          <p:cNvPr id="129" name="Text 125"/>
          <p:cNvSpPr txBox="1"/>
          <p:nvPr/>
        </p:nvSpPr>
        <p:spPr>
          <a:xfrm>
            <a:off x="7295083" y="384962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Used-car dealerships</a:t>
            </a:r>
            <a:endParaRPr lang="en-US" sz="800" dirty="0"/>
          </a:p>
        </p:txBody>
      </p:sp>
      <p:sp>
        <p:nvSpPr>
          <p:cNvPr id="130" name="Text 126"/>
          <p:cNvSpPr txBox="1"/>
          <p:nvPr/>
        </p:nvSpPr>
        <p:spPr>
          <a:xfrm>
            <a:off x="8803843" y="384962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3.35</a:t>
            </a:r>
            <a:endParaRPr lang="en-US" sz="800" dirty="0"/>
          </a:p>
        </p:txBody>
      </p:sp>
      <p:sp>
        <p:nvSpPr>
          <p:cNvPr id="131" name="Text 127"/>
          <p:cNvSpPr txBox="1"/>
          <p:nvPr/>
        </p:nvSpPr>
        <p:spPr>
          <a:xfrm>
            <a:off x="7295083" y="400964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New-car showrooms</a:t>
            </a:r>
            <a:endParaRPr lang="en-US" sz="800" dirty="0"/>
          </a:p>
        </p:txBody>
      </p:sp>
      <p:sp>
        <p:nvSpPr>
          <p:cNvPr id="132" name="Text 128"/>
          <p:cNvSpPr txBox="1"/>
          <p:nvPr/>
        </p:nvSpPr>
        <p:spPr>
          <a:xfrm>
            <a:off x="8803843" y="400964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2.42</a:t>
            </a:r>
            <a:endParaRPr lang="en-US" sz="800" dirty="0"/>
          </a:p>
        </p:txBody>
      </p:sp>
      <p:sp>
        <p:nvSpPr>
          <p:cNvPr id="133" name="Text 129"/>
          <p:cNvSpPr txBox="1"/>
          <p:nvPr/>
        </p:nvSpPr>
        <p:spPr>
          <a:xfrm>
            <a:off x="7295083" y="416966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Google Search + SEN</a:t>
            </a:r>
            <a:endParaRPr lang="en-US" sz="800" dirty="0"/>
          </a:p>
        </p:txBody>
      </p:sp>
      <p:sp>
        <p:nvSpPr>
          <p:cNvPr id="134" name="Text 130"/>
          <p:cNvSpPr txBox="1"/>
          <p:nvPr/>
        </p:nvSpPr>
        <p:spPr>
          <a:xfrm>
            <a:off x="8803843" y="416966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1.79</a:t>
            </a:r>
            <a:endParaRPr lang="en-US" sz="800" dirty="0"/>
          </a:p>
        </p:txBody>
      </p:sp>
      <p:sp>
        <p:nvSpPr>
          <p:cNvPr id="135" name="Text 131"/>
          <p:cNvSpPr txBox="1"/>
          <p:nvPr/>
        </p:nvSpPr>
        <p:spPr>
          <a:xfrm>
            <a:off x="7295083" y="432968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Garages, PB, LinkedIn</a:t>
            </a:r>
            <a:endParaRPr lang="en-US" sz="800" dirty="0"/>
          </a:p>
        </p:txBody>
      </p:sp>
      <p:sp>
        <p:nvSpPr>
          <p:cNvPr id="136" name="Text 132"/>
          <p:cNvSpPr txBox="1"/>
          <p:nvPr/>
        </p:nvSpPr>
        <p:spPr>
          <a:xfrm>
            <a:off x="8803843" y="432968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0.49</a:t>
            </a:r>
            <a:endParaRPr lang="en-US" sz="800" dirty="0"/>
          </a:p>
        </p:txBody>
      </p:sp>
      <p:sp>
        <p:nvSpPr>
          <p:cNvPr id="137" name="Text 133"/>
          <p:cNvSpPr txBox="1"/>
          <p:nvPr/>
        </p:nvSpPr>
        <p:spPr>
          <a:xfrm>
            <a:off x="7295083" y="448970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Press release</a:t>
            </a:r>
            <a:endParaRPr lang="en-US" sz="800" dirty="0"/>
          </a:p>
        </p:txBody>
      </p:sp>
      <p:sp>
        <p:nvSpPr>
          <p:cNvPr id="138" name="Text 134"/>
          <p:cNvSpPr txBox="1"/>
          <p:nvPr/>
        </p:nvSpPr>
        <p:spPr>
          <a:xfrm>
            <a:off x="8803843" y="448970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0.15</a:t>
            </a:r>
            <a:endParaRPr lang="en-US" sz="800" dirty="0"/>
          </a:p>
        </p:txBody>
      </p:sp>
      <p:sp>
        <p:nvSpPr>
          <p:cNvPr id="139" name="Text 135"/>
          <p:cNvSpPr txBox="1"/>
          <p:nvPr/>
        </p:nvSpPr>
        <p:spPr>
          <a:xfrm>
            <a:off x="7295083" y="464972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Car expo — stall, kiosks</a:t>
            </a:r>
            <a:endParaRPr lang="en-US" sz="800" dirty="0"/>
          </a:p>
        </p:txBody>
      </p:sp>
      <p:sp>
        <p:nvSpPr>
          <p:cNvPr id="140" name="Text 136"/>
          <p:cNvSpPr txBox="1"/>
          <p:nvPr/>
        </p:nvSpPr>
        <p:spPr>
          <a:xfrm>
            <a:off x="8803843" y="464972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0.07</a:t>
            </a:r>
            <a:endParaRPr lang="en-US" sz="800" dirty="0"/>
          </a:p>
        </p:txBody>
      </p:sp>
      <p:sp>
        <p:nvSpPr>
          <p:cNvPr id="141" name="Text 137"/>
          <p:cNvSpPr txBox="1"/>
          <p:nvPr/>
        </p:nvSpPr>
        <p:spPr>
          <a:xfrm>
            <a:off x="9443923" y="3666744"/>
            <a:ext cx="1984248" cy="164592"/>
          </a:xfrm>
          <a:prstGeom prst="rect">
            <a:avLst/>
          </a:prstGeom>
          <a:noFill/>
          <a:ln/>
        </p:spPr>
        <p:txBody>
          <a:bodyPr wrap="square" lIns="0" tIns="0" rIns="0" bIns="0" rtlCol="0" anchor="ctr"/>
          <a:lstStyle/>
          <a:p>
            <a:pPr marL="0" indent="0">
              <a:buNone/>
            </a:pPr>
            <a:r>
              <a:rPr lang="en-US" sz="750" b="1" kern="0" spc="70" dirty="0">
                <a:solidFill>
                  <a:srgbClr val="8FDDE3"/>
                </a:solidFill>
                <a:latin typeface="Calibri" pitchFamily="34" charset="0"/>
                <a:ea typeface="Calibri" pitchFamily="34" charset="-122"/>
                <a:cs typeface="Calibri" pitchFamily="34" charset="-120"/>
              </a:rPr>
              <a:t>FARM   </a:t>
            </a:r>
            <a:r>
              <a:rPr lang="en-US" sz="750" dirty="0">
                <a:solidFill>
                  <a:srgbClr val="727EA6"/>
                </a:solidFill>
                <a:latin typeface="Calibri" pitchFamily="34" charset="0"/>
                <a:ea typeface="Calibri" pitchFamily="34" charset="-122"/>
                <a:cs typeface="Calibri" pitchFamily="34" charset="-120"/>
              </a:rPr>
              <a:t>retain</a:t>
            </a:r>
            <a:r>
              <a:rPr lang="en-US" sz="750" b="1" dirty="0">
                <a:solidFill>
                  <a:srgbClr val="8FDDE3"/>
                </a:solidFill>
                <a:latin typeface="Calibri" pitchFamily="34" charset="0"/>
                <a:ea typeface="Calibri" pitchFamily="34" charset="-122"/>
                <a:cs typeface="Calibri" pitchFamily="34" charset="-120"/>
              </a:rPr>
              <a:t>   ₹0.61 Cr</a:t>
            </a:r>
            <a:endParaRPr lang="en-US" sz="750" dirty="0"/>
          </a:p>
        </p:txBody>
      </p:sp>
      <p:sp>
        <p:nvSpPr>
          <p:cNvPr id="142" name="Text 138"/>
          <p:cNvSpPr txBox="1"/>
          <p:nvPr/>
        </p:nvSpPr>
        <p:spPr>
          <a:xfrm>
            <a:off x="9443923" y="384962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WhatsApp assistant</a:t>
            </a:r>
            <a:endParaRPr lang="en-US" sz="800" dirty="0"/>
          </a:p>
        </p:txBody>
      </p:sp>
      <p:sp>
        <p:nvSpPr>
          <p:cNvPr id="143" name="Text 139"/>
          <p:cNvSpPr txBox="1"/>
          <p:nvPr/>
        </p:nvSpPr>
        <p:spPr>
          <a:xfrm>
            <a:off x="10952683" y="384962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0.23</a:t>
            </a:r>
            <a:endParaRPr lang="en-US" sz="800" dirty="0"/>
          </a:p>
        </p:txBody>
      </p:sp>
      <p:sp>
        <p:nvSpPr>
          <p:cNvPr id="144" name="Text 140"/>
          <p:cNvSpPr txBox="1"/>
          <p:nvPr/>
        </p:nvSpPr>
        <p:spPr>
          <a:xfrm>
            <a:off x="9443923" y="400964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Loyalty ladder</a:t>
            </a:r>
            <a:endParaRPr lang="en-US" sz="800" dirty="0"/>
          </a:p>
        </p:txBody>
      </p:sp>
      <p:sp>
        <p:nvSpPr>
          <p:cNvPr id="145" name="Text 141"/>
          <p:cNvSpPr txBox="1"/>
          <p:nvPr/>
        </p:nvSpPr>
        <p:spPr>
          <a:xfrm>
            <a:off x="10952683" y="400964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0.15</a:t>
            </a:r>
            <a:endParaRPr lang="en-US" sz="800" dirty="0"/>
          </a:p>
        </p:txBody>
      </p:sp>
      <p:sp>
        <p:nvSpPr>
          <p:cNvPr id="146" name="Text 142"/>
          <p:cNvSpPr txBox="1"/>
          <p:nvPr/>
        </p:nvSpPr>
        <p:spPr>
          <a:xfrm>
            <a:off x="9443923" y="416966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Refer &amp; earn fuel</a:t>
            </a:r>
            <a:endParaRPr lang="en-US" sz="800" dirty="0"/>
          </a:p>
        </p:txBody>
      </p:sp>
      <p:sp>
        <p:nvSpPr>
          <p:cNvPr id="147" name="Text 143"/>
          <p:cNvSpPr txBox="1"/>
          <p:nvPr/>
        </p:nvSpPr>
        <p:spPr>
          <a:xfrm>
            <a:off x="10952683" y="416966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0.12</a:t>
            </a:r>
            <a:endParaRPr lang="en-US" sz="800" dirty="0"/>
          </a:p>
        </p:txBody>
      </p:sp>
      <p:sp>
        <p:nvSpPr>
          <p:cNvPr id="148" name="Text 144"/>
          <p:cNvSpPr txBox="1"/>
          <p:nvPr/>
        </p:nvSpPr>
        <p:spPr>
          <a:xfrm>
            <a:off x="9443923" y="432968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No-claim jackpot</a:t>
            </a:r>
            <a:endParaRPr lang="en-US" sz="800" dirty="0"/>
          </a:p>
        </p:txBody>
      </p:sp>
      <p:sp>
        <p:nvSpPr>
          <p:cNvPr id="149" name="Text 145"/>
          <p:cNvSpPr txBox="1"/>
          <p:nvPr/>
        </p:nvSpPr>
        <p:spPr>
          <a:xfrm>
            <a:off x="10952683" y="432968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0.08</a:t>
            </a:r>
            <a:endParaRPr lang="en-US" sz="800" dirty="0"/>
          </a:p>
        </p:txBody>
      </p:sp>
      <p:sp>
        <p:nvSpPr>
          <p:cNvPr id="150" name="Text 146"/>
          <p:cNvSpPr txBox="1"/>
          <p:nvPr/>
        </p:nvSpPr>
        <p:spPr>
          <a:xfrm>
            <a:off x="9443923" y="4489704"/>
            <a:ext cx="1508760" cy="160020"/>
          </a:xfrm>
          <a:prstGeom prst="rect">
            <a:avLst/>
          </a:prstGeom>
          <a:noFill/>
          <a:ln/>
        </p:spPr>
        <p:txBody>
          <a:bodyPr wrap="square" lIns="0" tIns="0" rIns="0" bIns="0" rtlCol="0" anchor="ctr"/>
          <a:lstStyle/>
          <a:p>
            <a:pPr marL="0" indent="0">
              <a:buNone/>
            </a:pPr>
            <a:r>
              <a:rPr lang="en-US" sz="800" dirty="0">
                <a:solidFill>
                  <a:srgbClr val="C6CEE4"/>
                </a:solidFill>
                <a:latin typeface="Calibri" pitchFamily="34" charset="0"/>
                <a:ea typeface="Calibri" pitchFamily="34" charset="-122"/>
                <a:cs typeface="Calibri" pitchFamily="34" charset="-120"/>
              </a:rPr>
              <a:t>Predictive renewal</a:t>
            </a:r>
            <a:endParaRPr lang="en-US" sz="800" dirty="0"/>
          </a:p>
        </p:txBody>
      </p:sp>
      <p:sp>
        <p:nvSpPr>
          <p:cNvPr id="151" name="Text 147"/>
          <p:cNvSpPr txBox="1"/>
          <p:nvPr/>
        </p:nvSpPr>
        <p:spPr>
          <a:xfrm>
            <a:off x="10952683" y="4489704"/>
            <a:ext cx="475488" cy="1600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0.03</a:t>
            </a:r>
            <a:endParaRPr lang="en-US" sz="800" dirty="0"/>
          </a:p>
        </p:txBody>
      </p:sp>
      <p:sp>
        <p:nvSpPr>
          <p:cNvPr id="152" name="Shape 148"/>
          <p:cNvSpPr/>
          <p:nvPr/>
        </p:nvSpPr>
        <p:spPr>
          <a:xfrm>
            <a:off x="7295083" y="4818888"/>
            <a:ext cx="1984248" cy="0"/>
          </a:xfrm>
          <a:prstGeom prst="line">
            <a:avLst/>
          </a:prstGeom>
          <a:noFill/>
          <a:ln w="9525">
            <a:solidFill>
              <a:srgbClr val="E8B33A">
                <a:alpha val="45000"/>
              </a:srgbClr>
            </a:solidFill>
            <a:prstDash val="solid"/>
          </a:ln>
        </p:spPr>
      </p:sp>
      <p:sp>
        <p:nvSpPr>
          <p:cNvPr id="153" name="Text 149"/>
          <p:cNvSpPr txBox="1"/>
          <p:nvPr/>
        </p:nvSpPr>
        <p:spPr>
          <a:xfrm>
            <a:off x="7295083" y="4828032"/>
            <a:ext cx="1508760" cy="160020"/>
          </a:xfrm>
          <a:prstGeom prst="rect">
            <a:avLst/>
          </a:prstGeom>
          <a:noFill/>
          <a:ln/>
        </p:spPr>
        <p:txBody>
          <a:bodyPr wrap="square" lIns="0" tIns="0" rIns="0" bIns="0" rtlCol="0" anchor="ctr"/>
          <a:lstStyle/>
          <a:p>
            <a:pPr marL="0" indent="0">
              <a:buNone/>
            </a:pPr>
            <a:r>
              <a:rPr lang="en-US" sz="800" dirty="0">
                <a:solidFill>
                  <a:srgbClr val="F5D076"/>
                </a:solidFill>
                <a:latin typeface="Calibri" pitchFamily="34" charset="0"/>
                <a:ea typeface="Calibri" pitchFamily="34" charset="-122"/>
                <a:cs typeface="Calibri" pitchFamily="34" charset="-120"/>
              </a:rPr>
              <a:t>+ dealer commission</a:t>
            </a:r>
            <a:endParaRPr lang="en-US" sz="800" dirty="0"/>
          </a:p>
        </p:txBody>
      </p:sp>
      <p:sp>
        <p:nvSpPr>
          <p:cNvPr id="154" name="Text 150"/>
          <p:cNvSpPr txBox="1"/>
          <p:nvPr/>
        </p:nvSpPr>
        <p:spPr>
          <a:xfrm>
            <a:off x="8803843" y="4828032"/>
            <a:ext cx="475488" cy="160020"/>
          </a:xfrm>
          <a:prstGeom prst="rect">
            <a:avLst/>
          </a:prstGeom>
          <a:noFill/>
          <a:ln/>
        </p:spPr>
        <p:txBody>
          <a:bodyPr wrap="square" lIns="0" tIns="0" rIns="0" bIns="0" rtlCol="0" anchor="ctr"/>
          <a:lstStyle/>
          <a:p>
            <a:pPr marL="0" indent="0" algn="r">
              <a:buNone/>
            </a:pPr>
            <a:r>
              <a:rPr lang="en-US" sz="800" b="1" dirty="0">
                <a:solidFill>
                  <a:srgbClr val="F5D076"/>
                </a:solidFill>
                <a:latin typeface="Calibri" pitchFamily="34" charset="0"/>
                <a:ea typeface="Calibri" pitchFamily="34" charset="-122"/>
                <a:cs typeface="Calibri" pitchFamily="34" charset="-120"/>
              </a:rPr>
              <a:t>1.96</a:t>
            </a:r>
            <a:endParaRPr lang="en-US" sz="800" dirty="0"/>
          </a:p>
        </p:txBody>
      </p:sp>
      <p:sp>
        <p:nvSpPr>
          <p:cNvPr id="155" name="Shape 151"/>
          <p:cNvSpPr/>
          <p:nvPr/>
        </p:nvSpPr>
        <p:spPr>
          <a:xfrm>
            <a:off x="7295083" y="5020056"/>
            <a:ext cx="4133088" cy="0"/>
          </a:xfrm>
          <a:prstGeom prst="line">
            <a:avLst/>
          </a:prstGeom>
          <a:noFill/>
          <a:ln w="9525">
            <a:solidFill>
              <a:srgbClr val="3A4A8C"/>
            </a:solidFill>
            <a:prstDash val="solid"/>
          </a:ln>
        </p:spPr>
      </p:sp>
      <p:sp>
        <p:nvSpPr>
          <p:cNvPr id="156" name="Text 152"/>
          <p:cNvSpPr txBox="1"/>
          <p:nvPr/>
        </p:nvSpPr>
        <p:spPr>
          <a:xfrm>
            <a:off x="7295083" y="5047488"/>
            <a:ext cx="4133088" cy="182880"/>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₹8.88 Cr at full coverage   ·   ₹5.33 Cr in the Base case  ·  W-23a   ·   </a:t>
            </a:r>
            <a:r>
              <a:rPr lang="en-US" sz="800" b="1" dirty="0">
                <a:solidFill>
                  <a:srgbClr val="8FDDE3"/>
                </a:solidFill>
                <a:latin typeface="Calibri" pitchFamily="34" charset="0"/>
                <a:ea typeface="Calibri" pitchFamily="34" charset="-122"/>
                <a:cs typeface="Calibri" pitchFamily="34" charset="-120"/>
              </a:rPr>
              <a:t>1.18 M qualified leads</a:t>
            </a:r>
            <a:endParaRPr lang="en-US" sz="800" dirty="0"/>
          </a:p>
        </p:txBody>
      </p:sp>
      <p:sp>
        <p:nvSpPr>
          <p:cNvPr id="157" name="Text 153"/>
          <p:cNvSpPr txBox="1"/>
          <p:nvPr/>
        </p:nvSpPr>
        <p:spPr>
          <a:xfrm>
            <a:off x="7295083" y="5230368"/>
            <a:ext cx="4133088" cy="292608"/>
          </a:xfrm>
          <a:prstGeom prst="rect">
            <a:avLst/>
          </a:prstGeom>
          <a:noFill/>
          <a:ln/>
        </p:spPr>
        <p:txBody>
          <a:bodyPr wrap="square" lIns="0" tIns="0" rIns="0" bIns="0" rtlCol="0" anchor="t"/>
          <a:lstStyle/>
          <a:p>
            <a:pPr marL="0" indent="0">
              <a:lnSpc>
                <a:spcPts val="900"/>
              </a:lnSpc>
              <a:buNone/>
            </a:pPr>
            <a:r>
              <a:rPr lang="en-US" sz="750" dirty="0">
                <a:solidFill>
                  <a:srgbClr val="F5D076"/>
                </a:solidFill>
                <a:latin typeface="Calibri" pitchFamily="34" charset="0"/>
                <a:ea typeface="Calibri" pitchFamily="34" charset="-122"/>
                <a:cs typeface="Calibri" pitchFamily="34" charset="-120"/>
              </a:rPr>
              <a:t>Dealer commission is costed on the sheet but sits outside its own total, so it is shown apart. Only the ₹0.58 Cr renewal-retention line (W-22) is carried in the case — acquisition value from those leads is upside, not modelled.</a:t>
            </a:r>
            <a:endParaRPr lang="en-US" sz="750" dirty="0"/>
          </a:p>
        </p:txBody>
      </p:sp>
      <p:sp>
        <p:nvSpPr>
          <p:cNvPr id="158" name="Shape 154"/>
          <p:cNvSpPr/>
          <p:nvPr/>
        </p:nvSpPr>
        <p:spPr>
          <a:xfrm>
            <a:off x="638251" y="5724144"/>
            <a:ext cx="10936224" cy="347472"/>
          </a:xfrm>
          <a:prstGeom prst="roundRect">
            <a:avLst>
              <a:gd name="adj" fmla="val 21053"/>
            </a:avLst>
          </a:prstGeom>
          <a:solidFill>
            <a:srgbClr val="0A1550">
              <a:alpha val="86000"/>
            </a:srgbClr>
          </a:solidFill>
          <a:ln w="9525">
            <a:solidFill>
              <a:srgbClr val="ED7D31">
                <a:alpha val="55000"/>
              </a:srgbClr>
            </a:solidFill>
            <a:prstDash val="solid"/>
          </a:ln>
        </p:spPr>
      </p:sp>
      <p:sp>
        <p:nvSpPr>
          <p:cNvPr id="159" name="Shape 155"/>
          <p:cNvSpPr/>
          <p:nvPr/>
        </p:nvSpPr>
        <p:spPr>
          <a:xfrm>
            <a:off x="747979" y="5797296"/>
            <a:ext cx="41148" cy="201168"/>
          </a:xfrm>
          <a:prstGeom prst="roundRect">
            <a:avLst>
              <a:gd name="adj" fmla="val 48889"/>
            </a:avLst>
          </a:prstGeom>
          <a:solidFill>
            <a:srgbClr val="ED7D31"/>
          </a:solidFill>
          <a:ln/>
        </p:spPr>
      </p:sp>
      <p:sp>
        <p:nvSpPr>
          <p:cNvPr id="160" name="Text 156"/>
          <p:cNvSpPr txBox="1"/>
          <p:nvPr/>
        </p:nvSpPr>
        <p:spPr>
          <a:xfrm>
            <a:off x="894283" y="5724144"/>
            <a:ext cx="10533888" cy="347472"/>
          </a:xfrm>
          <a:prstGeom prst="rect">
            <a:avLst/>
          </a:prstGeom>
          <a:noFill/>
          <a:ln/>
        </p:spPr>
        <p:txBody>
          <a:bodyPr wrap="square" lIns="0" tIns="0" rIns="0" bIns="0" rtlCol="0" anchor="ctr"/>
          <a:lstStyle/>
          <a:p>
            <a:pPr marL="0" indent="0">
              <a:lnSpc>
                <a:spcPts val="1150"/>
              </a:lnSpc>
              <a:buNone/>
            </a:pPr>
            <a:r>
              <a:rPr lang="en-US" sz="950" b="1" kern="0" spc="100" dirty="0">
                <a:solidFill>
                  <a:srgbClr val="ED7D31"/>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Effort is reduced and resources are redeployed — and the group it costs, 13,167 claimants a year who cannot use live capture, is on this slide unprompted.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IMPACT   02 / 03</a:t>
            </a:r>
            <a:endParaRPr lang="en-US" sz="1000" dirty="0"/>
          </a:p>
        </p:txBody>
      </p:sp>
      <p:pic>
        <p:nvPicPr>
          <p:cNvPr id="4" name="Image 0" descr="media/image4.png"/>
          <p:cNvPicPr>
            <a:picLocks noChangeAspect="1"/>
          </p:cNvPicPr>
          <p:nvPr/>
        </p:nvPicPr>
        <p:blipFill>
          <a:blip r:embed="rId4"/>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5"/>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₹30.86 crore a year, and the Motor OD combined ratio improves by 1.15 points.</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Solution Proposed</a:t>
            </a:r>
            <a:endParaRPr lang="en-US" sz="1400" dirty="0"/>
          </a:p>
        </p:txBody>
      </p:sp>
      <p:sp>
        <p:nvSpPr>
          <p:cNvPr id="11" name="Shape 7"/>
          <p:cNvSpPr/>
          <p:nvPr/>
        </p:nvSpPr>
        <p:spPr>
          <a:xfrm>
            <a:off x="437083" y="1408176"/>
            <a:ext cx="11338560" cy="1426464"/>
          </a:xfrm>
          <a:prstGeom prst="roundRect">
            <a:avLst>
              <a:gd name="adj" fmla="val 3205"/>
            </a:avLst>
          </a:prstGeom>
          <a:solidFill>
            <a:srgbClr val="C3C8DC">
              <a:alpha val="28000"/>
            </a:srgbClr>
          </a:solidFill>
          <a:ln w="9525">
            <a:solidFill>
              <a:srgbClr val="FFFFFF">
                <a:alpha val="78000"/>
              </a:srgbClr>
            </a:solidFill>
            <a:prstDash val="solid"/>
          </a:ln>
        </p:spPr>
      </p:sp>
      <p:sp>
        <p:nvSpPr>
          <p:cNvPr id="12" name="Shape 8"/>
          <p:cNvSpPr/>
          <p:nvPr/>
        </p:nvSpPr>
        <p:spPr>
          <a:xfrm>
            <a:off x="437083" y="2944368"/>
            <a:ext cx="11338560" cy="0"/>
          </a:xfrm>
          <a:prstGeom prst="line">
            <a:avLst/>
          </a:prstGeom>
          <a:noFill/>
          <a:ln w="12700">
            <a:solidFill>
              <a:srgbClr val="FFFFFF"/>
            </a:solidFill>
            <a:prstDash val="solid"/>
          </a:ln>
        </p:spPr>
      </p:sp>
      <p:sp>
        <p:nvSpPr>
          <p:cNvPr id="13" name="Text 9"/>
          <p:cNvSpPr txBox="1"/>
          <p:nvPr/>
        </p:nvSpPr>
        <p:spPr>
          <a:xfrm>
            <a:off x="583387" y="2944368"/>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Analysis: Key Insights/Opportunities/Challenges</a:t>
            </a:r>
            <a:endParaRPr lang="en-US" sz="1400" dirty="0"/>
          </a:p>
        </p:txBody>
      </p:sp>
      <p:sp>
        <p:nvSpPr>
          <p:cNvPr id="14" name="Shape 10"/>
          <p:cNvSpPr/>
          <p:nvPr/>
        </p:nvSpPr>
        <p:spPr>
          <a:xfrm>
            <a:off x="437083" y="3273552"/>
            <a:ext cx="11338560" cy="2999232"/>
          </a:xfrm>
          <a:prstGeom prst="roundRect">
            <a:avLst>
              <a:gd name="adj" fmla="val 1524"/>
            </a:avLst>
          </a:prstGeom>
          <a:solidFill>
            <a:srgbClr val="C3C8DC">
              <a:alpha val="28000"/>
            </a:srgbClr>
          </a:solidFill>
          <a:ln w="9525">
            <a:solidFill>
              <a:srgbClr val="FFFFFF">
                <a:alpha val="78000"/>
              </a:srgbClr>
            </a:solidFill>
            <a:prstDash val="solid"/>
          </a:ln>
        </p:spPr>
      </p:sp>
      <p:sp>
        <p:nvSpPr>
          <p:cNvPr id="15" name="Shape 11"/>
          <p:cNvSpPr/>
          <p:nvPr/>
        </p:nvSpPr>
        <p:spPr>
          <a:xfrm>
            <a:off x="3291840" y="6345936"/>
            <a:ext cx="8485632" cy="237744"/>
          </a:xfrm>
          <a:prstGeom prst="roundRect">
            <a:avLst>
              <a:gd name="adj" fmla="val 50000"/>
            </a:avLst>
          </a:prstGeom>
          <a:solidFill>
            <a:srgbClr val="0A1550">
              <a:alpha val="84000"/>
            </a:srgbClr>
          </a:solidFill>
          <a:ln/>
        </p:spPr>
      </p:sp>
      <p:sp>
        <p:nvSpPr>
          <p:cNvPr id="16" name="Text 12"/>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2; Sheet 3 Workings (W-19 to W-46). ₹ Cr a year, steady state, Base plan at 60% rollout. Motor OD NEP ₹1,654.7 Cr; group NEP ₹10,205.9 Cr.</a:t>
            </a:r>
            <a:endParaRPr lang="en-US" sz="700" dirty="0"/>
          </a:p>
        </p:txBody>
      </p:sp>
      <p:sp>
        <p:nvSpPr>
          <p:cNvPr id="17" name="Text 13"/>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8" name="Shape 14"/>
          <p:cNvSpPr/>
          <p:nvPr/>
        </p:nvSpPr>
        <p:spPr>
          <a:xfrm>
            <a:off x="638251" y="1609344"/>
            <a:ext cx="2596896" cy="1024128"/>
          </a:xfrm>
          <a:prstGeom prst="roundRect">
            <a:avLst>
              <a:gd name="adj" fmla="val 8036"/>
            </a:avLst>
          </a:prstGeom>
          <a:solidFill>
            <a:srgbClr val="111C55">
              <a:alpha val="78000"/>
            </a:srgbClr>
          </a:solidFill>
          <a:ln w="12700">
            <a:solidFill>
              <a:srgbClr val="70AD47">
                <a:alpha val="78000"/>
              </a:srgbClr>
            </a:solidFill>
            <a:prstDash val="solid"/>
          </a:ln>
        </p:spPr>
      </p:sp>
      <p:sp>
        <p:nvSpPr>
          <p:cNvPr id="19" name="Shape 15"/>
          <p:cNvSpPr/>
          <p:nvPr/>
        </p:nvSpPr>
        <p:spPr>
          <a:xfrm>
            <a:off x="784555" y="1719072"/>
            <a:ext cx="201168" cy="201168"/>
          </a:xfrm>
          <a:prstGeom prst="roundRect">
            <a:avLst>
              <a:gd name="adj" fmla="val 22000"/>
            </a:avLst>
          </a:prstGeom>
          <a:ln w="13970">
            <a:solidFill>
              <a:srgbClr val="70AD47"/>
            </a:solidFill>
            <a:prstDash val="solid"/>
          </a:ln>
        </p:spPr>
      </p:sp>
      <p:sp>
        <p:nvSpPr>
          <p:cNvPr id="20" name="Text 16"/>
          <p:cNvSpPr txBox="1"/>
          <p:nvPr/>
        </p:nvSpPr>
        <p:spPr>
          <a:xfrm>
            <a:off x="784555" y="1719072"/>
            <a:ext cx="201168" cy="201168"/>
          </a:xfrm>
          <a:prstGeom prst="rect">
            <a:avLst/>
          </a:prstGeom>
          <a:noFill/>
          <a:ln/>
        </p:spPr>
        <p:txBody>
          <a:bodyPr wrap="square" lIns="0" tIns="0" rIns="0" bIns="0" rtlCol="0" anchor="ctr"/>
          <a:lstStyle/>
          <a:p>
            <a:pPr marL="0" indent="0" algn="ctr">
              <a:buNone/>
            </a:pPr>
            <a:r>
              <a:rPr lang="en-US" sz="1364" b="1" dirty="0">
                <a:solidFill>
                  <a:srgbClr val="70AD47"/>
                </a:solidFill>
                <a:latin typeface="Calibri" pitchFamily="34" charset="0"/>
                <a:ea typeface="Calibri" pitchFamily="34" charset="-122"/>
                <a:cs typeface="Calibri" pitchFamily="34" charset="-120"/>
              </a:rPr>
              <a:t>₹</a:t>
            </a:r>
            <a:endParaRPr lang="en-US" sz="1364" dirty="0"/>
          </a:p>
        </p:txBody>
      </p:sp>
      <p:sp>
        <p:nvSpPr>
          <p:cNvPr id="21" name="Text 17"/>
          <p:cNvSpPr txBox="1"/>
          <p:nvPr/>
        </p:nvSpPr>
        <p:spPr>
          <a:xfrm>
            <a:off x="1077163" y="1682496"/>
            <a:ext cx="2011680" cy="237744"/>
          </a:xfrm>
          <a:prstGeom prst="rect">
            <a:avLst/>
          </a:prstGeom>
          <a:noFill/>
          <a:ln/>
        </p:spPr>
        <p:txBody>
          <a:bodyPr wrap="square" lIns="0" tIns="0" rIns="0" bIns="0" rtlCol="0" anchor="ctr"/>
          <a:lstStyle/>
          <a:p>
            <a:pPr marL="0" indent="0">
              <a:buNone/>
            </a:pPr>
            <a:r>
              <a:rPr lang="en-US" sz="850" b="1" kern="0" spc="100" dirty="0">
                <a:solidFill>
                  <a:srgbClr val="70AD47"/>
                </a:solidFill>
                <a:latin typeface="Calibri" pitchFamily="34" charset="0"/>
                <a:ea typeface="Calibri" pitchFamily="34" charset="-122"/>
                <a:cs typeface="Calibri" pitchFamily="34" charset="-120"/>
              </a:rPr>
              <a:t>NET ANNUAL BENEFIT</a:t>
            </a:r>
            <a:endParaRPr lang="en-US" sz="850" dirty="0"/>
          </a:p>
        </p:txBody>
      </p:sp>
      <p:sp>
        <p:nvSpPr>
          <p:cNvPr id="22" name="Text 18"/>
          <p:cNvSpPr txBox="1"/>
          <p:nvPr/>
        </p:nvSpPr>
        <p:spPr>
          <a:xfrm>
            <a:off x="784555" y="1920240"/>
            <a:ext cx="2304288" cy="384048"/>
          </a:xfrm>
          <a:prstGeom prst="rect">
            <a:avLst/>
          </a:prstGeom>
          <a:noFill/>
          <a:ln/>
        </p:spPr>
        <p:txBody>
          <a:bodyPr wrap="square" lIns="0" tIns="0" rIns="0" bIns="0" rtlCol="0" anchor="ctr"/>
          <a:lstStyle/>
          <a:p>
            <a:pPr marL="0" indent="0">
              <a:buNone/>
            </a:pPr>
            <a:r>
              <a:rPr lang="en-US" sz="2400" b="1" dirty="0">
                <a:solidFill>
                  <a:srgbClr val="9AD672"/>
                </a:solidFill>
                <a:latin typeface="Calibri" pitchFamily="34" charset="0"/>
                <a:ea typeface="Calibri" pitchFamily="34" charset="-122"/>
                <a:cs typeface="Calibri" pitchFamily="34" charset="-120"/>
              </a:rPr>
              <a:t>₹30.86</a:t>
            </a:r>
            <a:r>
              <a:rPr lang="en-US" sz="1104" b="1" dirty="0">
                <a:solidFill>
                  <a:srgbClr val="C6CEE4"/>
                </a:solidFill>
                <a:latin typeface="Calibri" pitchFamily="34" charset="0"/>
                <a:ea typeface="Calibri" pitchFamily="34" charset="-122"/>
                <a:cs typeface="Calibri" pitchFamily="34" charset="-120"/>
              </a:rPr>
              <a:t> Cr a year</a:t>
            </a:r>
            <a:endParaRPr lang="en-US" sz="2400" dirty="0"/>
          </a:p>
        </p:txBody>
      </p:sp>
      <p:sp>
        <p:nvSpPr>
          <p:cNvPr id="23" name="Text 19"/>
          <p:cNvSpPr txBox="1"/>
          <p:nvPr/>
        </p:nvSpPr>
        <p:spPr>
          <a:xfrm>
            <a:off x="784555"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steady state, Base plan  ·  W-35</a:t>
            </a:r>
            <a:endParaRPr lang="en-US" sz="800" dirty="0"/>
          </a:p>
        </p:txBody>
      </p:sp>
      <p:sp>
        <p:nvSpPr>
          <p:cNvPr id="24" name="Shape 20"/>
          <p:cNvSpPr/>
          <p:nvPr/>
        </p:nvSpPr>
        <p:spPr>
          <a:xfrm>
            <a:off x="3418027" y="1609344"/>
            <a:ext cx="2596896" cy="1024128"/>
          </a:xfrm>
          <a:prstGeom prst="roundRect">
            <a:avLst>
              <a:gd name="adj" fmla="val 8036"/>
            </a:avLst>
          </a:prstGeom>
          <a:solidFill>
            <a:srgbClr val="111C55">
              <a:alpha val="78000"/>
            </a:srgbClr>
          </a:solidFill>
          <a:ln w="12700">
            <a:solidFill>
              <a:srgbClr val="70AD47">
                <a:alpha val="78000"/>
              </a:srgbClr>
            </a:solidFill>
            <a:prstDash val="solid"/>
          </a:ln>
        </p:spPr>
      </p:sp>
      <p:sp>
        <p:nvSpPr>
          <p:cNvPr id="25" name="Shape 21"/>
          <p:cNvSpPr/>
          <p:nvPr/>
        </p:nvSpPr>
        <p:spPr>
          <a:xfrm>
            <a:off x="3564331" y="1719072"/>
            <a:ext cx="201168" cy="201168"/>
          </a:xfrm>
          <a:prstGeom prst="ellipse">
            <a:avLst/>
          </a:prstGeom>
          <a:ln w="13970">
            <a:solidFill>
              <a:srgbClr val="70AD47"/>
            </a:solidFill>
            <a:prstDash val="solid"/>
          </a:ln>
        </p:spPr>
      </p:sp>
      <p:sp>
        <p:nvSpPr>
          <p:cNvPr id="26" name="Shape 22"/>
          <p:cNvSpPr/>
          <p:nvPr/>
        </p:nvSpPr>
        <p:spPr>
          <a:xfrm>
            <a:off x="3664915" y="1763329"/>
            <a:ext cx="0" cy="56327"/>
          </a:xfrm>
          <a:prstGeom prst="line">
            <a:avLst/>
          </a:prstGeom>
          <a:noFill/>
          <a:ln w="13970">
            <a:solidFill>
              <a:srgbClr val="70AD47"/>
            </a:solidFill>
            <a:prstDash val="solid"/>
          </a:ln>
        </p:spPr>
      </p:sp>
      <p:sp>
        <p:nvSpPr>
          <p:cNvPr id="27" name="Shape 23"/>
          <p:cNvSpPr/>
          <p:nvPr/>
        </p:nvSpPr>
        <p:spPr>
          <a:xfrm>
            <a:off x="3664915" y="1819656"/>
            <a:ext cx="44257" cy="0"/>
          </a:xfrm>
          <a:prstGeom prst="line">
            <a:avLst/>
          </a:prstGeom>
          <a:noFill/>
          <a:ln w="13970">
            <a:solidFill>
              <a:srgbClr val="70AD47"/>
            </a:solidFill>
            <a:prstDash val="solid"/>
          </a:ln>
        </p:spPr>
      </p:sp>
      <p:sp>
        <p:nvSpPr>
          <p:cNvPr id="28" name="Text 24"/>
          <p:cNvSpPr txBox="1"/>
          <p:nvPr/>
        </p:nvSpPr>
        <p:spPr>
          <a:xfrm>
            <a:off x="3856939" y="1682496"/>
            <a:ext cx="2011680" cy="237744"/>
          </a:xfrm>
          <a:prstGeom prst="rect">
            <a:avLst/>
          </a:prstGeom>
          <a:noFill/>
          <a:ln/>
        </p:spPr>
        <p:txBody>
          <a:bodyPr wrap="square" lIns="0" tIns="0" rIns="0" bIns="0" rtlCol="0" anchor="ctr"/>
          <a:lstStyle/>
          <a:p>
            <a:pPr marL="0" indent="0">
              <a:buNone/>
            </a:pPr>
            <a:r>
              <a:rPr lang="en-US" sz="850" b="1" kern="0" spc="100" dirty="0">
                <a:solidFill>
                  <a:srgbClr val="70AD47"/>
                </a:solidFill>
                <a:latin typeface="Calibri" pitchFamily="34" charset="0"/>
                <a:ea typeface="Calibri" pitchFamily="34" charset="-122"/>
                <a:cs typeface="Calibri" pitchFamily="34" charset="-120"/>
              </a:rPr>
              <a:t>PAYBACK FROM KICKOFF</a:t>
            </a:r>
            <a:endParaRPr lang="en-US" sz="850" dirty="0"/>
          </a:p>
        </p:txBody>
      </p:sp>
      <p:sp>
        <p:nvSpPr>
          <p:cNvPr id="29" name="Text 25"/>
          <p:cNvSpPr txBox="1"/>
          <p:nvPr/>
        </p:nvSpPr>
        <p:spPr>
          <a:xfrm>
            <a:off x="3564331" y="1920240"/>
            <a:ext cx="2304288" cy="384048"/>
          </a:xfrm>
          <a:prstGeom prst="rect">
            <a:avLst/>
          </a:prstGeom>
          <a:noFill/>
          <a:ln/>
        </p:spPr>
        <p:txBody>
          <a:bodyPr wrap="square" lIns="0" tIns="0" rIns="0" bIns="0" rtlCol="0" anchor="ctr"/>
          <a:lstStyle/>
          <a:p>
            <a:pPr marL="0" indent="0">
              <a:buNone/>
            </a:pPr>
            <a:r>
              <a:rPr lang="en-US" sz="2400" b="1" dirty="0">
                <a:solidFill>
                  <a:srgbClr val="9AD672"/>
                </a:solidFill>
                <a:latin typeface="Calibri" pitchFamily="34" charset="0"/>
                <a:ea typeface="Calibri" pitchFamily="34" charset="-122"/>
                <a:cs typeface="Calibri" pitchFamily="34" charset="-120"/>
              </a:rPr>
              <a:t>20.1</a:t>
            </a:r>
            <a:r>
              <a:rPr lang="en-US" sz="1104" b="1" dirty="0">
                <a:solidFill>
                  <a:srgbClr val="C6CEE4"/>
                </a:solidFill>
                <a:latin typeface="Calibri" pitchFamily="34" charset="0"/>
                <a:ea typeface="Calibri" pitchFamily="34" charset="-122"/>
                <a:cs typeface="Calibri" pitchFamily="34" charset="-120"/>
              </a:rPr>
              <a:t> months</a:t>
            </a:r>
            <a:endParaRPr lang="en-US" sz="2400" dirty="0"/>
          </a:p>
        </p:txBody>
      </p:sp>
      <p:sp>
        <p:nvSpPr>
          <p:cNvPr id="30" name="Text 26"/>
          <p:cNvSpPr txBox="1"/>
          <p:nvPr/>
        </p:nvSpPr>
        <p:spPr>
          <a:xfrm>
            <a:off x="3564331"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includes the 10-month build  ·  3.8 mo steady state  ·  H-19</a:t>
            </a:r>
            <a:endParaRPr lang="en-US" sz="800" dirty="0"/>
          </a:p>
        </p:txBody>
      </p:sp>
      <p:sp>
        <p:nvSpPr>
          <p:cNvPr id="31" name="Shape 27"/>
          <p:cNvSpPr/>
          <p:nvPr/>
        </p:nvSpPr>
        <p:spPr>
          <a:xfrm>
            <a:off x="6197803" y="1609344"/>
            <a:ext cx="2596896" cy="1024128"/>
          </a:xfrm>
          <a:prstGeom prst="roundRect">
            <a:avLst>
              <a:gd name="adj" fmla="val 8036"/>
            </a:avLst>
          </a:prstGeom>
          <a:solidFill>
            <a:srgbClr val="111C55">
              <a:alpha val="78000"/>
            </a:srgbClr>
          </a:solidFill>
          <a:ln w="12700">
            <a:solidFill>
              <a:srgbClr val="5B9BD5">
                <a:alpha val="78000"/>
              </a:srgbClr>
            </a:solidFill>
            <a:prstDash val="solid"/>
          </a:ln>
        </p:spPr>
      </p:sp>
      <p:sp>
        <p:nvSpPr>
          <p:cNvPr id="32" name="Shape 28"/>
          <p:cNvSpPr/>
          <p:nvPr/>
        </p:nvSpPr>
        <p:spPr>
          <a:xfrm>
            <a:off x="6356177" y="1823679"/>
            <a:ext cx="44257" cy="96561"/>
          </a:xfrm>
          <a:prstGeom prst="rect">
            <a:avLst/>
          </a:prstGeom>
          <a:solidFill>
            <a:srgbClr val="5B9BD5"/>
          </a:solidFill>
          <a:ln/>
        </p:spPr>
      </p:sp>
      <p:sp>
        <p:nvSpPr>
          <p:cNvPr id="33" name="Shape 29"/>
          <p:cNvSpPr/>
          <p:nvPr/>
        </p:nvSpPr>
        <p:spPr>
          <a:xfrm>
            <a:off x="6420551" y="1775399"/>
            <a:ext cx="44257" cy="144841"/>
          </a:xfrm>
          <a:prstGeom prst="rect">
            <a:avLst/>
          </a:prstGeom>
          <a:solidFill>
            <a:srgbClr val="5B9BD5"/>
          </a:solidFill>
          <a:ln/>
        </p:spPr>
      </p:sp>
      <p:sp>
        <p:nvSpPr>
          <p:cNvPr id="34" name="Shape 30"/>
          <p:cNvSpPr/>
          <p:nvPr/>
        </p:nvSpPr>
        <p:spPr>
          <a:xfrm>
            <a:off x="6484925" y="1731142"/>
            <a:ext cx="44257" cy="189098"/>
          </a:xfrm>
          <a:prstGeom prst="rect">
            <a:avLst/>
          </a:prstGeom>
          <a:solidFill>
            <a:srgbClr val="5B9BD5"/>
          </a:solidFill>
          <a:ln/>
        </p:spPr>
      </p:sp>
      <p:sp>
        <p:nvSpPr>
          <p:cNvPr id="35" name="Text 31"/>
          <p:cNvSpPr txBox="1"/>
          <p:nvPr/>
        </p:nvSpPr>
        <p:spPr>
          <a:xfrm>
            <a:off x="6636715" y="1682496"/>
            <a:ext cx="2011680" cy="237744"/>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THREE-YEAR NPV</a:t>
            </a:r>
            <a:endParaRPr lang="en-US" sz="850" dirty="0"/>
          </a:p>
        </p:txBody>
      </p:sp>
      <p:sp>
        <p:nvSpPr>
          <p:cNvPr id="36" name="Text 32"/>
          <p:cNvSpPr txBox="1"/>
          <p:nvPr/>
        </p:nvSpPr>
        <p:spPr>
          <a:xfrm>
            <a:off x="6344107" y="1920240"/>
            <a:ext cx="2304288" cy="38404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₹50.88</a:t>
            </a:r>
            <a:r>
              <a:rPr lang="en-US" sz="1104" b="1" dirty="0">
                <a:solidFill>
                  <a:srgbClr val="C6CEE4"/>
                </a:solidFill>
                <a:latin typeface="Calibri" pitchFamily="34" charset="0"/>
                <a:ea typeface="Calibri" pitchFamily="34" charset="-122"/>
                <a:cs typeface="Calibri" pitchFamily="34" charset="-120"/>
              </a:rPr>
              <a:t> Cr</a:t>
            </a:r>
            <a:endParaRPr lang="en-US" sz="2400" dirty="0"/>
          </a:p>
        </p:txBody>
      </p:sp>
      <p:sp>
        <p:nvSpPr>
          <p:cNvPr id="37" name="Text 33"/>
          <p:cNvSpPr txBox="1"/>
          <p:nvPr/>
        </p:nvSpPr>
        <p:spPr>
          <a:xfrm>
            <a:off x="6344107"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at a 12% discount rate</a:t>
            </a:r>
            <a:endParaRPr lang="en-US" sz="800" dirty="0"/>
          </a:p>
        </p:txBody>
      </p:sp>
      <p:sp>
        <p:nvSpPr>
          <p:cNvPr id="38" name="Shape 34"/>
          <p:cNvSpPr/>
          <p:nvPr/>
        </p:nvSpPr>
        <p:spPr>
          <a:xfrm>
            <a:off x="8977579" y="1609344"/>
            <a:ext cx="2596896" cy="1024128"/>
          </a:xfrm>
          <a:prstGeom prst="roundRect">
            <a:avLst>
              <a:gd name="adj" fmla="val 8036"/>
            </a:avLst>
          </a:prstGeom>
          <a:solidFill>
            <a:srgbClr val="111C55">
              <a:alpha val="78000"/>
            </a:srgbClr>
          </a:solidFill>
          <a:ln w="12700">
            <a:solidFill>
              <a:srgbClr val="70AD47">
                <a:alpha val="78000"/>
              </a:srgbClr>
            </a:solidFill>
            <a:prstDash val="solid"/>
          </a:ln>
        </p:spPr>
      </p:sp>
      <p:sp>
        <p:nvSpPr>
          <p:cNvPr id="39" name="Shape 35"/>
          <p:cNvSpPr/>
          <p:nvPr/>
        </p:nvSpPr>
        <p:spPr>
          <a:xfrm rot="5400000">
            <a:off x="9123883" y="1719072"/>
            <a:ext cx="201168" cy="201168"/>
          </a:xfrm>
          <a:prstGeom prst="homePlate">
            <a:avLst/>
          </a:prstGeom>
          <a:ln w="13970">
            <a:solidFill>
              <a:srgbClr val="70AD47"/>
            </a:solidFill>
            <a:prstDash val="solid"/>
          </a:ln>
        </p:spPr>
      </p:sp>
      <p:sp>
        <p:nvSpPr>
          <p:cNvPr id="40" name="Text 36"/>
          <p:cNvSpPr txBox="1"/>
          <p:nvPr/>
        </p:nvSpPr>
        <p:spPr>
          <a:xfrm>
            <a:off x="9416491" y="1682496"/>
            <a:ext cx="2011680" cy="237744"/>
          </a:xfrm>
          <a:prstGeom prst="rect">
            <a:avLst/>
          </a:prstGeom>
          <a:noFill/>
          <a:ln/>
        </p:spPr>
        <p:txBody>
          <a:bodyPr wrap="square" lIns="0" tIns="0" rIns="0" bIns="0" rtlCol="0" anchor="ctr"/>
          <a:lstStyle/>
          <a:p>
            <a:pPr marL="0" indent="0">
              <a:buNone/>
            </a:pPr>
            <a:r>
              <a:rPr lang="en-US" sz="850" b="1" kern="0" spc="100" dirty="0">
                <a:solidFill>
                  <a:srgbClr val="70AD47"/>
                </a:solidFill>
                <a:latin typeface="Calibri" pitchFamily="34" charset="0"/>
                <a:ea typeface="Calibri" pitchFamily="34" charset="-122"/>
                <a:cs typeface="Calibri" pitchFamily="34" charset="-120"/>
              </a:rPr>
              <a:t>GROUP COMBINED RATIO</a:t>
            </a:r>
            <a:endParaRPr lang="en-US" sz="850" dirty="0"/>
          </a:p>
        </p:txBody>
      </p:sp>
      <p:sp>
        <p:nvSpPr>
          <p:cNvPr id="41" name="Text 37"/>
          <p:cNvSpPr txBox="1"/>
          <p:nvPr/>
        </p:nvSpPr>
        <p:spPr>
          <a:xfrm>
            <a:off x="9123883" y="1920240"/>
            <a:ext cx="2304288" cy="384048"/>
          </a:xfrm>
          <a:prstGeom prst="rect">
            <a:avLst/>
          </a:prstGeom>
          <a:noFill/>
          <a:ln/>
        </p:spPr>
        <p:txBody>
          <a:bodyPr wrap="square" lIns="0" tIns="0" rIns="0" bIns="0" rtlCol="0" anchor="ctr"/>
          <a:lstStyle/>
          <a:p>
            <a:pPr marL="0" indent="0">
              <a:buNone/>
            </a:pPr>
            <a:r>
              <a:rPr lang="en-US" sz="2400" b="1" dirty="0">
                <a:solidFill>
                  <a:srgbClr val="9AD672"/>
                </a:solidFill>
                <a:latin typeface="Calibri" pitchFamily="34" charset="0"/>
                <a:ea typeface="Calibri" pitchFamily="34" charset="-122"/>
                <a:cs typeface="Calibri" pitchFamily="34" charset="-120"/>
              </a:rPr>
              <a:t>104.51</a:t>
            </a:r>
            <a:r>
              <a:rPr lang="en-US" sz="1104" b="1" dirty="0">
                <a:solidFill>
                  <a:srgbClr val="C6CEE4"/>
                </a:solidFill>
                <a:latin typeface="Calibri" pitchFamily="34" charset="0"/>
                <a:ea typeface="Calibri" pitchFamily="34" charset="-122"/>
                <a:cs typeface="Calibri" pitchFamily="34" charset="-120"/>
              </a:rPr>
              <a:t> %</a:t>
            </a:r>
            <a:endParaRPr lang="en-US" sz="2400" dirty="0"/>
          </a:p>
        </p:txBody>
      </p:sp>
      <p:sp>
        <p:nvSpPr>
          <p:cNvPr id="42" name="Text 38"/>
          <p:cNvSpPr txBox="1"/>
          <p:nvPr/>
        </p:nvSpPr>
        <p:spPr>
          <a:xfrm>
            <a:off x="9123883" y="2286000"/>
            <a:ext cx="2304288" cy="237744"/>
          </a:xfrm>
          <a:prstGeom prst="rect">
            <a:avLst/>
          </a:prstGeom>
          <a:noFill/>
          <a:ln/>
        </p:spPr>
        <p:txBody>
          <a:bodyPr wrap="square" lIns="0" tIns="0" rIns="0" bIns="0" rtlCol="0" anchor="t"/>
          <a:lstStyle/>
          <a:p>
            <a:pPr marL="0" indent="0">
              <a:lnSpc>
                <a:spcPts val="1000"/>
              </a:lnSpc>
              <a:buNone/>
            </a:pPr>
            <a:r>
              <a:rPr lang="en-US" sz="800" dirty="0">
                <a:solidFill>
                  <a:srgbClr val="727EA6"/>
                </a:solidFill>
                <a:latin typeface="Calibri" pitchFamily="34" charset="0"/>
                <a:ea typeface="Calibri" pitchFamily="34" charset="-122"/>
                <a:cs typeface="Calibri" pitchFamily="34" charset="-120"/>
              </a:rPr>
              <a:t>from 104.7%, on ₹10,205.9 Cr of NEP  ·  W-46</a:t>
            </a:r>
            <a:endParaRPr lang="en-US" sz="800" dirty="0"/>
          </a:p>
        </p:txBody>
      </p:sp>
      <p:sp>
        <p:nvSpPr>
          <p:cNvPr id="43" name="Shape 39"/>
          <p:cNvSpPr/>
          <p:nvPr/>
        </p:nvSpPr>
        <p:spPr>
          <a:xfrm>
            <a:off x="638251" y="3474720"/>
            <a:ext cx="6309360" cy="2157984"/>
          </a:xfrm>
          <a:prstGeom prst="roundRect">
            <a:avLst>
              <a:gd name="adj" fmla="val 3814"/>
            </a:avLst>
          </a:prstGeom>
          <a:solidFill>
            <a:srgbClr val="111C55">
              <a:alpha val="74000"/>
            </a:srgbClr>
          </a:solidFill>
          <a:ln w="9525">
            <a:solidFill>
              <a:srgbClr val="3A4A8C">
                <a:alpha val="70000"/>
              </a:srgbClr>
            </a:solidFill>
            <a:prstDash val="solid"/>
          </a:ln>
        </p:spPr>
      </p:sp>
      <p:sp>
        <p:nvSpPr>
          <p:cNvPr id="44" name="Shape 40"/>
          <p:cNvSpPr/>
          <p:nvPr/>
        </p:nvSpPr>
        <p:spPr>
          <a:xfrm>
            <a:off x="794979" y="3674791"/>
            <a:ext cx="38222" cy="83393"/>
          </a:xfrm>
          <a:prstGeom prst="rect">
            <a:avLst/>
          </a:prstGeom>
          <a:solidFill>
            <a:srgbClr val="9CC3E8"/>
          </a:solidFill>
          <a:ln/>
        </p:spPr>
      </p:sp>
      <p:sp>
        <p:nvSpPr>
          <p:cNvPr id="45" name="Shape 41"/>
          <p:cNvSpPr/>
          <p:nvPr/>
        </p:nvSpPr>
        <p:spPr>
          <a:xfrm>
            <a:off x="850575" y="3633094"/>
            <a:ext cx="38222" cy="125090"/>
          </a:xfrm>
          <a:prstGeom prst="rect">
            <a:avLst/>
          </a:prstGeom>
          <a:solidFill>
            <a:srgbClr val="9CC3E8"/>
          </a:solidFill>
          <a:ln/>
        </p:spPr>
      </p:sp>
      <p:sp>
        <p:nvSpPr>
          <p:cNvPr id="46" name="Shape 42"/>
          <p:cNvSpPr/>
          <p:nvPr/>
        </p:nvSpPr>
        <p:spPr>
          <a:xfrm>
            <a:off x="906170" y="3594872"/>
            <a:ext cx="38222" cy="163312"/>
          </a:xfrm>
          <a:prstGeom prst="rect">
            <a:avLst/>
          </a:prstGeom>
          <a:solidFill>
            <a:srgbClr val="9CC3E8"/>
          </a:solidFill>
          <a:ln/>
        </p:spPr>
      </p:sp>
      <p:sp>
        <p:nvSpPr>
          <p:cNvPr id="47" name="Text 43"/>
          <p:cNvSpPr txBox="1"/>
          <p:nvPr/>
        </p:nvSpPr>
        <p:spPr>
          <a:xfrm>
            <a:off x="1031443" y="3547872"/>
            <a:ext cx="5769864"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WHERE THE ANNUAL BENEFIT COMES FROM</a:t>
            </a:r>
            <a:r>
              <a:rPr lang="en-US" sz="900" dirty="0">
                <a:solidFill>
                  <a:srgbClr val="9AA4C6"/>
                </a:solidFill>
                <a:latin typeface="Calibri" pitchFamily="34" charset="0"/>
                <a:ea typeface="Calibri" pitchFamily="34" charset="-122"/>
                <a:cs typeface="Calibri" pitchFamily="34" charset="-120"/>
              </a:rPr>
              <a:t>   ·   ₹ Cr a year, Base plan at 60% rollout</a:t>
            </a:r>
            <a:endParaRPr lang="en-US" sz="900" dirty="0"/>
          </a:p>
        </p:txBody>
      </p:sp>
      <p:sp>
        <p:nvSpPr>
          <p:cNvPr id="48" name="Shape 44"/>
          <p:cNvSpPr/>
          <p:nvPr/>
        </p:nvSpPr>
        <p:spPr>
          <a:xfrm>
            <a:off x="880823" y="4913768"/>
            <a:ext cx="601675" cy="0"/>
          </a:xfrm>
          <a:prstGeom prst="line">
            <a:avLst/>
          </a:prstGeom>
          <a:noFill/>
          <a:ln w="9525">
            <a:solidFill>
              <a:srgbClr val="3A4A8C"/>
            </a:solidFill>
            <a:prstDash val="dash"/>
          </a:ln>
        </p:spPr>
      </p:sp>
      <p:sp>
        <p:nvSpPr>
          <p:cNvPr id="49" name="Shape 45"/>
          <p:cNvSpPr/>
          <p:nvPr/>
        </p:nvSpPr>
        <p:spPr>
          <a:xfrm>
            <a:off x="1482498" y="4748009"/>
            <a:ext cx="601675" cy="0"/>
          </a:xfrm>
          <a:prstGeom prst="line">
            <a:avLst/>
          </a:prstGeom>
          <a:noFill/>
          <a:ln w="9525">
            <a:solidFill>
              <a:srgbClr val="3A4A8C"/>
            </a:solidFill>
            <a:prstDash val="dash"/>
          </a:ln>
        </p:spPr>
      </p:sp>
      <p:sp>
        <p:nvSpPr>
          <p:cNvPr id="50" name="Shape 46"/>
          <p:cNvSpPr/>
          <p:nvPr/>
        </p:nvSpPr>
        <p:spPr>
          <a:xfrm>
            <a:off x="2084174" y="4577931"/>
            <a:ext cx="601675" cy="0"/>
          </a:xfrm>
          <a:prstGeom prst="line">
            <a:avLst/>
          </a:prstGeom>
          <a:noFill/>
          <a:ln w="9525">
            <a:solidFill>
              <a:srgbClr val="3A4A8C"/>
            </a:solidFill>
            <a:prstDash val="dash"/>
          </a:ln>
        </p:spPr>
      </p:sp>
      <p:sp>
        <p:nvSpPr>
          <p:cNvPr id="51" name="Shape 47"/>
          <p:cNvSpPr/>
          <p:nvPr/>
        </p:nvSpPr>
        <p:spPr>
          <a:xfrm>
            <a:off x="2685849" y="4129248"/>
            <a:ext cx="601675" cy="0"/>
          </a:xfrm>
          <a:prstGeom prst="line">
            <a:avLst/>
          </a:prstGeom>
          <a:noFill/>
          <a:ln w="9525">
            <a:solidFill>
              <a:srgbClr val="3A4A8C"/>
            </a:solidFill>
            <a:prstDash val="dash"/>
          </a:ln>
        </p:spPr>
      </p:sp>
      <p:sp>
        <p:nvSpPr>
          <p:cNvPr id="52" name="Shape 48"/>
          <p:cNvSpPr/>
          <p:nvPr/>
        </p:nvSpPr>
        <p:spPr>
          <a:xfrm>
            <a:off x="3287524" y="4113590"/>
            <a:ext cx="601675" cy="0"/>
          </a:xfrm>
          <a:prstGeom prst="line">
            <a:avLst/>
          </a:prstGeom>
          <a:noFill/>
          <a:ln w="9525">
            <a:solidFill>
              <a:srgbClr val="3A4A8C"/>
            </a:solidFill>
            <a:prstDash val="dash"/>
          </a:ln>
        </p:spPr>
      </p:sp>
      <p:sp>
        <p:nvSpPr>
          <p:cNvPr id="53" name="Shape 49"/>
          <p:cNvSpPr/>
          <p:nvPr/>
        </p:nvSpPr>
        <p:spPr>
          <a:xfrm>
            <a:off x="3889199" y="4129517"/>
            <a:ext cx="601675" cy="0"/>
          </a:xfrm>
          <a:prstGeom prst="line">
            <a:avLst/>
          </a:prstGeom>
          <a:noFill/>
          <a:ln w="9525">
            <a:solidFill>
              <a:srgbClr val="3A4A8C"/>
            </a:solidFill>
            <a:prstDash val="dash"/>
          </a:ln>
        </p:spPr>
      </p:sp>
      <p:sp>
        <p:nvSpPr>
          <p:cNvPr id="54" name="Shape 50"/>
          <p:cNvSpPr/>
          <p:nvPr/>
        </p:nvSpPr>
        <p:spPr>
          <a:xfrm>
            <a:off x="4490874" y="4273409"/>
            <a:ext cx="601675" cy="0"/>
          </a:xfrm>
          <a:prstGeom prst="line">
            <a:avLst/>
          </a:prstGeom>
          <a:noFill/>
          <a:ln w="9525">
            <a:solidFill>
              <a:srgbClr val="3A4A8C"/>
            </a:solidFill>
            <a:prstDash val="dash"/>
          </a:ln>
        </p:spPr>
      </p:sp>
      <p:sp>
        <p:nvSpPr>
          <p:cNvPr id="55" name="Shape 51"/>
          <p:cNvSpPr/>
          <p:nvPr/>
        </p:nvSpPr>
        <p:spPr>
          <a:xfrm>
            <a:off x="5092550" y="4273679"/>
            <a:ext cx="601675" cy="0"/>
          </a:xfrm>
          <a:prstGeom prst="line">
            <a:avLst/>
          </a:prstGeom>
          <a:noFill/>
          <a:ln w="9525">
            <a:solidFill>
              <a:srgbClr val="3A4A8C"/>
            </a:solidFill>
            <a:prstDash val="dash"/>
          </a:ln>
        </p:spPr>
      </p:sp>
      <p:sp>
        <p:nvSpPr>
          <p:cNvPr id="56" name="Shape 52"/>
          <p:cNvSpPr/>
          <p:nvPr/>
        </p:nvSpPr>
        <p:spPr>
          <a:xfrm>
            <a:off x="5694225" y="4378696"/>
            <a:ext cx="601675" cy="0"/>
          </a:xfrm>
          <a:prstGeom prst="line">
            <a:avLst/>
          </a:prstGeom>
          <a:noFill/>
          <a:ln w="9525">
            <a:solidFill>
              <a:srgbClr val="3A4A8C"/>
            </a:solidFill>
            <a:prstDash val="dash"/>
          </a:ln>
        </p:spPr>
      </p:sp>
      <p:sp>
        <p:nvSpPr>
          <p:cNvPr id="57" name="Shape 53"/>
          <p:cNvSpPr/>
          <p:nvPr/>
        </p:nvSpPr>
        <p:spPr>
          <a:xfrm>
            <a:off x="880823" y="4913768"/>
            <a:ext cx="409139" cy="298312"/>
          </a:xfrm>
          <a:prstGeom prst="roundRect">
            <a:avLst>
              <a:gd name="adj" fmla="val 9196"/>
            </a:avLst>
          </a:prstGeom>
          <a:solidFill>
            <a:srgbClr val="70AD47">
              <a:alpha val="78000"/>
            </a:srgbClr>
          </a:solidFill>
          <a:ln w="9525">
            <a:solidFill>
              <a:srgbClr val="70AD47"/>
            </a:solidFill>
            <a:prstDash val="solid"/>
          </a:ln>
        </p:spPr>
      </p:sp>
      <p:sp>
        <p:nvSpPr>
          <p:cNvPr id="58" name="Text 54"/>
          <p:cNvSpPr txBox="1"/>
          <p:nvPr/>
        </p:nvSpPr>
        <p:spPr>
          <a:xfrm>
            <a:off x="796589" y="4740032"/>
            <a:ext cx="577608" cy="164592"/>
          </a:xfrm>
          <a:prstGeom prst="rect">
            <a:avLst/>
          </a:prstGeom>
          <a:noFill/>
          <a:ln/>
        </p:spPr>
        <p:txBody>
          <a:bodyPr wrap="square" lIns="0" tIns="0" rIns="0" bIns="0" rtlCol="0" anchor="ctr"/>
          <a:lstStyle/>
          <a:p>
            <a:pPr marL="0" indent="0" algn="ctr">
              <a:buNone/>
            </a:pPr>
            <a:r>
              <a:rPr lang="en-US" sz="700" b="1" dirty="0">
                <a:solidFill>
                  <a:srgbClr val="9AD672"/>
                </a:solidFill>
                <a:latin typeface="Calibri" pitchFamily="34" charset="0"/>
                <a:ea typeface="Calibri" pitchFamily="34" charset="-122"/>
                <a:cs typeface="Calibri" pitchFamily="34" charset="-120"/>
              </a:rPr>
              <a:t>11.05</a:t>
            </a:r>
            <a:endParaRPr lang="en-US" sz="700" dirty="0"/>
          </a:p>
        </p:txBody>
      </p:sp>
      <p:sp>
        <p:nvSpPr>
          <p:cNvPr id="59" name="Text 55"/>
          <p:cNvSpPr txBox="1"/>
          <p:nvPr/>
        </p:nvSpPr>
        <p:spPr>
          <a:xfrm>
            <a:off x="784555"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Fraud avoided</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graph engine</a:t>
            </a:r>
            <a:endParaRPr lang="en-US" sz="600" dirty="0"/>
          </a:p>
        </p:txBody>
      </p:sp>
      <p:sp>
        <p:nvSpPr>
          <p:cNvPr id="60" name="Shape 56"/>
          <p:cNvSpPr/>
          <p:nvPr/>
        </p:nvSpPr>
        <p:spPr>
          <a:xfrm>
            <a:off x="1482498" y="4748009"/>
            <a:ext cx="409139" cy="165759"/>
          </a:xfrm>
          <a:prstGeom prst="roundRect">
            <a:avLst>
              <a:gd name="adj" fmla="val 16549"/>
            </a:avLst>
          </a:prstGeom>
          <a:solidFill>
            <a:srgbClr val="70AD47">
              <a:alpha val="78000"/>
            </a:srgbClr>
          </a:solidFill>
          <a:ln w="9525">
            <a:solidFill>
              <a:srgbClr val="70AD47"/>
            </a:solidFill>
            <a:prstDash val="solid"/>
          </a:ln>
        </p:spPr>
      </p:sp>
      <p:sp>
        <p:nvSpPr>
          <p:cNvPr id="61" name="Text 57"/>
          <p:cNvSpPr txBox="1"/>
          <p:nvPr/>
        </p:nvSpPr>
        <p:spPr>
          <a:xfrm>
            <a:off x="1398264" y="4574273"/>
            <a:ext cx="577608" cy="164592"/>
          </a:xfrm>
          <a:prstGeom prst="rect">
            <a:avLst/>
          </a:prstGeom>
          <a:noFill/>
          <a:ln/>
        </p:spPr>
        <p:txBody>
          <a:bodyPr wrap="square" lIns="0" tIns="0" rIns="0" bIns="0" rtlCol="0" anchor="ctr"/>
          <a:lstStyle/>
          <a:p>
            <a:pPr marL="0" indent="0" algn="ctr">
              <a:buNone/>
            </a:pPr>
            <a:r>
              <a:rPr lang="en-US" sz="700" b="1" dirty="0">
                <a:solidFill>
                  <a:srgbClr val="9AD672"/>
                </a:solidFill>
                <a:latin typeface="Calibri" pitchFamily="34" charset="0"/>
                <a:ea typeface="Calibri" pitchFamily="34" charset="-122"/>
                <a:cs typeface="Calibri" pitchFamily="34" charset="-120"/>
              </a:rPr>
              <a:t>6.14</a:t>
            </a:r>
            <a:endParaRPr lang="en-US" sz="700" dirty="0"/>
          </a:p>
        </p:txBody>
      </p:sp>
      <p:sp>
        <p:nvSpPr>
          <p:cNvPr id="62" name="Text 58"/>
          <p:cNvSpPr txBox="1"/>
          <p:nvPr/>
        </p:nvSpPr>
        <p:spPr>
          <a:xfrm>
            <a:off x="1386230"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Fraud avoided</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capture gate</a:t>
            </a:r>
            <a:endParaRPr lang="en-US" sz="600" dirty="0"/>
          </a:p>
        </p:txBody>
      </p:sp>
      <p:sp>
        <p:nvSpPr>
          <p:cNvPr id="63" name="Shape 59"/>
          <p:cNvSpPr/>
          <p:nvPr/>
        </p:nvSpPr>
        <p:spPr>
          <a:xfrm>
            <a:off x="2084174" y="4577931"/>
            <a:ext cx="409139" cy="170078"/>
          </a:xfrm>
          <a:prstGeom prst="roundRect">
            <a:avLst>
              <a:gd name="adj" fmla="val 16129"/>
            </a:avLst>
          </a:prstGeom>
          <a:solidFill>
            <a:srgbClr val="70AD47">
              <a:alpha val="78000"/>
            </a:srgbClr>
          </a:solidFill>
          <a:ln w="9525">
            <a:solidFill>
              <a:srgbClr val="70AD47"/>
            </a:solidFill>
            <a:prstDash val="solid"/>
          </a:ln>
        </p:spPr>
      </p:sp>
      <p:sp>
        <p:nvSpPr>
          <p:cNvPr id="64" name="Text 60"/>
          <p:cNvSpPr txBox="1"/>
          <p:nvPr/>
        </p:nvSpPr>
        <p:spPr>
          <a:xfrm>
            <a:off x="1999939" y="4404195"/>
            <a:ext cx="577608" cy="164592"/>
          </a:xfrm>
          <a:prstGeom prst="rect">
            <a:avLst/>
          </a:prstGeom>
          <a:noFill/>
          <a:ln/>
        </p:spPr>
        <p:txBody>
          <a:bodyPr wrap="square" lIns="0" tIns="0" rIns="0" bIns="0" rtlCol="0" anchor="ctr"/>
          <a:lstStyle/>
          <a:p>
            <a:pPr marL="0" indent="0" algn="ctr">
              <a:buNone/>
            </a:pPr>
            <a:r>
              <a:rPr lang="en-US" sz="700" b="1" dirty="0">
                <a:solidFill>
                  <a:srgbClr val="9AD672"/>
                </a:solidFill>
                <a:latin typeface="Calibri" pitchFamily="34" charset="0"/>
                <a:ea typeface="Calibri" pitchFamily="34" charset="-122"/>
                <a:cs typeface="Calibri" pitchFamily="34" charset="-120"/>
              </a:rPr>
              <a:t>6.30</a:t>
            </a:r>
            <a:endParaRPr lang="en-US" sz="700" dirty="0"/>
          </a:p>
        </p:txBody>
      </p:sp>
      <p:sp>
        <p:nvSpPr>
          <p:cNvPr id="65" name="Text 61"/>
          <p:cNvSpPr txBox="1"/>
          <p:nvPr/>
        </p:nvSpPr>
        <p:spPr>
          <a:xfrm>
            <a:off x="1987906"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Synthetic media</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avoided</a:t>
            </a:r>
            <a:endParaRPr lang="en-US" sz="600" dirty="0"/>
          </a:p>
        </p:txBody>
      </p:sp>
      <p:sp>
        <p:nvSpPr>
          <p:cNvPr id="66" name="Shape 62"/>
          <p:cNvSpPr/>
          <p:nvPr/>
        </p:nvSpPr>
        <p:spPr>
          <a:xfrm>
            <a:off x="2685849" y="4129248"/>
            <a:ext cx="409139" cy="448683"/>
          </a:xfrm>
          <a:prstGeom prst="roundRect">
            <a:avLst>
              <a:gd name="adj" fmla="val 6705"/>
            </a:avLst>
          </a:prstGeom>
          <a:solidFill>
            <a:srgbClr val="70AD47">
              <a:alpha val="78000"/>
            </a:srgbClr>
          </a:solidFill>
          <a:ln w="9525">
            <a:solidFill>
              <a:srgbClr val="70AD47"/>
            </a:solidFill>
            <a:prstDash val="solid"/>
          </a:ln>
        </p:spPr>
      </p:sp>
      <p:sp>
        <p:nvSpPr>
          <p:cNvPr id="67" name="Text 63"/>
          <p:cNvSpPr txBox="1"/>
          <p:nvPr/>
        </p:nvSpPr>
        <p:spPr>
          <a:xfrm>
            <a:off x="2601614" y="3955512"/>
            <a:ext cx="577608" cy="164592"/>
          </a:xfrm>
          <a:prstGeom prst="rect">
            <a:avLst/>
          </a:prstGeom>
          <a:noFill/>
          <a:ln/>
        </p:spPr>
        <p:txBody>
          <a:bodyPr wrap="square" lIns="0" tIns="0" rIns="0" bIns="0" rtlCol="0" anchor="ctr"/>
          <a:lstStyle/>
          <a:p>
            <a:pPr marL="0" indent="0" algn="ctr">
              <a:buNone/>
            </a:pPr>
            <a:r>
              <a:rPr lang="en-US" sz="700" b="1" dirty="0">
                <a:solidFill>
                  <a:srgbClr val="9AD672"/>
                </a:solidFill>
                <a:latin typeface="Calibri" pitchFamily="34" charset="0"/>
                <a:ea typeface="Calibri" pitchFamily="34" charset="-122"/>
                <a:cs typeface="Calibri" pitchFamily="34" charset="-120"/>
              </a:rPr>
              <a:t>16.62</a:t>
            </a:r>
            <a:endParaRPr lang="en-US" sz="700" dirty="0"/>
          </a:p>
        </p:txBody>
      </p:sp>
      <p:sp>
        <p:nvSpPr>
          <p:cNvPr id="68" name="Text 64"/>
          <p:cNvSpPr txBox="1"/>
          <p:nvPr/>
        </p:nvSpPr>
        <p:spPr>
          <a:xfrm>
            <a:off x="2589581"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Capacity</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redeployed</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NOT CASH</a:t>
            </a:r>
            <a:endParaRPr lang="en-US" sz="600" dirty="0"/>
          </a:p>
        </p:txBody>
      </p:sp>
      <p:sp>
        <p:nvSpPr>
          <p:cNvPr id="69" name="Shape 65"/>
          <p:cNvSpPr/>
          <p:nvPr/>
        </p:nvSpPr>
        <p:spPr>
          <a:xfrm>
            <a:off x="3287524" y="4113590"/>
            <a:ext cx="409139" cy="45720"/>
          </a:xfrm>
          <a:prstGeom prst="roundRect">
            <a:avLst>
              <a:gd name="adj" fmla="val 60000"/>
            </a:avLst>
          </a:prstGeom>
          <a:solidFill>
            <a:srgbClr val="70AD47">
              <a:alpha val="78000"/>
            </a:srgbClr>
          </a:solidFill>
          <a:ln w="9525">
            <a:solidFill>
              <a:srgbClr val="70AD47"/>
            </a:solidFill>
            <a:prstDash val="solid"/>
          </a:ln>
        </p:spPr>
      </p:sp>
      <p:sp>
        <p:nvSpPr>
          <p:cNvPr id="70" name="Text 66"/>
          <p:cNvSpPr txBox="1"/>
          <p:nvPr/>
        </p:nvSpPr>
        <p:spPr>
          <a:xfrm>
            <a:off x="3203290" y="3939854"/>
            <a:ext cx="577608" cy="164592"/>
          </a:xfrm>
          <a:prstGeom prst="rect">
            <a:avLst/>
          </a:prstGeom>
          <a:noFill/>
          <a:ln/>
        </p:spPr>
        <p:txBody>
          <a:bodyPr wrap="square" lIns="0" tIns="0" rIns="0" bIns="0" rtlCol="0" anchor="ctr"/>
          <a:lstStyle/>
          <a:p>
            <a:pPr marL="0" indent="0" algn="ctr">
              <a:buNone/>
            </a:pPr>
            <a:r>
              <a:rPr lang="en-US" sz="700" b="1" dirty="0">
                <a:solidFill>
                  <a:srgbClr val="9AD672"/>
                </a:solidFill>
                <a:latin typeface="Calibri" pitchFamily="34" charset="0"/>
                <a:ea typeface="Calibri" pitchFamily="34" charset="-122"/>
                <a:cs typeface="Calibri" pitchFamily="34" charset="-120"/>
              </a:rPr>
              <a:t>0.58</a:t>
            </a:r>
            <a:endParaRPr lang="en-US" sz="700" dirty="0"/>
          </a:p>
        </p:txBody>
      </p:sp>
      <p:sp>
        <p:nvSpPr>
          <p:cNvPr id="71" name="Text 67"/>
          <p:cNvSpPr txBox="1"/>
          <p:nvPr/>
        </p:nvSpPr>
        <p:spPr>
          <a:xfrm>
            <a:off x="3191256"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Renewal retention</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SCENARIO</a:t>
            </a:r>
            <a:endParaRPr lang="en-US" sz="600" dirty="0"/>
          </a:p>
        </p:txBody>
      </p:sp>
      <p:sp>
        <p:nvSpPr>
          <p:cNvPr id="72" name="Shape 68"/>
          <p:cNvSpPr/>
          <p:nvPr/>
        </p:nvSpPr>
        <p:spPr>
          <a:xfrm>
            <a:off x="3889199" y="4113590"/>
            <a:ext cx="409139" cy="45720"/>
          </a:xfrm>
          <a:prstGeom prst="roundRect">
            <a:avLst>
              <a:gd name="adj" fmla="val 60000"/>
            </a:avLst>
          </a:prstGeom>
          <a:solidFill>
            <a:srgbClr val="E06666">
              <a:alpha val="78000"/>
            </a:srgbClr>
          </a:solidFill>
          <a:ln w="9525">
            <a:solidFill>
              <a:srgbClr val="E06666"/>
            </a:solidFill>
            <a:prstDash val="solid"/>
          </a:ln>
        </p:spPr>
      </p:sp>
      <p:sp>
        <p:nvSpPr>
          <p:cNvPr id="73" name="Text 69"/>
          <p:cNvSpPr txBox="1"/>
          <p:nvPr/>
        </p:nvSpPr>
        <p:spPr>
          <a:xfrm>
            <a:off x="3804965" y="3939854"/>
            <a:ext cx="577608" cy="164592"/>
          </a:xfrm>
          <a:prstGeom prst="rect">
            <a:avLst/>
          </a:prstGeom>
          <a:noFill/>
          <a:ln/>
        </p:spPr>
        <p:txBody>
          <a:bodyPr wrap="square" lIns="0" tIns="0" rIns="0" bIns="0" rtlCol="0" anchor="ctr"/>
          <a:lstStyle/>
          <a:p>
            <a:pPr marL="0" indent="0" algn="ctr">
              <a:buNone/>
            </a:pPr>
            <a:r>
              <a:rPr lang="en-US" sz="700" b="1" dirty="0">
                <a:solidFill>
                  <a:srgbClr val="F09696"/>
                </a:solidFill>
                <a:latin typeface="Calibri" pitchFamily="34" charset="0"/>
                <a:ea typeface="Calibri" pitchFamily="34" charset="-122"/>
                <a:cs typeface="Calibri" pitchFamily="34" charset="-120"/>
              </a:rPr>
              <a:t>−0.59</a:t>
            </a:r>
            <a:endParaRPr lang="en-US" sz="700" dirty="0"/>
          </a:p>
        </p:txBody>
      </p:sp>
      <p:sp>
        <p:nvSpPr>
          <p:cNvPr id="74" name="Text 70"/>
          <p:cNvSpPr txBox="1"/>
          <p:nvPr/>
        </p:nvSpPr>
        <p:spPr>
          <a:xfrm>
            <a:off x="3792931"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less capture</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friction</a:t>
            </a:r>
            <a:endParaRPr lang="en-US" sz="600" dirty="0"/>
          </a:p>
        </p:txBody>
      </p:sp>
      <p:sp>
        <p:nvSpPr>
          <p:cNvPr id="75" name="Shape 71"/>
          <p:cNvSpPr/>
          <p:nvPr/>
        </p:nvSpPr>
        <p:spPr>
          <a:xfrm>
            <a:off x="4490874" y="4129517"/>
            <a:ext cx="409139" cy="143892"/>
          </a:xfrm>
          <a:prstGeom prst="roundRect">
            <a:avLst>
              <a:gd name="adj" fmla="val 19064"/>
            </a:avLst>
          </a:prstGeom>
          <a:solidFill>
            <a:srgbClr val="E06666">
              <a:alpha val="78000"/>
            </a:srgbClr>
          </a:solidFill>
          <a:ln w="9525">
            <a:solidFill>
              <a:srgbClr val="E06666"/>
            </a:solidFill>
            <a:prstDash val="solid"/>
          </a:ln>
        </p:spPr>
      </p:sp>
      <p:sp>
        <p:nvSpPr>
          <p:cNvPr id="76" name="Text 72"/>
          <p:cNvSpPr txBox="1"/>
          <p:nvPr/>
        </p:nvSpPr>
        <p:spPr>
          <a:xfrm>
            <a:off x="4406640" y="3955781"/>
            <a:ext cx="577608" cy="164592"/>
          </a:xfrm>
          <a:prstGeom prst="rect">
            <a:avLst/>
          </a:prstGeom>
          <a:noFill/>
          <a:ln/>
        </p:spPr>
        <p:txBody>
          <a:bodyPr wrap="square" lIns="0" tIns="0" rIns="0" bIns="0" rtlCol="0" anchor="ctr"/>
          <a:lstStyle/>
          <a:p>
            <a:pPr marL="0" indent="0" algn="ctr">
              <a:buNone/>
            </a:pPr>
            <a:r>
              <a:rPr lang="en-US" sz="700" b="1" dirty="0">
                <a:solidFill>
                  <a:srgbClr val="F09696"/>
                </a:solidFill>
                <a:latin typeface="Calibri" pitchFamily="34" charset="0"/>
                <a:ea typeface="Calibri" pitchFamily="34" charset="-122"/>
                <a:cs typeface="Calibri" pitchFamily="34" charset="-120"/>
              </a:rPr>
              <a:t>−5.33</a:t>
            </a:r>
            <a:endParaRPr lang="en-US" sz="700" dirty="0"/>
          </a:p>
        </p:txBody>
      </p:sp>
      <p:sp>
        <p:nvSpPr>
          <p:cNvPr id="77" name="Text 73"/>
          <p:cNvSpPr txBox="1"/>
          <p:nvPr/>
        </p:nvSpPr>
        <p:spPr>
          <a:xfrm>
            <a:off x="4394606"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less marketing</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investment</a:t>
            </a:r>
            <a:endParaRPr lang="en-US" sz="600" dirty="0"/>
          </a:p>
        </p:txBody>
      </p:sp>
      <p:sp>
        <p:nvSpPr>
          <p:cNvPr id="78" name="Shape 74"/>
          <p:cNvSpPr/>
          <p:nvPr/>
        </p:nvSpPr>
        <p:spPr>
          <a:xfrm>
            <a:off x="5092550" y="4273679"/>
            <a:ext cx="409139" cy="938401"/>
          </a:xfrm>
          <a:prstGeom prst="roundRect">
            <a:avLst>
              <a:gd name="adj" fmla="val 6705"/>
            </a:avLst>
          </a:prstGeom>
          <a:solidFill>
            <a:srgbClr val="5B9BD5">
              <a:alpha val="92000"/>
            </a:srgbClr>
          </a:solidFill>
          <a:ln w="9525">
            <a:solidFill>
              <a:srgbClr val="5B9BD5"/>
            </a:solidFill>
            <a:prstDash val="solid"/>
          </a:ln>
        </p:spPr>
      </p:sp>
      <p:sp>
        <p:nvSpPr>
          <p:cNvPr id="79" name="Text 75"/>
          <p:cNvSpPr txBox="1"/>
          <p:nvPr/>
        </p:nvSpPr>
        <p:spPr>
          <a:xfrm>
            <a:off x="5008315" y="4099943"/>
            <a:ext cx="577608"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34.76</a:t>
            </a:r>
            <a:endParaRPr lang="en-US" sz="700" dirty="0"/>
          </a:p>
        </p:txBody>
      </p:sp>
      <p:sp>
        <p:nvSpPr>
          <p:cNvPr id="80" name="Text 76"/>
          <p:cNvSpPr txBox="1"/>
          <p:nvPr/>
        </p:nvSpPr>
        <p:spPr>
          <a:xfrm>
            <a:off x="4996282"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FFFFFF"/>
                </a:solidFill>
                <a:latin typeface="Calibri" pitchFamily="34" charset="0"/>
                <a:ea typeface="Calibri" pitchFamily="34" charset="-122"/>
                <a:cs typeface="Calibri" pitchFamily="34" charset="-120"/>
              </a:rPr>
              <a:t>GROSS</a:t>
            </a:r>
            <a:endParaRPr lang="en-US" sz="600" dirty="0"/>
          </a:p>
          <a:p>
            <a:pPr marL="0" indent="0" algn="ctr">
              <a:lnSpc>
                <a:spcPts val="750"/>
              </a:lnSpc>
              <a:buNone/>
            </a:pPr>
            <a:r>
              <a:rPr lang="en-US" sz="600" dirty="0">
                <a:solidFill>
                  <a:srgbClr val="FFFFFF"/>
                </a:solidFill>
                <a:latin typeface="Calibri" pitchFamily="34" charset="0"/>
                <a:ea typeface="Calibri" pitchFamily="34" charset="-122"/>
                <a:cs typeface="Calibri" pitchFamily="34" charset="-120"/>
              </a:rPr>
              <a:t>BENEFIT</a:t>
            </a:r>
            <a:endParaRPr lang="en-US" sz="600" dirty="0"/>
          </a:p>
        </p:txBody>
      </p:sp>
      <p:sp>
        <p:nvSpPr>
          <p:cNvPr id="81" name="Shape 77"/>
          <p:cNvSpPr/>
          <p:nvPr/>
        </p:nvSpPr>
        <p:spPr>
          <a:xfrm>
            <a:off x="5694225" y="4273409"/>
            <a:ext cx="409139" cy="105287"/>
          </a:xfrm>
          <a:prstGeom prst="roundRect">
            <a:avLst>
              <a:gd name="adj" fmla="val 26054"/>
            </a:avLst>
          </a:prstGeom>
          <a:solidFill>
            <a:srgbClr val="E06666">
              <a:alpha val="78000"/>
            </a:srgbClr>
          </a:solidFill>
          <a:ln w="9525">
            <a:solidFill>
              <a:srgbClr val="E06666"/>
            </a:solidFill>
            <a:prstDash val="solid"/>
          </a:ln>
        </p:spPr>
      </p:sp>
      <p:sp>
        <p:nvSpPr>
          <p:cNvPr id="82" name="Text 78"/>
          <p:cNvSpPr txBox="1"/>
          <p:nvPr/>
        </p:nvSpPr>
        <p:spPr>
          <a:xfrm>
            <a:off x="5609990" y="4099673"/>
            <a:ext cx="577608" cy="164592"/>
          </a:xfrm>
          <a:prstGeom prst="rect">
            <a:avLst/>
          </a:prstGeom>
          <a:noFill/>
          <a:ln/>
        </p:spPr>
        <p:txBody>
          <a:bodyPr wrap="square" lIns="0" tIns="0" rIns="0" bIns="0" rtlCol="0" anchor="ctr"/>
          <a:lstStyle/>
          <a:p>
            <a:pPr marL="0" indent="0" algn="ctr">
              <a:buNone/>
            </a:pPr>
            <a:r>
              <a:rPr lang="en-US" sz="700" b="1" dirty="0">
                <a:solidFill>
                  <a:srgbClr val="F09696"/>
                </a:solidFill>
                <a:latin typeface="Calibri" pitchFamily="34" charset="0"/>
                <a:ea typeface="Calibri" pitchFamily="34" charset="-122"/>
                <a:cs typeface="Calibri" pitchFamily="34" charset="-120"/>
              </a:rPr>
              <a:t>−3.90</a:t>
            </a:r>
            <a:endParaRPr lang="en-US" sz="700" dirty="0"/>
          </a:p>
        </p:txBody>
      </p:sp>
      <p:sp>
        <p:nvSpPr>
          <p:cNvPr id="83" name="Text 79"/>
          <p:cNvSpPr txBox="1"/>
          <p:nvPr/>
        </p:nvSpPr>
        <p:spPr>
          <a:xfrm>
            <a:off x="5597957"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less annual</a:t>
            </a:r>
            <a:endParaRPr lang="en-US" sz="600" dirty="0"/>
          </a:p>
          <a:p>
            <a:pPr marL="0" indent="0" algn="ctr">
              <a:lnSpc>
                <a:spcPts val="750"/>
              </a:lnSpc>
              <a:buNone/>
            </a:pPr>
            <a:r>
              <a:rPr lang="en-US" sz="600" dirty="0">
                <a:solidFill>
                  <a:srgbClr val="9AA4C6"/>
                </a:solidFill>
                <a:latin typeface="Calibri" pitchFamily="34" charset="0"/>
                <a:ea typeface="Calibri" pitchFamily="34" charset="-122"/>
                <a:cs typeface="Calibri" pitchFamily="34" charset="-120"/>
              </a:rPr>
              <a:t>run cost</a:t>
            </a:r>
            <a:endParaRPr lang="en-US" sz="600" dirty="0"/>
          </a:p>
        </p:txBody>
      </p:sp>
      <p:sp>
        <p:nvSpPr>
          <p:cNvPr id="84" name="Shape 80"/>
          <p:cNvSpPr/>
          <p:nvPr/>
        </p:nvSpPr>
        <p:spPr>
          <a:xfrm>
            <a:off x="6295900" y="4378966"/>
            <a:ext cx="409139" cy="833114"/>
          </a:xfrm>
          <a:prstGeom prst="roundRect">
            <a:avLst>
              <a:gd name="adj" fmla="val 6705"/>
            </a:avLst>
          </a:prstGeom>
          <a:solidFill>
            <a:srgbClr val="5B9BD5">
              <a:alpha val="92000"/>
            </a:srgbClr>
          </a:solidFill>
          <a:ln w="9525">
            <a:solidFill>
              <a:srgbClr val="5B9BD5"/>
            </a:solidFill>
            <a:prstDash val="solid"/>
          </a:ln>
        </p:spPr>
      </p:sp>
      <p:sp>
        <p:nvSpPr>
          <p:cNvPr id="85" name="Text 81"/>
          <p:cNvSpPr txBox="1"/>
          <p:nvPr/>
        </p:nvSpPr>
        <p:spPr>
          <a:xfrm>
            <a:off x="6211666" y="4205230"/>
            <a:ext cx="577608"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30.86</a:t>
            </a:r>
            <a:endParaRPr lang="en-US" sz="700" dirty="0"/>
          </a:p>
        </p:txBody>
      </p:sp>
      <p:sp>
        <p:nvSpPr>
          <p:cNvPr id="86" name="Text 82"/>
          <p:cNvSpPr txBox="1"/>
          <p:nvPr/>
        </p:nvSpPr>
        <p:spPr>
          <a:xfrm>
            <a:off x="6199632" y="5257800"/>
            <a:ext cx="601675" cy="365760"/>
          </a:xfrm>
          <a:prstGeom prst="rect">
            <a:avLst/>
          </a:prstGeom>
          <a:noFill/>
          <a:ln/>
        </p:spPr>
        <p:txBody>
          <a:bodyPr wrap="square" lIns="0" tIns="0" rIns="0" bIns="0" rtlCol="0" anchor="t"/>
          <a:lstStyle/>
          <a:p>
            <a:pPr marL="0" indent="0" algn="ctr">
              <a:lnSpc>
                <a:spcPts val="750"/>
              </a:lnSpc>
              <a:buNone/>
            </a:pPr>
            <a:r>
              <a:rPr lang="en-US" sz="600" dirty="0">
                <a:solidFill>
                  <a:srgbClr val="FFFFFF"/>
                </a:solidFill>
                <a:latin typeface="Calibri" pitchFamily="34" charset="0"/>
                <a:ea typeface="Calibri" pitchFamily="34" charset="-122"/>
                <a:cs typeface="Calibri" pitchFamily="34" charset="-120"/>
              </a:rPr>
              <a:t>NET ANNUAL</a:t>
            </a:r>
            <a:endParaRPr lang="en-US" sz="600" dirty="0"/>
          </a:p>
          <a:p>
            <a:pPr marL="0" indent="0" algn="ctr">
              <a:lnSpc>
                <a:spcPts val="750"/>
              </a:lnSpc>
              <a:buNone/>
            </a:pPr>
            <a:r>
              <a:rPr lang="en-US" sz="600" dirty="0">
                <a:solidFill>
                  <a:srgbClr val="FFFFFF"/>
                </a:solidFill>
                <a:latin typeface="Calibri" pitchFamily="34" charset="0"/>
                <a:ea typeface="Calibri" pitchFamily="34" charset="-122"/>
                <a:cs typeface="Calibri" pitchFamily="34" charset="-120"/>
              </a:rPr>
              <a:t>BENEFIT</a:t>
            </a:r>
            <a:endParaRPr lang="en-US" sz="600" dirty="0"/>
          </a:p>
        </p:txBody>
      </p:sp>
      <p:sp>
        <p:nvSpPr>
          <p:cNvPr id="87" name="Shape 83"/>
          <p:cNvSpPr/>
          <p:nvPr/>
        </p:nvSpPr>
        <p:spPr>
          <a:xfrm>
            <a:off x="784555" y="5212080"/>
            <a:ext cx="6016752" cy="0"/>
          </a:xfrm>
          <a:prstGeom prst="line">
            <a:avLst/>
          </a:prstGeom>
          <a:noFill/>
          <a:ln w="9525">
            <a:solidFill>
              <a:srgbClr val="3A4A8C"/>
            </a:solidFill>
            <a:prstDash val="solid"/>
          </a:ln>
        </p:spPr>
      </p:sp>
      <p:sp>
        <p:nvSpPr>
          <p:cNvPr id="88" name="Shape 84"/>
          <p:cNvSpPr/>
          <p:nvPr/>
        </p:nvSpPr>
        <p:spPr>
          <a:xfrm>
            <a:off x="7148779" y="3474720"/>
            <a:ext cx="4425696" cy="2157984"/>
          </a:xfrm>
          <a:prstGeom prst="roundRect">
            <a:avLst>
              <a:gd name="adj" fmla="val 3814"/>
            </a:avLst>
          </a:prstGeom>
          <a:solidFill>
            <a:srgbClr val="111C55">
              <a:alpha val="74000"/>
            </a:srgbClr>
          </a:solidFill>
          <a:ln w="12700">
            <a:solidFill>
              <a:srgbClr val="70AD47">
                <a:alpha val="78000"/>
              </a:srgbClr>
            </a:solidFill>
            <a:prstDash val="solid"/>
          </a:ln>
        </p:spPr>
      </p:sp>
      <p:sp>
        <p:nvSpPr>
          <p:cNvPr id="89" name="Shape 85"/>
          <p:cNvSpPr/>
          <p:nvPr/>
        </p:nvSpPr>
        <p:spPr>
          <a:xfrm rot="5400000">
            <a:off x="7295083" y="3584448"/>
            <a:ext cx="173736" cy="173736"/>
          </a:xfrm>
          <a:prstGeom prst="homePlate">
            <a:avLst/>
          </a:prstGeom>
          <a:ln w="13970">
            <a:solidFill>
              <a:srgbClr val="70AD47"/>
            </a:solidFill>
            <a:prstDash val="solid"/>
          </a:ln>
        </p:spPr>
      </p:sp>
      <p:sp>
        <p:nvSpPr>
          <p:cNvPr id="90" name="Text 86"/>
          <p:cNvSpPr txBox="1"/>
          <p:nvPr/>
        </p:nvSpPr>
        <p:spPr>
          <a:xfrm>
            <a:off x="7541971" y="3547872"/>
            <a:ext cx="3886200" cy="237744"/>
          </a:xfrm>
          <a:prstGeom prst="rect">
            <a:avLst/>
          </a:prstGeom>
          <a:noFill/>
          <a:ln/>
        </p:spPr>
        <p:txBody>
          <a:bodyPr wrap="square" lIns="0" tIns="0" rIns="0" bIns="0" rtlCol="0" anchor="ctr"/>
          <a:lstStyle/>
          <a:p>
            <a:pPr marL="0" indent="0">
              <a:buNone/>
            </a:pPr>
            <a:r>
              <a:rPr lang="en-US" sz="900" b="1" kern="0" spc="110" dirty="0">
                <a:solidFill>
                  <a:srgbClr val="70AD47"/>
                </a:solidFill>
                <a:latin typeface="Calibri" pitchFamily="34" charset="0"/>
                <a:ea typeface="Calibri" pitchFamily="34" charset="-122"/>
                <a:cs typeface="Calibri" pitchFamily="34" charset="-120"/>
              </a:rPr>
              <a:t>HOW IT REACHES THE COMBINED RATIO</a:t>
            </a:r>
            <a:r>
              <a:rPr lang="en-US" sz="900" dirty="0">
                <a:solidFill>
                  <a:srgbClr val="9AA4C6"/>
                </a:solidFill>
                <a:latin typeface="Calibri" pitchFamily="34" charset="0"/>
                <a:ea typeface="Calibri" pitchFamily="34" charset="-122"/>
                <a:cs typeface="Calibri" pitchFamily="34" charset="-120"/>
              </a:rPr>
              <a:t>   ·   combined ratio = loss ratio + expense ratio  ·  lower is better</a:t>
            </a:r>
            <a:endParaRPr lang="en-US" sz="900" dirty="0"/>
          </a:p>
        </p:txBody>
      </p:sp>
      <p:sp>
        <p:nvSpPr>
          <p:cNvPr id="91" name="Text 87"/>
          <p:cNvSpPr txBox="1"/>
          <p:nvPr/>
        </p:nvSpPr>
        <p:spPr>
          <a:xfrm>
            <a:off x="7295083" y="3858768"/>
            <a:ext cx="14173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Loss ratio</a:t>
            </a:r>
            <a:endParaRPr lang="en-US" sz="950" dirty="0"/>
          </a:p>
        </p:txBody>
      </p:sp>
      <p:sp>
        <p:nvSpPr>
          <p:cNvPr id="92" name="Text 88"/>
          <p:cNvSpPr txBox="1"/>
          <p:nvPr/>
        </p:nvSpPr>
        <p:spPr>
          <a:xfrm>
            <a:off x="10422331" y="3858768"/>
            <a:ext cx="1005840" cy="219456"/>
          </a:xfrm>
          <a:prstGeom prst="rect">
            <a:avLst/>
          </a:prstGeom>
          <a:noFill/>
          <a:ln/>
        </p:spPr>
        <p:txBody>
          <a:bodyPr wrap="square" lIns="0" tIns="0" rIns="0" bIns="0" rtlCol="0" anchor="ctr"/>
          <a:lstStyle/>
          <a:p>
            <a:pPr marL="0" indent="0" algn="r">
              <a:buNone/>
            </a:pPr>
            <a:r>
              <a:rPr lang="en-US" sz="1200" b="1" dirty="0">
                <a:solidFill>
                  <a:srgbClr val="9AD672"/>
                </a:solidFill>
                <a:latin typeface="Calibri" pitchFamily="34" charset="0"/>
                <a:ea typeface="Calibri" pitchFamily="34" charset="-122"/>
                <a:cs typeface="Calibri" pitchFamily="34" charset="-120"/>
              </a:rPr>
              <a:t>+1.42 pp</a:t>
            </a:r>
            <a:endParaRPr lang="en-US" sz="1200" dirty="0"/>
          </a:p>
        </p:txBody>
      </p:sp>
      <p:sp>
        <p:nvSpPr>
          <p:cNvPr id="93" name="Text 89"/>
          <p:cNvSpPr txBox="1"/>
          <p:nvPr/>
        </p:nvSpPr>
        <p:spPr>
          <a:xfrm>
            <a:off x="7295083" y="4050792"/>
            <a:ext cx="4133088" cy="182880"/>
          </a:xfrm>
          <a:prstGeom prst="rect">
            <a:avLst/>
          </a:prstGeom>
          <a:noFill/>
          <a:ln/>
        </p:spPr>
        <p:txBody>
          <a:bodyPr wrap="square" lIns="0" tIns="0" rIns="0" bIns="0" rtlCol="0" anchor="ctr"/>
          <a:lstStyle/>
          <a:p>
            <a:pPr marL="0" indent="0">
              <a:buNone/>
            </a:pPr>
            <a:r>
              <a:rPr lang="en-US" sz="800" dirty="0">
                <a:solidFill>
                  <a:srgbClr val="9AA4C6"/>
                </a:solidFill>
                <a:latin typeface="Calibri" pitchFamily="34" charset="0"/>
                <a:ea typeface="Calibri" pitchFamily="34" charset="-122"/>
                <a:cs typeface="Calibri" pitchFamily="34" charset="-120"/>
              </a:rPr>
              <a:t>fraud and leakage avoided, ₹23.49 Cr</a:t>
            </a:r>
            <a:endParaRPr lang="en-US" sz="800" dirty="0"/>
          </a:p>
        </p:txBody>
      </p:sp>
      <p:sp>
        <p:nvSpPr>
          <p:cNvPr id="94" name="Text 90"/>
          <p:cNvSpPr txBox="1"/>
          <p:nvPr/>
        </p:nvSpPr>
        <p:spPr>
          <a:xfrm>
            <a:off x="7295083" y="4261104"/>
            <a:ext cx="14173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Expense ratio</a:t>
            </a:r>
            <a:endParaRPr lang="en-US" sz="950" dirty="0"/>
          </a:p>
        </p:txBody>
      </p:sp>
      <p:sp>
        <p:nvSpPr>
          <p:cNvPr id="95" name="Text 91"/>
          <p:cNvSpPr txBox="1"/>
          <p:nvPr/>
        </p:nvSpPr>
        <p:spPr>
          <a:xfrm>
            <a:off x="10422331" y="4261104"/>
            <a:ext cx="1005840" cy="219456"/>
          </a:xfrm>
          <a:prstGeom prst="rect">
            <a:avLst/>
          </a:prstGeom>
          <a:noFill/>
          <a:ln/>
        </p:spPr>
        <p:txBody>
          <a:bodyPr wrap="square" lIns="0" tIns="0" rIns="0" bIns="0" rtlCol="0" anchor="ctr"/>
          <a:lstStyle/>
          <a:p>
            <a:pPr marL="0" indent="0" algn="r">
              <a:buNone/>
            </a:pPr>
            <a:r>
              <a:rPr lang="en-US" sz="1200" b="1" dirty="0">
                <a:solidFill>
                  <a:srgbClr val="F09696"/>
                </a:solidFill>
                <a:latin typeface="Calibri" pitchFamily="34" charset="0"/>
                <a:ea typeface="Calibri" pitchFamily="34" charset="-122"/>
                <a:cs typeface="Calibri" pitchFamily="34" charset="-120"/>
              </a:rPr>
              <a:t>−0.27 pp</a:t>
            </a:r>
            <a:endParaRPr lang="en-US" sz="1200" dirty="0"/>
          </a:p>
        </p:txBody>
      </p:sp>
      <p:sp>
        <p:nvSpPr>
          <p:cNvPr id="96" name="Text 92"/>
          <p:cNvSpPr txBox="1"/>
          <p:nvPr/>
        </p:nvSpPr>
        <p:spPr>
          <a:xfrm>
            <a:off x="7295083" y="4453128"/>
            <a:ext cx="4133088" cy="182880"/>
          </a:xfrm>
          <a:prstGeom prst="rect">
            <a:avLst/>
          </a:prstGeom>
          <a:noFill/>
          <a:ln/>
        </p:spPr>
        <p:txBody>
          <a:bodyPr wrap="square" lIns="0" tIns="0" rIns="0" bIns="0" rtlCol="0" anchor="ctr"/>
          <a:lstStyle/>
          <a:p>
            <a:pPr marL="0" indent="0">
              <a:buNone/>
            </a:pPr>
            <a:r>
              <a:rPr lang="en-US" sz="800" dirty="0">
                <a:solidFill>
                  <a:srgbClr val="9AA4C6"/>
                </a:solidFill>
                <a:latin typeface="Calibri" pitchFamily="34" charset="0"/>
                <a:ea typeface="Calibri" pitchFamily="34" charset="-122"/>
                <a:cs typeface="Calibri" pitchFamily="34" charset="-120"/>
              </a:rPr>
              <a:t>run cost and capture friction, ₹4.49 Cr</a:t>
            </a:r>
            <a:endParaRPr lang="en-US" sz="800" dirty="0"/>
          </a:p>
        </p:txBody>
      </p:sp>
      <p:sp>
        <p:nvSpPr>
          <p:cNvPr id="97" name="Text 93"/>
          <p:cNvSpPr txBox="1"/>
          <p:nvPr/>
        </p:nvSpPr>
        <p:spPr>
          <a:xfrm>
            <a:off x="7295083" y="4681728"/>
            <a:ext cx="4133088" cy="329184"/>
          </a:xfrm>
          <a:prstGeom prst="rect">
            <a:avLst/>
          </a:prstGeom>
          <a:noFill/>
          <a:ln/>
        </p:spPr>
        <p:txBody>
          <a:bodyPr wrap="square" lIns="0" tIns="0" rIns="0" bIns="0" rtlCol="0" anchor="t"/>
          <a:lstStyle/>
          <a:p>
            <a:pPr marL="0" indent="0">
              <a:lnSpc>
                <a:spcPts val="950"/>
              </a:lnSpc>
              <a:buNone/>
            </a:pPr>
            <a:r>
              <a:rPr lang="en-US" sz="750" dirty="0">
                <a:solidFill>
                  <a:srgbClr val="F5D076"/>
                </a:solidFill>
                <a:latin typeface="Calibri" pitchFamily="34" charset="0"/>
                <a:ea typeface="Calibri" pitchFamily="34" charset="-122"/>
                <a:cs typeface="Calibri" pitchFamily="34" charset="-120"/>
              </a:rPr>
              <a:t>The ₹16.62 Cr of released capacity is in the benefit total but kept out of this ratio: headcount is redeployed, not removed, so claims-handling cost does not fall. Booking it would add a further 1.0 pp we have not claimed.</a:t>
            </a:r>
            <a:endParaRPr lang="en-US" sz="750" dirty="0"/>
          </a:p>
        </p:txBody>
      </p:sp>
      <p:sp>
        <p:nvSpPr>
          <p:cNvPr id="98" name="Shape 94"/>
          <p:cNvSpPr/>
          <p:nvPr/>
        </p:nvSpPr>
        <p:spPr>
          <a:xfrm>
            <a:off x="7295083" y="5029200"/>
            <a:ext cx="4133088" cy="0"/>
          </a:xfrm>
          <a:prstGeom prst="line">
            <a:avLst/>
          </a:prstGeom>
          <a:noFill/>
          <a:ln w="9525">
            <a:solidFill>
              <a:srgbClr val="3A4A8C"/>
            </a:solidFill>
            <a:prstDash val="solid"/>
          </a:ln>
        </p:spPr>
      </p:sp>
      <p:sp>
        <p:nvSpPr>
          <p:cNvPr id="99" name="Text 95"/>
          <p:cNvSpPr txBox="1"/>
          <p:nvPr/>
        </p:nvSpPr>
        <p:spPr>
          <a:xfrm>
            <a:off x="7295083" y="5065776"/>
            <a:ext cx="2314529"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Motor OD combined ratio</a:t>
            </a:r>
            <a:endParaRPr lang="en-US" sz="950" dirty="0"/>
          </a:p>
        </p:txBody>
      </p:sp>
      <p:sp>
        <p:nvSpPr>
          <p:cNvPr id="100" name="Text 96"/>
          <p:cNvSpPr txBox="1"/>
          <p:nvPr/>
        </p:nvSpPr>
        <p:spPr>
          <a:xfrm>
            <a:off x="9444289" y="5065776"/>
            <a:ext cx="1983882" cy="219456"/>
          </a:xfrm>
          <a:prstGeom prst="rect">
            <a:avLst/>
          </a:prstGeom>
          <a:noFill/>
          <a:ln/>
        </p:spPr>
        <p:txBody>
          <a:bodyPr wrap="square" lIns="0" tIns="0" rIns="0" bIns="0" rtlCol="0" anchor="ctr"/>
          <a:lstStyle/>
          <a:p>
            <a:pPr marL="0" indent="0" algn="r">
              <a:buNone/>
            </a:pPr>
            <a:r>
              <a:rPr lang="en-US" sz="1050" b="1" dirty="0">
                <a:solidFill>
                  <a:srgbClr val="9AD672"/>
                </a:solidFill>
                <a:latin typeface="Calibri" pitchFamily="34" charset="0"/>
                <a:ea typeface="Calibri" pitchFamily="34" charset="-122"/>
                <a:cs typeface="Calibri" pitchFamily="34" charset="-120"/>
              </a:rPr>
              <a:t>+1.15 pp better</a:t>
            </a:r>
            <a:endParaRPr lang="en-US" sz="1050" dirty="0"/>
          </a:p>
        </p:txBody>
      </p:sp>
      <p:sp>
        <p:nvSpPr>
          <p:cNvPr id="101" name="Text 97"/>
          <p:cNvSpPr txBox="1"/>
          <p:nvPr/>
        </p:nvSpPr>
        <p:spPr>
          <a:xfrm>
            <a:off x="7295083" y="5285232"/>
            <a:ext cx="2314529"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Net of every line above</a:t>
            </a:r>
            <a:endParaRPr lang="en-US" sz="950" dirty="0"/>
          </a:p>
        </p:txBody>
      </p:sp>
      <p:sp>
        <p:nvSpPr>
          <p:cNvPr id="102" name="Text 98"/>
          <p:cNvSpPr txBox="1"/>
          <p:nvPr/>
        </p:nvSpPr>
        <p:spPr>
          <a:xfrm>
            <a:off x="9444289" y="5285232"/>
            <a:ext cx="1983882" cy="219456"/>
          </a:xfrm>
          <a:prstGeom prst="rect">
            <a:avLst/>
          </a:prstGeom>
          <a:noFill/>
          <a:ln/>
        </p:spPr>
        <p:txBody>
          <a:bodyPr wrap="square" lIns="0" tIns="0" rIns="0" bIns="0" rtlCol="0" anchor="ctr"/>
          <a:lstStyle/>
          <a:p>
            <a:pPr marL="0" indent="0" algn="r">
              <a:buNone/>
            </a:pPr>
            <a:r>
              <a:rPr lang="en-US" sz="1050" b="1" dirty="0">
                <a:solidFill>
                  <a:srgbClr val="9AD672"/>
                </a:solidFill>
                <a:latin typeface="Calibri" pitchFamily="34" charset="0"/>
                <a:ea typeface="Calibri" pitchFamily="34" charset="-122"/>
                <a:cs typeface="Calibri" pitchFamily="34" charset="-120"/>
              </a:rPr>
              <a:t>₹30.86 Cr a year</a:t>
            </a:r>
            <a:endParaRPr lang="en-US" sz="1050" dirty="0"/>
          </a:p>
        </p:txBody>
      </p:sp>
      <p:sp>
        <p:nvSpPr>
          <p:cNvPr id="103" name="Shape 99"/>
          <p:cNvSpPr/>
          <p:nvPr/>
        </p:nvSpPr>
        <p:spPr>
          <a:xfrm>
            <a:off x="638251" y="5742432"/>
            <a:ext cx="10936224" cy="329184"/>
          </a:xfrm>
          <a:prstGeom prst="roundRect">
            <a:avLst>
              <a:gd name="adj" fmla="val 22222"/>
            </a:avLst>
          </a:prstGeom>
          <a:solidFill>
            <a:srgbClr val="0A1550">
              <a:alpha val="86000"/>
            </a:srgbClr>
          </a:solidFill>
          <a:ln w="9525">
            <a:solidFill>
              <a:srgbClr val="70AD47">
                <a:alpha val="55000"/>
              </a:srgbClr>
            </a:solidFill>
            <a:prstDash val="solid"/>
          </a:ln>
        </p:spPr>
      </p:sp>
      <p:sp>
        <p:nvSpPr>
          <p:cNvPr id="104" name="Shape 100"/>
          <p:cNvSpPr/>
          <p:nvPr/>
        </p:nvSpPr>
        <p:spPr>
          <a:xfrm>
            <a:off x="747979" y="5815584"/>
            <a:ext cx="41148" cy="182880"/>
          </a:xfrm>
          <a:prstGeom prst="roundRect">
            <a:avLst>
              <a:gd name="adj" fmla="val 48889"/>
            </a:avLst>
          </a:prstGeom>
          <a:solidFill>
            <a:srgbClr val="70AD47"/>
          </a:solidFill>
          <a:ln/>
        </p:spPr>
      </p:sp>
      <p:sp>
        <p:nvSpPr>
          <p:cNvPr id="105" name="Text 101"/>
          <p:cNvSpPr txBox="1"/>
          <p:nvPr/>
        </p:nvSpPr>
        <p:spPr>
          <a:xfrm>
            <a:off x="894283" y="5742432"/>
            <a:ext cx="10533888" cy="329184"/>
          </a:xfrm>
          <a:prstGeom prst="rect">
            <a:avLst/>
          </a:prstGeom>
          <a:noFill/>
          <a:ln/>
        </p:spPr>
        <p:txBody>
          <a:bodyPr wrap="square" lIns="0" tIns="0" rIns="0" bIns="0" rtlCol="0" anchor="ctr"/>
          <a:lstStyle/>
          <a:p>
            <a:pPr marL="0" indent="0">
              <a:lnSpc>
                <a:spcPts val="1150"/>
              </a:lnSpc>
              <a:buNone/>
            </a:pPr>
            <a:r>
              <a:rPr lang="en-US" sz="950" b="1" kern="0" spc="100" dirty="0">
                <a:solidFill>
                  <a:srgbClr val="70AD47"/>
                </a:solidFill>
                <a:latin typeface="Calibri" pitchFamily="34" charset="0"/>
                <a:ea typeface="Calibri" pitchFamily="34" charset="-122"/>
                <a:cs typeface="Calibri" pitchFamily="34" charset="-120"/>
              </a:rPr>
              <a:t>INSIGHT   </a:t>
            </a:r>
            <a:r>
              <a:rPr lang="en-US" sz="950" dirty="0">
                <a:solidFill>
                  <a:srgbClr val="FFFFFF"/>
                </a:solidFill>
                <a:latin typeface="Calibri" pitchFamily="34" charset="0"/>
                <a:ea typeface="Calibri" pitchFamily="34" charset="-122"/>
                <a:cs typeface="Calibri" pitchFamily="34" charset="-120"/>
              </a:rPr>
              <a:t>The loss ratio carries this case. The expense ratio moves against us because we refuse to bank a headcount reduction we are not proposing.</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IMPACT   03 / 03</a:t>
            </a:r>
            <a:endParaRPr lang="en-US" sz="1000" dirty="0"/>
          </a:p>
        </p:txBody>
      </p:sp>
      <p:pic>
        <p:nvPicPr>
          <p:cNvPr id="4" name="Image 0" descr="media/image4.png"/>
          <p:cNvPicPr>
            <a:picLocks noChangeAspect="1"/>
          </p:cNvPicPr>
          <p:nvPr/>
        </p:nvPicPr>
        <p:blipFill>
          <a:blip r:embed="rId4"/>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5"/>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Ten months to build, four gates that can each stop the spend, and one scenario that does not clear.</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Solution Proposed</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Sheet 3 Workings (Part D build stack); Sheet 4 Forecast; Sheet 8 Scenario Simulation; Sheet 0 Investment Committee (IC-31 to IC-34).</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Shape 11"/>
          <p:cNvSpPr/>
          <p:nvPr/>
        </p:nvSpPr>
        <p:spPr>
          <a:xfrm>
            <a:off x="638251" y="1609344"/>
            <a:ext cx="10936224" cy="1188720"/>
          </a:xfrm>
          <a:prstGeom prst="roundRect">
            <a:avLst>
              <a:gd name="adj" fmla="val 6923"/>
            </a:avLst>
          </a:prstGeom>
          <a:solidFill>
            <a:srgbClr val="111C55">
              <a:alpha val="74000"/>
            </a:srgbClr>
          </a:solidFill>
          <a:ln w="9525">
            <a:solidFill>
              <a:srgbClr val="3A4A8C">
                <a:alpha val="70000"/>
              </a:srgbClr>
            </a:solidFill>
            <a:prstDash val="solid"/>
          </a:ln>
        </p:spPr>
      </p:sp>
      <p:sp>
        <p:nvSpPr>
          <p:cNvPr id="16" name="Shape 12"/>
          <p:cNvSpPr/>
          <p:nvPr/>
        </p:nvSpPr>
        <p:spPr>
          <a:xfrm>
            <a:off x="784555" y="1739920"/>
            <a:ext cx="173736" cy="142464"/>
          </a:xfrm>
          <a:prstGeom prst="roundRect">
            <a:avLst>
              <a:gd name="adj" fmla="val 9756"/>
            </a:avLst>
          </a:prstGeom>
          <a:ln w="13970">
            <a:solidFill>
              <a:srgbClr val="9CC3E8"/>
            </a:solidFill>
            <a:prstDash val="solid"/>
          </a:ln>
        </p:spPr>
      </p:sp>
      <p:sp>
        <p:nvSpPr>
          <p:cNvPr id="17" name="Shape 13"/>
          <p:cNvSpPr/>
          <p:nvPr/>
        </p:nvSpPr>
        <p:spPr>
          <a:xfrm>
            <a:off x="784555" y="1785092"/>
            <a:ext cx="173736" cy="0"/>
          </a:xfrm>
          <a:prstGeom prst="line">
            <a:avLst/>
          </a:prstGeom>
          <a:noFill/>
          <a:ln w="12700">
            <a:solidFill>
              <a:srgbClr val="9CC3E8"/>
            </a:solidFill>
            <a:prstDash val="solid"/>
          </a:ln>
        </p:spPr>
      </p:sp>
      <p:sp>
        <p:nvSpPr>
          <p:cNvPr id="18" name="Shape 14"/>
          <p:cNvSpPr/>
          <p:nvPr/>
        </p:nvSpPr>
        <p:spPr>
          <a:xfrm>
            <a:off x="829727" y="1719072"/>
            <a:ext cx="0" cy="20848"/>
          </a:xfrm>
          <a:prstGeom prst="line">
            <a:avLst/>
          </a:prstGeom>
          <a:noFill/>
          <a:ln w="12700">
            <a:solidFill>
              <a:srgbClr val="9CC3E8"/>
            </a:solidFill>
            <a:prstDash val="solid"/>
          </a:ln>
        </p:spPr>
      </p:sp>
      <p:sp>
        <p:nvSpPr>
          <p:cNvPr id="19" name="Shape 15"/>
          <p:cNvSpPr/>
          <p:nvPr/>
        </p:nvSpPr>
        <p:spPr>
          <a:xfrm>
            <a:off x="913120" y="1719072"/>
            <a:ext cx="0" cy="20848"/>
          </a:xfrm>
          <a:prstGeom prst="line">
            <a:avLst/>
          </a:prstGeom>
          <a:noFill/>
          <a:ln w="12700">
            <a:solidFill>
              <a:srgbClr val="9CC3E8"/>
            </a:solidFill>
            <a:prstDash val="solid"/>
          </a:ln>
        </p:spPr>
      </p:sp>
      <p:sp>
        <p:nvSpPr>
          <p:cNvPr id="20" name="Text 16"/>
          <p:cNvSpPr txBox="1"/>
          <p:nvPr/>
        </p:nvSpPr>
        <p:spPr>
          <a:xfrm>
            <a:off x="1031443" y="1682496"/>
            <a:ext cx="10396728"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IMPLEMENTATION ROADMAP</a:t>
            </a:r>
            <a:r>
              <a:rPr lang="en-US" sz="900" dirty="0">
                <a:solidFill>
                  <a:srgbClr val="9AA4C6"/>
                </a:solidFill>
                <a:latin typeface="Calibri" pitchFamily="34" charset="0"/>
                <a:ea typeface="Calibri" pitchFamily="34" charset="-122"/>
                <a:cs typeface="Calibri" pitchFamily="34" charset="-120"/>
              </a:rPr>
              <a:t>   ·   15 costed components  ·  ₹9.89 Cr  ·  10 months</a:t>
            </a:r>
            <a:endParaRPr lang="en-US" sz="900" dirty="0"/>
          </a:p>
        </p:txBody>
      </p:sp>
      <p:sp>
        <p:nvSpPr>
          <p:cNvPr id="21" name="Shape 17"/>
          <p:cNvSpPr/>
          <p:nvPr/>
        </p:nvSpPr>
        <p:spPr>
          <a:xfrm>
            <a:off x="875995" y="2048256"/>
            <a:ext cx="8368589" cy="0"/>
          </a:xfrm>
          <a:prstGeom prst="line">
            <a:avLst/>
          </a:prstGeom>
          <a:noFill/>
          <a:ln w="19050">
            <a:solidFill>
              <a:srgbClr val="3A4A8C"/>
            </a:solidFill>
            <a:prstDash val="solid"/>
          </a:ln>
        </p:spPr>
      </p:sp>
      <p:sp>
        <p:nvSpPr>
          <p:cNvPr id="22" name="Shape 18"/>
          <p:cNvSpPr/>
          <p:nvPr/>
        </p:nvSpPr>
        <p:spPr>
          <a:xfrm>
            <a:off x="807415" y="1979676"/>
            <a:ext cx="137160" cy="137160"/>
          </a:xfrm>
          <a:prstGeom prst="ellipse">
            <a:avLst/>
          </a:prstGeom>
          <a:solidFill>
            <a:srgbClr val="ED7D31"/>
          </a:solidFill>
          <a:ln w="9525">
            <a:solidFill>
              <a:srgbClr val="FFFFFF"/>
            </a:solidFill>
            <a:prstDash val="solid"/>
          </a:ln>
        </p:spPr>
      </p:sp>
      <p:sp>
        <p:nvSpPr>
          <p:cNvPr id="23" name="Text 19"/>
          <p:cNvSpPr txBox="1"/>
          <p:nvPr/>
        </p:nvSpPr>
        <p:spPr>
          <a:xfrm>
            <a:off x="857707" y="2157984"/>
            <a:ext cx="1945843" cy="182880"/>
          </a:xfrm>
          <a:prstGeom prst="rect">
            <a:avLst/>
          </a:prstGeom>
          <a:noFill/>
          <a:ln/>
        </p:spPr>
        <p:txBody>
          <a:bodyPr wrap="square" lIns="0" tIns="0" rIns="0" bIns="0" rtlCol="0" anchor="ctr"/>
          <a:lstStyle/>
          <a:p>
            <a:pPr marL="0" indent="0">
              <a:buNone/>
            </a:pPr>
            <a:r>
              <a:rPr lang="en-US" sz="800" b="1" dirty="0">
                <a:solidFill>
                  <a:srgbClr val="F7B183"/>
                </a:solidFill>
                <a:latin typeface="Calibri" pitchFamily="34" charset="0"/>
                <a:ea typeface="Calibri" pitchFamily="34" charset="-122"/>
                <a:cs typeface="Calibri" pitchFamily="34" charset="-120"/>
              </a:rPr>
              <a:t>MONTHS 1–3  ·  ₹1.44 Cr</a:t>
            </a:r>
            <a:endParaRPr lang="en-US" sz="800" dirty="0"/>
          </a:p>
        </p:txBody>
      </p:sp>
      <p:sp>
        <p:nvSpPr>
          <p:cNvPr id="24" name="Text 20"/>
          <p:cNvSpPr txBox="1"/>
          <p:nvPr/>
        </p:nvSpPr>
        <p:spPr>
          <a:xfrm>
            <a:off x="857707" y="2322576"/>
            <a:ext cx="1945843" cy="219456"/>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Gate 00 and capture</a:t>
            </a:r>
            <a:endParaRPr lang="en-US" sz="900" dirty="0"/>
          </a:p>
        </p:txBody>
      </p:sp>
      <p:sp>
        <p:nvSpPr>
          <p:cNvPr id="25" name="Text 21"/>
          <p:cNvSpPr txBox="1"/>
          <p:nvPr/>
        </p:nvSpPr>
        <p:spPr>
          <a:xfrm>
            <a:off x="857707" y="2523744"/>
            <a:ext cx="1945843" cy="475488"/>
          </a:xfrm>
          <a:prstGeom prst="rect">
            <a:avLst/>
          </a:prstGeom>
          <a:noFill/>
          <a:ln/>
        </p:spPr>
        <p:txBody>
          <a:bodyPr wrap="square" lIns="0" tIns="0" rIns="0" bIns="0" rtlCol="0" anchor="t"/>
          <a:lstStyle/>
          <a:p>
            <a:pPr marL="0" indent="0">
              <a:lnSpc>
                <a:spcPts val="950"/>
              </a:lnSpc>
              <a:buNone/>
            </a:pPr>
            <a:r>
              <a:rPr lang="en-US" sz="800" dirty="0">
                <a:solidFill>
                  <a:srgbClr val="9AA4C6"/>
                </a:solidFill>
                <a:latin typeface="Calibri" pitchFamily="34" charset="0"/>
                <a:ea typeface="Calibri" pitchFamily="34" charset="-122"/>
                <a:cs typeface="Calibri" pitchFamily="34" charset="-120"/>
              </a:rPr>
              <a:t>live capture SDK, integrity screen</a:t>
            </a:r>
            <a:endParaRPr lang="en-US" sz="800" dirty="0"/>
          </a:p>
        </p:txBody>
      </p:sp>
      <p:sp>
        <p:nvSpPr>
          <p:cNvPr id="26" name="Shape 22"/>
          <p:cNvSpPr/>
          <p:nvPr/>
        </p:nvSpPr>
        <p:spPr>
          <a:xfrm>
            <a:off x="2899562" y="1979676"/>
            <a:ext cx="137160" cy="137160"/>
          </a:xfrm>
          <a:prstGeom prst="ellipse">
            <a:avLst/>
          </a:prstGeom>
          <a:solidFill>
            <a:srgbClr val="ED7D31"/>
          </a:solidFill>
          <a:ln w="9525">
            <a:solidFill>
              <a:srgbClr val="FFFFFF"/>
            </a:solidFill>
            <a:prstDash val="solid"/>
          </a:ln>
        </p:spPr>
      </p:sp>
      <p:sp>
        <p:nvSpPr>
          <p:cNvPr id="27" name="Text 23"/>
          <p:cNvSpPr txBox="1"/>
          <p:nvPr/>
        </p:nvSpPr>
        <p:spPr>
          <a:xfrm>
            <a:off x="2949854" y="2157984"/>
            <a:ext cx="1945843" cy="182880"/>
          </a:xfrm>
          <a:prstGeom prst="rect">
            <a:avLst/>
          </a:prstGeom>
          <a:noFill/>
          <a:ln/>
        </p:spPr>
        <p:txBody>
          <a:bodyPr wrap="square" lIns="0" tIns="0" rIns="0" bIns="0" rtlCol="0" anchor="ctr"/>
          <a:lstStyle/>
          <a:p>
            <a:pPr marL="0" indent="0">
              <a:buNone/>
            </a:pPr>
            <a:r>
              <a:rPr lang="en-US" sz="800" b="1" dirty="0">
                <a:solidFill>
                  <a:srgbClr val="F7B183"/>
                </a:solidFill>
                <a:latin typeface="Calibri" pitchFamily="34" charset="0"/>
                <a:ea typeface="Calibri" pitchFamily="34" charset="-122"/>
                <a:cs typeface="Calibri" pitchFamily="34" charset="-120"/>
              </a:rPr>
              <a:t>MONTHS 3–6  ·  ₹2.73 Cr</a:t>
            </a:r>
            <a:endParaRPr lang="en-US" sz="800" dirty="0"/>
          </a:p>
        </p:txBody>
      </p:sp>
      <p:sp>
        <p:nvSpPr>
          <p:cNvPr id="28" name="Text 24"/>
          <p:cNvSpPr txBox="1"/>
          <p:nvPr/>
        </p:nvSpPr>
        <p:spPr>
          <a:xfrm>
            <a:off x="2949854" y="2322576"/>
            <a:ext cx="1945843" cy="219456"/>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Document AI and damage CV</a:t>
            </a:r>
            <a:endParaRPr lang="en-US" sz="900" dirty="0"/>
          </a:p>
        </p:txBody>
      </p:sp>
      <p:sp>
        <p:nvSpPr>
          <p:cNvPr id="29" name="Text 25"/>
          <p:cNvSpPr txBox="1"/>
          <p:nvPr/>
        </p:nvSpPr>
        <p:spPr>
          <a:xfrm>
            <a:off x="2949854" y="2523744"/>
            <a:ext cx="1945843" cy="475488"/>
          </a:xfrm>
          <a:prstGeom prst="rect">
            <a:avLst/>
          </a:prstGeom>
          <a:noFill/>
          <a:ln/>
        </p:spPr>
        <p:txBody>
          <a:bodyPr wrap="square" lIns="0" tIns="0" rIns="0" bIns="0" rtlCol="0" anchor="t"/>
          <a:lstStyle/>
          <a:p>
            <a:pPr marL="0" indent="0">
              <a:lnSpc>
                <a:spcPts val="950"/>
              </a:lnSpc>
              <a:buNone/>
            </a:pPr>
            <a:r>
              <a:rPr lang="en-US" sz="800" dirty="0">
                <a:solidFill>
                  <a:srgbClr val="9AA4C6"/>
                </a:solidFill>
                <a:latin typeface="Calibri" pitchFamily="34" charset="0"/>
                <a:ea typeface="Calibri" pitchFamily="34" charset="-122"/>
                <a:cs typeface="Calibri" pitchFamily="34" charset="-120"/>
              </a:rPr>
              <a:t>the moat, trained on our own media</a:t>
            </a:r>
            <a:endParaRPr lang="en-US" sz="800" dirty="0"/>
          </a:p>
        </p:txBody>
      </p:sp>
      <p:sp>
        <p:nvSpPr>
          <p:cNvPr id="30" name="Shape 26"/>
          <p:cNvSpPr/>
          <p:nvPr/>
        </p:nvSpPr>
        <p:spPr>
          <a:xfrm>
            <a:off x="4991710" y="1979676"/>
            <a:ext cx="137160" cy="137160"/>
          </a:xfrm>
          <a:prstGeom prst="ellipse">
            <a:avLst/>
          </a:prstGeom>
          <a:solidFill>
            <a:srgbClr val="ED7D31"/>
          </a:solidFill>
          <a:ln w="9525">
            <a:solidFill>
              <a:srgbClr val="FFFFFF"/>
            </a:solidFill>
            <a:prstDash val="solid"/>
          </a:ln>
        </p:spPr>
      </p:sp>
      <p:sp>
        <p:nvSpPr>
          <p:cNvPr id="31" name="Text 27"/>
          <p:cNvSpPr txBox="1"/>
          <p:nvPr/>
        </p:nvSpPr>
        <p:spPr>
          <a:xfrm>
            <a:off x="5042002" y="2157984"/>
            <a:ext cx="1945843" cy="182880"/>
          </a:xfrm>
          <a:prstGeom prst="rect">
            <a:avLst/>
          </a:prstGeom>
          <a:noFill/>
          <a:ln/>
        </p:spPr>
        <p:txBody>
          <a:bodyPr wrap="square" lIns="0" tIns="0" rIns="0" bIns="0" rtlCol="0" anchor="ctr"/>
          <a:lstStyle/>
          <a:p>
            <a:pPr marL="0" indent="0">
              <a:buNone/>
            </a:pPr>
            <a:r>
              <a:rPr lang="en-US" sz="800" b="1" dirty="0">
                <a:solidFill>
                  <a:srgbClr val="F7B183"/>
                </a:solidFill>
                <a:latin typeface="Calibri" pitchFamily="34" charset="0"/>
                <a:ea typeface="Calibri" pitchFamily="34" charset="-122"/>
                <a:cs typeface="Calibri" pitchFamily="34" charset="-120"/>
              </a:rPr>
              <a:t>MONTHS 5–7  ·  ₹1.00 Cr</a:t>
            </a:r>
            <a:endParaRPr lang="en-US" sz="800" dirty="0"/>
          </a:p>
        </p:txBody>
      </p:sp>
      <p:sp>
        <p:nvSpPr>
          <p:cNvPr id="32" name="Text 28"/>
          <p:cNvSpPr txBox="1"/>
          <p:nvPr/>
        </p:nvSpPr>
        <p:spPr>
          <a:xfrm>
            <a:off x="5042002" y="2322576"/>
            <a:ext cx="1945843" cy="219456"/>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Fraud and duplicate graph</a:t>
            </a:r>
            <a:endParaRPr lang="en-US" sz="900" dirty="0"/>
          </a:p>
        </p:txBody>
      </p:sp>
      <p:sp>
        <p:nvSpPr>
          <p:cNvPr id="33" name="Text 29"/>
          <p:cNvSpPr txBox="1"/>
          <p:nvPr/>
        </p:nvSpPr>
        <p:spPr>
          <a:xfrm>
            <a:off x="5042002" y="2523744"/>
            <a:ext cx="1945843" cy="475488"/>
          </a:xfrm>
          <a:prstGeom prst="rect">
            <a:avLst/>
          </a:prstGeom>
          <a:noFill/>
          <a:ln/>
        </p:spPr>
        <p:txBody>
          <a:bodyPr wrap="square" lIns="0" tIns="0" rIns="0" bIns="0" rtlCol="0" anchor="t"/>
          <a:lstStyle/>
          <a:p>
            <a:pPr marL="0" indent="0">
              <a:lnSpc>
                <a:spcPts val="950"/>
              </a:lnSpc>
              <a:buNone/>
            </a:pPr>
            <a:r>
              <a:rPr lang="en-US" sz="800" dirty="0">
                <a:solidFill>
                  <a:srgbClr val="9AA4C6"/>
                </a:solidFill>
                <a:latin typeface="Calibri" pitchFamily="34" charset="0"/>
                <a:ea typeface="Calibri" pitchFamily="34" charset="-122"/>
                <a:cs typeface="Calibri" pitchFamily="34" charset="-120"/>
              </a:rPr>
              <a:t>ring detection in shadow mode</a:t>
            </a:r>
            <a:endParaRPr lang="en-US" sz="800" dirty="0"/>
          </a:p>
        </p:txBody>
      </p:sp>
      <p:sp>
        <p:nvSpPr>
          <p:cNvPr id="34" name="Shape 30"/>
          <p:cNvSpPr/>
          <p:nvPr/>
        </p:nvSpPr>
        <p:spPr>
          <a:xfrm>
            <a:off x="7083857" y="1979676"/>
            <a:ext cx="137160" cy="137160"/>
          </a:xfrm>
          <a:prstGeom prst="ellipse">
            <a:avLst/>
          </a:prstGeom>
          <a:solidFill>
            <a:srgbClr val="ED7D31"/>
          </a:solidFill>
          <a:ln w="9525">
            <a:solidFill>
              <a:srgbClr val="FFFFFF"/>
            </a:solidFill>
            <a:prstDash val="solid"/>
          </a:ln>
        </p:spPr>
      </p:sp>
      <p:sp>
        <p:nvSpPr>
          <p:cNvPr id="35" name="Text 31"/>
          <p:cNvSpPr txBox="1"/>
          <p:nvPr/>
        </p:nvSpPr>
        <p:spPr>
          <a:xfrm>
            <a:off x="7134149" y="2157984"/>
            <a:ext cx="1945843" cy="182880"/>
          </a:xfrm>
          <a:prstGeom prst="rect">
            <a:avLst/>
          </a:prstGeom>
          <a:noFill/>
          <a:ln/>
        </p:spPr>
        <p:txBody>
          <a:bodyPr wrap="square" lIns="0" tIns="0" rIns="0" bIns="0" rtlCol="0" anchor="ctr"/>
          <a:lstStyle/>
          <a:p>
            <a:pPr marL="0" indent="0">
              <a:buNone/>
            </a:pPr>
            <a:r>
              <a:rPr lang="en-US" sz="800" b="1" dirty="0">
                <a:solidFill>
                  <a:srgbClr val="F7B183"/>
                </a:solidFill>
                <a:latin typeface="Calibri" pitchFamily="34" charset="0"/>
                <a:ea typeface="Calibri" pitchFamily="34" charset="-122"/>
                <a:cs typeface="Calibri" pitchFamily="34" charset="-120"/>
              </a:rPr>
              <a:t>MONTHS 7–10  ·  ₹3.07 Cr</a:t>
            </a:r>
            <a:endParaRPr lang="en-US" sz="800" dirty="0"/>
          </a:p>
        </p:txBody>
      </p:sp>
      <p:sp>
        <p:nvSpPr>
          <p:cNvPr id="36" name="Text 32"/>
          <p:cNvSpPr txBox="1"/>
          <p:nvPr/>
        </p:nvSpPr>
        <p:spPr>
          <a:xfrm>
            <a:off x="7134149" y="2322576"/>
            <a:ext cx="1945843" cy="219456"/>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Trust Score and routing</a:t>
            </a:r>
            <a:endParaRPr lang="en-US" sz="900" dirty="0"/>
          </a:p>
        </p:txBody>
      </p:sp>
      <p:sp>
        <p:nvSpPr>
          <p:cNvPr id="37" name="Text 33"/>
          <p:cNvSpPr txBox="1"/>
          <p:nvPr/>
        </p:nvSpPr>
        <p:spPr>
          <a:xfrm>
            <a:off x="7134149" y="2523744"/>
            <a:ext cx="1945843" cy="475488"/>
          </a:xfrm>
          <a:prstGeom prst="rect">
            <a:avLst/>
          </a:prstGeom>
          <a:noFill/>
          <a:ln/>
        </p:spPr>
        <p:txBody>
          <a:bodyPr wrap="square" lIns="0" tIns="0" rIns="0" bIns="0" rtlCol="0" anchor="t"/>
          <a:lstStyle/>
          <a:p>
            <a:pPr marL="0" indent="0">
              <a:lnSpc>
                <a:spcPts val="950"/>
              </a:lnSpc>
              <a:buNone/>
            </a:pPr>
            <a:r>
              <a:rPr lang="en-US" sz="800" dirty="0">
                <a:solidFill>
                  <a:srgbClr val="9AA4C6"/>
                </a:solidFill>
                <a:latin typeface="Calibri" pitchFamily="34" charset="0"/>
                <a:ea typeface="Calibri" pitchFamily="34" charset="-122"/>
                <a:cs typeface="Calibri" pitchFamily="34" charset="-120"/>
              </a:rPr>
              <a:t>routing live, with audit and override</a:t>
            </a:r>
            <a:endParaRPr lang="en-US" sz="800" dirty="0"/>
          </a:p>
        </p:txBody>
      </p:sp>
      <p:sp>
        <p:nvSpPr>
          <p:cNvPr id="38" name="Shape 34"/>
          <p:cNvSpPr/>
          <p:nvPr/>
        </p:nvSpPr>
        <p:spPr>
          <a:xfrm>
            <a:off x="9176004" y="1979676"/>
            <a:ext cx="137160" cy="137160"/>
          </a:xfrm>
          <a:prstGeom prst="ellipse">
            <a:avLst/>
          </a:prstGeom>
          <a:solidFill>
            <a:srgbClr val="ED7D31"/>
          </a:solidFill>
          <a:ln w="9525">
            <a:solidFill>
              <a:srgbClr val="FFFFFF"/>
            </a:solidFill>
            <a:prstDash val="solid"/>
          </a:ln>
        </p:spPr>
      </p:sp>
      <p:sp>
        <p:nvSpPr>
          <p:cNvPr id="39" name="Text 35"/>
          <p:cNvSpPr txBox="1"/>
          <p:nvPr/>
        </p:nvSpPr>
        <p:spPr>
          <a:xfrm>
            <a:off x="9226296" y="2157984"/>
            <a:ext cx="2183587" cy="182880"/>
          </a:xfrm>
          <a:prstGeom prst="rect">
            <a:avLst/>
          </a:prstGeom>
          <a:noFill/>
          <a:ln/>
        </p:spPr>
        <p:txBody>
          <a:bodyPr wrap="square" lIns="0" tIns="0" rIns="0" bIns="0" rtlCol="0" anchor="ctr"/>
          <a:lstStyle/>
          <a:p>
            <a:pPr marL="0" indent="0">
              <a:buNone/>
            </a:pPr>
            <a:r>
              <a:rPr lang="en-US" sz="800" b="1" dirty="0">
                <a:solidFill>
                  <a:srgbClr val="F7B183"/>
                </a:solidFill>
                <a:latin typeface="Calibri" pitchFamily="34" charset="0"/>
                <a:ea typeface="Calibri" pitchFamily="34" charset="-122"/>
                <a:cs typeface="Calibri" pitchFamily="34" charset="-120"/>
              </a:rPr>
              <a:t>CROSS  ·  ₹1.65 Cr</a:t>
            </a:r>
            <a:endParaRPr lang="en-US" sz="800" dirty="0"/>
          </a:p>
        </p:txBody>
      </p:sp>
      <p:sp>
        <p:nvSpPr>
          <p:cNvPr id="40" name="Text 36"/>
          <p:cNvSpPr txBox="1"/>
          <p:nvPr/>
        </p:nvSpPr>
        <p:spPr>
          <a:xfrm>
            <a:off x="9226296" y="2322576"/>
            <a:ext cx="2183587" cy="219456"/>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Integrations</a:t>
            </a:r>
            <a:endParaRPr lang="en-US" sz="900" dirty="0"/>
          </a:p>
        </p:txBody>
      </p:sp>
      <p:sp>
        <p:nvSpPr>
          <p:cNvPr id="41" name="Text 37"/>
          <p:cNvSpPr txBox="1"/>
          <p:nvPr/>
        </p:nvSpPr>
        <p:spPr>
          <a:xfrm>
            <a:off x="9226296" y="2523744"/>
            <a:ext cx="2183587" cy="475488"/>
          </a:xfrm>
          <a:prstGeom prst="rect">
            <a:avLst/>
          </a:prstGeom>
          <a:noFill/>
          <a:ln/>
        </p:spPr>
        <p:txBody>
          <a:bodyPr wrap="square" lIns="0" tIns="0" rIns="0" bIns="0" rtlCol="0" anchor="t"/>
          <a:lstStyle/>
          <a:p>
            <a:pPr marL="0" indent="0">
              <a:lnSpc>
                <a:spcPts val="950"/>
              </a:lnSpc>
              <a:buNone/>
            </a:pPr>
            <a:r>
              <a:rPr lang="en-US" sz="800" dirty="0">
                <a:solidFill>
                  <a:srgbClr val="9AA4C6"/>
                </a:solidFill>
                <a:latin typeface="Calibri" pitchFamily="34" charset="0"/>
                <a:ea typeface="Calibri" pitchFamily="34" charset="-122"/>
                <a:cs typeface="Calibri" pitchFamily="34" charset="-120"/>
              </a:rPr>
              <a:t>VAHAN, garage, policy DB, CRM</a:t>
            </a:r>
            <a:endParaRPr lang="en-US" sz="800" dirty="0"/>
          </a:p>
        </p:txBody>
      </p:sp>
      <p:sp>
        <p:nvSpPr>
          <p:cNvPr id="42" name="Shape 38"/>
          <p:cNvSpPr/>
          <p:nvPr/>
        </p:nvSpPr>
        <p:spPr>
          <a:xfrm>
            <a:off x="638251" y="2944368"/>
            <a:ext cx="5669280" cy="1773936"/>
          </a:xfrm>
          <a:prstGeom prst="roundRect">
            <a:avLst>
              <a:gd name="adj" fmla="val 4639"/>
            </a:avLst>
          </a:prstGeom>
          <a:solidFill>
            <a:srgbClr val="111C55">
              <a:alpha val="74000"/>
            </a:srgbClr>
          </a:solidFill>
          <a:ln w="9525">
            <a:solidFill>
              <a:srgbClr val="3A4A8C">
                <a:alpha val="70000"/>
              </a:srgbClr>
            </a:solidFill>
            <a:prstDash val="solid"/>
          </a:ln>
        </p:spPr>
      </p:sp>
      <p:sp>
        <p:nvSpPr>
          <p:cNvPr id="43" name="Shape 39"/>
          <p:cNvSpPr/>
          <p:nvPr/>
        </p:nvSpPr>
        <p:spPr>
          <a:xfrm>
            <a:off x="784555" y="3116641"/>
            <a:ext cx="45171" cy="45171"/>
          </a:xfrm>
          <a:prstGeom prst="ellipse">
            <a:avLst/>
          </a:prstGeom>
          <a:solidFill>
            <a:srgbClr val="9CC3E8"/>
          </a:solidFill>
          <a:ln/>
        </p:spPr>
      </p:sp>
      <p:sp>
        <p:nvSpPr>
          <p:cNvPr id="44" name="Shape 40"/>
          <p:cNvSpPr/>
          <p:nvPr/>
        </p:nvSpPr>
        <p:spPr>
          <a:xfrm flipV="1">
            <a:off x="829727" y="3083631"/>
            <a:ext cx="52121" cy="55596"/>
          </a:xfrm>
          <a:prstGeom prst="line">
            <a:avLst/>
          </a:prstGeom>
          <a:noFill/>
          <a:ln w="12700">
            <a:solidFill>
              <a:srgbClr val="9CC3E8"/>
            </a:solidFill>
            <a:prstDash val="solid"/>
          </a:ln>
        </p:spPr>
      </p:sp>
      <p:sp>
        <p:nvSpPr>
          <p:cNvPr id="45" name="Shape 41"/>
          <p:cNvSpPr/>
          <p:nvPr/>
        </p:nvSpPr>
        <p:spPr>
          <a:xfrm>
            <a:off x="829727" y="3139227"/>
            <a:ext cx="52121" cy="55596"/>
          </a:xfrm>
          <a:prstGeom prst="line">
            <a:avLst/>
          </a:prstGeom>
          <a:noFill/>
          <a:ln w="12700">
            <a:solidFill>
              <a:srgbClr val="9CC3E8"/>
            </a:solidFill>
            <a:prstDash val="solid"/>
          </a:ln>
        </p:spPr>
      </p:sp>
      <p:sp>
        <p:nvSpPr>
          <p:cNvPr id="46" name="Shape 42"/>
          <p:cNvSpPr/>
          <p:nvPr/>
        </p:nvSpPr>
        <p:spPr>
          <a:xfrm>
            <a:off x="888797" y="3061045"/>
            <a:ext cx="38222" cy="38222"/>
          </a:xfrm>
          <a:prstGeom prst="ellipse">
            <a:avLst/>
          </a:prstGeom>
          <a:ln w="12700">
            <a:solidFill>
              <a:srgbClr val="9CC3E8"/>
            </a:solidFill>
            <a:prstDash val="solid"/>
          </a:ln>
        </p:spPr>
      </p:sp>
      <p:sp>
        <p:nvSpPr>
          <p:cNvPr id="47" name="Shape 43"/>
          <p:cNvSpPr/>
          <p:nvPr/>
        </p:nvSpPr>
        <p:spPr>
          <a:xfrm>
            <a:off x="888797" y="3172236"/>
            <a:ext cx="38222" cy="38222"/>
          </a:xfrm>
          <a:prstGeom prst="ellipse">
            <a:avLst/>
          </a:prstGeom>
          <a:ln w="12700">
            <a:solidFill>
              <a:srgbClr val="9CC3E8"/>
            </a:solidFill>
            <a:prstDash val="solid"/>
          </a:ln>
        </p:spPr>
      </p:sp>
      <p:sp>
        <p:nvSpPr>
          <p:cNvPr id="48" name="Text 44"/>
          <p:cNvSpPr txBox="1"/>
          <p:nvPr/>
        </p:nvSpPr>
        <p:spPr>
          <a:xfrm>
            <a:off x="1031443" y="3017520"/>
            <a:ext cx="5129784" cy="237744"/>
          </a:xfrm>
          <a:prstGeom prst="rect">
            <a:avLst/>
          </a:prstGeom>
          <a:noFill/>
          <a:ln/>
        </p:spPr>
        <p:txBody>
          <a:bodyPr wrap="square" lIns="0" tIns="0" rIns="0" bIns="0" rtlCol="0" anchor="ctr"/>
          <a:lstStyle/>
          <a:p>
            <a:pPr marL="0" indent="0">
              <a:buNone/>
            </a:pPr>
            <a:r>
              <a:rPr lang="en-US" sz="900" b="1" kern="0" spc="110" dirty="0">
                <a:solidFill>
                  <a:srgbClr val="9CC3E8"/>
                </a:solidFill>
                <a:latin typeface="Calibri" pitchFamily="34" charset="0"/>
                <a:ea typeface="Calibri" pitchFamily="34" charset="-122"/>
                <a:cs typeface="Calibri" pitchFamily="34" charset="-120"/>
              </a:rPr>
              <a:t>THREE ROLLOUT SCENARIOS</a:t>
            </a:r>
            <a:r>
              <a:rPr lang="en-US" sz="900" dirty="0">
                <a:solidFill>
                  <a:srgbClr val="9AA4C6"/>
                </a:solidFill>
                <a:latin typeface="Calibri" pitchFamily="34" charset="0"/>
                <a:ea typeface="Calibri" pitchFamily="34" charset="-122"/>
                <a:cs typeface="Calibri" pitchFamily="34" charset="-120"/>
              </a:rPr>
              <a:t>   ·   the plan is the middle one</a:t>
            </a:r>
            <a:endParaRPr lang="en-US" sz="900" dirty="0"/>
          </a:p>
        </p:txBody>
      </p:sp>
      <p:sp>
        <p:nvSpPr>
          <p:cNvPr id="49" name="Text 45"/>
          <p:cNvSpPr txBox="1"/>
          <p:nvPr/>
        </p:nvSpPr>
        <p:spPr>
          <a:xfrm>
            <a:off x="784555" y="3291840"/>
            <a:ext cx="1874436" cy="182880"/>
          </a:xfrm>
          <a:prstGeom prst="rect">
            <a:avLst/>
          </a:prstGeom>
          <a:noFill/>
          <a:ln/>
        </p:spPr>
        <p:txBody>
          <a:bodyPr wrap="square" lIns="0" tIns="0" rIns="0" bIns="0" rtlCol="0" anchor="ctr"/>
          <a:lstStyle/>
          <a:p>
            <a:pPr marL="0" indent="0" algn="l">
              <a:buNone/>
            </a:pPr>
            <a:r>
              <a:rPr lang="en-US" sz="750" b="1" kern="0" spc="90" dirty="0">
                <a:solidFill>
                  <a:srgbClr val="9AA4C6"/>
                </a:solidFill>
                <a:latin typeface="Calibri" pitchFamily="34" charset="0"/>
                <a:ea typeface="Calibri" pitchFamily="34" charset="-122"/>
                <a:cs typeface="Calibri" pitchFamily="34" charset="-120"/>
              </a:rPr>
              <a:t>SCENARIO</a:t>
            </a:r>
            <a:endParaRPr lang="en-US" sz="750" dirty="0"/>
          </a:p>
        </p:txBody>
      </p:sp>
      <p:sp>
        <p:nvSpPr>
          <p:cNvPr id="50" name="Text 46"/>
          <p:cNvSpPr txBox="1"/>
          <p:nvPr/>
        </p:nvSpPr>
        <p:spPr>
          <a:xfrm>
            <a:off x="2658991" y="3291840"/>
            <a:ext cx="1183854" cy="182880"/>
          </a:xfrm>
          <a:prstGeom prst="rect">
            <a:avLst/>
          </a:prstGeom>
          <a:noFill/>
          <a:ln/>
        </p:spPr>
        <p:txBody>
          <a:bodyPr wrap="square" lIns="0" tIns="0" rIns="0" bIns="0" rtlCol="0" anchor="ctr"/>
          <a:lstStyle/>
          <a:p>
            <a:pPr marL="0" indent="0" algn="r">
              <a:buNone/>
            </a:pPr>
            <a:r>
              <a:rPr lang="en-US" sz="750" b="1" kern="0" spc="90" dirty="0">
                <a:solidFill>
                  <a:srgbClr val="9AA4C6"/>
                </a:solidFill>
                <a:latin typeface="Calibri" pitchFamily="34" charset="0"/>
                <a:ea typeface="Calibri" pitchFamily="34" charset="-122"/>
                <a:cs typeface="Calibri" pitchFamily="34" charset="-120"/>
              </a:rPr>
              <a:t>NET / YR</a:t>
            </a:r>
            <a:endParaRPr lang="en-US" sz="750" dirty="0"/>
          </a:p>
        </p:txBody>
      </p:sp>
      <p:sp>
        <p:nvSpPr>
          <p:cNvPr id="51" name="Text 47"/>
          <p:cNvSpPr txBox="1"/>
          <p:nvPr/>
        </p:nvSpPr>
        <p:spPr>
          <a:xfrm>
            <a:off x="3842846" y="3291840"/>
            <a:ext cx="1183854" cy="182880"/>
          </a:xfrm>
          <a:prstGeom prst="rect">
            <a:avLst/>
          </a:prstGeom>
          <a:noFill/>
          <a:ln/>
        </p:spPr>
        <p:txBody>
          <a:bodyPr wrap="square" lIns="0" tIns="0" rIns="0" bIns="0" rtlCol="0" anchor="ctr"/>
          <a:lstStyle/>
          <a:p>
            <a:pPr marL="0" indent="0" algn="r">
              <a:buNone/>
            </a:pPr>
            <a:r>
              <a:rPr lang="en-US" sz="750" b="1" kern="0" spc="90" dirty="0">
                <a:solidFill>
                  <a:srgbClr val="9AA4C6"/>
                </a:solidFill>
                <a:latin typeface="Calibri" pitchFamily="34" charset="0"/>
                <a:ea typeface="Calibri" pitchFamily="34" charset="-122"/>
                <a:cs typeface="Calibri" pitchFamily="34" charset="-120"/>
              </a:rPr>
              <a:t>3-YR</a:t>
            </a:r>
            <a:endParaRPr lang="en-US" sz="750" dirty="0"/>
          </a:p>
        </p:txBody>
      </p:sp>
      <p:sp>
        <p:nvSpPr>
          <p:cNvPr id="52" name="Text 48"/>
          <p:cNvSpPr txBox="1"/>
          <p:nvPr/>
        </p:nvSpPr>
        <p:spPr>
          <a:xfrm>
            <a:off x="5026700" y="3291840"/>
            <a:ext cx="1134527" cy="182880"/>
          </a:xfrm>
          <a:prstGeom prst="rect">
            <a:avLst/>
          </a:prstGeom>
          <a:noFill/>
          <a:ln/>
        </p:spPr>
        <p:txBody>
          <a:bodyPr wrap="square" lIns="0" tIns="0" rIns="0" bIns="0" rtlCol="0" anchor="ctr"/>
          <a:lstStyle/>
          <a:p>
            <a:pPr marL="0" indent="0" algn="r">
              <a:buNone/>
            </a:pPr>
            <a:r>
              <a:rPr lang="en-US" sz="750" b="1" kern="0" spc="90" dirty="0">
                <a:solidFill>
                  <a:srgbClr val="9AA4C6"/>
                </a:solidFill>
                <a:latin typeface="Calibri" pitchFamily="34" charset="0"/>
                <a:ea typeface="Calibri" pitchFamily="34" charset="-122"/>
                <a:cs typeface="Calibri" pitchFamily="34" charset="-120"/>
              </a:rPr>
              <a:t>PAYBACK · STEADY</a:t>
            </a:r>
            <a:endParaRPr lang="en-US" sz="750" dirty="0"/>
          </a:p>
        </p:txBody>
      </p:sp>
      <p:sp>
        <p:nvSpPr>
          <p:cNvPr id="53" name="Shape 49"/>
          <p:cNvSpPr/>
          <p:nvPr/>
        </p:nvSpPr>
        <p:spPr>
          <a:xfrm>
            <a:off x="784555" y="3474720"/>
            <a:ext cx="5376672" cy="0"/>
          </a:xfrm>
          <a:prstGeom prst="line">
            <a:avLst/>
          </a:prstGeom>
          <a:noFill/>
          <a:ln w="9525">
            <a:solidFill>
              <a:srgbClr val="3A4A8C"/>
            </a:solidFill>
            <a:prstDash val="solid"/>
          </a:ln>
        </p:spPr>
      </p:sp>
      <p:sp>
        <p:nvSpPr>
          <p:cNvPr id="54" name="Text 50"/>
          <p:cNvSpPr txBox="1"/>
          <p:nvPr/>
        </p:nvSpPr>
        <p:spPr>
          <a:xfrm>
            <a:off x="784555" y="3520440"/>
            <a:ext cx="1874436" cy="292608"/>
          </a:xfrm>
          <a:prstGeom prst="rect">
            <a:avLst/>
          </a:prstGeom>
          <a:noFill/>
          <a:ln/>
        </p:spPr>
        <p:txBody>
          <a:bodyPr wrap="square" lIns="0" tIns="0" rIns="0" bIns="0" rtlCol="0" anchor="ctr"/>
          <a:lstStyle/>
          <a:p>
            <a:pPr marL="0" indent="0" algn="l">
              <a:buNone/>
            </a:pPr>
            <a:r>
              <a:rPr lang="en-US" sz="850" dirty="0">
                <a:solidFill>
                  <a:srgbClr val="FFFFFF"/>
                </a:solidFill>
                <a:latin typeface="Calibri" pitchFamily="34" charset="0"/>
                <a:ea typeface="Calibri" pitchFamily="34" charset="-122"/>
                <a:cs typeface="Calibri" pitchFamily="34" charset="-120"/>
              </a:rPr>
              <a:t>Conservative · 20%</a:t>
            </a:r>
            <a:endParaRPr lang="en-US" sz="850" dirty="0"/>
          </a:p>
        </p:txBody>
      </p:sp>
      <p:sp>
        <p:nvSpPr>
          <p:cNvPr id="55" name="Text 51"/>
          <p:cNvSpPr txBox="1"/>
          <p:nvPr/>
        </p:nvSpPr>
        <p:spPr>
          <a:xfrm>
            <a:off x="2658991" y="3520440"/>
            <a:ext cx="1183854" cy="292608"/>
          </a:xfrm>
          <a:prstGeom prst="rect">
            <a:avLst/>
          </a:prstGeom>
          <a:noFill/>
          <a:ln/>
        </p:spPr>
        <p:txBody>
          <a:bodyPr wrap="square" lIns="0" tIns="0" rIns="0" bIns="0" rtlCol="0" anchor="ctr"/>
          <a:lstStyle/>
          <a:p>
            <a:pPr marL="0" indent="0" algn="r">
              <a:buNone/>
            </a:pPr>
            <a:r>
              <a:rPr lang="en-US" sz="850" b="1" dirty="0">
                <a:solidFill>
                  <a:srgbClr val="FFFFFF"/>
                </a:solidFill>
                <a:latin typeface="Calibri" pitchFamily="34" charset="0"/>
                <a:ea typeface="Calibri" pitchFamily="34" charset="-122"/>
                <a:cs typeface="Calibri" pitchFamily="34" charset="-120"/>
              </a:rPr>
              <a:t>₹10.15 Cr</a:t>
            </a:r>
            <a:endParaRPr lang="en-US" sz="850" dirty="0"/>
          </a:p>
        </p:txBody>
      </p:sp>
      <p:sp>
        <p:nvSpPr>
          <p:cNvPr id="56" name="Text 52"/>
          <p:cNvSpPr txBox="1"/>
          <p:nvPr/>
        </p:nvSpPr>
        <p:spPr>
          <a:xfrm>
            <a:off x="3842846" y="3520440"/>
            <a:ext cx="1183854" cy="292608"/>
          </a:xfrm>
          <a:prstGeom prst="rect">
            <a:avLst/>
          </a:prstGeom>
          <a:noFill/>
          <a:ln/>
        </p:spPr>
        <p:txBody>
          <a:bodyPr wrap="square" lIns="0" tIns="0" rIns="0" bIns="0" rtlCol="0" anchor="ctr"/>
          <a:lstStyle/>
          <a:p>
            <a:pPr marL="0" indent="0" algn="r">
              <a:buNone/>
            </a:pPr>
            <a:r>
              <a:rPr lang="en-US" sz="850" dirty="0">
                <a:solidFill>
                  <a:srgbClr val="FFFFFF"/>
                </a:solidFill>
                <a:latin typeface="Calibri" pitchFamily="34" charset="0"/>
                <a:ea typeface="Calibri" pitchFamily="34" charset="-122"/>
                <a:cs typeface="Calibri" pitchFamily="34" charset="-120"/>
              </a:rPr>
              <a:t>₹25.10 Cr</a:t>
            </a:r>
            <a:endParaRPr lang="en-US" sz="850" dirty="0"/>
          </a:p>
        </p:txBody>
      </p:sp>
      <p:sp>
        <p:nvSpPr>
          <p:cNvPr id="57" name="Text 53"/>
          <p:cNvSpPr txBox="1"/>
          <p:nvPr/>
        </p:nvSpPr>
        <p:spPr>
          <a:xfrm>
            <a:off x="5026700" y="3520440"/>
            <a:ext cx="1134527" cy="292608"/>
          </a:xfrm>
          <a:prstGeom prst="rect">
            <a:avLst/>
          </a:prstGeom>
          <a:noFill/>
          <a:ln/>
        </p:spPr>
        <p:txBody>
          <a:bodyPr wrap="square" lIns="0" tIns="0" rIns="0" bIns="0" rtlCol="0" anchor="ctr"/>
          <a:lstStyle/>
          <a:p>
            <a:pPr marL="0" indent="0" algn="r">
              <a:buNone/>
            </a:pPr>
            <a:r>
              <a:rPr lang="en-US" sz="850" dirty="0">
                <a:solidFill>
                  <a:srgbClr val="FFFFFF"/>
                </a:solidFill>
                <a:latin typeface="Calibri" pitchFamily="34" charset="0"/>
                <a:ea typeface="Calibri" pitchFamily="34" charset="-122"/>
                <a:cs typeface="Calibri" pitchFamily="34" charset="-120"/>
              </a:rPr>
              <a:t>11.7 mo</a:t>
            </a:r>
            <a:endParaRPr lang="en-US" sz="850" dirty="0"/>
          </a:p>
        </p:txBody>
      </p:sp>
      <p:sp>
        <p:nvSpPr>
          <p:cNvPr id="58" name="Shape 54"/>
          <p:cNvSpPr/>
          <p:nvPr/>
        </p:nvSpPr>
        <p:spPr>
          <a:xfrm>
            <a:off x="784555" y="3813048"/>
            <a:ext cx="5376672" cy="0"/>
          </a:xfrm>
          <a:prstGeom prst="line">
            <a:avLst/>
          </a:prstGeom>
          <a:noFill/>
          <a:ln w="6350">
            <a:solidFill>
              <a:srgbClr val="3A4A8C">
                <a:alpha val="40000"/>
              </a:srgbClr>
            </a:solidFill>
            <a:prstDash val="solid"/>
          </a:ln>
        </p:spPr>
      </p:sp>
      <p:sp>
        <p:nvSpPr>
          <p:cNvPr id="59" name="Text 55"/>
          <p:cNvSpPr txBox="1"/>
          <p:nvPr/>
        </p:nvSpPr>
        <p:spPr>
          <a:xfrm>
            <a:off x="784555" y="3813048"/>
            <a:ext cx="1874436" cy="292608"/>
          </a:xfrm>
          <a:prstGeom prst="rect">
            <a:avLst/>
          </a:prstGeom>
          <a:noFill/>
          <a:ln/>
        </p:spPr>
        <p:txBody>
          <a:bodyPr wrap="square" lIns="0" tIns="0" rIns="0" bIns="0" rtlCol="0" anchor="ctr"/>
          <a:lstStyle/>
          <a:p>
            <a:pPr marL="0" indent="0" algn="l">
              <a:buNone/>
            </a:pPr>
            <a:r>
              <a:rPr lang="en-US" sz="850" b="1" dirty="0">
                <a:solidFill>
                  <a:srgbClr val="9AD672"/>
                </a:solidFill>
                <a:latin typeface="Calibri" pitchFamily="34" charset="0"/>
                <a:ea typeface="Calibri" pitchFamily="34" charset="-122"/>
                <a:cs typeface="Calibri" pitchFamily="34" charset="-120"/>
              </a:rPr>
              <a:t>Base · 60%</a:t>
            </a:r>
            <a:endParaRPr lang="en-US" sz="850" dirty="0"/>
          </a:p>
        </p:txBody>
      </p:sp>
      <p:sp>
        <p:nvSpPr>
          <p:cNvPr id="60" name="Text 56"/>
          <p:cNvSpPr txBox="1"/>
          <p:nvPr/>
        </p:nvSpPr>
        <p:spPr>
          <a:xfrm>
            <a:off x="2658991" y="3813048"/>
            <a:ext cx="1183854" cy="292608"/>
          </a:xfrm>
          <a:prstGeom prst="rect">
            <a:avLst/>
          </a:prstGeom>
          <a:noFill/>
          <a:ln/>
        </p:spPr>
        <p:txBody>
          <a:bodyPr wrap="square" lIns="0" tIns="0" rIns="0" bIns="0" rtlCol="0" anchor="ctr"/>
          <a:lstStyle/>
          <a:p>
            <a:pPr marL="0" indent="0" algn="r">
              <a:buNone/>
            </a:pPr>
            <a:r>
              <a:rPr lang="en-US" sz="850" b="1" dirty="0">
                <a:solidFill>
                  <a:srgbClr val="9AD672"/>
                </a:solidFill>
                <a:latin typeface="Calibri" pitchFamily="34" charset="0"/>
                <a:ea typeface="Calibri" pitchFamily="34" charset="-122"/>
                <a:cs typeface="Calibri" pitchFamily="34" charset="-120"/>
              </a:rPr>
              <a:t>₹30.86 Cr</a:t>
            </a:r>
            <a:endParaRPr lang="en-US" sz="850" dirty="0"/>
          </a:p>
        </p:txBody>
      </p:sp>
      <p:sp>
        <p:nvSpPr>
          <p:cNvPr id="61" name="Text 57"/>
          <p:cNvSpPr txBox="1"/>
          <p:nvPr/>
        </p:nvSpPr>
        <p:spPr>
          <a:xfrm>
            <a:off x="3842846" y="3813048"/>
            <a:ext cx="1183854" cy="292608"/>
          </a:xfrm>
          <a:prstGeom prst="rect">
            <a:avLst/>
          </a:prstGeom>
          <a:noFill/>
          <a:ln/>
        </p:spPr>
        <p:txBody>
          <a:bodyPr wrap="square" lIns="0" tIns="0" rIns="0" bIns="0" rtlCol="0" anchor="ctr"/>
          <a:lstStyle/>
          <a:p>
            <a:pPr marL="0" indent="0" algn="r">
              <a:buNone/>
            </a:pPr>
            <a:r>
              <a:rPr lang="en-US" sz="850" dirty="0">
                <a:solidFill>
                  <a:srgbClr val="9AD672"/>
                </a:solidFill>
                <a:latin typeface="Calibri" pitchFamily="34" charset="0"/>
                <a:ea typeface="Calibri" pitchFamily="34" charset="-122"/>
                <a:cs typeface="Calibri" pitchFamily="34" charset="-120"/>
              </a:rPr>
              <a:t>₹78.73 Cr</a:t>
            </a:r>
            <a:endParaRPr lang="en-US" sz="850" dirty="0"/>
          </a:p>
        </p:txBody>
      </p:sp>
      <p:sp>
        <p:nvSpPr>
          <p:cNvPr id="62" name="Text 58"/>
          <p:cNvSpPr txBox="1"/>
          <p:nvPr/>
        </p:nvSpPr>
        <p:spPr>
          <a:xfrm>
            <a:off x="5026700" y="3813048"/>
            <a:ext cx="1134527" cy="292608"/>
          </a:xfrm>
          <a:prstGeom prst="rect">
            <a:avLst/>
          </a:prstGeom>
          <a:noFill/>
          <a:ln/>
        </p:spPr>
        <p:txBody>
          <a:bodyPr wrap="square" lIns="0" tIns="0" rIns="0" bIns="0" rtlCol="0" anchor="ctr"/>
          <a:lstStyle/>
          <a:p>
            <a:pPr marL="0" indent="0" algn="r">
              <a:buNone/>
            </a:pPr>
            <a:r>
              <a:rPr lang="en-US" sz="850" dirty="0">
                <a:solidFill>
                  <a:srgbClr val="9AD672"/>
                </a:solidFill>
                <a:latin typeface="Calibri" pitchFamily="34" charset="0"/>
                <a:ea typeface="Calibri" pitchFamily="34" charset="-122"/>
                <a:cs typeface="Calibri" pitchFamily="34" charset="-120"/>
              </a:rPr>
              <a:t>3.8 mo</a:t>
            </a:r>
            <a:endParaRPr lang="en-US" sz="850" dirty="0"/>
          </a:p>
        </p:txBody>
      </p:sp>
      <p:sp>
        <p:nvSpPr>
          <p:cNvPr id="63" name="Shape 59"/>
          <p:cNvSpPr/>
          <p:nvPr/>
        </p:nvSpPr>
        <p:spPr>
          <a:xfrm>
            <a:off x="784555" y="4105656"/>
            <a:ext cx="5376672" cy="0"/>
          </a:xfrm>
          <a:prstGeom prst="line">
            <a:avLst/>
          </a:prstGeom>
          <a:noFill/>
          <a:ln w="6350">
            <a:solidFill>
              <a:srgbClr val="3A4A8C">
                <a:alpha val="40000"/>
              </a:srgbClr>
            </a:solidFill>
            <a:prstDash val="solid"/>
          </a:ln>
        </p:spPr>
      </p:sp>
      <p:sp>
        <p:nvSpPr>
          <p:cNvPr id="64" name="Text 60"/>
          <p:cNvSpPr txBox="1"/>
          <p:nvPr/>
        </p:nvSpPr>
        <p:spPr>
          <a:xfrm>
            <a:off x="784555" y="4105656"/>
            <a:ext cx="1874436" cy="292608"/>
          </a:xfrm>
          <a:prstGeom prst="rect">
            <a:avLst/>
          </a:prstGeom>
          <a:noFill/>
          <a:ln/>
        </p:spPr>
        <p:txBody>
          <a:bodyPr wrap="square" lIns="0" tIns="0" rIns="0" bIns="0" rtlCol="0" anchor="ctr"/>
          <a:lstStyle/>
          <a:p>
            <a:pPr marL="0" indent="0" algn="l">
              <a:buNone/>
            </a:pPr>
            <a:r>
              <a:rPr lang="en-US" sz="850" dirty="0">
                <a:solidFill>
                  <a:srgbClr val="FFFFFF"/>
                </a:solidFill>
                <a:latin typeface="Calibri" pitchFamily="34" charset="0"/>
                <a:ea typeface="Calibri" pitchFamily="34" charset="-122"/>
                <a:cs typeface="Calibri" pitchFamily="34" charset="-120"/>
              </a:rPr>
              <a:t>Aggressive · 100%</a:t>
            </a:r>
            <a:endParaRPr lang="en-US" sz="850" dirty="0"/>
          </a:p>
        </p:txBody>
      </p:sp>
      <p:sp>
        <p:nvSpPr>
          <p:cNvPr id="65" name="Text 61"/>
          <p:cNvSpPr txBox="1"/>
          <p:nvPr/>
        </p:nvSpPr>
        <p:spPr>
          <a:xfrm>
            <a:off x="2658991" y="4105656"/>
            <a:ext cx="1183854" cy="292608"/>
          </a:xfrm>
          <a:prstGeom prst="rect">
            <a:avLst/>
          </a:prstGeom>
          <a:noFill/>
          <a:ln/>
        </p:spPr>
        <p:txBody>
          <a:bodyPr wrap="square" lIns="0" tIns="0" rIns="0" bIns="0" rtlCol="0" anchor="ctr"/>
          <a:lstStyle/>
          <a:p>
            <a:pPr marL="0" indent="0" algn="r">
              <a:buNone/>
            </a:pPr>
            <a:r>
              <a:rPr lang="en-US" sz="850" b="1" dirty="0">
                <a:solidFill>
                  <a:srgbClr val="FFFFFF"/>
                </a:solidFill>
                <a:latin typeface="Calibri" pitchFamily="34" charset="0"/>
                <a:ea typeface="Calibri" pitchFamily="34" charset="-122"/>
                <a:cs typeface="Calibri" pitchFamily="34" charset="-120"/>
              </a:rPr>
              <a:t>₹47.30 Cr</a:t>
            </a:r>
            <a:endParaRPr lang="en-US" sz="850" dirty="0"/>
          </a:p>
        </p:txBody>
      </p:sp>
      <p:sp>
        <p:nvSpPr>
          <p:cNvPr id="66" name="Text 62"/>
          <p:cNvSpPr txBox="1"/>
          <p:nvPr/>
        </p:nvSpPr>
        <p:spPr>
          <a:xfrm>
            <a:off x="3842846" y="4105656"/>
            <a:ext cx="1183854" cy="292608"/>
          </a:xfrm>
          <a:prstGeom prst="rect">
            <a:avLst/>
          </a:prstGeom>
          <a:noFill/>
          <a:ln/>
        </p:spPr>
        <p:txBody>
          <a:bodyPr wrap="square" lIns="0" tIns="0" rIns="0" bIns="0" rtlCol="0" anchor="ctr"/>
          <a:lstStyle/>
          <a:p>
            <a:pPr marL="0" indent="0" algn="r">
              <a:buNone/>
            </a:pPr>
            <a:r>
              <a:rPr lang="en-US" sz="850" dirty="0">
                <a:solidFill>
                  <a:srgbClr val="FFFFFF"/>
                </a:solidFill>
                <a:latin typeface="Calibri" pitchFamily="34" charset="0"/>
                <a:ea typeface="Calibri" pitchFamily="34" charset="-122"/>
                <a:cs typeface="Calibri" pitchFamily="34" charset="-120"/>
              </a:rPr>
              <a:t>₹121.11 Cr</a:t>
            </a:r>
            <a:endParaRPr lang="en-US" sz="850" dirty="0"/>
          </a:p>
        </p:txBody>
      </p:sp>
      <p:sp>
        <p:nvSpPr>
          <p:cNvPr id="67" name="Text 63"/>
          <p:cNvSpPr txBox="1"/>
          <p:nvPr/>
        </p:nvSpPr>
        <p:spPr>
          <a:xfrm>
            <a:off x="5026700" y="4105656"/>
            <a:ext cx="1134527" cy="292608"/>
          </a:xfrm>
          <a:prstGeom prst="rect">
            <a:avLst/>
          </a:prstGeom>
          <a:noFill/>
          <a:ln/>
        </p:spPr>
        <p:txBody>
          <a:bodyPr wrap="square" lIns="0" tIns="0" rIns="0" bIns="0" rtlCol="0" anchor="ctr"/>
          <a:lstStyle/>
          <a:p>
            <a:pPr marL="0" indent="0" algn="r">
              <a:buNone/>
            </a:pPr>
            <a:r>
              <a:rPr lang="en-US" sz="850" dirty="0">
                <a:solidFill>
                  <a:srgbClr val="FFFFFF"/>
                </a:solidFill>
                <a:latin typeface="Calibri" pitchFamily="34" charset="0"/>
                <a:ea typeface="Calibri" pitchFamily="34" charset="-122"/>
                <a:cs typeface="Calibri" pitchFamily="34" charset="-120"/>
              </a:rPr>
              <a:t>2.5 mo</a:t>
            </a:r>
            <a:endParaRPr lang="en-US" sz="850" dirty="0"/>
          </a:p>
        </p:txBody>
      </p:sp>
      <p:sp>
        <p:nvSpPr>
          <p:cNvPr id="68" name="Shape 64"/>
          <p:cNvSpPr/>
          <p:nvPr/>
        </p:nvSpPr>
        <p:spPr>
          <a:xfrm>
            <a:off x="6508699" y="2944368"/>
            <a:ext cx="5065776" cy="1773936"/>
          </a:xfrm>
          <a:prstGeom prst="roundRect">
            <a:avLst>
              <a:gd name="adj" fmla="val 4639"/>
            </a:avLst>
          </a:prstGeom>
          <a:solidFill>
            <a:srgbClr val="111C55">
              <a:alpha val="74000"/>
            </a:srgbClr>
          </a:solidFill>
          <a:ln w="12700">
            <a:solidFill>
              <a:srgbClr val="E06666">
                <a:alpha val="78000"/>
              </a:srgbClr>
            </a:solidFill>
            <a:prstDash val="solid"/>
          </a:ln>
        </p:spPr>
      </p:sp>
      <p:sp>
        <p:nvSpPr>
          <p:cNvPr id="69" name="Shape 65"/>
          <p:cNvSpPr/>
          <p:nvPr/>
        </p:nvSpPr>
        <p:spPr>
          <a:xfrm>
            <a:off x="6655003" y="3054096"/>
            <a:ext cx="173736" cy="173736"/>
          </a:xfrm>
          <a:prstGeom prst="triangle">
            <a:avLst/>
          </a:prstGeom>
          <a:ln w="13970">
            <a:solidFill>
              <a:srgbClr val="E06666"/>
            </a:solidFill>
            <a:prstDash val="solid"/>
          </a:ln>
        </p:spPr>
      </p:sp>
      <p:sp>
        <p:nvSpPr>
          <p:cNvPr id="70" name="Shape 66"/>
          <p:cNvSpPr/>
          <p:nvPr/>
        </p:nvSpPr>
        <p:spPr>
          <a:xfrm>
            <a:off x="6736659" y="3113166"/>
            <a:ext cx="10424" cy="52121"/>
          </a:xfrm>
          <a:prstGeom prst="rect">
            <a:avLst/>
          </a:prstGeom>
          <a:solidFill>
            <a:srgbClr val="E06666"/>
          </a:solidFill>
          <a:ln/>
        </p:spPr>
      </p:sp>
      <p:sp>
        <p:nvSpPr>
          <p:cNvPr id="71" name="Shape 67"/>
          <p:cNvSpPr/>
          <p:nvPr/>
        </p:nvSpPr>
        <p:spPr>
          <a:xfrm>
            <a:off x="6736659" y="3179186"/>
            <a:ext cx="10424" cy="12162"/>
          </a:xfrm>
          <a:prstGeom prst="rect">
            <a:avLst/>
          </a:prstGeom>
          <a:solidFill>
            <a:srgbClr val="E06666"/>
          </a:solidFill>
          <a:ln/>
        </p:spPr>
      </p:sp>
      <p:sp>
        <p:nvSpPr>
          <p:cNvPr id="72" name="Text 68"/>
          <p:cNvSpPr txBox="1"/>
          <p:nvPr/>
        </p:nvSpPr>
        <p:spPr>
          <a:xfrm>
            <a:off x="6901891" y="3017520"/>
            <a:ext cx="4526280" cy="237744"/>
          </a:xfrm>
          <a:prstGeom prst="rect">
            <a:avLst/>
          </a:prstGeom>
          <a:noFill/>
          <a:ln/>
        </p:spPr>
        <p:txBody>
          <a:bodyPr wrap="square" lIns="0" tIns="0" rIns="0" bIns="0" rtlCol="0" anchor="ctr"/>
          <a:lstStyle/>
          <a:p>
            <a:pPr marL="0" indent="0">
              <a:buNone/>
            </a:pPr>
            <a:r>
              <a:rPr lang="en-US" sz="900" b="1" kern="0" spc="110" dirty="0">
                <a:solidFill>
                  <a:srgbClr val="E06666"/>
                </a:solidFill>
                <a:latin typeface="Calibri" pitchFamily="34" charset="0"/>
                <a:ea typeface="Calibri" pitchFamily="34" charset="-122"/>
                <a:cs typeface="Calibri" pitchFamily="34" charset="-120"/>
              </a:rPr>
              <a:t>THE STRESS TEST</a:t>
            </a:r>
            <a:r>
              <a:rPr lang="en-US" sz="900" dirty="0">
                <a:solidFill>
                  <a:srgbClr val="9AA4C6"/>
                </a:solidFill>
                <a:latin typeface="Calibri" pitchFamily="34" charset="0"/>
                <a:ea typeface="Calibri" pitchFamily="34" charset="-122"/>
                <a:cs typeface="Calibri" pitchFamily="34" charset="-120"/>
              </a:rPr>
              <a:t>   ·   all three assumptions miss at the same time</a:t>
            </a:r>
            <a:endParaRPr lang="en-US" sz="900" dirty="0"/>
          </a:p>
        </p:txBody>
      </p:sp>
      <p:sp>
        <p:nvSpPr>
          <p:cNvPr id="73" name="Text 69"/>
          <p:cNvSpPr txBox="1"/>
          <p:nvPr/>
        </p:nvSpPr>
        <p:spPr>
          <a:xfrm>
            <a:off x="6655003" y="3310128"/>
            <a:ext cx="2026310"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Fraud detection reverts</a:t>
            </a:r>
            <a:endParaRPr lang="en-US" sz="850" dirty="0"/>
          </a:p>
        </p:txBody>
      </p:sp>
      <p:sp>
        <p:nvSpPr>
          <p:cNvPr id="74" name="Text 70"/>
          <p:cNvSpPr txBox="1"/>
          <p:nvPr/>
        </p:nvSpPr>
        <p:spPr>
          <a:xfrm>
            <a:off x="8579998" y="3310128"/>
            <a:ext cx="1215786" cy="256032"/>
          </a:xfrm>
          <a:prstGeom prst="rect">
            <a:avLst/>
          </a:prstGeom>
          <a:noFill/>
          <a:ln/>
        </p:spPr>
        <p:txBody>
          <a:bodyPr wrap="square" lIns="0" tIns="0" rIns="0" bIns="0" rtlCol="0" anchor="ctr"/>
          <a:lstStyle/>
          <a:p>
            <a:pPr marL="0" indent="0">
              <a:buNone/>
            </a:pPr>
            <a:r>
              <a:rPr lang="en-US" sz="850" b="1" dirty="0">
                <a:solidFill>
                  <a:srgbClr val="F09696"/>
                </a:solidFill>
                <a:latin typeface="Calibri" pitchFamily="34" charset="0"/>
                <a:ea typeface="Calibri" pitchFamily="34" charset="-122"/>
                <a:cs typeface="Calibri" pitchFamily="34" charset="-120"/>
              </a:rPr>
              <a:t>90% → 62%</a:t>
            </a:r>
            <a:endParaRPr lang="en-US" sz="850" dirty="0"/>
          </a:p>
        </p:txBody>
      </p:sp>
      <p:sp>
        <p:nvSpPr>
          <p:cNvPr id="75" name="Text 71"/>
          <p:cNvSpPr txBox="1"/>
          <p:nvPr/>
        </p:nvSpPr>
        <p:spPr>
          <a:xfrm>
            <a:off x="9795784" y="3310128"/>
            <a:ext cx="1632387" cy="256032"/>
          </a:xfrm>
          <a:prstGeom prst="rect">
            <a:avLst/>
          </a:prstGeom>
          <a:noFill/>
          <a:ln/>
        </p:spPr>
        <p:txBody>
          <a:bodyPr wrap="square" lIns="0" tIns="0" rIns="0" bIns="0" rtlCol="0" anchor="ctr"/>
          <a:lstStyle/>
          <a:p>
            <a:pPr marL="0" indent="0" algn="r">
              <a:buNone/>
            </a:pPr>
            <a:r>
              <a:rPr lang="en-US" sz="750" dirty="0">
                <a:solidFill>
                  <a:srgbClr val="9AA4C6"/>
                </a:solidFill>
                <a:latin typeface="Calibri" pitchFamily="34" charset="0"/>
                <a:ea typeface="Calibri" pitchFamily="34" charset="-122"/>
                <a:cs typeface="Calibri" pitchFamily="34" charset="-120"/>
              </a:rPr>
              <a:t>the rule-based baseline returns</a:t>
            </a:r>
            <a:endParaRPr lang="en-US" sz="750" dirty="0"/>
          </a:p>
        </p:txBody>
      </p:sp>
      <p:sp>
        <p:nvSpPr>
          <p:cNvPr id="76" name="Text 72"/>
          <p:cNvSpPr txBox="1"/>
          <p:nvPr/>
        </p:nvSpPr>
        <p:spPr>
          <a:xfrm>
            <a:off x="6655003" y="3566160"/>
            <a:ext cx="2026310"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Green-lane share falls</a:t>
            </a:r>
            <a:endParaRPr lang="en-US" sz="850" dirty="0"/>
          </a:p>
        </p:txBody>
      </p:sp>
      <p:sp>
        <p:nvSpPr>
          <p:cNvPr id="77" name="Text 73"/>
          <p:cNvSpPr txBox="1"/>
          <p:nvPr/>
        </p:nvSpPr>
        <p:spPr>
          <a:xfrm>
            <a:off x="8579998" y="3566160"/>
            <a:ext cx="1215786" cy="256032"/>
          </a:xfrm>
          <a:prstGeom prst="rect">
            <a:avLst/>
          </a:prstGeom>
          <a:noFill/>
          <a:ln/>
        </p:spPr>
        <p:txBody>
          <a:bodyPr wrap="square" lIns="0" tIns="0" rIns="0" bIns="0" rtlCol="0" anchor="ctr"/>
          <a:lstStyle/>
          <a:p>
            <a:pPr marL="0" indent="0">
              <a:buNone/>
            </a:pPr>
            <a:r>
              <a:rPr lang="en-US" sz="850" b="1" dirty="0">
                <a:solidFill>
                  <a:srgbClr val="F09696"/>
                </a:solidFill>
                <a:latin typeface="Calibri" pitchFamily="34" charset="0"/>
                <a:ea typeface="Calibri" pitchFamily="34" charset="-122"/>
                <a:cs typeface="Calibri" pitchFamily="34" charset="-120"/>
              </a:rPr>
              <a:t>65% → 50%</a:t>
            </a:r>
            <a:endParaRPr lang="en-US" sz="850" dirty="0"/>
          </a:p>
        </p:txBody>
      </p:sp>
      <p:sp>
        <p:nvSpPr>
          <p:cNvPr id="78" name="Text 74"/>
          <p:cNvSpPr txBox="1"/>
          <p:nvPr/>
        </p:nvSpPr>
        <p:spPr>
          <a:xfrm>
            <a:off x="9795784" y="3566160"/>
            <a:ext cx="1632387" cy="256032"/>
          </a:xfrm>
          <a:prstGeom prst="rect">
            <a:avLst/>
          </a:prstGeom>
          <a:noFill/>
          <a:ln/>
        </p:spPr>
        <p:txBody>
          <a:bodyPr wrap="square" lIns="0" tIns="0" rIns="0" bIns="0" rtlCol="0" anchor="ctr"/>
          <a:lstStyle/>
          <a:p>
            <a:pPr marL="0" indent="0" algn="r">
              <a:buNone/>
            </a:pPr>
            <a:r>
              <a:rPr lang="en-US" sz="750" dirty="0">
                <a:solidFill>
                  <a:srgbClr val="9AA4C6"/>
                </a:solidFill>
                <a:latin typeface="Calibri" pitchFamily="34" charset="0"/>
                <a:ea typeface="Calibri" pitchFamily="34" charset="-122"/>
                <a:cs typeface="Calibri" pitchFamily="34" charset="-120"/>
              </a:rPr>
              <a:t>fewer claims are decidable</a:t>
            </a:r>
            <a:endParaRPr lang="en-US" sz="750" dirty="0"/>
          </a:p>
        </p:txBody>
      </p:sp>
      <p:sp>
        <p:nvSpPr>
          <p:cNvPr id="79" name="Text 75"/>
          <p:cNvSpPr txBox="1"/>
          <p:nvPr/>
        </p:nvSpPr>
        <p:spPr>
          <a:xfrm>
            <a:off x="6655003" y="3822192"/>
            <a:ext cx="2026310"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Rollout drags</a:t>
            </a:r>
            <a:endParaRPr lang="en-US" sz="850" dirty="0"/>
          </a:p>
        </p:txBody>
      </p:sp>
      <p:sp>
        <p:nvSpPr>
          <p:cNvPr id="80" name="Text 76"/>
          <p:cNvSpPr txBox="1"/>
          <p:nvPr/>
        </p:nvSpPr>
        <p:spPr>
          <a:xfrm>
            <a:off x="8579998" y="3822192"/>
            <a:ext cx="1215786" cy="256032"/>
          </a:xfrm>
          <a:prstGeom prst="rect">
            <a:avLst/>
          </a:prstGeom>
          <a:noFill/>
          <a:ln/>
        </p:spPr>
        <p:txBody>
          <a:bodyPr wrap="square" lIns="0" tIns="0" rIns="0" bIns="0" rtlCol="0" anchor="ctr"/>
          <a:lstStyle/>
          <a:p>
            <a:pPr marL="0" indent="0">
              <a:buNone/>
            </a:pPr>
            <a:r>
              <a:rPr lang="en-US" sz="850" b="1" dirty="0">
                <a:solidFill>
                  <a:srgbClr val="F09696"/>
                </a:solidFill>
                <a:latin typeface="Calibri" pitchFamily="34" charset="0"/>
                <a:ea typeface="Calibri" pitchFamily="34" charset="-122"/>
                <a:cs typeface="Calibri" pitchFamily="34" charset="-120"/>
              </a:rPr>
              <a:t>60% → 35%</a:t>
            </a:r>
            <a:endParaRPr lang="en-US" sz="850" dirty="0"/>
          </a:p>
        </p:txBody>
      </p:sp>
      <p:sp>
        <p:nvSpPr>
          <p:cNvPr id="81" name="Text 77"/>
          <p:cNvSpPr txBox="1"/>
          <p:nvPr/>
        </p:nvSpPr>
        <p:spPr>
          <a:xfrm>
            <a:off x="9795784" y="3822192"/>
            <a:ext cx="1632387" cy="256032"/>
          </a:xfrm>
          <a:prstGeom prst="rect">
            <a:avLst/>
          </a:prstGeom>
          <a:noFill/>
          <a:ln/>
        </p:spPr>
        <p:txBody>
          <a:bodyPr wrap="square" lIns="0" tIns="0" rIns="0" bIns="0" rtlCol="0" anchor="ctr"/>
          <a:lstStyle/>
          <a:p>
            <a:pPr marL="0" indent="0" algn="r">
              <a:buNone/>
            </a:pPr>
            <a:r>
              <a:rPr lang="en-US" sz="750" dirty="0">
                <a:solidFill>
                  <a:srgbClr val="9AA4C6"/>
                </a:solidFill>
                <a:latin typeface="Calibri" pitchFamily="34" charset="0"/>
                <a:ea typeface="Calibri" pitchFamily="34" charset="-122"/>
                <a:cs typeface="Calibri" pitchFamily="34" charset="-120"/>
              </a:rPr>
              <a:t>adoption is slower than planned</a:t>
            </a:r>
            <a:endParaRPr lang="en-US" sz="750" dirty="0"/>
          </a:p>
        </p:txBody>
      </p:sp>
      <p:sp>
        <p:nvSpPr>
          <p:cNvPr id="82" name="Shape 78"/>
          <p:cNvSpPr/>
          <p:nvPr/>
        </p:nvSpPr>
        <p:spPr>
          <a:xfrm>
            <a:off x="6655003" y="4114800"/>
            <a:ext cx="4773168" cy="566928"/>
          </a:xfrm>
          <a:prstGeom prst="roundRect">
            <a:avLst>
              <a:gd name="adj" fmla="val 11290"/>
            </a:avLst>
          </a:prstGeom>
          <a:solidFill>
            <a:srgbClr val="111C55">
              <a:alpha val="74000"/>
            </a:srgbClr>
          </a:solidFill>
          <a:ln w="9525">
            <a:solidFill>
              <a:srgbClr val="3A4A8C">
                <a:alpha val="70000"/>
              </a:srgbClr>
            </a:solidFill>
            <a:prstDash val="solid"/>
          </a:ln>
        </p:spPr>
      </p:sp>
      <p:sp>
        <p:nvSpPr>
          <p:cNvPr id="83" name="Text 79"/>
          <p:cNvSpPr txBox="1"/>
          <p:nvPr/>
        </p:nvSpPr>
        <p:spPr>
          <a:xfrm>
            <a:off x="6764731" y="4114800"/>
            <a:ext cx="4553712" cy="566928"/>
          </a:xfrm>
          <a:prstGeom prst="rect">
            <a:avLst/>
          </a:prstGeom>
          <a:noFill/>
          <a:ln/>
        </p:spPr>
        <p:txBody>
          <a:bodyPr wrap="square" lIns="0" tIns="0" rIns="0" bIns="0" rtlCol="0" anchor="ctr"/>
          <a:lstStyle/>
          <a:p>
            <a:pPr marL="0" indent="0">
              <a:lnSpc>
                <a:spcPts val="950"/>
              </a:lnSpc>
              <a:buNone/>
            </a:pPr>
            <a:r>
              <a:rPr lang="en-US" sz="750" b="1" kern="0" spc="80" dirty="0">
                <a:solidFill>
                  <a:srgbClr val="F09696"/>
                </a:solidFill>
                <a:latin typeface="Calibri" pitchFamily="34" charset="0"/>
                <a:ea typeface="Calibri" pitchFamily="34" charset="-122"/>
                <a:cs typeface="Calibri" pitchFamily="34" charset="-120"/>
              </a:rPr>
              <a:t>RESULT   </a:t>
            </a:r>
            <a:r>
              <a:rPr lang="en-US" sz="750" dirty="0">
                <a:solidFill>
                  <a:srgbClr val="C6CEE4"/>
                </a:solidFill>
                <a:latin typeface="Calibri" pitchFamily="34" charset="0"/>
                <a:ea typeface="Calibri" pitchFamily="34" charset="-122"/>
                <a:cs typeface="Calibri" pitchFamily="34" charset="-120"/>
              </a:rPr>
              <a:t>net ₹0.38 Cr a year, three-year NPV −₹10.82 Cr, no payback inside three years. This is the case that does not clear — and gates 2 and 3 detect it in ninety days, before the spend. That is why capital is released against measurements rather than against this deck.</a:t>
            </a:r>
            <a:endParaRPr lang="en-US" sz="750" dirty="0"/>
          </a:p>
        </p:txBody>
      </p:sp>
      <p:sp>
        <p:nvSpPr>
          <p:cNvPr id="84" name="Shape 80"/>
          <p:cNvSpPr/>
          <p:nvPr/>
        </p:nvSpPr>
        <p:spPr>
          <a:xfrm>
            <a:off x="638251" y="4864608"/>
            <a:ext cx="10936224" cy="1207008"/>
          </a:xfrm>
          <a:prstGeom prst="roundRect">
            <a:avLst>
              <a:gd name="adj" fmla="val 6818"/>
            </a:avLst>
          </a:prstGeom>
          <a:solidFill>
            <a:srgbClr val="111C55">
              <a:alpha val="74000"/>
            </a:srgbClr>
          </a:solidFill>
          <a:ln w="12700">
            <a:solidFill>
              <a:srgbClr val="ED7D31">
                <a:alpha val="78000"/>
              </a:srgbClr>
            </a:solidFill>
            <a:prstDash val="solid"/>
          </a:ln>
        </p:spPr>
      </p:sp>
      <p:sp>
        <p:nvSpPr>
          <p:cNvPr id="85" name="Shape 81"/>
          <p:cNvSpPr/>
          <p:nvPr/>
        </p:nvSpPr>
        <p:spPr>
          <a:xfrm>
            <a:off x="784555" y="4974336"/>
            <a:ext cx="173736" cy="173736"/>
          </a:xfrm>
          <a:prstGeom prst="ellipse">
            <a:avLst/>
          </a:prstGeom>
          <a:ln w="13970">
            <a:solidFill>
              <a:srgbClr val="ED7D31"/>
            </a:solidFill>
            <a:prstDash val="solid"/>
          </a:ln>
        </p:spPr>
      </p:sp>
      <p:sp>
        <p:nvSpPr>
          <p:cNvPr id="86" name="Shape 82"/>
          <p:cNvSpPr/>
          <p:nvPr/>
        </p:nvSpPr>
        <p:spPr>
          <a:xfrm>
            <a:off x="829727" y="5064679"/>
            <a:ext cx="31272" cy="34747"/>
          </a:xfrm>
          <a:prstGeom prst="line">
            <a:avLst/>
          </a:prstGeom>
          <a:noFill/>
          <a:ln w="17780">
            <a:solidFill>
              <a:srgbClr val="ED7D31"/>
            </a:solidFill>
            <a:prstDash val="solid"/>
          </a:ln>
        </p:spPr>
      </p:sp>
      <p:sp>
        <p:nvSpPr>
          <p:cNvPr id="87" name="Shape 83"/>
          <p:cNvSpPr/>
          <p:nvPr/>
        </p:nvSpPr>
        <p:spPr>
          <a:xfrm flipV="1">
            <a:off x="860999" y="5026457"/>
            <a:ext cx="55596" cy="72969"/>
          </a:xfrm>
          <a:prstGeom prst="line">
            <a:avLst/>
          </a:prstGeom>
          <a:noFill/>
          <a:ln w="17780">
            <a:solidFill>
              <a:srgbClr val="ED7D31"/>
            </a:solidFill>
            <a:prstDash val="solid"/>
          </a:ln>
        </p:spPr>
      </p:sp>
      <p:sp>
        <p:nvSpPr>
          <p:cNvPr id="88" name="Text 84"/>
          <p:cNvSpPr txBox="1"/>
          <p:nvPr/>
        </p:nvSpPr>
        <p:spPr>
          <a:xfrm>
            <a:off x="1031443" y="4937760"/>
            <a:ext cx="10396728" cy="237744"/>
          </a:xfrm>
          <a:prstGeom prst="rect">
            <a:avLst/>
          </a:prstGeom>
          <a:noFill/>
          <a:ln/>
        </p:spPr>
        <p:txBody>
          <a:bodyPr wrap="square" lIns="0" tIns="0" rIns="0" bIns="0" rtlCol="0" anchor="ctr"/>
          <a:lstStyle/>
          <a:p>
            <a:pPr marL="0" indent="0">
              <a:buNone/>
            </a:pPr>
            <a:r>
              <a:rPr lang="en-US" sz="900" b="1" kern="0" spc="110" dirty="0">
                <a:solidFill>
                  <a:srgbClr val="ED7D31"/>
                </a:solidFill>
                <a:latin typeface="Calibri" pitchFamily="34" charset="0"/>
                <a:ea typeface="Calibri" pitchFamily="34" charset="-122"/>
                <a:cs typeface="Calibri" pitchFamily="34" charset="-120"/>
              </a:rPr>
              <a:t>THE FOUR 90-DAY PILOT GATES</a:t>
            </a:r>
            <a:r>
              <a:rPr lang="en-US" sz="900" dirty="0">
                <a:solidFill>
                  <a:srgbClr val="9AA4C6"/>
                </a:solidFill>
                <a:latin typeface="Calibri" pitchFamily="34" charset="0"/>
                <a:ea typeface="Calibri" pitchFamily="34" charset="-122"/>
                <a:cs typeface="Calibri" pitchFamily="34" charset="-120"/>
              </a:rPr>
              <a:t>   ·   each one can stop the spend</a:t>
            </a:r>
            <a:endParaRPr lang="en-US" sz="900" dirty="0"/>
          </a:p>
        </p:txBody>
      </p:sp>
      <p:sp>
        <p:nvSpPr>
          <p:cNvPr id="89" name="Shape 85"/>
          <p:cNvSpPr/>
          <p:nvPr/>
        </p:nvSpPr>
        <p:spPr>
          <a:xfrm>
            <a:off x="784555" y="5230368"/>
            <a:ext cx="2537460" cy="713232"/>
          </a:xfrm>
          <a:prstGeom prst="roundRect">
            <a:avLst>
              <a:gd name="adj" fmla="val 8974"/>
            </a:avLst>
          </a:prstGeom>
          <a:solidFill>
            <a:srgbClr val="111C55">
              <a:alpha val="70000"/>
            </a:srgbClr>
          </a:solidFill>
          <a:ln w="9525">
            <a:solidFill>
              <a:srgbClr val="3A4A8C">
                <a:alpha val="70000"/>
              </a:srgbClr>
            </a:solidFill>
            <a:prstDash val="solid"/>
          </a:ln>
        </p:spPr>
      </p:sp>
      <p:sp>
        <p:nvSpPr>
          <p:cNvPr id="90" name="Shape 86"/>
          <p:cNvSpPr/>
          <p:nvPr/>
        </p:nvSpPr>
        <p:spPr>
          <a:xfrm>
            <a:off x="894283" y="5266944"/>
            <a:ext cx="201168" cy="201168"/>
          </a:xfrm>
          <a:prstGeom prst="ellipse">
            <a:avLst/>
          </a:prstGeom>
          <a:solidFill>
            <a:srgbClr val="ED7D31">
              <a:alpha val="45000"/>
            </a:srgbClr>
          </a:solidFill>
          <a:ln w="11430">
            <a:solidFill>
              <a:srgbClr val="ED7D31"/>
            </a:solidFill>
            <a:prstDash val="solid"/>
          </a:ln>
        </p:spPr>
      </p:sp>
      <p:sp>
        <p:nvSpPr>
          <p:cNvPr id="91" name="Text 87"/>
          <p:cNvSpPr txBox="1"/>
          <p:nvPr/>
        </p:nvSpPr>
        <p:spPr>
          <a:xfrm>
            <a:off x="894283" y="5266944"/>
            <a:ext cx="201168" cy="201168"/>
          </a:xfrm>
          <a:prstGeom prst="rect">
            <a:avLst/>
          </a:prstGeom>
          <a:noFill/>
          <a:ln/>
        </p:spPr>
        <p:txBody>
          <a:bodyPr wrap="square" lIns="0" tIns="0" rIns="0" bIns="0" rtlCol="0" anchor="ctr"/>
          <a:lstStyle/>
          <a:p>
            <a:pPr marL="0" indent="0" algn="ctr">
              <a:buNone/>
            </a:pPr>
            <a:r>
              <a:rPr lang="en-US" sz="900" b="1" dirty="0">
                <a:solidFill>
                  <a:srgbClr val="ED7D31"/>
                </a:solidFill>
                <a:latin typeface="Calibri" pitchFamily="34" charset="0"/>
                <a:ea typeface="Calibri" pitchFamily="34" charset="-122"/>
                <a:cs typeface="Calibri" pitchFamily="34" charset="-120"/>
              </a:rPr>
              <a:t>1</a:t>
            </a:r>
            <a:endParaRPr lang="en-US" sz="900" dirty="0"/>
          </a:p>
        </p:txBody>
      </p:sp>
      <p:sp>
        <p:nvSpPr>
          <p:cNvPr id="92" name="Text 88"/>
          <p:cNvSpPr txBox="1"/>
          <p:nvPr/>
        </p:nvSpPr>
        <p:spPr>
          <a:xfrm>
            <a:off x="1150315" y="5230368"/>
            <a:ext cx="2061972" cy="256032"/>
          </a:xfrm>
          <a:prstGeom prst="rect">
            <a:avLst/>
          </a:prstGeom>
          <a:noFill/>
          <a:ln/>
        </p:spPr>
        <p:txBody>
          <a:bodyPr wrap="square" lIns="0" tIns="0" rIns="0" bIns="0" rtlCol="0" anchor="ctr"/>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Measured GPU-seconds per claim</a:t>
            </a:r>
            <a:endParaRPr lang="en-US" sz="850" dirty="0"/>
          </a:p>
        </p:txBody>
      </p:sp>
      <p:sp>
        <p:nvSpPr>
          <p:cNvPr id="93" name="Shape 89"/>
          <p:cNvSpPr/>
          <p:nvPr/>
        </p:nvSpPr>
        <p:spPr>
          <a:xfrm>
            <a:off x="894283" y="5541264"/>
            <a:ext cx="438912" cy="173736"/>
          </a:xfrm>
          <a:prstGeom prst="roundRect">
            <a:avLst>
              <a:gd name="adj" fmla="val 50000"/>
            </a:avLst>
          </a:prstGeom>
          <a:solidFill>
            <a:srgbClr val="70AD47"/>
          </a:solidFill>
          <a:ln w="9525">
            <a:solidFill>
              <a:srgbClr val="70AD47"/>
            </a:solidFill>
            <a:prstDash val="solid"/>
          </a:ln>
        </p:spPr>
      </p:sp>
      <p:sp>
        <p:nvSpPr>
          <p:cNvPr id="94" name="Text 90"/>
          <p:cNvSpPr txBox="1"/>
          <p:nvPr/>
        </p:nvSpPr>
        <p:spPr>
          <a:xfrm>
            <a:off x="894283" y="5541264"/>
            <a:ext cx="438912" cy="173736"/>
          </a:xfrm>
          <a:prstGeom prst="rect">
            <a:avLst/>
          </a:prstGeom>
          <a:noFill/>
          <a:ln/>
        </p:spPr>
        <p:txBody>
          <a:bodyPr wrap="square" lIns="0" tIns="0" rIns="0" bIns="0" rtlCol="0" anchor="ctr"/>
          <a:lstStyle/>
          <a:p>
            <a:pPr marL="0" indent="0" algn="ctr">
              <a:buNone/>
            </a:pPr>
            <a:r>
              <a:rPr lang="en-US" sz="650" b="1" kern="0" spc="60" dirty="0">
                <a:solidFill>
                  <a:srgbClr val="09122C"/>
                </a:solidFill>
                <a:latin typeface="Calibri" pitchFamily="34" charset="0"/>
                <a:ea typeface="Calibri" pitchFamily="34" charset="-122"/>
                <a:cs typeface="Calibri" pitchFamily="34" charset="-120"/>
              </a:rPr>
              <a:t>GO</a:t>
            </a:r>
            <a:endParaRPr lang="en-US" sz="650" dirty="0"/>
          </a:p>
        </p:txBody>
      </p:sp>
      <p:sp>
        <p:nvSpPr>
          <p:cNvPr id="95" name="Text 91"/>
          <p:cNvSpPr txBox="1"/>
          <p:nvPr/>
        </p:nvSpPr>
        <p:spPr>
          <a:xfrm>
            <a:off x="1388059" y="5522976"/>
            <a:ext cx="1824228" cy="201168"/>
          </a:xfrm>
          <a:prstGeom prst="rect">
            <a:avLst/>
          </a:prstGeom>
          <a:noFill/>
          <a:ln/>
        </p:spPr>
        <p:txBody>
          <a:bodyPr wrap="square" lIns="0" tIns="0" rIns="0" bIns="0" rtlCol="0" anchor="ctr"/>
          <a:lstStyle/>
          <a:p>
            <a:pPr marL="0" indent="0">
              <a:buNone/>
            </a:pPr>
            <a:r>
              <a:rPr lang="en-US" sz="700" dirty="0">
                <a:solidFill>
                  <a:srgbClr val="9AD672"/>
                </a:solidFill>
                <a:latin typeface="Calibri" pitchFamily="34" charset="0"/>
                <a:ea typeface="Calibri" pitchFamily="34" charset="-122"/>
                <a:cs typeface="Calibri" pitchFamily="34" charset="-120"/>
              </a:rPr>
              <a:t>below the 77-second breakeven</a:t>
            </a:r>
            <a:endParaRPr lang="en-US" sz="700" dirty="0"/>
          </a:p>
        </p:txBody>
      </p:sp>
      <p:sp>
        <p:nvSpPr>
          <p:cNvPr id="96" name="Shape 92"/>
          <p:cNvSpPr/>
          <p:nvPr/>
        </p:nvSpPr>
        <p:spPr>
          <a:xfrm>
            <a:off x="894283" y="5760720"/>
            <a:ext cx="438912" cy="173736"/>
          </a:xfrm>
          <a:prstGeom prst="roundRect">
            <a:avLst>
              <a:gd name="adj" fmla="val 50000"/>
            </a:avLst>
          </a:prstGeom>
          <a:solidFill>
            <a:srgbClr val="E06666"/>
          </a:solidFill>
          <a:ln w="9525">
            <a:solidFill>
              <a:srgbClr val="E06666"/>
            </a:solidFill>
            <a:prstDash val="solid"/>
          </a:ln>
        </p:spPr>
      </p:sp>
      <p:sp>
        <p:nvSpPr>
          <p:cNvPr id="97" name="Text 93"/>
          <p:cNvSpPr txBox="1"/>
          <p:nvPr/>
        </p:nvSpPr>
        <p:spPr>
          <a:xfrm>
            <a:off x="894283" y="5760720"/>
            <a:ext cx="438912" cy="173736"/>
          </a:xfrm>
          <a:prstGeom prst="rect">
            <a:avLst/>
          </a:prstGeom>
          <a:noFill/>
          <a:ln/>
        </p:spPr>
        <p:txBody>
          <a:bodyPr wrap="square" lIns="0" tIns="0" rIns="0" bIns="0" rtlCol="0" anchor="ctr"/>
          <a:lstStyle/>
          <a:p>
            <a:pPr marL="0" indent="0" algn="ctr">
              <a:buNone/>
            </a:pPr>
            <a:r>
              <a:rPr lang="en-US" sz="650" b="1" kern="0" spc="60" dirty="0">
                <a:solidFill>
                  <a:srgbClr val="09122C"/>
                </a:solidFill>
                <a:latin typeface="Calibri" pitchFamily="34" charset="0"/>
                <a:ea typeface="Calibri" pitchFamily="34" charset="-122"/>
                <a:cs typeface="Calibri" pitchFamily="34" charset="-120"/>
              </a:rPr>
              <a:t>STOP</a:t>
            </a:r>
            <a:endParaRPr lang="en-US" sz="650" dirty="0"/>
          </a:p>
        </p:txBody>
      </p:sp>
      <p:sp>
        <p:nvSpPr>
          <p:cNvPr id="98" name="Text 94"/>
          <p:cNvSpPr txBox="1"/>
          <p:nvPr/>
        </p:nvSpPr>
        <p:spPr>
          <a:xfrm>
            <a:off x="1388059" y="5724144"/>
            <a:ext cx="1824228" cy="256032"/>
          </a:xfrm>
          <a:prstGeom prst="rect">
            <a:avLst/>
          </a:prstGeom>
          <a:noFill/>
          <a:ln/>
        </p:spPr>
        <p:txBody>
          <a:bodyPr wrap="square" lIns="0" tIns="0" rIns="0" bIns="0" rtlCol="0" anchor="ctr"/>
          <a:lstStyle/>
          <a:p>
            <a:pPr marL="0" indent="0">
              <a:lnSpc>
                <a:spcPts val="850"/>
              </a:lnSpc>
              <a:buNone/>
            </a:pPr>
            <a:r>
              <a:rPr lang="en-US" sz="700" dirty="0">
                <a:solidFill>
                  <a:srgbClr val="F09696"/>
                </a:solidFill>
                <a:latin typeface="Calibri" pitchFamily="34" charset="0"/>
                <a:ea typeface="Calibri" pitchFamily="34" charset="-122"/>
                <a:cs typeface="Calibri" pitchFamily="34" charset="-120"/>
              </a:rPr>
              <a:t>above it — GenAI is bought, not built</a:t>
            </a:r>
            <a:endParaRPr lang="en-US" sz="700" dirty="0"/>
          </a:p>
        </p:txBody>
      </p:sp>
      <p:sp>
        <p:nvSpPr>
          <p:cNvPr id="99" name="Shape 95"/>
          <p:cNvSpPr/>
          <p:nvPr/>
        </p:nvSpPr>
        <p:spPr>
          <a:xfrm>
            <a:off x="3486607" y="5230368"/>
            <a:ext cx="2537460" cy="713232"/>
          </a:xfrm>
          <a:prstGeom prst="roundRect">
            <a:avLst>
              <a:gd name="adj" fmla="val 8974"/>
            </a:avLst>
          </a:prstGeom>
          <a:solidFill>
            <a:srgbClr val="111C55">
              <a:alpha val="70000"/>
            </a:srgbClr>
          </a:solidFill>
          <a:ln w="9525">
            <a:solidFill>
              <a:srgbClr val="3A4A8C">
                <a:alpha val="70000"/>
              </a:srgbClr>
            </a:solidFill>
            <a:prstDash val="solid"/>
          </a:ln>
        </p:spPr>
      </p:sp>
      <p:sp>
        <p:nvSpPr>
          <p:cNvPr id="100" name="Shape 96"/>
          <p:cNvSpPr/>
          <p:nvPr/>
        </p:nvSpPr>
        <p:spPr>
          <a:xfrm>
            <a:off x="3596335" y="5266944"/>
            <a:ext cx="201168" cy="201168"/>
          </a:xfrm>
          <a:prstGeom prst="ellipse">
            <a:avLst/>
          </a:prstGeom>
          <a:solidFill>
            <a:srgbClr val="ED7D31">
              <a:alpha val="45000"/>
            </a:srgbClr>
          </a:solidFill>
          <a:ln w="11430">
            <a:solidFill>
              <a:srgbClr val="ED7D31"/>
            </a:solidFill>
            <a:prstDash val="solid"/>
          </a:ln>
        </p:spPr>
      </p:sp>
      <p:sp>
        <p:nvSpPr>
          <p:cNvPr id="101" name="Text 97"/>
          <p:cNvSpPr txBox="1"/>
          <p:nvPr/>
        </p:nvSpPr>
        <p:spPr>
          <a:xfrm>
            <a:off x="3596335" y="5266944"/>
            <a:ext cx="201168" cy="201168"/>
          </a:xfrm>
          <a:prstGeom prst="rect">
            <a:avLst/>
          </a:prstGeom>
          <a:noFill/>
          <a:ln/>
        </p:spPr>
        <p:txBody>
          <a:bodyPr wrap="square" lIns="0" tIns="0" rIns="0" bIns="0" rtlCol="0" anchor="ctr"/>
          <a:lstStyle/>
          <a:p>
            <a:pPr marL="0" indent="0" algn="ctr">
              <a:buNone/>
            </a:pPr>
            <a:r>
              <a:rPr lang="en-US" sz="900" b="1" dirty="0">
                <a:solidFill>
                  <a:srgbClr val="ED7D31"/>
                </a:solidFill>
                <a:latin typeface="Calibri" pitchFamily="34" charset="0"/>
                <a:ea typeface="Calibri" pitchFamily="34" charset="-122"/>
                <a:cs typeface="Calibri" pitchFamily="34" charset="-120"/>
              </a:rPr>
              <a:t>2</a:t>
            </a:r>
            <a:endParaRPr lang="en-US" sz="900" dirty="0"/>
          </a:p>
        </p:txBody>
      </p:sp>
      <p:sp>
        <p:nvSpPr>
          <p:cNvPr id="102" name="Text 98"/>
          <p:cNvSpPr txBox="1"/>
          <p:nvPr/>
        </p:nvSpPr>
        <p:spPr>
          <a:xfrm>
            <a:off x="3852367" y="5230368"/>
            <a:ext cx="2061972" cy="256032"/>
          </a:xfrm>
          <a:prstGeom prst="rect">
            <a:avLst/>
          </a:prstGeom>
          <a:noFill/>
          <a:ln/>
        </p:spPr>
        <p:txBody>
          <a:bodyPr wrap="square" lIns="0" tIns="0" rIns="0" bIns="0" rtlCol="0" anchor="ctr"/>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Shadow-mode fraud detection</a:t>
            </a:r>
            <a:endParaRPr lang="en-US" sz="850" dirty="0"/>
          </a:p>
        </p:txBody>
      </p:sp>
      <p:sp>
        <p:nvSpPr>
          <p:cNvPr id="103" name="Shape 99"/>
          <p:cNvSpPr/>
          <p:nvPr/>
        </p:nvSpPr>
        <p:spPr>
          <a:xfrm>
            <a:off x="3596335" y="5541264"/>
            <a:ext cx="438912" cy="173736"/>
          </a:xfrm>
          <a:prstGeom prst="roundRect">
            <a:avLst>
              <a:gd name="adj" fmla="val 50000"/>
            </a:avLst>
          </a:prstGeom>
          <a:solidFill>
            <a:srgbClr val="70AD47"/>
          </a:solidFill>
          <a:ln w="9525">
            <a:solidFill>
              <a:srgbClr val="70AD47"/>
            </a:solidFill>
            <a:prstDash val="solid"/>
          </a:ln>
        </p:spPr>
      </p:sp>
      <p:sp>
        <p:nvSpPr>
          <p:cNvPr id="104" name="Text 100"/>
          <p:cNvSpPr txBox="1"/>
          <p:nvPr/>
        </p:nvSpPr>
        <p:spPr>
          <a:xfrm>
            <a:off x="3596335" y="5541264"/>
            <a:ext cx="438912" cy="173736"/>
          </a:xfrm>
          <a:prstGeom prst="rect">
            <a:avLst/>
          </a:prstGeom>
          <a:noFill/>
          <a:ln/>
        </p:spPr>
        <p:txBody>
          <a:bodyPr wrap="square" lIns="0" tIns="0" rIns="0" bIns="0" rtlCol="0" anchor="ctr"/>
          <a:lstStyle/>
          <a:p>
            <a:pPr marL="0" indent="0" algn="ctr">
              <a:buNone/>
            </a:pPr>
            <a:r>
              <a:rPr lang="en-US" sz="650" b="1" kern="0" spc="60" dirty="0">
                <a:solidFill>
                  <a:srgbClr val="09122C"/>
                </a:solidFill>
                <a:latin typeface="Calibri" pitchFamily="34" charset="0"/>
                <a:ea typeface="Calibri" pitchFamily="34" charset="-122"/>
                <a:cs typeface="Calibri" pitchFamily="34" charset="-120"/>
              </a:rPr>
              <a:t>GO</a:t>
            </a:r>
            <a:endParaRPr lang="en-US" sz="650" dirty="0"/>
          </a:p>
        </p:txBody>
      </p:sp>
      <p:sp>
        <p:nvSpPr>
          <p:cNvPr id="105" name="Text 101"/>
          <p:cNvSpPr txBox="1"/>
          <p:nvPr/>
        </p:nvSpPr>
        <p:spPr>
          <a:xfrm>
            <a:off x="4090111" y="5522976"/>
            <a:ext cx="1824228" cy="201168"/>
          </a:xfrm>
          <a:prstGeom prst="rect">
            <a:avLst/>
          </a:prstGeom>
          <a:noFill/>
          <a:ln/>
        </p:spPr>
        <p:txBody>
          <a:bodyPr wrap="square" lIns="0" tIns="0" rIns="0" bIns="0" rtlCol="0" anchor="ctr"/>
          <a:lstStyle/>
          <a:p>
            <a:pPr marL="0" indent="0">
              <a:buNone/>
            </a:pPr>
            <a:r>
              <a:rPr lang="en-US" sz="700" dirty="0">
                <a:solidFill>
                  <a:srgbClr val="9AD672"/>
                </a:solidFill>
                <a:latin typeface="Calibri" pitchFamily="34" charset="0"/>
                <a:ea typeface="Calibri" pitchFamily="34" charset="-122"/>
                <a:cs typeface="Calibri" pitchFamily="34" charset="-120"/>
              </a:rPr>
              <a:t>82% or better on held-out claims</a:t>
            </a:r>
            <a:endParaRPr lang="en-US" sz="700" dirty="0"/>
          </a:p>
        </p:txBody>
      </p:sp>
      <p:sp>
        <p:nvSpPr>
          <p:cNvPr id="106" name="Shape 102"/>
          <p:cNvSpPr/>
          <p:nvPr/>
        </p:nvSpPr>
        <p:spPr>
          <a:xfrm>
            <a:off x="3596335" y="5760720"/>
            <a:ext cx="438912" cy="173736"/>
          </a:xfrm>
          <a:prstGeom prst="roundRect">
            <a:avLst>
              <a:gd name="adj" fmla="val 50000"/>
            </a:avLst>
          </a:prstGeom>
          <a:solidFill>
            <a:srgbClr val="E06666"/>
          </a:solidFill>
          <a:ln w="9525">
            <a:solidFill>
              <a:srgbClr val="E06666"/>
            </a:solidFill>
            <a:prstDash val="solid"/>
          </a:ln>
        </p:spPr>
      </p:sp>
      <p:sp>
        <p:nvSpPr>
          <p:cNvPr id="107" name="Text 103"/>
          <p:cNvSpPr txBox="1"/>
          <p:nvPr/>
        </p:nvSpPr>
        <p:spPr>
          <a:xfrm>
            <a:off x="3596335" y="5760720"/>
            <a:ext cx="438912" cy="173736"/>
          </a:xfrm>
          <a:prstGeom prst="rect">
            <a:avLst/>
          </a:prstGeom>
          <a:noFill/>
          <a:ln/>
        </p:spPr>
        <p:txBody>
          <a:bodyPr wrap="square" lIns="0" tIns="0" rIns="0" bIns="0" rtlCol="0" anchor="ctr"/>
          <a:lstStyle/>
          <a:p>
            <a:pPr marL="0" indent="0" algn="ctr">
              <a:buNone/>
            </a:pPr>
            <a:r>
              <a:rPr lang="en-US" sz="650" b="1" kern="0" spc="60" dirty="0">
                <a:solidFill>
                  <a:srgbClr val="09122C"/>
                </a:solidFill>
                <a:latin typeface="Calibri" pitchFamily="34" charset="0"/>
                <a:ea typeface="Calibri" pitchFamily="34" charset="-122"/>
                <a:cs typeface="Calibri" pitchFamily="34" charset="-120"/>
              </a:rPr>
              <a:t>STOP</a:t>
            </a:r>
            <a:endParaRPr lang="en-US" sz="650" dirty="0"/>
          </a:p>
        </p:txBody>
      </p:sp>
      <p:sp>
        <p:nvSpPr>
          <p:cNvPr id="108" name="Text 104"/>
          <p:cNvSpPr txBox="1"/>
          <p:nvPr/>
        </p:nvSpPr>
        <p:spPr>
          <a:xfrm>
            <a:off x="4090111" y="5724144"/>
            <a:ext cx="1824228" cy="256032"/>
          </a:xfrm>
          <a:prstGeom prst="rect">
            <a:avLst/>
          </a:prstGeom>
          <a:noFill/>
          <a:ln/>
        </p:spPr>
        <p:txBody>
          <a:bodyPr wrap="square" lIns="0" tIns="0" rIns="0" bIns="0" rtlCol="0" anchor="ctr"/>
          <a:lstStyle/>
          <a:p>
            <a:pPr marL="0" indent="0">
              <a:lnSpc>
                <a:spcPts val="850"/>
              </a:lnSpc>
              <a:buNone/>
            </a:pPr>
            <a:r>
              <a:rPr lang="en-US" sz="700" dirty="0">
                <a:solidFill>
                  <a:srgbClr val="F09696"/>
                </a:solidFill>
                <a:latin typeface="Calibri" pitchFamily="34" charset="0"/>
                <a:ea typeface="Calibri" pitchFamily="34" charset="-122"/>
                <a:cs typeface="Calibri" pitchFamily="34" charset="-120"/>
              </a:rPr>
              <a:t>below 82% — the fraud lines are rebuilt</a:t>
            </a:r>
            <a:endParaRPr lang="en-US" sz="700" dirty="0"/>
          </a:p>
        </p:txBody>
      </p:sp>
      <p:sp>
        <p:nvSpPr>
          <p:cNvPr id="109" name="Shape 105"/>
          <p:cNvSpPr/>
          <p:nvPr/>
        </p:nvSpPr>
        <p:spPr>
          <a:xfrm>
            <a:off x="6188659" y="5230368"/>
            <a:ext cx="2537460" cy="713232"/>
          </a:xfrm>
          <a:prstGeom prst="roundRect">
            <a:avLst>
              <a:gd name="adj" fmla="val 8974"/>
            </a:avLst>
          </a:prstGeom>
          <a:solidFill>
            <a:srgbClr val="111C55">
              <a:alpha val="70000"/>
            </a:srgbClr>
          </a:solidFill>
          <a:ln w="9525">
            <a:solidFill>
              <a:srgbClr val="3A4A8C">
                <a:alpha val="70000"/>
              </a:srgbClr>
            </a:solidFill>
            <a:prstDash val="solid"/>
          </a:ln>
        </p:spPr>
      </p:sp>
      <p:sp>
        <p:nvSpPr>
          <p:cNvPr id="110" name="Shape 106"/>
          <p:cNvSpPr/>
          <p:nvPr/>
        </p:nvSpPr>
        <p:spPr>
          <a:xfrm>
            <a:off x="6298387" y="5266944"/>
            <a:ext cx="201168" cy="201168"/>
          </a:xfrm>
          <a:prstGeom prst="ellipse">
            <a:avLst/>
          </a:prstGeom>
          <a:solidFill>
            <a:srgbClr val="ED7D31">
              <a:alpha val="45000"/>
            </a:srgbClr>
          </a:solidFill>
          <a:ln w="11430">
            <a:solidFill>
              <a:srgbClr val="ED7D31"/>
            </a:solidFill>
            <a:prstDash val="solid"/>
          </a:ln>
        </p:spPr>
      </p:sp>
      <p:sp>
        <p:nvSpPr>
          <p:cNvPr id="111" name="Text 107"/>
          <p:cNvSpPr txBox="1"/>
          <p:nvPr/>
        </p:nvSpPr>
        <p:spPr>
          <a:xfrm>
            <a:off x="6298387" y="5266944"/>
            <a:ext cx="201168" cy="201168"/>
          </a:xfrm>
          <a:prstGeom prst="rect">
            <a:avLst/>
          </a:prstGeom>
          <a:noFill/>
          <a:ln/>
        </p:spPr>
        <p:txBody>
          <a:bodyPr wrap="square" lIns="0" tIns="0" rIns="0" bIns="0" rtlCol="0" anchor="ctr"/>
          <a:lstStyle/>
          <a:p>
            <a:pPr marL="0" indent="0" algn="ctr">
              <a:buNone/>
            </a:pPr>
            <a:r>
              <a:rPr lang="en-US" sz="900" b="1" dirty="0">
                <a:solidFill>
                  <a:srgbClr val="ED7D31"/>
                </a:solidFill>
                <a:latin typeface="Calibri" pitchFamily="34" charset="0"/>
                <a:ea typeface="Calibri" pitchFamily="34" charset="-122"/>
                <a:cs typeface="Calibri" pitchFamily="34" charset="-120"/>
              </a:rPr>
              <a:t>3</a:t>
            </a:r>
            <a:endParaRPr lang="en-US" sz="900" dirty="0"/>
          </a:p>
        </p:txBody>
      </p:sp>
      <p:sp>
        <p:nvSpPr>
          <p:cNvPr id="112" name="Text 108"/>
          <p:cNvSpPr txBox="1"/>
          <p:nvPr/>
        </p:nvSpPr>
        <p:spPr>
          <a:xfrm>
            <a:off x="6554419" y="5230368"/>
            <a:ext cx="2061972" cy="256032"/>
          </a:xfrm>
          <a:prstGeom prst="rect">
            <a:avLst/>
          </a:prstGeom>
          <a:noFill/>
          <a:ln/>
        </p:spPr>
        <p:txBody>
          <a:bodyPr wrap="square" lIns="0" tIns="0" rIns="0" bIns="0" rtlCol="0" anchor="ctr"/>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Green-lane share on live claims</a:t>
            </a:r>
            <a:endParaRPr lang="en-US" sz="850" dirty="0"/>
          </a:p>
        </p:txBody>
      </p:sp>
      <p:sp>
        <p:nvSpPr>
          <p:cNvPr id="113" name="Shape 109"/>
          <p:cNvSpPr/>
          <p:nvPr/>
        </p:nvSpPr>
        <p:spPr>
          <a:xfrm>
            <a:off x="6298387" y="5541264"/>
            <a:ext cx="438912" cy="173736"/>
          </a:xfrm>
          <a:prstGeom prst="roundRect">
            <a:avLst>
              <a:gd name="adj" fmla="val 50000"/>
            </a:avLst>
          </a:prstGeom>
          <a:solidFill>
            <a:srgbClr val="70AD47"/>
          </a:solidFill>
          <a:ln w="9525">
            <a:solidFill>
              <a:srgbClr val="70AD47"/>
            </a:solidFill>
            <a:prstDash val="solid"/>
          </a:ln>
        </p:spPr>
      </p:sp>
      <p:sp>
        <p:nvSpPr>
          <p:cNvPr id="114" name="Text 110"/>
          <p:cNvSpPr txBox="1"/>
          <p:nvPr/>
        </p:nvSpPr>
        <p:spPr>
          <a:xfrm>
            <a:off x="6298387" y="5541264"/>
            <a:ext cx="438912" cy="173736"/>
          </a:xfrm>
          <a:prstGeom prst="rect">
            <a:avLst/>
          </a:prstGeom>
          <a:noFill/>
          <a:ln/>
        </p:spPr>
        <p:txBody>
          <a:bodyPr wrap="square" lIns="0" tIns="0" rIns="0" bIns="0" rtlCol="0" anchor="ctr"/>
          <a:lstStyle/>
          <a:p>
            <a:pPr marL="0" indent="0" algn="ctr">
              <a:buNone/>
            </a:pPr>
            <a:r>
              <a:rPr lang="en-US" sz="650" b="1" kern="0" spc="60" dirty="0">
                <a:solidFill>
                  <a:srgbClr val="09122C"/>
                </a:solidFill>
                <a:latin typeface="Calibri" pitchFamily="34" charset="0"/>
                <a:ea typeface="Calibri" pitchFamily="34" charset="-122"/>
                <a:cs typeface="Calibri" pitchFamily="34" charset="-120"/>
              </a:rPr>
              <a:t>GO</a:t>
            </a:r>
            <a:endParaRPr lang="en-US" sz="650" dirty="0"/>
          </a:p>
        </p:txBody>
      </p:sp>
      <p:sp>
        <p:nvSpPr>
          <p:cNvPr id="115" name="Text 111"/>
          <p:cNvSpPr txBox="1"/>
          <p:nvPr/>
        </p:nvSpPr>
        <p:spPr>
          <a:xfrm>
            <a:off x="6792163" y="5522976"/>
            <a:ext cx="1824228" cy="201168"/>
          </a:xfrm>
          <a:prstGeom prst="rect">
            <a:avLst/>
          </a:prstGeom>
          <a:noFill/>
          <a:ln/>
        </p:spPr>
        <p:txBody>
          <a:bodyPr wrap="square" lIns="0" tIns="0" rIns="0" bIns="0" rtlCol="0" anchor="ctr"/>
          <a:lstStyle/>
          <a:p>
            <a:pPr marL="0" indent="0">
              <a:buNone/>
            </a:pPr>
            <a:r>
              <a:rPr lang="en-US" sz="700" dirty="0">
                <a:solidFill>
                  <a:srgbClr val="9AD672"/>
                </a:solidFill>
                <a:latin typeface="Calibri" pitchFamily="34" charset="0"/>
                <a:ea typeface="Calibri" pitchFamily="34" charset="-122"/>
                <a:cs typeface="Calibri" pitchFamily="34" charset="-120"/>
              </a:rPr>
              <a:t>50% or better</a:t>
            </a:r>
            <a:endParaRPr lang="en-US" sz="700" dirty="0"/>
          </a:p>
        </p:txBody>
      </p:sp>
      <p:sp>
        <p:nvSpPr>
          <p:cNvPr id="116" name="Shape 112"/>
          <p:cNvSpPr/>
          <p:nvPr/>
        </p:nvSpPr>
        <p:spPr>
          <a:xfrm>
            <a:off x="6298387" y="5760720"/>
            <a:ext cx="438912" cy="173736"/>
          </a:xfrm>
          <a:prstGeom prst="roundRect">
            <a:avLst>
              <a:gd name="adj" fmla="val 50000"/>
            </a:avLst>
          </a:prstGeom>
          <a:solidFill>
            <a:srgbClr val="E06666"/>
          </a:solidFill>
          <a:ln w="9525">
            <a:solidFill>
              <a:srgbClr val="E06666"/>
            </a:solidFill>
            <a:prstDash val="solid"/>
          </a:ln>
        </p:spPr>
      </p:sp>
      <p:sp>
        <p:nvSpPr>
          <p:cNvPr id="117" name="Text 113"/>
          <p:cNvSpPr txBox="1"/>
          <p:nvPr/>
        </p:nvSpPr>
        <p:spPr>
          <a:xfrm>
            <a:off x="6298387" y="5760720"/>
            <a:ext cx="438912" cy="173736"/>
          </a:xfrm>
          <a:prstGeom prst="rect">
            <a:avLst/>
          </a:prstGeom>
          <a:noFill/>
          <a:ln/>
        </p:spPr>
        <p:txBody>
          <a:bodyPr wrap="square" lIns="0" tIns="0" rIns="0" bIns="0" rtlCol="0" anchor="ctr"/>
          <a:lstStyle/>
          <a:p>
            <a:pPr marL="0" indent="0" algn="ctr">
              <a:buNone/>
            </a:pPr>
            <a:r>
              <a:rPr lang="en-US" sz="650" b="1" kern="0" spc="60" dirty="0">
                <a:solidFill>
                  <a:srgbClr val="09122C"/>
                </a:solidFill>
                <a:latin typeface="Calibri" pitchFamily="34" charset="0"/>
                <a:ea typeface="Calibri" pitchFamily="34" charset="-122"/>
                <a:cs typeface="Calibri" pitchFamily="34" charset="-120"/>
              </a:rPr>
              <a:t>STOP</a:t>
            </a:r>
            <a:endParaRPr lang="en-US" sz="650" dirty="0"/>
          </a:p>
        </p:txBody>
      </p:sp>
      <p:sp>
        <p:nvSpPr>
          <p:cNvPr id="118" name="Text 114"/>
          <p:cNvSpPr txBox="1"/>
          <p:nvPr/>
        </p:nvSpPr>
        <p:spPr>
          <a:xfrm>
            <a:off x="6792163" y="5724144"/>
            <a:ext cx="1824228" cy="256032"/>
          </a:xfrm>
          <a:prstGeom prst="rect">
            <a:avLst/>
          </a:prstGeom>
          <a:noFill/>
          <a:ln/>
        </p:spPr>
        <p:txBody>
          <a:bodyPr wrap="square" lIns="0" tIns="0" rIns="0" bIns="0" rtlCol="0" anchor="ctr"/>
          <a:lstStyle/>
          <a:p>
            <a:pPr marL="0" indent="0">
              <a:lnSpc>
                <a:spcPts val="850"/>
              </a:lnSpc>
              <a:buNone/>
            </a:pPr>
            <a:r>
              <a:rPr lang="en-US" sz="700" dirty="0">
                <a:solidFill>
                  <a:srgbClr val="F09696"/>
                </a:solidFill>
                <a:latin typeface="Calibri" pitchFamily="34" charset="0"/>
                <a:ea typeface="Calibri" pitchFamily="34" charset="-122"/>
                <a:cs typeface="Calibri" pitchFamily="34" charset="-120"/>
              </a:rPr>
              <a:t>below 50% — rollout pauses at the pilot region</a:t>
            </a:r>
            <a:endParaRPr lang="en-US" sz="700" dirty="0"/>
          </a:p>
        </p:txBody>
      </p:sp>
      <p:sp>
        <p:nvSpPr>
          <p:cNvPr id="119" name="Shape 115"/>
          <p:cNvSpPr/>
          <p:nvPr/>
        </p:nvSpPr>
        <p:spPr>
          <a:xfrm>
            <a:off x="8890711" y="5230368"/>
            <a:ext cx="2537460" cy="713232"/>
          </a:xfrm>
          <a:prstGeom prst="roundRect">
            <a:avLst>
              <a:gd name="adj" fmla="val 8974"/>
            </a:avLst>
          </a:prstGeom>
          <a:solidFill>
            <a:srgbClr val="111C55">
              <a:alpha val="70000"/>
            </a:srgbClr>
          </a:solidFill>
          <a:ln w="9525">
            <a:solidFill>
              <a:srgbClr val="3A4A8C">
                <a:alpha val="70000"/>
              </a:srgbClr>
            </a:solidFill>
            <a:prstDash val="solid"/>
          </a:ln>
        </p:spPr>
      </p:sp>
      <p:sp>
        <p:nvSpPr>
          <p:cNvPr id="120" name="Shape 116"/>
          <p:cNvSpPr/>
          <p:nvPr/>
        </p:nvSpPr>
        <p:spPr>
          <a:xfrm>
            <a:off x="9000439" y="5266944"/>
            <a:ext cx="201168" cy="201168"/>
          </a:xfrm>
          <a:prstGeom prst="ellipse">
            <a:avLst/>
          </a:prstGeom>
          <a:solidFill>
            <a:srgbClr val="ED7D31">
              <a:alpha val="45000"/>
            </a:srgbClr>
          </a:solidFill>
          <a:ln w="11430">
            <a:solidFill>
              <a:srgbClr val="ED7D31"/>
            </a:solidFill>
            <a:prstDash val="solid"/>
          </a:ln>
        </p:spPr>
      </p:sp>
      <p:sp>
        <p:nvSpPr>
          <p:cNvPr id="121" name="Text 117"/>
          <p:cNvSpPr txBox="1"/>
          <p:nvPr/>
        </p:nvSpPr>
        <p:spPr>
          <a:xfrm>
            <a:off x="9000439" y="5266944"/>
            <a:ext cx="201168" cy="201168"/>
          </a:xfrm>
          <a:prstGeom prst="rect">
            <a:avLst/>
          </a:prstGeom>
          <a:noFill/>
          <a:ln/>
        </p:spPr>
        <p:txBody>
          <a:bodyPr wrap="square" lIns="0" tIns="0" rIns="0" bIns="0" rtlCol="0" anchor="ctr"/>
          <a:lstStyle/>
          <a:p>
            <a:pPr marL="0" indent="0" algn="ctr">
              <a:buNone/>
            </a:pPr>
            <a:r>
              <a:rPr lang="en-US" sz="900" b="1" dirty="0">
                <a:solidFill>
                  <a:srgbClr val="ED7D31"/>
                </a:solidFill>
                <a:latin typeface="Calibri" pitchFamily="34" charset="0"/>
                <a:ea typeface="Calibri" pitchFamily="34" charset="-122"/>
                <a:cs typeface="Calibri" pitchFamily="34" charset="-120"/>
              </a:rPr>
              <a:t>4</a:t>
            </a:r>
            <a:endParaRPr lang="en-US" sz="900" dirty="0"/>
          </a:p>
        </p:txBody>
      </p:sp>
      <p:sp>
        <p:nvSpPr>
          <p:cNvPr id="122" name="Text 118"/>
          <p:cNvSpPr txBox="1"/>
          <p:nvPr/>
        </p:nvSpPr>
        <p:spPr>
          <a:xfrm>
            <a:off x="9256471" y="5230368"/>
            <a:ext cx="2061972" cy="256032"/>
          </a:xfrm>
          <a:prstGeom prst="rect">
            <a:avLst/>
          </a:prstGeom>
          <a:noFill/>
          <a:ln/>
        </p:spPr>
        <p:txBody>
          <a:bodyPr wrap="square" lIns="0" tIns="0" rIns="0" bIns="0" rtlCol="0" anchor="ctr"/>
          <a:lstStyle/>
          <a:p>
            <a:pPr marL="0" indent="0">
              <a:lnSpc>
                <a:spcPts val="1000"/>
              </a:lnSpc>
              <a:buNone/>
            </a:pPr>
            <a:r>
              <a:rPr lang="en-US" sz="850" b="1" dirty="0">
                <a:solidFill>
                  <a:srgbClr val="FFFFFF"/>
                </a:solidFill>
                <a:latin typeface="Calibri" pitchFamily="34" charset="0"/>
                <a:ea typeface="Calibri" pitchFamily="34" charset="-122"/>
                <a:cs typeface="Calibri" pitchFamily="34" charset="-120"/>
              </a:rPr>
              <a:t>Exception queue and P90 turnaround</a:t>
            </a:r>
            <a:endParaRPr lang="en-US" sz="850" dirty="0"/>
          </a:p>
        </p:txBody>
      </p:sp>
      <p:sp>
        <p:nvSpPr>
          <p:cNvPr id="123" name="Shape 119"/>
          <p:cNvSpPr/>
          <p:nvPr/>
        </p:nvSpPr>
        <p:spPr>
          <a:xfrm>
            <a:off x="9000439" y="5541264"/>
            <a:ext cx="438912" cy="173736"/>
          </a:xfrm>
          <a:prstGeom prst="roundRect">
            <a:avLst>
              <a:gd name="adj" fmla="val 50000"/>
            </a:avLst>
          </a:prstGeom>
          <a:solidFill>
            <a:srgbClr val="70AD47"/>
          </a:solidFill>
          <a:ln w="9525">
            <a:solidFill>
              <a:srgbClr val="70AD47"/>
            </a:solidFill>
            <a:prstDash val="solid"/>
          </a:ln>
        </p:spPr>
      </p:sp>
      <p:sp>
        <p:nvSpPr>
          <p:cNvPr id="124" name="Text 120"/>
          <p:cNvSpPr txBox="1"/>
          <p:nvPr/>
        </p:nvSpPr>
        <p:spPr>
          <a:xfrm>
            <a:off x="9000439" y="5541264"/>
            <a:ext cx="438912" cy="173736"/>
          </a:xfrm>
          <a:prstGeom prst="rect">
            <a:avLst/>
          </a:prstGeom>
          <a:noFill/>
          <a:ln/>
        </p:spPr>
        <p:txBody>
          <a:bodyPr wrap="square" lIns="0" tIns="0" rIns="0" bIns="0" rtlCol="0" anchor="ctr"/>
          <a:lstStyle/>
          <a:p>
            <a:pPr marL="0" indent="0" algn="ctr">
              <a:buNone/>
            </a:pPr>
            <a:r>
              <a:rPr lang="en-US" sz="650" b="1" kern="0" spc="60" dirty="0">
                <a:solidFill>
                  <a:srgbClr val="09122C"/>
                </a:solidFill>
                <a:latin typeface="Calibri" pitchFamily="34" charset="0"/>
                <a:ea typeface="Calibri" pitchFamily="34" charset="-122"/>
                <a:cs typeface="Calibri" pitchFamily="34" charset="-120"/>
              </a:rPr>
              <a:t>GO</a:t>
            </a:r>
            <a:endParaRPr lang="en-US" sz="650" dirty="0"/>
          </a:p>
        </p:txBody>
      </p:sp>
      <p:sp>
        <p:nvSpPr>
          <p:cNvPr id="125" name="Text 121"/>
          <p:cNvSpPr txBox="1"/>
          <p:nvPr/>
        </p:nvSpPr>
        <p:spPr>
          <a:xfrm>
            <a:off x="9494215" y="5522976"/>
            <a:ext cx="1824228" cy="201168"/>
          </a:xfrm>
          <a:prstGeom prst="rect">
            <a:avLst/>
          </a:prstGeom>
          <a:noFill/>
          <a:ln/>
        </p:spPr>
        <p:txBody>
          <a:bodyPr wrap="square" lIns="0" tIns="0" rIns="0" bIns="0" rtlCol="0" anchor="ctr"/>
          <a:lstStyle/>
          <a:p>
            <a:pPr marL="0" indent="0">
              <a:buNone/>
            </a:pPr>
            <a:r>
              <a:rPr lang="en-US" sz="700" dirty="0">
                <a:solidFill>
                  <a:srgbClr val="9AD672"/>
                </a:solidFill>
                <a:latin typeface="Calibri" pitchFamily="34" charset="0"/>
                <a:ea typeface="Calibri" pitchFamily="34" charset="-122"/>
                <a:cs typeface="Calibri" pitchFamily="34" charset="-120"/>
              </a:rPr>
              <a:t>within operations capacity</a:t>
            </a:r>
            <a:endParaRPr lang="en-US" sz="700" dirty="0"/>
          </a:p>
        </p:txBody>
      </p:sp>
      <p:sp>
        <p:nvSpPr>
          <p:cNvPr id="126" name="Shape 122"/>
          <p:cNvSpPr/>
          <p:nvPr/>
        </p:nvSpPr>
        <p:spPr>
          <a:xfrm>
            <a:off x="9000439" y="5760720"/>
            <a:ext cx="438912" cy="173736"/>
          </a:xfrm>
          <a:prstGeom prst="roundRect">
            <a:avLst>
              <a:gd name="adj" fmla="val 50000"/>
            </a:avLst>
          </a:prstGeom>
          <a:solidFill>
            <a:srgbClr val="E06666"/>
          </a:solidFill>
          <a:ln w="9525">
            <a:solidFill>
              <a:srgbClr val="E06666"/>
            </a:solidFill>
            <a:prstDash val="solid"/>
          </a:ln>
        </p:spPr>
      </p:sp>
      <p:sp>
        <p:nvSpPr>
          <p:cNvPr id="127" name="Text 123"/>
          <p:cNvSpPr txBox="1"/>
          <p:nvPr/>
        </p:nvSpPr>
        <p:spPr>
          <a:xfrm>
            <a:off x="9000439" y="5760720"/>
            <a:ext cx="438912" cy="173736"/>
          </a:xfrm>
          <a:prstGeom prst="rect">
            <a:avLst/>
          </a:prstGeom>
          <a:noFill/>
          <a:ln/>
        </p:spPr>
        <p:txBody>
          <a:bodyPr wrap="square" lIns="0" tIns="0" rIns="0" bIns="0" rtlCol="0" anchor="ctr"/>
          <a:lstStyle/>
          <a:p>
            <a:pPr marL="0" indent="0" algn="ctr">
              <a:buNone/>
            </a:pPr>
            <a:r>
              <a:rPr lang="en-US" sz="650" b="1" kern="0" spc="60" dirty="0">
                <a:solidFill>
                  <a:srgbClr val="09122C"/>
                </a:solidFill>
                <a:latin typeface="Calibri" pitchFamily="34" charset="0"/>
                <a:ea typeface="Calibri" pitchFamily="34" charset="-122"/>
                <a:cs typeface="Calibri" pitchFamily="34" charset="-120"/>
              </a:rPr>
              <a:t>STOP</a:t>
            </a:r>
            <a:endParaRPr lang="en-US" sz="650" dirty="0"/>
          </a:p>
        </p:txBody>
      </p:sp>
      <p:sp>
        <p:nvSpPr>
          <p:cNvPr id="128" name="Text 124"/>
          <p:cNvSpPr txBox="1"/>
          <p:nvPr/>
        </p:nvSpPr>
        <p:spPr>
          <a:xfrm>
            <a:off x="9494215" y="5724144"/>
            <a:ext cx="1824228" cy="256032"/>
          </a:xfrm>
          <a:prstGeom prst="rect">
            <a:avLst/>
          </a:prstGeom>
          <a:noFill/>
          <a:ln/>
        </p:spPr>
        <p:txBody>
          <a:bodyPr wrap="square" lIns="0" tIns="0" rIns="0" bIns="0" rtlCol="0" anchor="ctr"/>
          <a:lstStyle/>
          <a:p>
            <a:pPr marL="0" indent="0">
              <a:lnSpc>
                <a:spcPts val="850"/>
              </a:lnSpc>
              <a:buNone/>
            </a:pPr>
            <a:r>
              <a:rPr lang="en-US" sz="700" dirty="0">
                <a:solidFill>
                  <a:srgbClr val="F09696"/>
                </a:solidFill>
                <a:latin typeface="Calibri" pitchFamily="34" charset="0"/>
                <a:ea typeface="Calibri" pitchFamily="34" charset="-122"/>
                <a:cs typeface="Calibri" pitchFamily="34" charset="-120"/>
              </a:rPr>
              <a:t>if P90 slips — rollout holds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7083" y="128016"/>
            <a:ext cx="1993392" cy="274320"/>
          </a:xfrm>
          <a:prstGeom prst="roundRect">
            <a:avLst>
              <a:gd name="adj" fmla="val 50000"/>
            </a:avLst>
          </a:prstGeom>
          <a:solidFill>
            <a:srgbClr val="1B2A63">
              <a:alpha val="84000"/>
            </a:srgbClr>
          </a:solidFill>
          <a:ln w="9525">
            <a:solidFill>
              <a:srgbClr val="9CC3E8">
                <a:alpha val="60000"/>
              </a:srgbClr>
            </a:solidFill>
            <a:prstDash val="solid"/>
          </a:ln>
        </p:spPr>
      </p:sp>
      <p:sp>
        <p:nvSpPr>
          <p:cNvPr id="3" name="Text 1"/>
          <p:cNvSpPr txBox="1"/>
          <p:nvPr/>
        </p:nvSpPr>
        <p:spPr>
          <a:xfrm>
            <a:off x="437083" y="128016"/>
            <a:ext cx="1993392" cy="274320"/>
          </a:xfrm>
          <a:prstGeom prst="rect">
            <a:avLst/>
          </a:prstGeom>
          <a:noFill/>
          <a:ln/>
        </p:spPr>
        <p:txBody>
          <a:bodyPr wrap="square" lIns="0" tIns="0" rIns="0" bIns="0" rtlCol="0" anchor="ctr"/>
          <a:lstStyle/>
          <a:p>
            <a:pPr marL="0" indent="0" algn="ctr">
              <a:buNone/>
            </a:pPr>
            <a:r>
              <a:rPr lang="en-US" sz="1000" b="1" kern="0" spc="150" dirty="0">
                <a:solidFill>
                  <a:srgbClr val="FFFFFF"/>
                </a:solidFill>
                <a:latin typeface="Calibri" pitchFamily="34" charset="0"/>
                <a:ea typeface="Calibri" pitchFamily="34" charset="-122"/>
                <a:cs typeface="Calibri" pitchFamily="34" charset="-120"/>
              </a:rPr>
              <a:t>WHY US</a:t>
            </a:r>
            <a:endParaRPr lang="en-US" sz="1000" dirty="0"/>
          </a:p>
        </p:txBody>
      </p:sp>
      <p:pic>
        <p:nvPicPr>
          <p:cNvPr id="4" name="Image 0" descr="media/image4.png"/>
          <p:cNvPicPr>
            <a:picLocks noChangeAspect="1"/>
          </p:cNvPicPr>
          <p:nvPr/>
        </p:nvPicPr>
        <p:blipFill>
          <a:blip r:embed="rId4"/>
          <a:stretch>
            <a:fillRect/>
          </a:stretch>
        </p:blipFill>
        <p:spPr>
          <a:xfrm>
            <a:off x="9062618" y="-40234"/>
            <a:ext cx="1198778" cy="1196950"/>
          </a:xfrm>
          <a:prstGeom prst="rect">
            <a:avLst/>
          </a:prstGeom>
        </p:spPr>
      </p:pic>
      <p:sp>
        <p:nvSpPr>
          <p:cNvPr id="5" name="Shape 2"/>
          <p:cNvSpPr/>
          <p:nvPr/>
        </p:nvSpPr>
        <p:spPr>
          <a:xfrm>
            <a:off x="10372954" y="172822"/>
            <a:ext cx="0" cy="701345"/>
          </a:xfrm>
          <a:prstGeom prst="line">
            <a:avLst/>
          </a:prstGeom>
          <a:noFill/>
          <a:ln w="12700">
            <a:solidFill>
              <a:srgbClr val="FFFFFF">
                <a:alpha val="55000"/>
              </a:srgbClr>
            </a:solidFill>
            <a:prstDash val="solid"/>
          </a:ln>
        </p:spPr>
      </p:sp>
      <p:pic>
        <p:nvPicPr>
          <p:cNvPr id="6" name="Image 1" descr="media/image3.png"/>
          <p:cNvPicPr>
            <a:picLocks noChangeAspect="1"/>
          </p:cNvPicPr>
          <p:nvPr/>
        </p:nvPicPr>
        <p:blipFill>
          <a:blip r:embed="rId5"/>
          <a:stretch>
            <a:fillRect/>
          </a:stretch>
        </p:blipFill>
        <p:spPr>
          <a:xfrm>
            <a:off x="10515600" y="384048"/>
            <a:ext cx="1225296" cy="329184"/>
          </a:xfrm>
          <a:prstGeom prst="rect">
            <a:avLst/>
          </a:prstGeom>
        </p:spPr>
      </p:pic>
      <p:sp>
        <p:nvSpPr>
          <p:cNvPr id="7" name="Shape 3"/>
          <p:cNvSpPr/>
          <p:nvPr/>
        </p:nvSpPr>
        <p:spPr>
          <a:xfrm>
            <a:off x="437083" y="484632"/>
            <a:ext cx="50292" cy="512064"/>
          </a:xfrm>
          <a:prstGeom prst="roundRect">
            <a:avLst>
              <a:gd name="adj" fmla="val 49091"/>
            </a:avLst>
          </a:prstGeom>
          <a:solidFill>
            <a:srgbClr val="ED7D31"/>
          </a:solidFill>
          <a:ln/>
        </p:spPr>
      </p:sp>
      <p:sp>
        <p:nvSpPr>
          <p:cNvPr id="8" name="Text 4"/>
          <p:cNvSpPr txBox="1"/>
          <p:nvPr/>
        </p:nvSpPr>
        <p:spPr>
          <a:xfrm>
            <a:off x="610819" y="457200"/>
            <a:ext cx="8275320" cy="566928"/>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We buy what any insurer can buy. We build the capture gate, the decision layer and the governance — and that is the part that cannot be procured.</a:t>
            </a:r>
            <a:endParaRPr lang="en-US" sz="1400" dirty="0"/>
          </a:p>
        </p:txBody>
      </p:sp>
      <p:sp>
        <p:nvSpPr>
          <p:cNvPr id="9" name="Shape 5"/>
          <p:cNvSpPr/>
          <p:nvPr/>
        </p:nvSpPr>
        <p:spPr>
          <a:xfrm>
            <a:off x="437083" y="1078992"/>
            <a:ext cx="11338560" cy="0"/>
          </a:xfrm>
          <a:prstGeom prst="line">
            <a:avLst/>
          </a:prstGeom>
          <a:noFill/>
          <a:ln w="12700">
            <a:solidFill>
              <a:srgbClr val="FFFFFF"/>
            </a:solidFill>
            <a:prstDash val="solid"/>
          </a:ln>
        </p:spPr>
      </p:sp>
      <p:sp>
        <p:nvSpPr>
          <p:cNvPr id="10" name="Text 6"/>
          <p:cNvSpPr txBox="1"/>
          <p:nvPr/>
        </p:nvSpPr>
        <p:spPr>
          <a:xfrm>
            <a:off x="583387" y="1078992"/>
            <a:ext cx="11045952"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Your Solution’s USP / Value Proposition: Why should we consider you?</a:t>
            </a:r>
            <a:endParaRPr lang="en-US" sz="1400" dirty="0"/>
          </a:p>
        </p:txBody>
      </p:sp>
      <p:sp>
        <p:nvSpPr>
          <p:cNvPr id="11" name="Shape 7"/>
          <p:cNvSpPr/>
          <p:nvPr/>
        </p:nvSpPr>
        <p:spPr>
          <a:xfrm>
            <a:off x="437083" y="1408176"/>
            <a:ext cx="11338560" cy="4864608"/>
          </a:xfrm>
          <a:prstGeom prst="roundRect">
            <a:avLst>
              <a:gd name="adj" fmla="val 940"/>
            </a:avLst>
          </a:prstGeom>
          <a:solidFill>
            <a:srgbClr val="C3C8DC">
              <a:alpha val="28000"/>
            </a:srgbClr>
          </a:solidFill>
          <a:ln w="9525">
            <a:solidFill>
              <a:srgbClr val="FFFFFF">
                <a:alpha val="78000"/>
              </a:srgbClr>
            </a:solidFill>
            <a:prstDash val="solid"/>
          </a:ln>
        </p:spPr>
      </p:sp>
      <p:sp>
        <p:nvSpPr>
          <p:cNvPr id="12" name="Shape 8"/>
          <p:cNvSpPr/>
          <p:nvPr/>
        </p:nvSpPr>
        <p:spPr>
          <a:xfrm>
            <a:off x="3291840" y="6345936"/>
            <a:ext cx="8485632" cy="237744"/>
          </a:xfrm>
          <a:prstGeom prst="roundRect">
            <a:avLst>
              <a:gd name="adj" fmla="val 50000"/>
            </a:avLst>
          </a:prstGeom>
          <a:solidFill>
            <a:srgbClr val="0A1550">
              <a:alpha val="84000"/>
            </a:srgbClr>
          </a:solidFill>
          <a:ln/>
        </p:spPr>
      </p:sp>
      <p:sp>
        <p:nvSpPr>
          <p:cNvPr id="13" name="Text 9"/>
          <p:cNvSpPr txBox="1"/>
          <p:nvPr/>
        </p:nvSpPr>
        <p:spPr>
          <a:xfrm>
            <a:off x="3419856" y="6327648"/>
            <a:ext cx="8229600" cy="274320"/>
          </a:xfrm>
          <a:prstGeom prst="rect">
            <a:avLst/>
          </a:prstGeom>
          <a:noFill/>
          <a:ln/>
        </p:spPr>
        <p:txBody>
          <a:bodyPr wrap="square" lIns="0" tIns="0" rIns="0" bIns="0" rtlCol="0" anchor="ctr"/>
          <a:lstStyle/>
          <a:p>
            <a:pPr marL="0" indent="0" algn="r">
              <a:buNone/>
            </a:pPr>
            <a:r>
              <a:rPr lang="en-US" sz="700" b="1" kern="0" spc="80" dirty="0">
                <a:solidFill>
                  <a:srgbClr val="9CC3E8"/>
                </a:solidFill>
                <a:latin typeface="Calibri" pitchFamily="34" charset="0"/>
                <a:ea typeface="Calibri" pitchFamily="34" charset="-122"/>
                <a:cs typeface="Calibri" pitchFamily="34" charset="-120"/>
              </a:rPr>
              <a:t>SOURCE   </a:t>
            </a:r>
            <a:r>
              <a:rPr lang="en-US" sz="700" dirty="0">
                <a:solidFill>
                  <a:srgbClr val="C6CEE4"/>
                </a:solidFill>
                <a:latin typeface="Calibri" pitchFamily="34" charset="0"/>
                <a:ea typeface="Calibri" pitchFamily="34" charset="-122"/>
                <a:cs typeface="Calibri" pitchFamily="34" charset="-120"/>
              </a:rPr>
              <a:t>ClaimPulse Investor Dashboard R6 — the complete workbook, the detailed report and the running simulator are all part of this submission.</a:t>
            </a:r>
            <a:endParaRPr lang="en-US" sz="700" dirty="0"/>
          </a:p>
        </p:txBody>
      </p:sp>
      <p:sp>
        <p:nvSpPr>
          <p:cNvPr id="14" name="Text 10"/>
          <p:cNvSpPr txBox="1"/>
          <p:nvPr/>
        </p:nvSpPr>
        <p:spPr>
          <a:xfrm>
            <a:off x="409651" y="6455664"/>
            <a:ext cx="2926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BAJAJ FINSERV LTD.</a:t>
            </a:r>
            <a:endParaRPr lang="en-US" sz="1400" dirty="0"/>
          </a:p>
        </p:txBody>
      </p:sp>
      <p:sp>
        <p:nvSpPr>
          <p:cNvPr id="15" name="Shape 11"/>
          <p:cNvSpPr/>
          <p:nvPr/>
        </p:nvSpPr>
        <p:spPr>
          <a:xfrm>
            <a:off x="638251" y="1609344"/>
            <a:ext cx="10936224" cy="1664208"/>
          </a:xfrm>
          <a:prstGeom prst="roundRect">
            <a:avLst>
              <a:gd name="adj" fmla="val 4945"/>
            </a:avLst>
          </a:prstGeom>
          <a:solidFill>
            <a:srgbClr val="111C55">
              <a:alpha val="74000"/>
            </a:srgbClr>
          </a:solidFill>
          <a:ln w="9525">
            <a:solidFill>
              <a:srgbClr val="3A4A8C">
                <a:alpha val="70000"/>
              </a:srgbClr>
            </a:solidFill>
            <a:prstDash val="solid"/>
          </a:ln>
        </p:spPr>
      </p:sp>
      <p:sp>
        <p:nvSpPr>
          <p:cNvPr id="16" name="Shape 12"/>
          <p:cNvSpPr/>
          <p:nvPr/>
        </p:nvSpPr>
        <p:spPr>
          <a:xfrm>
            <a:off x="784555" y="1728216"/>
            <a:ext cx="78181" cy="78181"/>
          </a:xfrm>
          <a:prstGeom prst="roundRect">
            <a:avLst>
              <a:gd name="adj" fmla="val 17778"/>
            </a:avLst>
          </a:prstGeom>
          <a:ln w="12700">
            <a:solidFill>
              <a:srgbClr val="9CC3E8"/>
            </a:solidFill>
            <a:prstDash val="solid"/>
          </a:ln>
        </p:spPr>
      </p:sp>
      <p:sp>
        <p:nvSpPr>
          <p:cNvPr id="17" name="Shape 13"/>
          <p:cNvSpPr/>
          <p:nvPr/>
        </p:nvSpPr>
        <p:spPr>
          <a:xfrm>
            <a:off x="880110" y="1728216"/>
            <a:ext cx="78181" cy="78181"/>
          </a:xfrm>
          <a:prstGeom prst="roundRect">
            <a:avLst>
              <a:gd name="adj" fmla="val 17778"/>
            </a:avLst>
          </a:prstGeom>
          <a:ln w="12700">
            <a:solidFill>
              <a:srgbClr val="9CC3E8"/>
            </a:solidFill>
            <a:prstDash val="solid"/>
          </a:ln>
        </p:spPr>
      </p:sp>
      <p:sp>
        <p:nvSpPr>
          <p:cNvPr id="18" name="Shape 14"/>
          <p:cNvSpPr/>
          <p:nvPr/>
        </p:nvSpPr>
        <p:spPr>
          <a:xfrm>
            <a:off x="784555" y="1823771"/>
            <a:ext cx="78181" cy="78181"/>
          </a:xfrm>
          <a:prstGeom prst="roundRect">
            <a:avLst>
              <a:gd name="adj" fmla="val 17778"/>
            </a:avLst>
          </a:prstGeom>
          <a:ln w="12700">
            <a:solidFill>
              <a:srgbClr val="9CC3E8"/>
            </a:solidFill>
            <a:prstDash val="solid"/>
          </a:ln>
        </p:spPr>
      </p:sp>
      <p:sp>
        <p:nvSpPr>
          <p:cNvPr id="19" name="Shape 15"/>
          <p:cNvSpPr/>
          <p:nvPr/>
        </p:nvSpPr>
        <p:spPr>
          <a:xfrm>
            <a:off x="880110" y="1823771"/>
            <a:ext cx="78181" cy="78181"/>
          </a:xfrm>
          <a:prstGeom prst="roundRect">
            <a:avLst>
              <a:gd name="adj" fmla="val 17778"/>
            </a:avLst>
          </a:prstGeom>
          <a:ln w="12700">
            <a:solidFill>
              <a:srgbClr val="9CC3E8"/>
            </a:solidFill>
            <a:prstDash val="solid"/>
          </a:ln>
        </p:spPr>
      </p:sp>
      <p:sp>
        <p:nvSpPr>
          <p:cNvPr id="20" name="Text 16"/>
          <p:cNvSpPr txBox="1"/>
          <p:nvPr/>
        </p:nvSpPr>
        <p:spPr>
          <a:xfrm>
            <a:off x="1031443" y="1691640"/>
            <a:ext cx="10396728" cy="237744"/>
          </a:xfrm>
          <a:prstGeom prst="rect">
            <a:avLst/>
          </a:prstGeom>
          <a:noFill/>
          <a:ln/>
        </p:spPr>
        <p:txBody>
          <a:bodyPr wrap="square" lIns="0" tIns="0" rIns="0" bIns="0" rtlCol="0" anchor="ctr"/>
          <a:lstStyle/>
          <a:p>
            <a:pPr marL="0" indent="0">
              <a:buNone/>
            </a:pPr>
            <a:r>
              <a:rPr lang="en-US" sz="1000" b="1" kern="0" spc="110" dirty="0">
                <a:solidFill>
                  <a:srgbClr val="9CC3E8"/>
                </a:solidFill>
                <a:latin typeface="Calibri" pitchFamily="34" charset="0"/>
                <a:ea typeface="Calibri" pitchFamily="34" charset="-122"/>
                <a:cs typeface="Calibri" pitchFamily="34" charset="-120"/>
              </a:rPr>
              <a:t>ENGINE BY ENGINE</a:t>
            </a:r>
            <a:r>
              <a:rPr lang="en-US" sz="1000" dirty="0">
                <a:solidFill>
                  <a:srgbClr val="9AA4C6"/>
                </a:solidFill>
                <a:latin typeface="Calibri" pitchFamily="34" charset="0"/>
                <a:ea typeface="Calibri" pitchFamily="34" charset="-122"/>
                <a:cs typeface="Calibri" pitchFamily="34" charset="-120"/>
              </a:rPr>
              <a:t>   ·   build  ·  buy  ·  integrate  ·  govern</a:t>
            </a:r>
            <a:endParaRPr lang="en-US" sz="1000" dirty="0"/>
          </a:p>
        </p:txBody>
      </p:sp>
      <p:sp>
        <p:nvSpPr>
          <p:cNvPr id="21" name="Shape 17"/>
          <p:cNvSpPr/>
          <p:nvPr/>
        </p:nvSpPr>
        <p:spPr>
          <a:xfrm>
            <a:off x="784555" y="1993392"/>
            <a:ext cx="3566160" cy="292608"/>
          </a:xfrm>
          <a:prstGeom prst="roundRect">
            <a:avLst>
              <a:gd name="adj" fmla="val 21875"/>
            </a:avLst>
          </a:prstGeom>
          <a:solidFill>
            <a:srgbClr val="70AD47">
              <a:alpha val="28000"/>
            </a:srgbClr>
          </a:solidFill>
          <a:ln w="11430">
            <a:solidFill>
              <a:srgbClr val="70AD47">
                <a:alpha val="70000"/>
              </a:srgbClr>
            </a:solidFill>
            <a:prstDash val="solid"/>
          </a:ln>
        </p:spPr>
      </p:sp>
      <p:sp>
        <p:nvSpPr>
          <p:cNvPr id="22" name="Shape 18"/>
          <p:cNvSpPr/>
          <p:nvPr/>
        </p:nvSpPr>
        <p:spPr>
          <a:xfrm>
            <a:off x="916412" y="2084100"/>
            <a:ext cx="111191" cy="111191"/>
          </a:xfrm>
          <a:prstGeom prst="roundRect">
            <a:avLst>
              <a:gd name="adj" fmla="val 15625"/>
            </a:avLst>
          </a:prstGeom>
          <a:ln w="13970">
            <a:solidFill>
              <a:srgbClr val="9AD672"/>
            </a:solidFill>
            <a:prstDash val="solid"/>
          </a:ln>
        </p:spPr>
      </p:sp>
      <p:sp>
        <p:nvSpPr>
          <p:cNvPr id="23" name="Shape 19"/>
          <p:cNvSpPr/>
          <p:nvPr/>
        </p:nvSpPr>
        <p:spPr>
          <a:xfrm>
            <a:off x="937260" y="2056303"/>
            <a:ext cx="0" cy="27798"/>
          </a:xfrm>
          <a:prstGeom prst="line">
            <a:avLst/>
          </a:prstGeom>
          <a:noFill/>
          <a:ln w="9525">
            <a:solidFill>
              <a:srgbClr val="9AD672"/>
            </a:solidFill>
            <a:prstDash val="solid"/>
          </a:ln>
        </p:spPr>
      </p:sp>
      <p:sp>
        <p:nvSpPr>
          <p:cNvPr id="24" name="Shape 20"/>
          <p:cNvSpPr/>
          <p:nvPr/>
        </p:nvSpPr>
        <p:spPr>
          <a:xfrm>
            <a:off x="937260" y="2195292"/>
            <a:ext cx="0" cy="27798"/>
          </a:xfrm>
          <a:prstGeom prst="line">
            <a:avLst/>
          </a:prstGeom>
          <a:noFill/>
          <a:ln w="9525">
            <a:solidFill>
              <a:srgbClr val="9AD672"/>
            </a:solidFill>
            <a:prstDash val="solid"/>
          </a:ln>
        </p:spPr>
      </p:sp>
      <p:sp>
        <p:nvSpPr>
          <p:cNvPr id="25" name="Shape 21"/>
          <p:cNvSpPr/>
          <p:nvPr/>
        </p:nvSpPr>
        <p:spPr>
          <a:xfrm>
            <a:off x="888614" y="2104949"/>
            <a:ext cx="27798" cy="0"/>
          </a:xfrm>
          <a:prstGeom prst="line">
            <a:avLst/>
          </a:prstGeom>
          <a:noFill/>
          <a:ln w="9525">
            <a:solidFill>
              <a:srgbClr val="9AD672"/>
            </a:solidFill>
            <a:prstDash val="solid"/>
          </a:ln>
        </p:spPr>
      </p:sp>
      <p:sp>
        <p:nvSpPr>
          <p:cNvPr id="26" name="Shape 22"/>
          <p:cNvSpPr/>
          <p:nvPr/>
        </p:nvSpPr>
        <p:spPr>
          <a:xfrm>
            <a:off x="1027603" y="2104949"/>
            <a:ext cx="27798" cy="0"/>
          </a:xfrm>
          <a:prstGeom prst="line">
            <a:avLst/>
          </a:prstGeom>
          <a:noFill/>
          <a:ln w="9525">
            <a:solidFill>
              <a:srgbClr val="9AD672"/>
            </a:solidFill>
            <a:prstDash val="solid"/>
          </a:ln>
        </p:spPr>
      </p:sp>
      <p:sp>
        <p:nvSpPr>
          <p:cNvPr id="27" name="Shape 23"/>
          <p:cNvSpPr/>
          <p:nvPr/>
        </p:nvSpPr>
        <p:spPr>
          <a:xfrm>
            <a:off x="972007" y="2056303"/>
            <a:ext cx="0" cy="27798"/>
          </a:xfrm>
          <a:prstGeom prst="line">
            <a:avLst/>
          </a:prstGeom>
          <a:noFill/>
          <a:ln w="9525">
            <a:solidFill>
              <a:srgbClr val="9AD672"/>
            </a:solidFill>
            <a:prstDash val="solid"/>
          </a:ln>
        </p:spPr>
      </p:sp>
      <p:sp>
        <p:nvSpPr>
          <p:cNvPr id="28" name="Shape 24"/>
          <p:cNvSpPr/>
          <p:nvPr/>
        </p:nvSpPr>
        <p:spPr>
          <a:xfrm>
            <a:off x="972007" y="2195292"/>
            <a:ext cx="0" cy="27798"/>
          </a:xfrm>
          <a:prstGeom prst="line">
            <a:avLst/>
          </a:prstGeom>
          <a:noFill/>
          <a:ln w="9525">
            <a:solidFill>
              <a:srgbClr val="9AD672"/>
            </a:solidFill>
            <a:prstDash val="solid"/>
          </a:ln>
        </p:spPr>
      </p:sp>
      <p:sp>
        <p:nvSpPr>
          <p:cNvPr id="29" name="Shape 25"/>
          <p:cNvSpPr/>
          <p:nvPr/>
        </p:nvSpPr>
        <p:spPr>
          <a:xfrm>
            <a:off x="888614" y="2139696"/>
            <a:ext cx="27798" cy="0"/>
          </a:xfrm>
          <a:prstGeom prst="line">
            <a:avLst/>
          </a:prstGeom>
          <a:noFill/>
          <a:ln w="9525">
            <a:solidFill>
              <a:srgbClr val="9AD672"/>
            </a:solidFill>
            <a:prstDash val="solid"/>
          </a:ln>
        </p:spPr>
      </p:sp>
      <p:sp>
        <p:nvSpPr>
          <p:cNvPr id="30" name="Shape 26"/>
          <p:cNvSpPr/>
          <p:nvPr/>
        </p:nvSpPr>
        <p:spPr>
          <a:xfrm>
            <a:off x="1027603" y="2139696"/>
            <a:ext cx="27798" cy="0"/>
          </a:xfrm>
          <a:prstGeom prst="line">
            <a:avLst/>
          </a:prstGeom>
          <a:noFill/>
          <a:ln w="9525">
            <a:solidFill>
              <a:srgbClr val="9AD672"/>
            </a:solidFill>
            <a:prstDash val="solid"/>
          </a:ln>
        </p:spPr>
      </p:sp>
      <p:sp>
        <p:nvSpPr>
          <p:cNvPr id="31" name="Shape 27"/>
          <p:cNvSpPr/>
          <p:nvPr/>
        </p:nvSpPr>
        <p:spPr>
          <a:xfrm>
            <a:off x="1006754" y="2056303"/>
            <a:ext cx="0" cy="27798"/>
          </a:xfrm>
          <a:prstGeom prst="line">
            <a:avLst/>
          </a:prstGeom>
          <a:noFill/>
          <a:ln w="9525">
            <a:solidFill>
              <a:srgbClr val="9AD672"/>
            </a:solidFill>
            <a:prstDash val="solid"/>
          </a:ln>
        </p:spPr>
      </p:sp>
      <p:sp>
        <p:nvSpPr>
          <p:cNvPr id="32" name="Shape 28"/>
          <p:cNvSpPr/>
          <p:nvPr/>
        </p:nvSpPr>
        <p:spPr>
          <a:xfrm>
            <a:off x="1006754" y="2195292"/>
            <a:ext cx="0" cy="27798"/>
          </a:xfrm>
          <a:prstGeom prst="line">
            <a:avLst/>
          </a:prstGeom>
          <a:noFill/>
          <a:ln w="9525">
            <a:solidFill>
              <a:srgbClr val="9AD672"/>
            </a:solidFill>
            <a:prstDash val="solid"/>
          </a:ln>
        </p:spPr>
      </p:sp>
      <p:sp>
        <p:nvSpPr>
          <p:cNvPr id="33" name="Shape 29"/>
          <p:cNvSpPr/>
          <p:nvPr/>
        </p:nvSpPr>
        <p:spPr>
          <a:xfrm>
            <a:off x="888614" y="2174443"/>
            <a:ext cx="27798" cy="0"/>
          </a:xfrm>
          <a:prstGeom prst="line">
            <a:avLst/>
          </a:prstGeom>
          <a:noFill/>
          <a:ln w="9525">
            <a:solidFill>
              <a:srgbClr val="9AD672"/>
            </a:solidFill>
            <a:prstDash val="solid"/>
          </a:ln>
        </p:spPr>
      </p:sp>
      <p:sp>
        <p:nvSpPr>
          <p:cNvPr id="34" name="Shape 30"/>
          <p:cNvSpPr/>
          <p:nvPr/>
        </p:nvSpPr>
        <p:spPr>
          <a:xfrm>
            <a:off x="1027603" y="2174443"/>
            <a:ext cx="27798" cy="0"/>
          </a:xfrm>
          <a:prstGeom prst="line">
            <a:avLst/>
          </a:prstGeom>
          <a:noFill/>
          <a:ln w="9525">
            <a:solidFill>
              <a:srgbClr val="9AD672"/>
            </a:solidFill>
            <a:prstDash val="solid"/>
          </a:ln>
        </p:spPr>
      </p:sp>
      <p:sp>
        <p:nvSpPr>
          <p:cNvPr id="35" name="Text 31"/>
          <p:cNvSpPr txBox="1"/>
          <p:nvPr/>
        </p:nvSpPr>
        <p:spPr>
          <a:xfrm>
            <a:off x="1113739" y="1993392"/>
            <a:ext cx="3163824" cy="292608"/>
          </a:xfrm>
          <a:prstGeom prst="rect">
            <a:avLst/>
          </a:prstGeom>
          <a:noFill/>
          <a:ln/>
        </p:spPr>
        <p:txBody>
          <a:bodyPr wrap="square" lIns="0" tIns="0" rIns="0" bIns="0" rtlCol="0" anchor="ctr"/>
          <a:lstStyle/>
          <a:p>
            <a:pPr marL="0" indent="0">
              <a:buNone/>
            </a:pPr>
            <a:r>
              <a:rPr lang="en-US" sz="1100" b="1" kern="0" spc="110" dirty="0">
                <a:solidFill>
                  <a:srgbClr val="9AD672"/>
                </a:solidFill>
                <a:latin typeface="Calibri" pitchFamily="34" charset="0"/>
                <a:ea typeface="Calibri" pitchFamily="34" charset="-122"/>
                <a:cs typeface="Calibri" pitchFamily="34" charset="-120"/>
              </a:rPr>
              <a:t>BUILD</a:t>
            </a:r>
            <a:endParaRPr lang="en-US" sz="1100" dirty="0"/>
          </a:p>
        </p:txBody>
      </p:sp>
      <p:sp>
        <p:nvSpPr>
          <p:cNvPr id="36" name="Shape 32"/>
          <p:cNvSpPr/>
          <p:nvPr/>
        </p:nvSpPr>
        <p:spPr>
          <a:xfrm>
            <a:off x="821131" y="2414016"/>
            <a:ext cx="68580" cy="68580"/>
          </a:xfrm>
          <a:prstGeom prst="ellipse">
            <a:avLst/>
          </a:prstGeom>
          <a:solidFill>
            <a:srgbClr val="70AD47"/>
          </a:solidFill>
          <a:ln/>
        </p:spPr>
      </p:sp>
      <p:sp>
        <p:nvSpPr>
          <p:cNvPr id="37" name="Text 33"/>
          <p:cNvSpPr txBox="1"/>
          <p:nvPr/>
        </p:nvSpPr>
        <p:spPr>
          <a:xfrm>
            <a:off x="958291" y="2340864"/>
            <a:ext cx="3374136"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Gate 00 capture-integrity checks</a:t>
            </a:r>
            <a:endParaRPr lang="en-US" sz="1000" dirty="0"/>
          </a:p>
        </p:txBody>
      </p:sp>
      <p:sp>
        <p:nvSpPr>
          <p:cNvPr id="38" name="Shape 34"/>
          <p:cNvSpPr/>
          <p:nvPr/>
        </p:nvSpPr>
        <p:spPr>
          <a:xfrm>
            <a:off x="821131" y="2619756"/>
            <a:ext cx="68580" cy="68580"/>
          </a:xfrm>
          <a:prstGeom prst="ellipse">
            <a:avLst/>
          </a:prstGeom>
          <a:solidFill>
            <a:srgbClr val="70AD47"/>
          </a:solidFill>
          <a:ln/>
        </p:spPr>
      </p:sp>
      <p:sp>
        <p:nvSpPr>
          <p:cNvPr id="39" name="Text 35"/>
          <p:cNvSpPr txBox="1"/>
          <p:nvPr/>
        </p:nvSpPr>
        <p:spPr>
          <a:xfrm>
            <a:off x="958291" y="2546604"/>
            <a:ext cx="3374136"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Damage CV trained on Bajaj’s archive</a:t>
            </a:r>
            <a:endParaRPr lang="en-US" sz="1000" dirty="0"/>
          </a:p>
        </p:txBody>
      </p:sp>
      <p:sp>
        <p:nvSpPr>
          <p:cNvPr id="40" name="Shape 36"/>
          <p:cNvSpPr/>
          <p:nvPr/>
        </p:nvSpPr>
        <p:spPr>
          <a:xfrm>
            <a:off x="821131" y="2825496"/>
            <a:ext cx="68580" cy="68580"/>
          </a:xfrm>
          <a:prstGeom prst="ellipse">
            <a:avLst/>
          </a:prstGeom>
          <a:solidFill>
            <a:srgbClr val="70AD47"/>
          </a:solidFill>
          <a:ln/>
        </p:spPr>
      </p:sp>
      <p:sp>
        <p:nvSpPr>
          <p:cNvPr id="41" name="Text 37"/>
          <p:cNvSpPr txBox="1"/>
          <p:nvPr/>
        </p:nvSpPr>
        <p:spPr>
          <a:xfrm>
            <a:off x="958291" y="2752344"/>
            <a:ext cx="3374136"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Fraud graph across claims, garages, people</a:t>
            </a:r>
            <a:endParaRPr lang="en-US" sz="1000" dirty="0"/>
          </a:p>
        </p:txBody>
      </p:sp>
      <p:sp>
        <p:nvSpPr>
          <p:cNvPr id="42" name="Shape 38"/>
          <p:cNvSpPr/>
          <p:nvPr/>
        </p:nvSpPr>
        <p:spPr>
          <a:xfrm>
            <a:off x="821131" y="3031236"/>
            <a:ext cx="68580" cy="68580"/>
          </a:xfrm>
          <a:prstGeom prst="ellipse">
            <a:avLst/>
          </a:prstGeom>
          <a:solidFill>
            <a:srgbClr val="70AD47"/>
          </a:solidFill>
          <a:ln/>
        </p:spPr>
      </p:sp>
      <p:sp>
        <p:nvSpPr>
          <p:cNvPr id="43" name="Text 39"/>
          <p:cNvSpPr txBox="1"/>
          <p:nvPr/>
        </p:nvSpPr>
        <p:spPr>
          <a:xfrm>
            <a:off x="958291" y="2958084"/>
            <a:ext cx="3374136"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Trust Score fusion and lane routing</a:t>
            </a:r>
            <a:endParaRPr lang="en-US" sz="1000" dirty="0"/>
          </a:p>
        </p:txBody>
      </p:sp>
      <p:sp>
        <p:nvSpPr>
          <p:cNvPr id="44" name="Shape 40"/>
          <p:cNvSpPr/>
          <p:nvPr/>
        </p:nvSpPr>
        <p:spPr>
          <a:xfrm>
            <a:off x="4497019" y="1993392"/>
            <a:ext cx="2103120" cy="292608"/>
          </a:xfrm>
          <a:prstGeom prst="roundRect">
            <a:avLst>
              <a:gd name="adj" fmla="val 21875"/>
            </a:avLst>
          </a:prstGeom>
          <a:solidFill>
            <a:srgbClr val="727EA6">
              <a:alpha val="28000"/>
            </a:srgbClr>
          </a:solidFill>
          <a:ln w="11430">
            <a:solidFill>
              <a:srgbClr val="727EA6">
                <a:alpha val="70000"/>
              </a:srgbClr>
            </a:solidFill>
            <a:prstDash val="solid"/>
          </a:ln>
        </p:spPr>
      </p:sp>
      <p:sp>
        <p:nvSpPr>
          <p:cNvPr id="45" name="Shape 41"/>
          <p:cNvSpPr/>
          <p:nvPr/>
        </p:nvSpPr>
        <p:spPr>
          <a:xfrm>
            <a:off x="4618452" y="2052828"/>
            <a:ext cx="132039" cy="173736"/>
          </a:xfrm>
          <a:prstGeom prst="flowChartDocument">
            <a:avLst/>
          </a:prstGeom>
          <a:ln w="13970">
            <a:solidFill>
              <a:srgbClr val="9AA4C6"/>
            </a:solidFill>
            <a:prstDash val="solid"/>
          </a:ln>
        </p:spPr>
      </p:sp>
      <p:sp>
        <p:nvSpPr>
          <p:cNvPr id="46" name="Shape 42"/>
          <p:cNvSpPr/>
          <p:nvPr/>
        </p:nvSpPr>
        <p:spPr>
          <a:xfrm>
            <a:off x="4646249" y="2101474"/>
            <a:ext cx="76444" cy="0"/>
          </a:xfrm>
          <a:prstGeom prst="line">
            <a:avLst/>
          </a:prstGeom>
          <a:noFill/>
          <a:ln w="9525">
            <a:solidFill>
              <a:srgbClr val="9AA4C6"/>
            </a:solidFill>
            <a:prstDash val="solid"/>
          </a:ln>
        </p:spPr>
      </p:sp>
      <p:sp>
        <p:nvSpPr>
          <p:cNvPr id="47" name="Shape 43"/>
          <p:cNvSpPr/>
          <p:nvPr/>
        </p:nvSpPr>
        <p:spPr>
          <a:xfrm>
            <a:off x="4646249" y="2132747"/>
            <a:ext cx="76444" cy="0"/>
          </a:xfrm>
          <a:prstGeom prst="line">
            <a:avLst/>
          </a:prstGeom>
          <a:noFill/>
          <a:ln w="9525">
            <a:solidFill>
              <a:srgbClr val="9AA4C6"/>
            </a:solidFill>
            <a:prstDash val="solid"/>
          </a:ln>
        </p:spPr>
      </p:sp>
      <p:sp>
        <p:nvSpPr>
          <p:cNvPr id="48" name="Shape 44"/>
          <p:cNvSpPr/>
          <p:nvPr/>
        </p:nvSpPr>
        <p:spPr>
          <a:xfrm>
            <a:off x="4646249" y="2164019"/>
            <a:ext cx="76444" cy="0"/>
          </a:xfrm>
          <a:prstGeom prst="line">
            <a:avLst/>
          </a:prstGeom>
          <a:noFill/>
          <a:ln w="9525">
            <a:solidFill>
              <a:srgbClr val="9AA4C6"/>
            </a:solidFill>
            <a:prstDash val="solid"/>
          </a:ln>
        </p:spPr>
      </p:sp>
      <p:sp>
        <p:nvSpPr>
          <p:cNvPr id="49" name="Text 45"/>
          <p:cNvSpPr txBox="1"/>
          <p:nvPr/>
        </p:nvSpPr>
        <p:spPr>
          <a:xfrm>
            <a:off x="4826203" y="1993392"/>
            <a:ext cx="1700784" cy="292608"/>
          </a:xfrm>
          <a:prstGeom prst="rect">
            <a:avLst/>
          </a:prstGeom>
          <a:noFill/>
          <a:ln/>
        </p:spPr>
        <p:txBody>
          <a:bodyPr wrap="square" lIns="0" tIns="0" rIns="0" bIns="0" rtlCol="0" anchor="ctr"/>
          <a:lstStyle/>
          <a:p>
            <a:pPr marL="0" indent="0">
              <a:buNone/>
            </a:pPr>
            <a:r>
              <a:rPr lang="en-US" sz="1100" b="1" kern="0" spc="110" dirty="0">
                <a:solidFill>
                  <a:srgbClr val="9AA4C6"/>
                </a:solidFill>
                <a:latin typeface="Calibri" pitchFamily="34" charset="0"/>
                <a:ea typeface="Calibri" pitchFamily="34" charset="-122"/>
                <a:cs typeface="Calibri" pitchFamily="34" charset="-120"/>
              </a:rPr>
              <a:t>BUY</a:t>
            </a:r>
            <a:endParaRPr lang="en-US" sz="1100" dirty="0"/>
          </a:p>
        </p:txBody>
      </p:sp>
      <p:sp>
        <p:nvSpPr>
          <p:cNvPr id="50" name="Shape 46"/>
          <p:cNvSpPr/>
          <p:nvPr/>
        </p:nvSpPr>
        <p:spPr>
          <a:xfrm>
            <a:off x="4533595" y="2414016"/>
            <a:ext cx="68580" cy="68580"/>
          </a:xfrm>
          <a:prstGeom prst="ellipse">
            <a:avLst/>
          </a:prstGeom>
          <a:solidFill>
            <a:srgbClr val="727EA6"/>
          </a:solidFill>
          <a:ln/>
        </p:spPr>
      </p:sp>
      <p:sp>
        <p:nvSpPr>
          <p:cNvPr id="51" name="Text 47"/>
          <p:cNvSpPr txBox="1"/>
          <p:nvPr/>
        </p:nvSpPr>
        <p:spPr>
          <a:xfrm>
            <a:off x="4670755" y="2340864"/>
            <a:ext cx="1911096" cy="205740"/>
          </a:xfrm>
          <a:prstGeom prst="rect">
            <a:avLst/>
          </a:prstGeom>
          <a:noFill/>
          <a:ln/>
        </p:spPr>
        <p:txBody>
          <a:bodyPr wrap="square" lIns="0" tIns="0" rIns="0" bIns="0" rtlCol="0" anchor="ctr"/>
          <a:lstStyle/>
          <a:p>
            <a:pPr marL="0" indent="0">
              <a:buNone/>
            </a:pPr>
            <a:r>
              <a:rPr lang="en-US" sz="1000" dirty="0">
                <a:solidFill>
                  <a:srgbClr val="9AA4C6"/>
                </a:solidFill>
                <a:latin typeface="Calibri" pitchFamily="34" charset="0"/>
                <a:ea typeface="Calibri" pitchFamily="34" charset="-122"/>
                <a:cs typeface="Calibri" pitchFamily="34" charset="-120"/>
              </a:rPr>
              <a:t>Document AI and OCR</a:t>
            </a:r>
            <a:endParaRPr lang="en-US" sz="1000" dirty="0"/>
          </a:p>
        </p:txBody>
      </p:sp>
      <p:sp>
        <p:nvSpPr>
          <p:cNvPr id="52" name="Shape 48"/>
          <p:cNvSpPr/>
          <p:nvPr/>
        </p:nvSpPr>
        <p:spPr>
          <a:xfrm>
            <a:off x="4533595" y="2619756"/>
            <a:ext cx="68580" cy="68580"/>
          </a:xfrm>
          <a:prstGeom prst="ellipse">
            <a:avLst/>
          </a:prstGeom>
          <a:solidFill>
            <a:srgbClr val="727EA6"/>
          </a:solidFill>
          <a:ln/>
        </p:spPr>
      </p:sp>
      <p:sp>
        <p:nvSpPr>
          <p:cNvPr id="53" name="Text 49"/>
          <p:cNvSpPr txBox="1"/>
          <p:nvPr/>
        </p:nvSpPr>
        <p:spPr>
          <a:xfrm>
            <a:off x="4670755" y="2546604"/>
            <a:ext cx="1911096" cy="205740"/>
          </a:xfrm>
          <a:prstGeom prst="rect">
            <a:avLst/>
          </a:prstGeom>
          <a:noFill/>
          <a:ln/>
        </p:spPr>
        <p:txBody>
          <a:bodyPr wrap="square" lIns="0" tIns="0" rIns="0" bIns="0" rtlCol="0" anchor="ctr"/>
          <a:lstStyle/>
          <a:p>
            <a:pPr marL="0" indent="0">
              <a:buNone/>
            </a:pPr>
            <a:r>
              <a:rPr lang="en-US" sz="1000" dirty="0">
                <a:solidFill>
                  <a:srgbClr val="9AA4C6"/>
                </a:solidFill>
                <a:latin typeface="Calibri" pitchFamily="34" charset="0"/>
                <a:ea typeface="Calibri" pitchFamily="34" charset="-122"/>
                <a:cs typeface="Calibri" pitchFamily="34" charset="-120"/>
              </a:rPr>
              <a:t>Foundation models for language</a:t>
            </a:r>
            <a:endParaRPr lang="en-US" sz="1000" dirty="0"/>
          </a:p>
        </p:txBody>
      </p:sp>
      <p:sp>
        <p:nvSpPr>
          <p:cNvPr id="54" name="Shape 50"/>
          <p:cNvSpPr/>
          <p:nvPr/>
        </p:nvSpPr>
        <p:spPr>
          <a:xfrm>
            <a:off x="6746443" y="1993392"/>
            <a:ext cx="2377440" cy="292608"/>
          </a:xfrm>
          <a:prstGeom prst="roundRect">
            <a:avLst>
              <a:gd name="adj" fmla="val 21875"/>
            </a:avLst>
          </a:prstGeom>
          <a:solidFill>
            <a:srgbClr val="5B9BD5">
              <a:alpha val="28000"/>
            </a:srgbClr>
          </a:solidFill>
          <a:ln w="11430">
            <a:solidFill>
              <a:srgbClr val="5B9BD5">
                <a:alpha val="70000"/>
              </a:srgbClr>
            </a:solidFill>
            <a:prstDash val="solid"/>
          </a:ln>
        </p:spPr>
      </p:sp>
      <p:sp>
        <p:nvSpPr>
          <p:cNvPr id="55" name="Shape 51"/>
          <p:cNvSpPr/>
          <p:nvPr/>
        </p:nvSpPr>
        <p:spPr>
          <a:xfrm>
            <a:off x="6847027" y="2115373"/>
            <a:ext cx="45171" cy="45171"/>
          </a:xfrm>
          <a:prstGeom prst="ellipse">
            <a:avLst/>
          </a:prstGeom>
          <a:solidFill>
            <a:srgbClr val="9CC3E8"/>
          </a:solidFill>
          <a:ln/>
        </p:spPr>
      </p:sp>
      <p:sp>
        <p:nvSpPr>
          <p:cNvPr id="56" name="Shape 52"/>
          <p:cNvSpPr/>
          <p:nvPr/>
        </p:nvSpPr>
        <p:spPr>
          <a:xfrm flipV="1">
            <a:off x="6892199" y="2082363"/>
            <a:ext cx="52121" cy="55596"/>
          </a:xfrm>
          <a:prstGeom prst="line">
            <a:avLst/>
          </a:prstGeom>
          <a:noFill/>
          <a:ln w="12700">
            <a:solidFill>
              <a:srgbClr val="9CC3E8"/>
            </a:solidFill>
            <a:prstDash val="solid"/>
          </a:ln>
        </p:spPr>
      </p:sp>
      <p:sp>
        <p:nvSpPr>
          <p:cNvPr id="57" name="Shape 53"/>
          <p:cNvSpPr/>
          <p:nvPr/>
        </p:nvSpPr>
        <p:spPr>
          <a:xfrm>
            <a:off x="6892199" y="2137959"/>
            <a:ext cx="52121" cy="55596"/>
          </a:xfrm>
          <a:prstGeom prst="line">
            <a:avLst/>
          </a:prstGeom>
          <a:noFill/>
          <a:ln w="12700">
            <a:solidFill>
              <a:srgbClr val="9CC3E8"/>
            </a:solidFill>
            <a:prstDash val="solid"/>
          </a:ln>
        </p:spPr>
      </p:sp>
      <p:sp>
        <p:nvSpPr>
          <p:cNvPr id="58" name="Shape 54"/>
          <p:cNvSpPr/>
          <p:nvPr/>
        </p:nvSpPr>
        <p:spPr>
          <a:xfrm>
            <a:off x="6951269" y="2059777"/>
            <a:ext cx="38222" cy="38222"/>
          </a:xfrm>
          <a:prstGeom prst="ellipse">
            <a:avLst/>
          </a:prstGeom>
          <a:ln w="12700">
            <a:solidFill>
              <a:srgbClr val="9CC3E8"/>
            </a:solidFill>
            <a:prstDash val="solid"/>
          </a:ln>
        </p:spPr>
      </p:sp>
      <p:sp>
        <p:nvSpPr>
          <p:cNvPr id="59" name="Shape 55"/>
          <p:cNvSpPr/>
          <p:nvPr/>
        </p:nvSpPr>
        <p:spPr>
          <a:xfrm>
            <a:off x="6951269" y="2170968"/>
            <a:ext cx="38222" cy="38222"/>
          </a:xfrm>
          <a:prstGeom prst="ellipse">
            <a:avLst/>
          </a:prstGeom>
          <a:ln w="12700">
            <a:solidFill>
              <a:srgbClr val="9CC3E8"/>
            </a:solidFill>
            <a:prstDash val="solid"/>
          </a:ln>
        </p:spPr>
      </p:sp>
      <p:sp>
        <p:nvSpPr>
          <p:cNvPr id="60" name="Text 56"/>
          <p:cNvSpPr txBox="1"/>
          <p:nvPr/>
        </p:nvSpPr>
        <p:spPr>
          <a:xfrm>
            <a:off x="7075627" y="1993392"/>
            <a:ext cx="1975104" cy="292608"/>
          </a:xfrm>
          <a:prstGeom prst="rect">
            <a:avLst/>
          </a:prstGeom>
          <a:noFill/>
          <a:ln/>
        </p:spPr>
        <p:txBody>
          <a:bodyPr wrap="square" lIns="0" tIns="0" rIns="0" bIns="0" rtlCol="0" anchor="ctr"/>
          <a:lstStyle/>
          <a:p>
            <a:pPr marL="0" indent="0">
              <a:buNone/>
            </a:pPr>
            <a:r>
              <a:rPr lang="en-US" sz="1100" b="1" kern="0" spc="110" dirty="0">
                <a:solidFill>
                  <a:srgbClr val="9CC3E8"/>
                </a:solidFill>
                <a:latin typeface="Calibri" pitchFamily="34" charset="0"/>
                <a:ea typeface="Calibri" pitchFamily="34" charset="-122"/>
                <a:cs typeface="Calibri" pitchFamily="34" charset="-120"/>
              </a:rPr>
              <a:t>INTEGRATE</a:t>
            </a:r>
            <a:endParaRPr lang="en-US" sz="1100" dirty="0"/>
          </a:p>
        </p:txBody>
      </p:sp>
      <p:sp>
        <p:nvSpPr>
          <p:cNvPr id="61" name="Shape 57"/>
          <p:cNvSpPr/>
          <p:nvPr/>
        </p:nvSpPr>
        <p:spPr>
          <a:xfrm>
            <a:off x="6783019" y="2414016"/>
            <a:ext cx="68580" cy="68580"/>
          </a:xfrm>
          <a:prstGeom prst="ellipse">
            <a:avLst/>
          </a:prstGeom>
          <a:solidFill>
            <a:srgbClr val="5B9BD5"/>
          </a:solidFill>
          <a:ln/>
        </p:spPr>
      </p:sp>
      <p:sp>
        <p:nvSpPr>
          <p:cNvPr id="62" name="Text 58"/>
          <p:cNvSpPr txBox="1"/>
          <p:nvPr/>
        </p:nvSpPr>
        <p:spPr>
          <a:xfrm>
            <a:off x="6920179" y="2340864"/>
            <a:ext cx="2185416"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Parts, labour and garage network</a:t>
            </a:r>
            <a:endParaRPr lang="en-US" sz="1000" dirty="0"/>
          </a:p>
        </p:txBody>
      </p:sp>
      <p:sp>
        <p:nvSpPr>
          <p:cNvPr id="63" name="Shape 59"/>
          <p:cNvSpPr/>
          <p:nvPr/>
        </p:nvSpPr>
        <p:spPr>
          <a:xfrm>
            <a:off x="6783019" y="2619756"/>
            <a:ext cx="68580" cy="68580"/>
          </a:xfrm>
          <a:prstGeom prst="ellipse">
            <a:avLst/>
          </a:prstGeom>
          <a:solidFill>
            <a:srgbClr val="5B9BD5"/>
          </a:solidFill>
          <a:ln/>
        </p:spPr>
      </p:sp>
      <p:sp>
        <p:nvSpPr>
          <p:cNvPr id="64" name="Text 60"/>
          <p:cNvSpPr txBox="1"/>
          <p:nvPr/>
        </p:nvSpPr>
        <p:spPr>
          <a:xfrm>
            <a:off x="6920179" y="2546604"/>
            <a:ext cx="2185416"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Policy administration and payments</a:t>
            </a:r>
            <a:endParaRPr lang="en-US" sz="1000" dirty="0"/>
          </a:p>
        </p:txBody>
      </p:sp>
      <p:sp>
        <p:nvSpPr>
          <p:cNvPr id="65" name="Shape 61"/>
          <p:cNvSpPr/>
          <p:nvPr/>
        </p:nvSpPr>
        <p:spPr>
          <a:xfrm>
            <a:off x="6783019" y="2825496"/>
            <a:ext cx="68580" cy="68580"/>
          </a:xfrm>
          <a:prstGeom prst="ellipse">
            <a:avLst/>
          </a:prstGeom>
          <a:solidFill>
            <a:srgbClr val="5B9BD5"/>
          </a:solidFill>
          <a:ln/>
        </p:spPr>
      </p:sp>
      <p:sp>
        <p:nvSpPr>
          <p:cNvPr id="66" name="Text 62"/>
          <p:cNvSpPr txBox="1"/>
          <p:nvPr/>
        </p:nvSpPr>
        <p:spPr>
          <a:xfrm>
            <a:off x="6920179" y="2752344"/>
            <a:ext cx="2185416"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IRDAI reporting and SIU workflow</a:t>
            </a:r>
            <a:endParaRPr lang="en-US" sz="1000" dirty="0"/>
          </a:p>
        </p:txBody>
      </p:sp>
      <p:sp>
        <p:nvSpPr>
          <p:cNvPr id="67" name="Shape 63"/>
          <p:cNvSpPr/>
          <p:nvPr/>
        </p:nvSpPr>
        <p:spPr>
          <a:xfrm>
            <a:off x="9270187" y="1993392"/>
            <a:ext cx="2157984" cy="292608"/>
          </a:xfrm>
          <a:prstGeom prst="roundRect">
            <a:avLst>
              <a:gd name="adj" fmla="val 21875"/>
            </a:avLst>
          </a:prstGeom>
          <a:solidFill>
            <a:srgbClr val="9085E9">
              <a:alpha val="28000"/>
            </a:srgbClr>
          </a:solidFill>
          <a:ln w="11430">
            <a:solidFill>
              <a:srgbClr val="9085E9">
                <a:alpha val="70000"/>
              </a:srgbClr>
            </a:solidFill>
            <a:prstDash val="solid"/>
          </a:ln>
        </p:spPr>
      </p:sp>
      <p:sp>
        <p:nvSpPr>
          <p:cNvPr id="68" name="Shape 64"/>
          <p:cNvSpPr/>
          <p:nvPr/>
        </p:nvSpPr>
        <p:spPr>
          <a:xfrm rot="5400000">
            <a:off x="9370771" y="2052828"/>
            <a:ext cx="173736" cy="173736"/>
          </a:xfrm>
          <a:prstGeom prst="homePlate">
            <a:avLst/>
          </a:prstGeom>
          <a:ln w="13970">
            <a:solidFill>
              <a:srgbClr val="BDB6F5"/>
            </a:solidFill>
            <a:prstDash val="solid"/>
          </a:ln>
        </p:spPr>
      </p:sp>
      <p:sp>
        <p:nvSpPr>
          <p:cNvPr id="69" name="Text 65"/>
          <p:cNvSpPr txBox="1"/>
          <p:nvPr/>
        </p:nvSpPr>
        <p:spPr>
          <a:xfrm>
            <a:off x="9599371" y="1993392"/>
            <a:ext cx="1755648" cy="292608"/>
          </a:xfrm>
          <a:prstGeom prst="rect">
            <a:avLst/>
          </a:prstGeom>
          <a:noFill/>
          <a:ln/>
        </p:spPr>
        <p:txBody>
          <a:bodyPr wrap="square" lIns="0" tIns="0" rIns="0" bIns="0" rtlCol="0" anchor="ctr"/>
          <a:lstStyle/>
          <a:p>
            <a:pPr marL="0" indent="0">
              <a:buNone/>
            </a:pPr>
            <a:r>
              <a:rPr lang="en-US" sz="1100" b="1" kern="0" spc="110" dirty="0">
                <a:solidFill>
                  <a:srgbClr val="BDB6F5"/>
                </a:solidFill>
                <a:latin typeface="Calibri" pitchFamily="34" charset="0"/>
                <a:ea typeface="Calibri" pitchFamily="34" charset="-122"/>
                <a:cs typeface="Calibri" pitchFamily="34" charset="-120"/>
              </a:rPr>
              <a:t>GOVERN</a:t>
            </a:r>
            <a:endParaRPr lang="en-US" sz="1100" dirty="0"/>
          </a:p>
        </p:txBody>
      </p:sp>
      <p:sp>
        <p:nvSpPr>
          <p:cNvPr id="70" name="Shape 66"/>
          <p:cNvSpPr/>
          <p:nvPr/>
        </p:nvSpPr>
        <p:spPr>
          <a:xfrm>
            <a:off x="9306763" y="2414016"/>
            <a:ext cx="68580" cy="68580"/>
          </a:xfrm>
          <a:prstGeom prst="ellipse">
            <a:avLst/>
          </a:prstGeom>
          <a:solidFill>
            <a:srgbClr val="9085E9"/>
          </a:solidFill>
          <a:ln/>
        </p:spPr>
      </p:sp>
      <p:sp>
        <p:nvSpPr>
          <p:cNvPr id="71" name="Text 67"/>
          <p:cNvSpPr txBox="1"/>
          <p:nvPr/>
        </p:nvSpPr>
        <p:spPr>
          <a:xfrm>
            <a:off x="9443923" y="2340864"/>
            <a:ext cx="1965960"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Model-risk policy and version control</a:t>
            </a:r>
            <a:endParaRPr lang="en-US" sz="1000" dirty="0"/>
          </a:p>
        </p:txBody>
      </p:sp>
      <p:sp>
        <p:nvSpPr>
          <p:cNvPr id="72" name="Shape 68"/>
          <p:cNvSpPr/>
          <p:nvPr/>
        </p:nvSpPr>
        <p:spPr>
          <a:xfrm>
            <a:off x="9306763" y="2619756"/>
            <a:ext cx="68580" cy="68580"/>
          </a:xfrm>
          <a:prstGeom prst="ellipse">
            <a:avLst/>
          </a:prstGeom>
          <a:solidFill>
            <a:srgbClr val="9085E9"/>
          </a:solidFill>
          <a:ln/>
        </p:spPr>
      </p:sp>
      <p:sp>
        <p:nvSpPr>
          <p:cNvPr id="73" name="Text 69"/>
          <p:cNvSpPr txBox="1"/>
          <p:nvPr/>
        </p:nvSpPr>
        <p:spPr>
          <a:xfrm>
            <a:off x="9443923" y="2546604"/>
            <a:ext cx="1965960"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DPDP consent and data residency</a:t>
            </a:r>
            <a:endParaRPr lang="en-US" sz="1000" dirty="0"/>
          </a:p>
        </p:txBody>
      </p:sp>
      <p:sp>
        <p:nvSpPr>
          <p:cNvPr id="74" name="Shape 70"/>
          <p:cNvSpPr/>
          <p:nvPr/>
        </p:nvSpPr>
        <p:spPr>
          <a:xfrm>
            <a:off x="9306763" y="2825496"/>
            <a:ext cx="68580" cy="68580"/>
          </a:xfrm>
          <a:prstGeom prst="ellipse">
            <a:avLst/>
          </a:prstGeom>
          <a:solidFill>
            <a:srgbClr val="9085E9"/>
          </a:solidFill>
          <a:ln/>
        </p:spPr>
      </p:sp>
      <p:sp>
        <p:nvSpPr>
          <p:cNvPr id="75" name="Text 71"/>
          <p:cNvSpPr txBox="1"/>
          <p:nvPr/>
        </p:nvSpPr>
        <p:spPr>
          <a:xfrm>
            <a:off x="9443923" y="2752344"/>
            <a:ext cx="1965960" cy="205740"/>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IRDAI-ready decision audit</a:t>
            </a:r>
            <a:endParaRPr lang="en-US" sz="1000" dirty="0"/>
          </a:p>
        </p:txBody>
      </p:sp>
      <p:sp>
        <p:nvSpPr>
          <p:cNvPr id="76" name="Shape 72"/>
          <p:cNvSpPr/>
          <p:nvPr/>
        </p:nvSpPr>
        <p:spPr>
          <a:xfrm>
            <a:off x="638251" y="3401568"/>
            <a:ext cx="6675120" cy="1975104"/>
          </a:xfrm>
          <a:prstGeom prst="roundRect">
            <a:avLst>
              <a:gd name="adj" fmla="val 4167"/>
            </a:avLst>
          </a:prstGeom>
          <a:solidFill>
            <a:srgbClr val="111C55">
              <a:alpha val="74000"/>
            </a:srgbClr>
          </a:solidFill>
          <a:ln w="12700">
            <a:solidFill>
              <a:srgbClr val="ED7D31">
                <a:alpha val="78000"/>
              </a:srgbClr>
            </a:solidFill>
            <a:prstDash val="solid"/>
          </a:ln>
        </p:spPr>
      </p:sp>
      <p:sp>
        <p:nvSpPr>
          <p:cNvPr id="77" name="Shape 73"/>
          <p:cNvSpPr/>
          <p:nvPr/>
        </p:nvSpPr>
        <p:spPr>
          <a:xfrm>
            <a:off x="812353" y="3520440"/>
            <a:ext cx="118140" cy="173736"/>
          </a:xfrm>
          <a:prstGeom prst="lightningBolt">
            <a:avLst/>
          </a:prstGeom>
          <a:ln w="13970">
            <a:solidFill>
              <a:srgbClr val="F7B183"/>
            </a:solidFill>
            <a:prstDash val="solid"/>
          </a:ln>
        </p:spPr>
      </p:sp>
      <p:sp>
        <p:nvSpPr>
          <p:cNvPr id="78" name="Text 74"/>
          <p:cNvSpPr txBox="1"/>
          <p:nvPr/>
        </p:nvSpPr>
        <p:spPr>
          <a:xfrm>
            <a:off x="1031443" y="3483864"/>
            <a:ext cx="6135624" cy="237744"/>
          </a:xfrm>
          <a:prstGeom prst="rect">
            <a:avLst/>
          </a:prstGeom>
          <a:noFill/>
          <a:ln/>
        </p:spPr>
        <p:txBody>
          <a:bodyPr wrap="square" lIns="0" tIns="0" rIns="0" bIns="0" rtlCol="0" anchor="ctr"/>
          <a:lstStyle/>
          <a:p>
            <a:pPr marL="0" indent="0">
              <a:buNone/>
            </a:pPr>
            <a:r>
              <a:rPr lang="en-US" sz="1000" b="1" kern="0" spc="110" dirty="0">
                <a:solidFill>
                  <a:srgbClr val="F7B183"/>
                </a:solidFill>
                <a:latin typeface="Calibri" pitchFamily="34" charset="0"/>
                <a:ea typeface="Calibri" pitchFamily="34" charset="-122"/>
                <a:cs typeface="Calibri" pitchFamily="34" charset="-120"/>
              </a:rPr>
              <a:t>SCAN  ·  RUN IT YOURSELF  ·  DOWNLOAD OUR WORKINGS</a:t>
            </a:r>
            <a:endParaRPr lang="en-US" sz="1000" dirty="0"/>
          </a:p>
        </p:txBody>
      </p:sp>
      <p:sp>
        <p:nvSpPr>
          <p:cNvPr id="79" name="Shape 75"/>
          <p:cNvSpPr/>
          <p:nvPr/>
        </p:nvSpPr>
        <p:spPr>
          <a:xfrm>
            <a:off x="729691" y="3749040"/>
            <a:ext cx="1389888" cy="1389888"/>
          </a:xfrm>
          <a:prstGeom prst="roundRect">
            <a:avLst>
              <a:gd name="adj" fmla="val 5263"/>
            </a:avLst>
          </a:prstGeom>
          <a:solidFill>
            <a:srgbClr val="FFFFFF"/>
          </a:solidFill>
          <a:ln/>
        </p:spPr>
      </p:sp>
      <p:pic>
        <p:nvPicPr>
          <p:cNvPr id="80" name="Image 2" descr="media/image7.png"/>
          <p:cNvPicPr>
            <a:picLocks noChangeAspect="1"/>
          </p:cNvPicPr>
          <p:nvPr/>
        </p:nvPicPr>
        <p:blipFill>
          <a:blip r:embed="rId6"/>
          <a:stretch>
            <a:fillRect/>
          </a:stretch>
        </p:blipFill>
        <p:spPr>
          <a:xfrm>
            <a:off x="784555" y="3803904"/>
            <a:ext cx="1280160" cy="1280160"/>
          </a:xfrm>
          <a:prstGeom prst="rect">
            <a:avLst/>
          </a:prstGeom>
        </p:spPr>
      </p:pic>
      <p:sp>
        <p:nvSpPr>
          <p:cNvPr id="81" name="Text 76"/>
          <p:cNvSpPr txBox="1"/>
          <p:nvPr/>
        </p:nvSpPr>
        <p:spPr>
          <a:xfrm>
            <a:off x="2302459" y="3749040"/>
            <a:ext cx="4864608"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ClaimPulse Executive Decision Simulator</a:t>
            </a:r>
            <a:endParaRPr lang="en-US" sz="1200" dirty="0"/>
          </a:p>
        </p:txBody>
      </p:sp>
      <p:sp>
        <p:nvSpPr>
          <p:cNvPr id="82" name="Text 77"/>
          <p:cNvSpPr txBox="1"/>
          <p:nvPr/>
        </p:nvSpPr>
        <p:spPr>
          <a:xfrm>
            <a:off x="2302459" y="4014216"/>
            <a:ext cx="4864608" cy="219456"/>
          </a:xfrm>
          <a:prstGeom prst="rect">
            <a:avLst/>
          </a:prstGeom>
          <a:noFill/>
          <a:ln/>
        </p:spPr>
        <p:txBody>
          <a:bodyPr wrap="square" lIns="0" tIns="0" rIns="0" bIns="0" rtlCol="0" anchor="ctr"/>
          <a:lstStyle/>
          <a:p>
            <a:pPr marL="0" indent="0">
              <a:buNone/>
            </a:pPr>
            <a:r>
              <a:rPr lang="en-US" sz="1000" dirty="0">
                <a:solidFill>
                  <a:srgbClr val="F7B183"/>
                </a:solidFill>
                <a:latin typeface="Calibri" pitchFamily="34" charset="0"/>
                <a:ea typeface="Calibri" pitchFamily="34" charset="-122"/>
                <a:cs typeface="Calibri" pitchFamily="34" charset="-120"/>
              </a:rPr>
              <a:t>claimpulse-simulation.vercel.app</a:t>
            </a:r>
            <a:endParaRPr lang="en-US" sz="1000" dirty="0"/>
          </a:p>
        </p:txBody>
      </p:sp>
      <p:sp>
        <p:nvSpPr>
          <p:cNvPr id="83" name="Shape 78"/>
          <p:cNvSpPr/>
          <p:nvPr/>
        </p:nvSpPr>
        <p:spPr>
          <a:xfrm>
            <a:off x="2312883" y="4429171"/>
            <a:ext cx="38222" cy="83393"/>
          </a:xfrm>
          <a:prstGeom prst="rect">
            <a:avLst/>
          </a:prstGeom>
          <a:solidFill>
            <a:srgbClr val="9CC3E8"/>
          </a:solidFill>
          <a:ln/>
        </p:spPr>
      </p:sp>
      <p:sp>
        <p:nvSpPr>
          <p:cNvPr id="84" name="Shape 79"/>
          <p:cNvSpPr/>
          <p:nvPr/>
        </p:nvSpPr>
        <p:spPr>
          <a:xfrm>
            <a:off x="2368479" y="4387474"/>
            <a:ext cx="38222" cy="125090"/>
          </a:xfrm>
          <a:prstGeom prst="rect">
            <a:avLst/>
          </a:prstGeom>
          <a:solidFill>
            <a:srgbClr val="9CC3E8"/>
          </a:solidFill>
          <a:ln/>
        </p:spPr>
      </p:sp>
      <p:sp>
        <p:nvSpPr>
          <p:cNvPr id="85" name="Shape 80"/>
          <p:cNvSpPr/>
          <p:nvPr/>
        </p:nvSpPr>
        <p:spPr>
          <a:xfrm>
            <a:off x="2424074" y="4349252"/>
            <a:ext cx="38222" cy="163312"/>
          </a:xfrm>
          <a:prstGeom prst="rect">
            <a:avLst/>
          </a:prstGeom>
          <a:solidFill>
            <a:srgbClr val="9CC3E8"/>
          </a:solidFill>
          <a:ln/>
        </p:spPr>
      </p:sp>
      <p:sp>
        <p:nvSpPr>
          <p:cNvPr id="86" name="Text 81"/>
          <p:cNvSpPr txBox="1"/>
          <p:nvPr/>
        </p:nvSpPr>
        <p:spPr>
          <a:xfrm>
            <a:off x="2567635" y="4297680"/>
            <a:ext cx="4599432" cy="246888"/>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Stream live claims through Gate 00 and watch the Trust Score route each one</a:t>
            </a:r>
            <a:endParaRPr lang="en-US" sz="1000" dirty="0"/>
          </a:p>
        </p:txBody>
      </p:sp>
      <p:sp>
        <p:nvSpPr>
          <p:cNvPr id="87" name="Shape 82"/>
          <p:cNvSpPr/>
          <p:nvPr/>
        </p:nvSpPr>
        <p:spPr>
          <a:xfrm>
            <a:off x="2302459" y="4648261"/>
            <a:ext cx="45171" cy="45171"/>
          </a:xfrm>
          <a:prstGeom prst="ellipse">
            <a:avLst/>
          </a:prstGeom>
          <a:solidFill>
            <a:srgbClr val="9CC3E8"/>
          </a:solidFill>
          <a:ln/>
        </p:spPr>
      </p:sp>
      <p:sp>
        <p:nvSpPr>
          <p:cNvPr id="88" name="Shape 83"/>
          <p:cNvSpPr/>
          <p:nvPr/>
        </p:nvSpPr>
        <p:spPr>
          <a:xfrm flipV="1">
            <a:off x="2347631" y="4615251"/>
            <a:ext cx="52121" cy="55596"/>
          </a:xfrm>
          <a:prstGeom prst="line">
            <a:avLst/>
          </a:prstGeom>
          <a:noFill/>
          <a:ln w="12700">
            <a:solidFill>
              <a:srgbClr val="9CC3E8"/>
            </a:solidFill>
            <a:prstDash val="solid"/>
          </a:ln>
        </p:spPr>
      </p:sp>
      <p:sp>
        <p:nvSpPr>
          <p:cNvPr id="89" name="Shape 84"/>
          <p:cNvSpPr/>
          <p:nvPr/>
        </p:nvSpPr>
        <p:spPr>
          <a:xfrm>
            <a:off x="2347631" y="4670847"/>
            <a:ext cx="52121" cy="55596"/>
          </a:xfrm>
          <a:prstGeom prst="line">
            <a:avLst/>
          </a:prstGeom>
          <a:noFill/>
          <a:ln w="12700">
            <a:solidFill>
              <a:srgbClr val="9CC3E8"/>
            </a:solidFill>
            <a:prstDash val="solid"/>
          </a:ln>
        </p:spPr>
      </p:sp>
      <p:sp>
        <p:nvSpPr>
          <p:cNvPr id="90" name="Shape 85"/>
          <p:cNvSpPr/>
          <p:nvPr/>
        </p:nvSpPr>
        <p:spPr>
          <a:xfrm>
            <a:off x="2406701" y="4592665"/>
            <a:ext cx="38222" cy="38222"/>
          </a:xfrm>
          <a:prstGeom prst="ellipse">
            <a:avLst/>
          </a:prstGeom>
          <a:ln w="12700">
            <a:solidFill>
              <a:srgbClr val="9CC3E8"/>
            </a:solidFill>
            <a:prstDash val="solid"/>
          </a:ln>
        </p:spPr>
      </p:sp>
      <p:sp>
        <p:nvSpPr>
          <p:cNvPr id="91" name="Shape 86"/>
          <p:cNvSpPr/>
          <p:nvPr/>
        </p:nvSpPr>
        <p:spPr>
          <a:xfrm>
            <a:off x="2406701" y="4703856"/>
            <a:ext cx="38222" cy="38222"/>
          </a:xfrm>
          <a:prstGeom prst="ellipse">
            <a:avLst/>
          </a:prstGeom>
          <a:ln w="12700">
            <a:solidFill>
              <a:srgbClr val="9CC3E8"/>
            </a:solidFill>
            <a:prstDash val="solid"/>
          </a:ln>
        </p:spPr>
      </p:sp>
      <p:sp>
        <p:nvSpPr>
          <p:cNvPr id="92" name="Text 87"/>
          <p:cNvSpPr txBox="1"/>
          <p:nvPr/>
        </p:nvSpPr>
        <p:spPr>
          <a:xfrm>
            <a:off x="2567635" y="4544568"/>
            <a:ext cx="4599432" cy="246888"/>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Switch the rollout plan, fire a shock, inspect any module’s logic</a:t>
            </a:r>
            <a:endParaRPr lang="en-US" sz="1000" dirty="0"/>
          </a:p>
        </p:txBody>
      </p:sp>
      <p:sp>
        <p:nvSpPr>
          <p:cNvPr id="93" name="Shape 88"/>
          <p:cNvSpPr/>
          <p:nvPr/>
        </p:nvSpPr>
        <p:spPr>
          <a:xfrm>
            <a:off x="2323308" y="4832604"/>
            <a:ext cx="132039" cy="173736"/>
          </a:xfrm>
          <a:prstGeom prst="flowChartDocument">
            <a:avLst/>
          </a:prstGeom>
          <a:ln w="13970">
            <a:solidFill>
              <a:srgbClr val="9CC3E8"/>
            </a:solidFill>
            <a:prstDash val="solid"/>
          </a:ln>
        </p:spPr>
      </p:sp>
      <p:sp>
        <p:nvSpPr>
          <p:cNvPr id="94" name="Shape 89"/>
          <p:cNvSpPr/>
          <p:nvPr/>
        </p:nvSpPr>
        <p:spPr>
          <a:xfrm>
            <a:off x="2351105" y="4881250"/>
            <a:ext cx="76444" cy="0"/>
          </a:xfrm>
          <a:prstGeom prst="line">
            <a:avLst/>
          </a:prstGeom>
          <a:noFill/>
          <a:ln w="9525">
            <a:solidFill>
              <a:srgbClr val="9CC3E8"/>
            </a:solidFill>
            <a:prstDash val="solid"/>
          </a:ln>
        </p:spPr>
      </p:sp>
      <p:sp>
        <p:nvSpPr>
          <p:cNvPr id="95" name="Shape 90"/>
          <p:cNvSpPr/>
          <p:nvPr/>
        </p:nvSpPr>
        <p:spPr>
          <a:xfrm>
            <a:off x="2351105" y="4912523"/>
            <a:ext cx="76444" cy="0"/>
          </a:xfrm>
          <a:prstGeom prst="line">
            <a:avLst/>
          </a:prstGeom>
          <a:noFill/>
          <a:ln w="9525">
            <a:solidFill>
              <a:srgbClr val="9CC3E8"/>
            </a:solidFill>
            <a:prstDash val="solid"/>
          </a:ln>
        </p:spPr>
      </p:sp>
      <p:sp>
        <p:nvSpPr>
          <p:cNvPr id="96" name="Shape 91"/>
          <p:cNvSpPr/>
          <p:nvPr/>
        </p:nvSpPr>
        <p:spPr>
          <a:xfrm>
            <a:off x="2351105" y="4943795"/>
            <a:ext cx="76444" cy="0"/>
          </a:xfrm>
          <a:prstGeom prst="line">
            <a:avLst/>
          </a:prstGeom>
          <a:noFill/>
          <a:ln w="9525">
            <a:solidFill>
              <a:srgbClr val="9CC3E8"/>
            </a:solidFill>
            <a:prstDash val="solid"/>
          </a:ln>
        </p:spPr>
      </p:sp>
      <p:sp>
        <p:nvSpPr>
          <p:cNvPr id="97" name="Text 92"/>
          <p:cNvSpPr txBox="1"/>
          <p:nvPr/>
        </p:nvSpPr>
        <p:spPr>
          <a:xfrm>
            <a:off x="2567635" y="4791456"/>
            <a:ext cx="4599432" cy="246888"/>
          </a:xfrm>
          <a:prstGeom prst="rect">
            <a:avLst/>
          </a:prstGeom>
          <a:noFill/>
          <a:ln/>
        </p:spPr>
        <p:txBody>
          <a:bodyPr wrap="square" lIns="0" tIns="0" rIns="0" bIns="0" rtlCol="0" anchor="ctr"/>
          <a:lstStyle/>
          <a:p>
            <a:pPr marL="0" indent="0">
              <a:buNone/>
            </a:pPr>
            <a:r>
              <a:rPr lang="en-US" sz="1000" dirty="0">
                <a:solidFill>
                  <a:srgbClr val="C6CEE4"/>
                </a:solidFill>
                <a:latin typeface="Calibri" pitchFamily="34" charset="0"/>
                <a:ea typeface="Calibri" pitchFamily="34" charset="-122"/>
                <a:cs typeface="Calibri" pitchFamily="34" charset="-120"/>
              </a:rPr>
              <a:t>Download the detailed Excel workings — our own source workbook</a:t>
            </a:r>
            <a:endParaRPr lang="en-US" sz="1000" dirty="0"/>
          </a:p>
        </p:txBody>
      </p:sp>
      <p:sp>
        <p:nvSpPr>
          <p:cNvPr id="98" name="Shape 93"/>
          <p:cNvSpPr/>
          <p:nvPr/>
        </p:nvSpPr>
        <p:spPr>
          <a:xfrm>
            <a:off x="2302459" y="5047488"/>
            <a:ext cx="4864608" cy="274320"/>
          </a:xfrm>
          <a:prstGeom prst="roundRect">
            <a:avLst>
              <a:gd name="adj" fmla="val 23333"/>
            </a:avLst>
          </a:prstGeom>
          <a:solidFill>
            <a:srgbClr val="111C55">
              <a:alpha val="70000"/>
            </a:srgbClr>
          </a:solidFill>
          <a:ln w="9525">
            <a:solidFill>
              <a:srgbClr val="3A4A8C">
                <a:alpha val="70000"/>
              </a:srgbClr>
            </a:solidFill>
            <a:prstDash val="solid"/>
          </a:ln>
        </p:spPr>
      </p:sp>
      <p:sp>
        <p:nvSpPr>
          <p:cNvPr id="99" name="Shape 94"/>
          <p:cNvSpPr/>
          <p:nvPr/>
        </p:nvSpPr>
        <p:spPr>
          <a:xfrm>
            <a:off x="2393899" y="5097780"/>
            <a:ext cx="78181" cy="78181"/>
          </a:xfrm>
          <a:prstGeom prst="roundRect">
            <a:avLst>
              <a:gd name="adj" fmla="val 17778"/>
            </a:avLst>
          </a:prstGeom>
          <a:ln w="12700">
            <a:solidFill>
              <a:srgbClr val="9CC3E8"/>
            </a:solidFill>
            <a:prstDash val="solid"/>
          </a:ln>
        </p:spPr>
      </p:sp>
      <p:sp>
        <p:nvSpPr>
          <p:cNvPr id="100" name="Shape 95"/>
          <p:cNvSpPr/>
          <p:nvPr/>
        </p:nvSpPr>
        <p:spPr>
          <a:xfrm>
            <a:off x="2489454" y="5097780"/>
            <a:ext cx="78181" cy="78181"/>
          </a:xfrm>
          <a:prstGeom prst="roundRect">
            <a:avLst>
              <a:gd name="adj" fmla="val 17778"/>
            </a:avLst>
          </a:prstGeom>
          <a:ln w="12700">
            <a:solidFill>
              <a:srgbClr val="9CC3E8"/>
            </a:solidFill>
            <a:prstDash val="solid"/>
          </a:ln>
        </p:spPr>
      </p:sp>
      <p:sp>
        <p:nvSpPr>
          <p:cNvPr id="101" name="Shape 96"/>
          <p:cNvSpPr/>
          <p:nvPr/>
        </p:nvSpPr>
        <p:spPr>
          <a:xfrm>
            <a:off x="2393899" y="5193335"/>
            <a:ext cx="78181" cy="78181"/>
          </a:xfrm>
          <a:prstGeom prst="roundRect">
            <a:avLst>
              <a:gd name="adj" fmla="val 17778"/>
            </a:avLst>
          </a:prstGeom>
          <a:ln w="12700">
            <a:solidFill>
              <a:srgbClr val="9CC3E8"/>
            </a:solidFill>
            <a:prstDash val="solid"/>
          </a:ln>
        </p:spPr>
      </p:sp>
      <p:sp>
        <p:nvSpPr>
          <p:cNvPr id="102" name="Shape 97"/>
          <p:cNvSpPr/>
          <p:nvPr/>
        </p:nvSpPr>
        <p:spPr>
          <a:xfrm>
            <a:off x="2489454" y="5193335"/>
            <a:ext cx="78181" cy="78181"/>
          </a:xfrm>
          <a:prstGeom prst="roundRect">
            <a:avLst>
              <a:gd name="adj" fmla="val 17778"/>
            </a:avLst>
          </a:prstGeom>
          <a:ln w="12700">
            <a:solidFill>
              <a:srgbClr val="9CC3E8"/>
            </a:solidFill>
            <a:prstDash val="solid"/>
          </a:ln>
        </p:spPr>
      </p:sp>
      <p:sp>
        <p:nvSpPr>
          <p:cNvPr id="103" name="Text 98"/>
          <p:cNvSpPr txBox="1"/>
          <p:nvPr/>
        </p:nvSpPr>
        <p:spPr>
          <a:xfrm>
            <a:off x="2631643" y="5047488"/>
            <a:ext cx="4443984" cy="274320"/>
          </a:xfrm>
          <a:prstGeom prst="rect">
            <a:avLst/>
          </a:prstGeom>
          <a:noFill/>
          <a:ln/>
        </p:spPr>
        <p:txBody>
          <a:bodyPr wrap="square" lIns="0" tIns="0" rIns="0" bIns="0" rtlCol="0" anchor="ctr"/>
          <a:lstStyle/>
          <a:p>
            <a:pPr marL="0" indent="0">
              <a:buNone/>
            </a:pPr>
            <a:r>
              <a:rPr lang="en-US" sz="1000" b="1" kern="0" spc="80" dirty="0">
                <a:solidFill>
                  <a:srgbClr val="9CC3E8"/>
                </a:solidFill>
                <a:latin typeface="Calibri" pitchFamily="34" charset="0"/>
                <a:ea typeface="Calibri" pitchFamily="34" charset="-122"/>
                <a:cs typeface="Calibri" pitchFamily="34" charset="-120"/>
              </a:rPr>
              <a:t>GITHUB   </a:t>
            </a:r>
            <a:r>
              <a:rPr lang="en-US" sz="1000" b="1" dirty="0">
                <a:solidFill>
                  <a:srgbClr val="FFFFFF"/>
                </a:solidFill>
                <a:latin typeface="Calibri" pitchFamily="34" charset="0"/>
                <a:ea typeface="Calibri" pitchFamily="34" charset="-122"/>
                <a:cs typeface="Calibri" pitchFamily="34" charset="-120"/>
              </a:rPr>
              <a:t>github.com/PratyushMathur2000/claimpulse-simulation</a:t>
            </a:r>
            <a:endParaRPr lang="en-US" sz="1000" dirty="0"/>
          </a:p>
        </p:txBody>
      </p:sp>
      <p:sp>
        <p:nvSpPr>
          <p:cNvPr id="104" name="Shape 99"/>
          <p:cNvSpPr/>
          <p:nvPr/>
        </p:nvSpPr>
        <p:spPr>
          <a:xfrm>
            <a:off x="7514539" y="3401568"/>
            <a:ext cx="4059936" cy="1975104"/>
          </a:xfrm>
          <a:prstGeom prst="roundRect">
            <a:avLst>
              <a:gd name="adj" fmla="val 4167"/>
            </a:avLst>
          </a:prstGeom>
          <a:solidFill>
            <a:srgbClr val="111C55">
              <a:alpha val="74000"/>
            </a:srgbClr>
          </a:solidFill>
          <a:ln w="12700">
            <a:solidFill>
              <a:srgbClr val="9085E9">
                <a:alpha val="78000"/>
              </a:srgbClr>
            </a:solidFill>
            <a:prstDash val="solid"/>
          </a:ln>
        </p:spPr>
      </p:sp>
      <p:sp>
        <p:nvSpPr>
          <p:cNvPr id="105" name="Shape 100"/>
          <p:cNvSpPr/>
          <p:nvPr/>
        </p:nvSpPr>
        <p:spPr>
          <a:xfrm>
            <a:off x="7678217" y="3593409"/>
            <a:ext cx="138989" cy="90343"/>
          </a:xfrm>
          <a:prstGeom prst="roundRect">
            <a:avLst>
              <a:gd name="adj" fmla="val 15385"/>
            </a:avLst>
          </a:prstGeom>
          <a:ln w="13970">
            <a:solidFill>
              <a:srgbClr val="BDB6F5"/>
            </a:solidFill>
            <a:prstDash val="solid"/>
          </a:ln>
        </p:spPr>
      </p:sp>
      <p:sp>
        <p:nvSpPr>
          <p:cNvPr id="106" name="Shape 101"/>
          <p:cNvSpPr/>
          <p:nvPr/>
        </p:nvSpPr>
        <p:spPr>
          <a:xfrm>
            <a:off x="7706015" y="3530864"/>
            <a:ext cx="83393" cy="104242"/>
          </a:xfrm>
          <a:prstGeom prst="blockArc">
            <a:avLst/>
          </a:prstGeom>
          <a:ln w="13970">
            <a:solidFill>
              <a:srgbClr val="BDB6F5"/>
            </a:solidFill>
            <a:prstDash val="solid"/>
          </a:ln>
        </p:spPr>
      </p:sp>
      <p:sp>
        <p:nvSpPr>
          <p:cNvPr id="107" name="Text 102"/>
          <p:cNvSpPr txBox="1"/>
          <p:nvPr/>
        </p:nvSpPr>
        <p:spPr>
          <a:xfrm>
            <a:off x="7907731" y="3483864"/>
            <a:ext cx="3520440" cy="237744"/>
          </a:xfrm>
          <a:prstGeom prst="rect">
            <a:avLst/>
          </a:prstGeom>
          <a:noFill/>
          <a:ln/>
        </p:spPr>
        <p:txBody>
          <a:bodyPr wrap="square" lIns="0" tIns="0" rIns="0" bIns="0" rtlCol="0" anchor="ctr"/>
          <a:lstStyle/>
          <a:p>
            <a:pPr marL="0" indent="0">
              <a:buNone/>
            </a:pPr>
            <a:r>
              <a:rPr lang="en-US" sz="1000" b="1" kern="0" spc="110" dirty="0">
                <a:solidFill>
                  <a:srgbClr val="BDB6F5"/>
                </a:solidFill>
                <a:latin typeface="Calibri" pitchFamily="34" charset="0"/>
                <a:ea typeface="Calibri" pitchFamily="34" charset="-122"/>
                <a:cs typeface="Calibri" pitchFamily="34" charset="-120"/>
              </a:rPr>
              <a:t>WHERE THE DURABLE ADVANTAGE SITS</a:t>
            </a:r>
            <a:endParaRPr lang="en-US" sz="1000" dirty="0"/>
          </a:p>
        </p:txBody>
      </p:sp>
      <p:sp>
        <p:nvSpPr>
          <p:cNvPr id="108" name="Shape 103"/>
          <p:cNvSpPr/>
          <p:nvPr/>
        </p:nvSpPr>
        <p:spPr>
          <a:xfrm>
            <a:off x="7660843" y="3785616"/>
            <a:ext cx="3767328" cy="310896"/>
          </a:xfrm>
          <a:prstGeom prst="roundRect">
            <a:avLst>
              <a:gd name="adj" fmla="val 20588"/>
            </a:avLst>
          </a:prstGeom>
          <a:solidFill>
            <a:srgbClr val="111C55">
              <a:alpha val="70000"/>
            </a:srgbClr>
          </a:solidFill>
          <a:ln w="9525">
            <a:solidFill>
              <a:srgbClr val="3A4A8C">
                <a:alpha val="70000"/>
              </a:srgbClr>
            </a:solidFill>
            <a:prstDash val="solid"/>
          </a:ln>
        </p:spPr>
      </p:sp>
      <p:sp>
        <p:nvSpPr>
          <p:cNvPr id="109" name="Text 104"/>
          <p:cNvSpPr txBox="1"/>
          <p:nvPr/>
        </p:nvSpPr>
        <p:spPr>
          <a:xfrm>
            <a:off x="7788859" y="3785616"/>
            <a:ext cx="2103120" cy="310896"/>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Evidence integrity at capture</a:t>
            </a:r>
            <a:endParaRPr lang="en-US" sz="1000" dirty="0"/>
          </a:p>
        </p:txBody>
      </p:sp>
      <p:sp>
        <p:nvSpPr>
          <p:cNvPr id="110" name="Shape 105"/>
          <p:cNvSpPr/>
          <p:nvPr/>
        </p:nvSpPr>
        <p:spPr>
          <a:xfrm>
            <a:off x="9910267" y="3822192"/>
            <a:ext cx="1389888" cy="237744"/>
          </a:xfrm>
          <a:prstGeom prst="roundRect">
            <a:avLst>
              <a:gd name="adj" fmla="val 50000"/>
            </a:avLst>
          </a:prstGeom>
          <a:solidFill>
            <a:srgbClr val="70AD47">
              <a:alpha val="26000"/>
            </a:srgbClr>
          </a:solidFill>
          <a:ln w="9525">
            <a:solidFill>
              <a:srgbClr val="70AD47"/>
            </a:solidFill>
            <a:prstDash val="solid"/>
          </a:ln>
        </p:spPr>
      </p:sp>
      <p:sp>
        <p:nvSpPr>
          <p:cNvPr id="111" name="Text 106"/>
          <p:cNvSpPr txBox="1"/>
          <p:nvPr/>
        </p:nvSpPr>
        <p:spPr>
          <a:xfrm>
            <a:off x="9910267" y="3822192"/>
            <a:ext cx="1389888" cy="237744"/>
          </a:xfrm>
          <a:prstGeom prst="rect">
            <a:avLst/>
          </a:prstGeom>
          <a:noFill/>
          <a:ln/>
        </p:spPr>
        <p:txBody>
          <a:bodyPr wrap="square" lIns="0" tIns="0" rIns="0" bIns="0" rtlCol="0" anchor="ctr"/>
          <a:lstStyle/>
          <a:p>
            <a:pPr marL="0" indent="0" algn="ctr">
              <a:buNone/>
            </a:pPr>
            <a:r>
              <a:rPr lang="en-US" sz="1000" b="1" kern="0" spc="60" dirty="0">
                <a:solidFill>
                  <a:srgbClr val="70AD47"/>
                </a:solidFill>
                <a:latin typeface="Calibri" pitchFamily="34" charset="0"/>
                <a:ea typeface="Calibri" pitchFamily="34" charset="-122"/>
                <a:cs typeface="Calibri" pitchFamily="34" charset="-120"/>
              </a:rPr>
              <a:t>NOT BUYABLE</a:t>
            </a:r>
            <a:endParaRPr lang="en-US" sz="1000" dirty="0"/>
          </a:p>
        </p:txBody>
      </p:sp>
      <p:sp>
        <p:nvSpPr>
          <p:cNvPr id="112" name="Shape 107"/>
          <p:cNvSpPr/>
          <p:nvPr/>
        </p:nvSpPr>
        <p:spPr>
          <a:xfrm>
            <a:off x="7660843" y="4151376"/>
            <a:ext cx="3767328" cy="310896"/>
          </a:xfrm>
          <a:prstGeom prst="roundRect">
            <a:avLst>
              <a:gd name="adj" fmla="val 20588"/>
            </a:avLst>
          </a:prstGeom>
          <a:solidFill>
            <a:srgbClr val="111C55">
              <a:alpha val="70000"/>
            </a:srgbClr>
          </a:solidFill>
          <a:ln w="9525">
            <a:solidFill>
              <a:srgbClr val="3A4A8C">
                <a:alpha val="70000"/>
              </a:srgbClr>
            </a:solidFill>
            <a:prstDash val="solid"/>
          </a:ln>
        </p:spPr>
      </p:sp>
      <p:sp>
        <p:nvSpPr>
          <p:cNvPr id="113" name="Text 108"/>
          <p:cNvSpPr txBox="1"/>
          <p:nvPr/>
        </p:nvSpPr>
        <p:spPr>
          <a:xfrm>
            <a:off x="7788859" y="4151376"/>
            <a:ext cx="2103120" cy="310896"/>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Bajaj’s own claim archive</a:t>
            </a:r>
            <a:endParaRPr lang="en-US" sz="1000" dirty="0"/>
          </a:p>
        </p:txBody>
      </p:sp>
      <p:sp>
        <p:nvSpPr>
          <p:cNvPr id="114" name="Shape 109"/>
          <p:cNvSpPr/>
          <p:nvPr/>
        </p:nvSpPr>
        <p:spPr>
          <a:xfrm>
            <a:off x="9910267" y="4187952"/>
            <a:ext cx="1389888" cy="237744"/>
          </a:xfrm>
          <a:prstGeom prst="roundRect">
            <a:avLst>
              <a:gd name="adj" fmla="val 50000"/>
            </a:avLst>
          </a:prstGeom>
          <a:solidFill>
            <a:srgbClr val="70AD47">
              <a:alpha val="26000"/>
            </a:srgbClr>
          </a:solidFill>
          <a:ln w="9525">
            <a:solidFill>
              <a:srgbClr val="70AD47"/>
            </a:solidFill>
            <a:prstDash val="solid"/>
          </a:ln>
        </p:spPr>
      </p:sp>
      <p:sp>
        <p:nvSpPr>
          <p:cNvPr id="115" name="Text 110"/>
          <p:cNvSpPr txBox="1"/>
          <p:nvPr/>
        </p:nvSpPr>
        <p:spPr>
          <a:xfrm>
            <a:off x="9910267" y="4187952"/>
            <a:ext cx="1389888" cy="237744"/>
          </a:xfrm>
          <a:prstGeom prst="rect">
            <a:avLst/>
          </a:prstGeom>
          <a:noFill/>
          <a:ln/>
        </p:spPr>
        <p:txBody>
          <a:bodyPr wrap="square" lIns="0" tIns="0" rIns="0" bIns="0" rtlCol="0" anchor="ctr"/>
          <a:lstStyle/>
          <a:p>
            <a:pPr marL="0" indent="0" algn="ctr">
              <a:buNone/>
            </a:pPr>
            <a:r>
              <a:rPr lang="en-US" sz="1000" b="1" kern="0" spc="60" dirty="0">
                <a:solidFill>
                  <a:srgbClr val="70AD47"/>
                </a:solidFill>
                <a:latin typeface="Calibri" pitchFamily="34" charset="0"/>
                <a:ea typeface="Calibri" pitchFamily="34" charset="-122"/>
                <a:cs typeface="Calibri" pitchFamily="34" charset="-120"/>
              </a:rPr>
              <a:t>NOT BUYABLE</a:t>
            </a:r>
            <a:endParaRPr lang="en-US" sz="1000" dirty="0"/>
          </a:p>
        </p:txBody>
      </p:sp>
      <p:sp>
        <p:nvSpPr>
          <p:cNvPr id="116" name="Shape 111"/>
          <p:cNvSpPr/>
          <p:nvPr/>
        </p:nvSpPr>
        <p:spPr>
          <a:xfrm>
            <a:off x="7660843" y="4517136"/>
            <a:ext cx="3767328" cy="310896"/>
          </a:xfrm>
          <a:prstGeom prst="roundRect">
            <a:avLst>
              <a:gd name="adj" fmla="val 20588"/>
            </a:avLst>
          </a:prstGeom>
          <a:solidFill>
            <a:srgbClr val="111C55">
              <a:alpha val="70000"/>
            </a:srgbClr>
          </a:solidFill>
          <a:ln w="9525">
            <a:solidFill>
              <a:srgbClr val="3A4A8C">
                <a:alpha val="70000"/>
              </a:srgbClr>
            </a:solidFill>
            <a:prstDash val="solid"/>
          </a:ln>
        </p:spPr>
      </p:sp>
      <p:sp>
        <p:nvSpPr>
          <p:cNvPr id="117" name="Text 112"/>
          <p:cNvSpPr txBox="1"/>
          <p:nvPr/>
        </p:nvSpPr>
        <p:spPr>
          <a:xfrm>
            <a:off x="7788859" y="4517136"/>
            <a:ext cx="2103120" cy="310896"/>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Orchestration</a:t>
            </a:r>
            <a:endParaRPr lang="en-US" sz="1000" dirty="0"/>
          </a:p>
        </p:txBody>
      </p:sp>
      <p:sp>
        <p:nvSpPr>
          <p:cNvPr id="118" name="Shape 113"/>
          <p:cNvSpPr/>
          <p:nvPr/>
        </p:nvSpPr>
        <p:spPr>
          <a:xfrm>
            <a:off x="9910267" y="4553712"/>
            <a:ext cx="1389888" cy="237744"/>
          </a:xfrm>
          <a:prstGeom prst="roundRect">
            <a:avLst>
              <a:gd name="adj" fmla="val 50000"/>
            </a:avLst>
          </a:prstGeom>
          <a:solidFill>
            <a:srgbClr val="E8B33A">
              <a:alpha val="26000"/>
            </a:srgbClr>
          </a:solidFill>
          <a:ln w="9525">
            <a:solidFill>
              <a:srgbClr val="E8B33A"/>
            </a:solidFill>
            <a:prstDash val="solid"/>
          </a:ln>
        </p:spPr>
      </p:sp>
      <p:sp>
        <p:nvSpPr>
          <p:cNvPr id="119" name="Text 114"/>
          <p:cNvSpPr txBox="1"/>
          <p:nvPr/>
        </p:nvSpPr>
        <p:spPr>
          <a:xfrm>
            <a:off x="9910267" y="4553712"/>
            <a:ext cx="1389888" cy="237744"/>
          </a:xfrm>
          <a:prstGeom prst="rect">
            <a:avLst/>
          </a:prstGeom>
          <a:noFill/>
          <a:ln/>
        </p:spPr>
        <p:txBody>
          <a:bodyPr wrap="square" lIns="0" tIns="0" rIns="0" bIns="0" rtlCol="0" anchor="ctr"/>
          <a:lstStyle/>
          <a:p>
            <a:pPr marL="0" indent="0" algn="ctr">
              <a:buNone/>
            </a:pPr>
            <a:r>
              <a:rPr lang="en-US" sz="1000" b="1" kern="0" spc="60" dirty="0">
                <a:solidFill>
                  <a:srgbClr val="E8B33A"/>
                </a:solidFill>
                <a:latin typeface="Calibri" pitchFamily="34" charset="0"/>
                <a:ea typeface="Calibri" pitchFamily="34" charset="-122"/>
                <a:cs typeface="Calibri" pitchFamily="34" charset="-120"/>
              </a:rPr>
              <a:t>COPYABLE ~18 MO</a:t>
            </a:r>
            <a:endParaRPr lang="en-US" sz="1000" dirty="0"/>
          </a:p>
        </p:txBody>
      </p:sp>
      <p:sp>
        <p:nvSpPr>
          <p:cNvPr id="120" name="Shape 115"/>
          <p:cNvSpPr/>
          <p:nvPr/>
        </p:nvSpPr>
        <p:spPr>
          <a:xfrm>
            <a:off x="7660843" y="4882896"/>
            <a:ext cx="3767328" cy="310896"/>
          </a:xfrm>
          <a:prstGeom prst="roundRect">
            <a:avLst>
              <a:gd name="adj" fmla="val 20588"/>
            </a:avLst>
          </a:prstGeom>
          <a:solidFill>
            <a:srgbClr val="111C55">
              <a:alpha val="70000"/>
            </a:srgbClr>
          </a:solidFill>
          <a:ln w="9525">
            <a:solidFill>
              <a:srgbClr val="3A4A8C">
                <a:alpha val="70000"/>
              </a:srgbClr>
            </a:solidFill>
            <a:prstDash val="solid"/>
          </a:ln>
        </p:spPr>
      </p:sp>
      <p:sp>
        <p:nvSpPr>
          <p:cNvPr id="121" name="Text 116"/>
          <p:cNvSpPr txBox="1"/>
          <p:nvPr/>
        </p:nvSpPr>
        <p:spPr>
          <a:xfrm>
            <a:off x="7788859" y="4882896"/>
            <a:ext cx="2103120" cy="310896"/>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Component AI</a:t>
            </a:r>
            <a:endParaRPr lang="en-US" sz="1000" dirty="0"/>
          </a:p>
        </p:txBody>
      </p:sp>
      <p:sp>
        <p:nvSpPr>
          <p:cNvPr id="122" name="Shape 117"/>
          <p:cNvSpPr/>
          <p:nvPr/>
        </p:nvSpPr>
        <p:spPr>
          <a:xfrm>
            <a:off x="9910267" y="4919472"/>
            <a:ext cx="1389888" cy="237744"/>
          </a:xfrm>
          <a:prstGeom prst="roundRect">
            <a:avLst>
              <a:gd name="adj" fmla="val 50000"/>
            </a:avLst>
          </a:prstGeom>
          <a:solidFill>
            <a:srgbClr val="727EA6">
              <a:alpha val="26000"/>
            </a:srgbClr>
          </a:solidFill>
          <a:ln w="9525">
            <a:solidFill>
              <a:srgbClr val="727EA6"/>
            </a:solidFill>
            <a:prstDash val="solid"/>
          </a:ln>
        </p:spPr>
      </p:sp>
      <p:sp>
        <p:nvSpPr>
          <p:cNvPr id="123" name="Text 118"/>
          <p:cNvSpPr txBox="1"/>
          <p:nvPr/>
        </p:nvSpPr>
        <p:spPr>
          <a:xfrm>
            <a:off x="9910267" y="4919472"/>
            <a:ext cx="1389888" cy="237744"/>
          </a:xfrm>
          <a:prstGeom prst="rect">
            <a:avLst/>
          </a:prstGeom>
          <a:noFill/>
          <a:ln/>
        </p:spPr>
        <p:txBody>
          <a:bodyPr wrap="square" lIns="0" tIns="0" rIns="0" bIns="0" rtlCol="0" anchor="ctr"/>
          <a:lstStyle/>
          <a:p>
            <a:pPr marL="0" indent="0" algn="ctr">
              <a:buNone/>
            </a:pPr>
            <a:r>
              <a:rPr lang="en-US" sz="1000" b="1" kern="0" spc="60" dirty="0">
                <a:solidFill>
                  <a:srgbClr val="727EA6"/>
                </a:solidFill>
                <a:latin typeface="Calibri" pitchFamily="34" charset="0"/>
                <a:ea typeface="Calibri" pitchFamily="34" charset="-122"/>
                <a:cs typeface="Calibri" pitchFamily="34" charset="-120"/>
              </a:rPr>
              <a:t>COMMODITY</a:t>
            </a:r>
            <a:endParaRPr lang="en-US" sz="1000" dirty="0"/>
          </a:p>
        </p:txBody>
      </p:sp>
      <p:sp>
        <p:nvSpPr>
          <p:cNvPr id="124" name="Text 119"/>
          <p:cNvSpPr txBox="1"/>
          <p:nvPr/>
        </p:nvSpPr>
        <p:spPr>
          <a:xfrm>
            <a:off x="784555" y="5413248"/>
            <a:ext cx="10643616" cy="201168"/>
          </a:xfrm>
          <a:prstGeom prst="rect">
            <a:avLst/>
          </a:prstGeom>
          <a:noFill/>
          <a:ln/>
        </p:spPr>
        <p:txBody>
          <a:bodyPr wrap="square" lIns="0" tIns="0" rIns="0" bIns="0" rtlCol="0" anchor="t"/>
          <a:lstStyle/>
          <a:p>
            <a:pPr marL="0" indent="0">
              <a:lnSpc>
                <a:spcPts val="840"/>
              </a:lnSpc>
              <a:buNone/>
            </a:pPr>
            <a:r>
              <a:rPr lang="en-US" sz="700" b="1" kern="0" spc="80" dirty="0">
                <a:solidFill>
                  <a:srgbClr val="9CC3E8"/>
                </a:solidFill>
                <a:latin typeface="Calibri" pitchFamily="34" charset="0"/>
                <a:ea typeface="Calibri" pitchFamily="34" charset="-122"/>
                <a:cs typeface="Calibri" pitchFamily="34" charset="-120"/>
              </a:rPr>
              <a:t>REFERENCES   </a:t>
            </a:r>
            <a:r>
              <a:rPr lang="en-US" sz="700" dirty="0">
                <a:solidFill>
                  <a:srgbClr val="9AA4C6"/>
                </a:solidFill>
                <a:latin typeface="Calibri" pitchFamily="34" charset="0"/>
                <a:ea typeface="Calibri" pitchFamily="34" charset="-122"/>
                <a:cs typeface="Calibri" pitchFamily="34" charset="-120"/>
              </a:rPr>
              <a:t>GI Council GDPI filings · Bajaj Finserv Q1 FY2027 · IRDAI Annual Report 2024-25, Master Circular 2024, Surveyors Regulations 2015, Fraud Monitoring Guidelines 2025, AI Working Group 2026 · DPDP Rules 2025 · BCG &amp; Medi Assist 2025 · Insurity 2026 · NVIDIA / ControlExpert · Retently &amp; CustomerGauge · Zurich Kotak EV knowledge centre 2026 · vendor pricing pages, 12 Aug 2026.</a:t>
            </a:r>
            <a:endParaRPr lang="en-US" sz="700" dirty="0"/>
          </a:p>
        </p:txBody>
      </p:sp>
      <p:sp>
        <p:nvSpPr>
          <p:cNvPr id="125" name="Shape 120"/>
          <p:cNvSpPr/>
          <p:nvPr/>
        </p:nvSpPr>
        <p:spPr>
          <a:xfrm>
            <a:off x="638251" y="5724144"/>
            <a:ext cx="10936224" cy="347472"/>
          </a:xfrm>
          <a:prstGeom prst="roundRect">
            <a:avLst>
              <a:gd name="adj" fmla="val 21053"/>
            </a:avLst>
          </a:prstGeom>
          <a:solidFill>
            <a:srgbClr val="0A1550">
              <a:alpha val="86000"/>
            </a:srgbClr>
          </a:solidFill>
          <a:ln w="9525">
            <a:solidFill>
              <a:srgbClr val="70AD47">
                <a:alpha val="55000"/>
              </a:srgbClr>
            </a:solidFill>
            <a:prstDash val="solid"/>
          </a:ln>
        </p:spPr>
      </p:sp>
      <p:sp>
        <p:nvSpPr>
          <p:cNvPr id="126" name="Shape 121"/>
          <p:cNvSpPr/>
          <p:nvPr/>
        </p:nvSpPr>
        <p:spPr>
          <a:xfrm>
            <a:off x="747979" y="5797296"/>
            <a:ext cx="41148" cy="201168"/>
          </a:xfrm>
          <a:prstGeom prst="roundRect">
            <a:avLst>
              <a:gd name="adj" fmla="val 48889"/>
            </a:avLst>
          </a:prstGeom>
          <a:solidFill>
            <a:srgbClr val="70AD47"/>
          </a:solidFill>
          <a:ln/>
        </p:spPr>
      </p:sp>
      <p:sp>
        <p:nvSpPr>
          <p:cNvPr id="127" name="Text 122"/>
          <p:cNvSpPr txBox="1"/>
          <p:nvPr/>
        </p:nvSpPr>
        <p:spPr>
          <a:xfrm>
            <a:off x="894283" y="5724144"/>
            <a:ext cx="10533888" cy="347472"/>
          </a:xfrm>
          <a:prstGeom prst="rect">
            <a:avLst/>
          </a:prstGeom>
          <a:noFill/>
          <a:ln/>
        </p:spPr>
        <p:txBody>
          <a:bodyPr wrap="square" lIns="0" tIns="0" rIns="0" bIns="0" rtlCol="0" anchor="ctr"/>
          <a:lstStyle/>
          <a:p>
            <a:pPr marL="0" indent="0">
              <a:lnSpc>
                <a:spcPts val="1200"/>
              </a:lnSpc>
              <a:buNone/>
            </a:pPr>
            <a:r>
              <a:rPr lang="en-US" sz="1000" b="1" kern="0" spc="100" dirty="0">
                <a:solidFill>
                  <a:srgbClr val="70AD47"/>
                </a:solidFill>
                <a:latin typeface="Calibri" pitchFamily="34" charset="0"/>
                <a:ea typeface="Calibri" pitchFamily="34" charset="-122"/>
                <a:cs typeface="Calibri" pitchFamily="34" charset="-120"/>
              </a:rPr>
              <a:t>INSIGHT   </a:t>
            </a:r>
            <a:r>
              <a:rPr lang="en-US" sz="1000" dirty="0">
                <a:solidFill>
                  <a:srgbClr val="FFFFFF"/>
                </a:solidFill>
                <a:latin typeface="Calibri" pitchFamily="34" charset="0"/>
                <a:ea typeface="Calibri" pitchFamily="34" charset="-122"/>
                <a:cs typeface="Calibri" pitchFamily="34" charset="-120"/>
              </a:rPr>
              <a:t>Two of the four are commodity and we say which. What is left needs Bajaj’s own claim history and Bajaj’s own point of capture — and nobody can buy either.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4395</Words>
  <Application>Microsoft Office PowerPoint</Application>
  <PresentationFormat>Widescreen</PresentationFormat>
  <Paragraphs>571</Paragraphs>
  <Slides>14</Slides>
  <Notes>13</Notes>
  <HiddenSlides>0</HiddenSlides>
  <MMClips>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Rubik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ClaimPulse — PS_BFDL Motor Insurance Claims TAT Reduction</dc:title>
  <dc:subject>PptxGenJS Presentation</dc:subject>
  <dc:creator>Team Finsighters · NMIMS Mumbai</dc:creator>
  <cp:lastModifiedBy>PRATYUSH MATHUR - 80672500059</cp:lastModifiedBy>
  <cp:revision>6</cp:revision>
  <dcterms:created xsi:type="dcterms:W3CDTF">2026-08-31T17:12:43Z</dcterms:created>
  <dcterms:modified xsi:type="dcterms:W3CDTF">2026-09-01T07:30:41Z</dcterms:modified>
</cp:coreProperties>
</file>