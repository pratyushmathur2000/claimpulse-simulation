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gi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gi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gi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gi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gi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gif"/><Relationship Id="rId5" Type="http://schemas.openxmlformats.org/officeDocument/2006/relationships/image" Target="../media/image-10-5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01168"/>
            <a:ext cx="1417320" cy="1417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44768" y="475488"/>
            <a:ext cx="0" cy="86868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4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749808"/>
            <a:ext cx="1444752" cy="38404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230368" y="1700784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0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230368" y="17007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9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57784" y="2139696"/>
            <a:ext cx="11077042" cy="3438144"/>
          </a:xfrm>
          <a:prstGeom prst="roundRect">
            <a:avLst>
              <a:gd name="adj" fmla="val 2660"/>
            </a:avLst>
          </a:prstGeom>
          <a:solidFill>
            <a:srgbClr val="0A1550">
              <a:alpha val="70000"/>
            </a:srgbClr>
          </a:solidFill>
          <a:ln w="9525">
            <a:solidFill>
              <a:srgbClr val="3A4A8C">
                <a:alpha val="6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49224" y="2249424"/>
            <a:ext cx="10894162" cy="402336"/>
          </a:xfrm>
          <a:prstGeom prst="rect">
            <a:avLst/>
          </a:prstGeom>
          <a:solidFill>
            <a:srgbClr val="C3C8DC">
              <a:alpha val="24000"/>
            </a:srgb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50392" y="22494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666744" y="2249424"/>
            <a:ext cx="7657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FINSIGHTERS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50392" y="2651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Name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666744" y="2651760"/>
            <a:ext cx="7657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Narsee Monjee Institute of Management Studies, Mumbai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9224" y="3054096"/>
            <a:ext cx="10894162" cy="402336"/>
          </a:xfrm>
          <a:prstGeom prst="rect">
            <a:avLst/>
          </a:prstGeom>
          <a:solidFill>
            <a:srgbClr val="C3C8DC">
              <a:alpha val="24000"/>
            </a:srgbClr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50392" y="30540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Year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66744" y="3054096"/>
            <a:ext cx="7657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Year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50392" y="34564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66744" y="3456432"/>
            <a:ext cx="7657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PS6_BFDL  ·  Motor Insurance Claims TAT Reduction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9224" y="3858768"/>
            <a:ext cx="10894162" cy="402336"/>
          </a:xfrm>
          <a:prstGeom prst="rect">
            <a:avLst/>
          </a:prstGeom>
          <a:solidFill>
            <a:srgbClr val="C3C8DC">
              <a:alpha val="24000"/>
            </a:srgbClr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50392" y="3858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 Name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666744" y="3858768"/>
            <a:ext cx="7657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Mahima K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850392" y="426110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 Name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3666744" y="4261104"/>
            <a:ext cx="7657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Sonakshi Mathur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9224" y="4663440"/>
            <a:ext cx="10894162" cy="402336"/>
          </a:xfrm>
          <a:prstGeom prst="rect">
            <a:avLst/>
          </a:prstGeom>
          <a:solidFill>
            <a:srgbClr val="C3C8DC">
              <a:alpha val="24000"/>
            </a:srgbClr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50392" y="4663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 Name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3666744" y="4663440"/>
            <a:ext cx="7657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Pratyush Mathur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50392" y="506577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4 Name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3666744" y="5065776"/>
            <a:ext cx="76571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Bhifinne Agarwal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49224" y="5577840"/>
            <a:ext cx="108941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  ·   verified-evidence orchestration for Motor Own Damage claims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01 / 02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Motor OD claim takes 9.8 days and ₹1,750 to settle.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Appreciation (Context and Understanding)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Allianz General Insurance FY24 Annual Report and Public Disclosures  ·  IRDAI Annual Report 2023-24  ·  ClaimPulse Investor Model R6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3499104" cy="1335024"/>
          </a:xfrm>
          <a:prstGeom prst="roundRect">
            <a:avLst>
              <a:gd name="adj" fmla="val 6849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9419" y="1770278"/>
            <a:ext cx="316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839419" y="1989734"/>
            <a:ext cx="316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pPr indent="0" marL="0">
              <a:buNone/>
            </a:pPr>
            <a:r>
              <a:rPr lang="en-US" sz="1564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days</a:t>
            </a:r>
            <a:endParaRPr lang="en-US" sz="3400" dirty="0"/>
          </a:p>
        </p:txBody>
      </p:sp>
      <p:sp>
        <p:nvSpPr>
          <p:cNvPr id="18" name="Text 14"/>
          <p:cNvSpPr txBox="1"/>
          <p:nvPr/>
        </p:nvSpPr>
        <p:spPr>
          <a:xfrm>
            <a:off x="839419" y="2392070"/>
            <a:ext cx="316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claim, today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356811" y="1678838"/>
            <a:ext cx="3499104" cy="1335024"/>
          </a:xfrm>
          <a:prstGeom prst="roundRect">
            <a:avLst>
              <a:gd name="adj" fmla="val 6849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21403" y="1770278"/>
            <a:ext cx="316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SERVE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4521403" y="1989734"/>
            <a:ext cx="316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₹1,750</a:t>
            </a:r>
            <a:endParaRPr lang="en-US" sz="3400" dirty="0"/>
          </a:p>
        </p:txBody>
      </p:sp>
      <p:sp>
        <p:nvSpPr>
          <p:cNvPr id="22" name="Text 18"/>
          <p:cNvSpPr txBox="1"/>
          <p:nvPr/>
        </p:nvSpPr>
        <p:spPr>
          <a:xfrm>
            <a:off x="4521403" y="2392070"/>
            <a:ext cx="316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cost, per claim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8038795" y="1678838"/>
            <a:ext cx="3499104" cy="1335024"/>
          </a:xfrm>
          <a:prstGeom prst="roundRect">
            <a:avLst>
              <a:gd name="adj" fmla="val 6849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203387" y="1770278"/>
            <a:ext cx="316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TOUCHES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8203387" y="1989734"/>
            <a:ext cx="316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pPr indent="0" marL="0">
              <a:buNone/>
            </a:pPr>
            <a:r>
              <a:rPr lang="en-US" sz="1564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claim</a:t>
            </a:r>
            <a:endParaRPr lang="en-US" sz="3400" dirty="0"/>
          </a:p>
        </p:txBody>
      </p:sp>
      <p:sp>
        <p:nvSpPr>
          <p:cNvPr id="26" name="Text 22"/>
          <p:cNvSpPr txBox="1"/>
          <p:nvPr/>
        </p:nvSpPr>
        <p:spPr>
          <a:xfrm>
            <a:off x="8203387" y="2392070"/>
            <a:ext cx="316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handoffs, per claim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74827" y="3145536"/>
            <a:ext cx="2510028" cy="1298448"/>
          </a:xfrm>
          <a:prstGeom prst="roundRect">
            <a:avLst>
              <a:gd name="adj" fmla="val 7042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39419" y="3273552"/>
            <a:ext cx="2180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WRITTEN PREMIUM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839419" y="3529584"/>
            <a:ext cx="2180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₹7,000 Cr</a:t>
            </a:r>
            <a:endParaRPr lang="en-US" sz="2200" dirty="0"/>
          </a:p>
        </p:txBody>
      </p:sp>
      <p:sp>
        <p:nvSpPr>
          <p:cNvPr id="30" name="Text 26"/>
          <p:cNvSpPr txBox="1"/>
          <p:nvPr/>
        </p:nvSpPr>
        <p:spPr>
          <a:xfrm>
            <a:off x="839419" y="4005072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Motor, a year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 rot="5400000">
            <a:off x="3248863" y="3675888"/>
            <a:ext cx="146304" cy="237744"/>
          </a:xfrm>
          <a:prstGeom prst="triangle">
            <a:avLst/>
          </a:prstGeom>
          <a:solidFill>
            <a:srgbClr val="9CC3E8">
              <a:alpha val="70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3459175" y="3145536"/>
            <a:ext cx="2510028" cy="1298448"/>
          </a:xfrm>
          <a:prstGeom prst="roundRect">
            <a:avLst>
              <a:gd name="adj" fmla="val 7042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623767" y="3273552"/>
            <a:ext cx="2180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EARNED PREMIUM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3623767" y="3529584"/>
            <a:ext cx="2180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₹1,655 Cr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3623767" y="4005072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OD share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 rot="5400000">
            <a:off x="6033211" y="3675888"/>
            <a:ext cx="146304" cy="237744"/>
          </a:xfrm>
          <a:prstGeom prst="triangle">
            <a:avLst/>
          </a:prstGeom>
          <a:solidFill>
            <a:srgbClr val="9CC3E8">
              <a:alpha val="70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6243523" y="3145536"/>
            <a:ext cx="2510028" cy="1298448"/>
          </a:xfrm>
          <a:prstGeom prst="roundRect">
            <a:avLst>
              <a:gd name="adj" fmla="val 7042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08115" y="3273552"/>
            <a:ext cx="2180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POOL</a:t>
            </a:r>
            <a:endParaRPr lang="en-US" sz="850" dirty="0"/>
          </a:p>
        </p:txBody>
      </p:sp>
      <p:sp>
        <p:nvSpPr>
          <p:cNvPr id="39" name="Text 35"/>
          <p:cNvSpPr txBox="1"/>
          <p:nvPr/>
        </p:nvSpPr>
        <p:spPr>
          <a:xfrm>
            <a:off x="6408115" y="3529584"/>
            <a:ext cx="2180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₹1,234 Cr</a:t>
            </a:r>
            <a:endParaRPr lang="en-US" sz="2200" dirty="0"/>
          </a:p>
        </p:txBody>
      </p:sp>
      <p:sp>
        <p:nvSpPr>
          <p:cNvPr id="40" name="Text 36"/>
          <p:cNvSpPr txBox="1"/>
          <p:nvPr/>
        </p:nvSpPr>
        <p:spPr>
          <a:xfrm>
            <a:off x="6408115" y="4005072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 OD claims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 rot="5400000">
            <a:off x="8817559" y="3675888"/>
            <a:ext cx="146304" cy="237744"/>
          </a:xfrm>
          <a:prstGeom prst="triangle">
            <a:avLst/>
          </a:prstGeom>
          <a:solidFill>
            <a:srgbClr val="9CC3E8">
              <a:alpha val="70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9027871" y="3145536"/>
            <a:ext cx="2510028" cy="1298448"/>
          </a:xfrm>
          <a:prstGeom prst="roundRect">
            <a:avLst>
              <a:gd name="adj" fmla="val 7042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192463" y="3273552"/>
            <a:ext cx="21808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RESIDUAL</a:t>
            </a:r>
            <a:endParaRPr lang="en-US" sz="850" dirty="0"/>
          </a:p>
        </p:txBody>
      </p:sp>
      <p:sp>
        <p:nvSpPr>
          <p:cNvPr id="44" name="Text 40"/>
          <p:cNvSpPr txBox="1"/>
          <p:nvPr/>
        </p:nvSpPr>
        <p:spPr>
          <a:xfrm>
            <a:off x="9192463" y="3529584"/>
            <a:ext cx="2180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₹314 Cr</a:t>
            </a:r>
            <a:endParaRPr lang="en-US" sz="2200" dirty="0"/>
          </a:p>
        </p:txBody>
      </p:sp>
      <p:sp>
        <p:nvSpPr>
          <p:cNvPr id="45" name="Text 41"/>
          <p:cNvSpPr txBox="1"/>
          <p:nvPr/>
        </p:nvSpPr>
        <p:spPr>
          <a:xfrm>
            <a:off x="9192463" y="4005072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process touches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674827" y="4700016"/>
            <a:ext cx="3499104" cy="804672"/>
          </a:xfrm>
          <a:prstGeom prst="roundRect">
            <a:avLst>
              <a:gd name="adj" fmla="val 11364"/>
            </a:avLst>
          </a:prstGeom>
          <a:solidFill>
            <a:srgbClr val="111C55">
              <a:alpha val="70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839419" y="4754880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274,307</a:t>
            </a:r>
            <a:endParaRPr lang="en-US" sz="1900" dirty="0"/>
          </a:p>
        </p:txBody>
      </p:sp>
      <p:sp>
        <p:nvSpPr>
          <p:cNvPr id="48" name="Text 44"/>
          <p:cNvSpPr txBox="1"/>
          <p:nvPr/>
        </p:nvSpPr>
        <p:spPr>
          <a:xfrm>
            <a:off x="839419" y="5120640"/>
            <a:ext cx="316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OD claims a year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356811" y="4700016"/>
            <a:ext cx="3499104" cy="804672"/>
          </a:xfrm>
          <a:prstGeom prst="roundRect">
            <a:avLst>
              <a:gd name="adj" fmla="val 11364"/>
            </a:avLst>
          </a:prstGeom>
          <a:solidFill>
            <a:srgbClr val="111C55">
              <a:alpha val="70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521403" y="4754880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384,030</a:t>
            </a:r>
            <a:endParaRPr lang="en-US" sz="1900" dirty="0"/>
          </a:p>
        </p:txBody>
      </p:sp>
      <p:sp>
        <p:nvSpPr>
          <p:cNvPr id="51" name="Text 47"/>
          <p:cNvSpPr txBox="1"/>
          <p:nvPr/>
        </p:nvSpPr>
        <p:spPr>
          <a:xfrm>
            <a:off x="4521403" y="5120640"/>
            <a:ext cx="316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hours a year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8038795" y="4700016"/>
            <a:ext cx="3499104" cy="804672"/>
          </a:xfrm>
          <a:prstGeom prst="roundRect">
            <a:avLst>
              <a:gd name="adj" fmla="val 11364"/>
            </a:avLst>
          </a:prstGeom>
          <a:solidFill>
            <a:srgbClr val="111C55">
              <a:alpha val="70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8203387" y="4754880"/>
            <a:ext cx="316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900" dirty="0"/>
          </a:p>
        </p:txBody>
      </p:sp>
      <p:sp>
        <p:nvSpPr>
          <p:cNvPr id="54" name="Text 50"/>
          <p:cNvSpPr txBox="1"/>
          <p:nvPr/>
        </p:nvSpPr>
        <p:spPr>
          <a:xfrm>
            <a:off x="8203387" y="5120640"/>
            <a:ext cx="316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claims physically surveyed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674827" y="5662879"/>
            <a:ext cx="10863072" cy="384048"/>
          </a:xfrm>
          <a:prstGeom prst="roundRect">
            <a:avLst>
              <a:gd name="adj" fmla="val 23810"/>
            </a:avLst>
          </a:prstGeom>
          <a:solidFill>
            <a:srgbClr val="0A1550">
              <a:alpha val="86000"/>
            </a:srgbClr>
          </a:solidFill>
          <a:ln w="9525">
            <a:solidFill>
              <a:srgbClr val="ED7D31">
                <a:alpha val="5500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02843" y="5745175"/>
            <a:ext cx="45720" cy="21945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949147" y="5662879"/>
            <a:ext cx="10442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is a cost line, not a service metric.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02 / 02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seven handoffs sit outside Bajaj.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Appreciation (Context and Understanding)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(Insurance Surveyors and Loss Assessors) Regulations 2015  ·  ClaimPulse Investor Model R6, Operations sheet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10863072" cy="1042416"/>
          </a:xfrm>
          <a:prstGeom prst="roundRect">
            <a:avLst>
              <a:gd name="adj" fmla="val 8772"/>
            </a:avLst>
          </a:prstGeom>
          <a:solidFill>
            <a:srgbClr val="111C55">
              <a:alpha val="74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9419" y="1751990"/>
            <a:ext cx="10533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HANDS, ONE CLAIM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orange sits outside Bajaj’s control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39419" y="2136038"/>
            <a:ext cx="1379438" cy="420624"/>
          </a:xfrm>
          <a:prstGeom prst="roundRect">
            <a:avLst>
              <a:gd name="adj" fmla="val 19565"/>
            </a:avLst>
          </a:prstGeom>
          <a:solidFill>
            <a:srgbClr val="5B9BD5">
              <a:alpha val="24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9419" y="2136038"/>
            <a:ext cx="1379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218857" y="2346350"/>
            <a:ext cx="146304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365161" y="2136038"/>
            <a:ext cx="1379438" cy="420624"/>
          </a:xfrm>
          <a:prstGeom prst="roundRect">
            <a:avLst>
              <a:gd name="adj" fmla="val 19565"/>
            </a:avLst>
          </a:prstGeom>
          <a:solidFill>
            <a:srgbClr val="5B9BD5">
              <a:alpha val="24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365161" y="2136038"/>
            <a:ext cx="1379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744599" y="2346350"/>
            <a:ext cx="146304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890903" y="2136038"/>
            <a:ext cx="1379438" cy="420624"/>
          </a:xfrm>
          <a:prstGeom prst="roundRect">
            <a:avLst>
              <a:gd name="adj" fmla="val 19565"/>
            </a:avLst>
          </a:prstGeom>
          <a:solidFill>
            <a:srgbClr val="ED7D31">
              <a:alpha val="38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890903" y="2136038"/>
            <a:ext cx="1379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Surveyor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270340" y="2346350"/>
            <a:ext cx="146304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16644" y="2136038"/>
            <a:ext cx="1379438" cy="420624"/>
          </a:xfrm>
          <a:prstGeom prst="roundRect">
            <a:avLst>
              <a:gd name="adj" fmla="val 19565"/>
            </a:avLst>
          </a:prstGeom>
          <a:solidFill>
            <a:srgbClr val="ED7D31">
              <a:alpha val="38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16644" y="2136038"/>
            <a:ext cx="1379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796082" y="2346350"/>
            <a:ext cx="146304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942386" y="2136038"/>
            <a:ext cx="1379438" cy="420624"/>
          </a:xfrm>
          <a:prstGeom prst="roundRect">
            <a:avLst>
              <a:gd name="adj" fmla="val 19565"/>
            </a:avLst>
          </a:prstGeom>
          <a:solidFill>
            <a:srgbClr val="5B9BD5">
              <a:alpha val="24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942386" y="2136038"/>
            <a:ext cx="1379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321824" y="2346350"/>
            <a:ext cx="146304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468128" y="2136038"/>
            <a:ext cx="1379438" cy="420624"/>
          </a:xfrm>
          <a:prstGeom prst="roundRect">
            <a:avLst>
              <a:gd name="adj" fmla="val 19565"/>
            </a:avLst>
          </a:prstGeom>
          <a:solidFill>
            <a:srgbClr val="5B9BD5">
              <a:alpha val="24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468128" y="2136038"/>
            <a:ext cx="1379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ops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9847565" y="2346350"/>
            <a:ext cx="146304" cy="0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993869" y="2136038"/>
            <a:ext cx="1379438" cy="420624"/>
          </a:xfrm>
          <a:prstGeom prst="roundRect">
            <a:avLst>
              <a:gd name="adj" fmla="val 19565"/>
            </a:avLst>
          </a:prstGeom>
          <a:solidFill>
            <a:srgbClr val="5B9BD5">
              <a:alpha val="24000"/>
            </a:srgbClr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9993869" y="2136038"/>
            <a:ext cx="1379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74827" y="2871216"/>
            <a:ext cx="7406640" cy="3172968"/>
          </a:xfrm>
          <a:prstGeom prst="roundRect">
            <a:avLst>
              <a:gd name="adj" fmla="val 3746"/>
            </a:avLst>
          </a:prstGeom>
          <a:solidFill>
            <a:srgbClr val="09122C"/>
          </a:solidFill>
          <a:ln w="9525">
            <a:solidFill>
              <a:srgbClr val="9CC3E8">
                <a:alpha val="45000"/>
              </a:srgbClr>
            </a:solidFill>
            <a:prstDash val="solid"/>
          </a:ln>
        </p:spPr>
      </p:sp>
      <p:pic>
        <p:nvPicPr>
          <p:cNvPr id="38" name="Image 2" descr="media/03_survey_funnel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86" y="2953512"/>
            <a:ext cx="6908123" cy="3008376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8282635" y="2871216"/>
            <a:ext cx="3255264" cy="960120"/>
          </a:xfrm>
          <a:prstGeom prst="roundRect">
            <a:avLst>
              <a:gd name="adj" fmla="val 9524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47227" y="2962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384,030</a:t>
            </a:r>
            <a:endParaRPr lang="en-US" sz="2100" dirty="0"/>
          </a:p>
        </p:txBody>
      </p:sp>
      <p:sp>
        <p:nvSpPr>
          <p:cNvPr id="41" name="Text 36"/>
          <p:cNvSpPr txBox="1"/>
          <p:nvPr/>
        </p:nvSpPr>
        <p:spPr>
          <a:xfrm>
            <a:off x="8447227" y="33467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hours a year</a:t>
            </a:r>
            <a:endParaRPr lang="en-US" sz="950" dirty="0"/>
          </a:p>
        </p:txBody>
      </p:sp>
      <p:sp>
        <p:nvSpPr>
          <p:cNvPr id="42" name="Text 37"/>
          <p:cNvSpPr txBox="1"/>
          <p:nvPr/>
        </p:nvSpPr>
        <p:spPr>
          <a:xfrm>
            <a:off x="8447227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 scope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8282635" y="3977640"/>
            <a:ext cx="3255264" cy="960120"/>
          </a:xfrm>
          <a:prstGeom prst="roundRect">
            <a:avLst>
              <a:gd name="adj" fmla="val 9524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447227" y="4069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90,521</a:t>
            </a:r>
            <a:endParaRPr lang="en-US" sz="2100" dirty="0"/>
          </a:p>
        </p:txBody>
      </p:sp>
      <p:sp>
        <p:nvSpPr>
          <p:cNvPr id="45" name="Text 40"/>
          <p:cNvSpPr txBox="1"/>
          <p:nvPr/>
        </p:nvSpPr>
        <p:spPr>
          <a:xfrm>
            <a:off x="8447227" y="44531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surveys a year</a:t>
            </a:r>
            <a:endParaRPr lang="en-US" sz="950" dirty="0"/>
          </a:p>
        </p:txBody>
      </p:sp>
      <p:sp>
        <p:nvSpPr>
          <p:cNvPr id="46" name="Text 41"/>
          <p:cNvSpPr txBox="1"/>
          <p:nvPr/>
        </p:nvSpPr>
        <p:spPr>
          <a:xfrm>
            <a:off x="8447227" y="4672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claims in scope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8282635" y="5084064"/>
            <a:ext cx="3255264" cy="960120"/>
          </a:xfrm>
          <a:prstGeom prst="roundRect">
            <a:avLst>
              <a:gd name="adj" fmla="val 9524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8447227" y="51755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2100" dirty="0"/>
          </a:p>
        </p:txBody>
      </p:sp>
      <p:sp>
        <p:nvSpPr>
          <p:cNvPr id="49" name="Text 44"/>
          <p:cNvSpPr txBox="1"/>
          <p:nvPr/>
        </p:nvSpPr>
        <p:spPr>
          <a:xfrm>
            <a:off x="8447227" y="55595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estimate to approval</a:t>
            </a:r>
            <a:endParaRPr lang="en-US" sz="950" dirty="0"/>
          </a:p>
        </p:txBody>
      </p:sp>
      <p:sp>
        <p:nvSpPr>
          <p:cNvPr id="50" name="Text 45"/>
          <p:cNvSpPr txBox="1"/>
          <p:nvPr/>
        </p:nvSpPr>
        <p:spPr>
          <a:xfrm>
            <a:off x="8447227" y="5779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claim, four clocks. Green settles on day 1.5.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Appreciation (Context and Understanding)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Investor Model R6, working notes W-12 to W-17  ·  lane turnaround and lane mix are team estimates, calibrated during the 90-day pilot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10863072" cy="4368089"/>
          </a:xfrm>
          <a:prstGeom prst="roundRect">
            <a:avLst>
              <a:gd name="adj" fmla="val 2721"/>
            </a:avLst>
          </a:prstGeom>
          <a:solidFill>
            <a:srgbClr val="09122C"/>
          </a:solidFill>
          <a:ln w="9525">
            <a:solidFill>
              <a:srgbClr val="9CC3E8">
                <a:alpha val="45000"/>
              </a:srgbClr>
            </a:solidFill>
            <a:prstDash val="solid"/>
          </a:ln>
        </p:spPr>
      </p:sp>
      <p:pic>
        <p:nvPicPr>
          <p:cNvPr id="16" name="Image 2" descr="media/the_gap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92" y="1761134"/>
            <a:ext cx="10508742" cy="42034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01 / 02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root causes. Two-thirds of claims are decided by evidence.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Key Insights/Opportunities/Challenges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Annual Report 2023-24  ·  IRDAI (Insurance Surveyors and Loss Assessors) Regulations 2015  ·  ClaimPulse Investor Model R6, Lanes sheet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10863072" cy="1170432"/>
          </a:xfrm>
          <a:prstGeom prst="roundRect">
            <a:avLst>
              <a:gd name="adj" fmla="val 7813"/>
            </a:avLst>
          </a:prstGeom>
          <a:solidFill>
            <a:srgbClr val="111C55">
              <a:alpha val="74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9419" y="1751990"/>
            <a:ext cx="10533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each adds waiting, not decision quality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39419" y="2099462"/>
            <a:ext cx="1989734" cy="603504"/>
          </a:xfrm>
          <a:prstGeom prst="roundRect">
            <a:avLst>
              <a:gd name="adj" fmla="val 13636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3A4A8C">
                <a:alpha val="8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49147" y="2190902"/>
            <a:ext cx="237744" cy="237744"/>
          </a:xfrm>
          <a:prstGeom prst="ellipse">
            <a:avLst/>
          </a:prstGeom>
          <a:solidFill>
            <a:srgbClr val="9CC3E8">
              <a:alpha val="42000"/>
            </a:srgbClr>
          </a:solidFill>
          <a:ln w="12700">
            <a:solidFill>
              <a:srgbClr val="9CC3E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49147" y="21909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1260043" y="2136038"/>
            <a:ext cx="14410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 verification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2975458" y="2099462"/>
            <a:ext cx="1989734" cy="603504"/>
          </a:xfrm>
          <a:prstGeom prst="roundRect">
            <a:avLst>
              <a:gd name="adj" fmla="val 13636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3A4A8C">
                <a:alpha val="8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085186" y="2190902"/>
            <a:ext cx="237744" cy="237744"/>
          </a:xfrm>
          <a:prstGeom prst="ellipse">
            <a:avLst/>
          </a:prstGeom>
          <a:solidFill>
            <a:srgbClr val="9CC3E8">
              <a:alpha val="42000"/>
            </a:srgbClr>
          </a:solidFill>
          <a:ln w="12700">
            <a:solidFill>
              <a:srgbClr val="9CC3E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085186" y="21909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3396082" y="2136038"/>
            <a:ext cx="14410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inspection by default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111496" y="2099462"/>
            <a:ext cx="1989734" cy="603504"/>
          </a:xfrm>
          <a:prstGeom prst="roundRect">
            <a:avLst>
              <a:gd name="adj" fmla="val 13636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3A4A8C">
                <a:alpha val="80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221224" y="2190902"/>
            <a:ext cx="237744" cy="237744"/>
          </a:xfrm>
          <a:prstGeom prst="ellipse">
            <a:avLst/>
          </a:prstGeom>
          <a:solidFill>
            <a:srgbClr val="9CC3E8">
              <a:alpha val="42000"/>
            </a:srgbClr>
          </a:solidFill>
          <a:ln w="12700">
            <a:solidFill>
              <a:srgbClr val="9CC3E8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221224" y="21909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5532120" y="2136038"/>
            <a:ext cx="14410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fraud detection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247534" y="2099462"/>
            <a:ext cx="1989734" cy="603504"/>
          </a:xfrm>
          <a:prstGeom prst="roundRect">
            <a:avLst>
              <a:gd name="adj" fmla="val 13636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3A4A8C">
                <a:alpha val="80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357262" y="2190902"/>
            <a:ext cx="237744" cy="237744"/>
          </a:xfrm>
          <a:prstGeom prst="ellipse">
            <a:avLst/>
          </a:prstGeom>
          <a:solidFill>
            <a:srgbClr val="9CC3E8">
              <a:alpha val="42000"/>
            </a:srgbClr>
          </a:solidFill>
          <a:ln w="12700">
            <a:solidFill>
              <a:srgbClr val="9CC3E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57262" y="21909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668158" y="2136038"/>
            <a:ext cx="14410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priced into claims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9383573" y="2099462"/>
            <a:ext cx="1989734" cy="603504"/>
          </a:xfrm>
          <a:prstGeom prst="roundRect">
            <a:avLst>
              <a:gd name="adj" fmla="val 13636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9085E9">
                <a:alpha val="80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493301" y="2190902"/>
            <a:ext cx="237744" cy="237744"/>
          </a:xfrm>
          <a:prstGeom prst="ellipse">
            <a:avLst/>
          </a:prstGeom>
          <a:solidFill>
            <a:srgbClr val="9085E9">
              <a:alpha val="42000"/>
            </a:srgbClr>
          </a:solidFill>
          <a:ln w="12700">
            <a:solidFill>
              <a:srgbClr val="9085E9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493301" y="21909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9804197" y="2136038"/>
            <a:ext cx="14410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new, undefended vector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74827" y="3035808"/>
            <a:ext cx="5760720" cy="2487168"/>
          </a:xfrm>
          <a:prstGeom prst="roundRect">
            <a:avLst>
              <a:gd name="adj" fmla="val 3676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39419" y="3108960"/>
            <a:ext cx="5431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ADDRESSABILITY TEST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share of claims in scope</a:t>
            </a:r>
            <a:endParaRPr lang="en-US" sz="850" dirty="0"/>
          </a:p>
        </p:txBody>
      </p:sp>
      <p:sp>
        <p:nvSpPr>
          <p:cNvPr id="39" name="Text 35"/>
          <p:cNvSpPr txBox="1"/>
          <p:nvPr/>
        </p:nvSpPr>
        <p:spPr>
          <a:xfrm>
            <a:off x="839419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00  ·  evidence screen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3262579" y="3657600"/>
            <a:ext cx="2093976" cy="182880"/>
          </a:xfrm>
          <a:prstGeom prst="roundRect">
            <a:avLst>
              <a:gd name="adj" fmla="val 50000"/>
            </a:avLst>
          </a:prstGeom>
          <a:solidFill>
            <a:srgbClr val="0A1550">
              <a:alpha val="58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3262579" y="3657600"/>
            <a:ext cx="2093976" cy="182880"/>
          </a:xfrm>
          <a:prstGeom prst="roundRect">
            <a:avLst>
              <a:gd name="adj" fmla="val 50000"/>
            </a:avLst>
          </a:prstGeom>
          <a:solidFill>
            <a:srgbClr val="9CC3E8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5447995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839419" y="4105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·  auto-settle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3262579" y="4151376"/>
            <a:ext cx="2093976" cy="182880"/>
          </a:xfrm>
          <a:prstGeom prst="roundRect">
            <a:avLst>
              <a:gd name="adj" fmla="val 50000"/>
            </a:avLst>
          </a:prstGeom>
          <a:solidFill>
            <a:srgbClr val="0A1550">
              <a:alpha val="58000"/>
            </a:srgbClr>
          </a:solidFill>
          <a:ln/>
        </p:spPr>
      </p:sp>
      <p:sp>
        <p:nvSpPr>
          <p:cNvPr id="45" name="Shape 41"/>
          <p:cNvSpPr/>
          <p:nvPr/>
        </p:nvSpPr>
        <p:spPr>
          <a:xfrm>
            <a:off x="3262579" y="4151376"/>
            <a:ext cx="1361084" cy="18288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5447995" y="4105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839419" y="45994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 ·  human in the loop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3262579" y="4645152"/>
            <a:ext cx="2093976" cy="182880"/>
          </a:xfrm>
          <a:prstGeom prst="roundRect">
            <a:avLst>
              <a:gd name="adj" fmla="val 50000"/>
            </a:avLst>
          </a:prstGeom>
          <a:solidFill>
            <a:srgbClr val="0A1550">
              <a:alpha val="58000"/>
            </a:srgbClr>
          </a:solidFill>
          <a:ln/>
        </p:spPr>
      </p:sp>
      <p:sp>
        <p:nvSpPr>
          <p:cNvPr id="49" name="Shape 45"/>
          <p:cNvSpPr/>
          <p:nvPr/>
        </p:nvSpPr>
        <p:spPr>
          <a:xfrm>
            <a:off x="3262579" y="4645152"/>
            <a:ext cx="523494" cy="182880"/>
          </a:xfrm>
          <a:prstGeom prst="roundRect">
            <a:avLst>
              <a:gd name="adj" fmla="val 50000"/>
            </a:avLst>
          </a:prstGeom>
          <a:solidFill>
            <a:srgbClr val="E8B33A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5447995" y="4599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B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839419" y="5093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·  investigation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3262579" y="5138928"/>
            <a:ext cx="2093976" cy="182880"/>
          </a:xfrm>
          <a:prstGeom prst="roundRect">
            <a:avLst>
              <a:gd name="adj" fmla="val 50000"/>
            </a:avLst>
          </a:prstGeom>
          <a:solidFill>
            <a:srgbClr val="0A1550">
              <a:alpha val="58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3262579" y="5138928"/>
            <a:ext cx="209398" cy="182880"/>
          </a:xfrm>
          <a:prstGeom prst="roundRect">
            <a:avLst>
              <a:gd name="adj" fmla="val 50000"/>
            </a:avLst>
          </a:prstGeom>
          <a:solidFill>
            <a:srgbClr val="E06666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5447995" y="5093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6636715" y="3035808"/>
            <a:ext cx="4901184" cy="2487168"/>
          </a:xfrm>
          <a:prstGeom prst="roundRect">
            <a:avLst>
              <a:gd name="adj" fmla="val 3676"/>
            </a:avLst>
          </a:prstGeom>
          <a:solidFill>
            <a:srgbClr val="111C55">
              <a:alpha val="76000"/>
            </a:srgbClr>
          </a:solidFill>
          <a:ln w="12700">
            <a:solidFill>
              <a:srgbClr val="70AD47">
                <a:alpha val="8000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773875" y="3136392"/>
            <a:ext cx="45720" cy="18288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6947611" y="3108960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CLAIM IS GREEN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 three must hold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6801307" y="34747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cost inside the IRDAI exemption corridor</a:t>
            </a:r>
            <a:endParaRPr lang="en-US" sz="950" dirty="0"/>
          </a:p>
        </p:txBody>
      </p:sp>
      <p:sp>
        <p:nvSpPr>
          <p:cNvPr id="59" name="Text 55"/>
          <p:cNvSpPr txBox="1"/>
          <p:nvPr/>
        </p:nvSpPr>
        <p:spPr>
          <a:xfrm>
            <a:off x="10001707" y="34747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₹50,000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6801307" y="3986784"/>
            <a:ext cx="4572000" cy="0"/>
          </a:xfrm>
          <a:prstGeom prst="line">
            <a:avLst/>
          </a:prstGeom>
          <a:noFill/>
          <a:ln w="6350">
            <a:solidFill>
              <a:srgbClr val="3A4A8C">
                <a:alpha val="45000"/>
              </a:srgbClr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801307" y="398678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duplicate graph</a:t>
            </a:r>
            <a:endParaRPr lang="en-US" sz="950" dirty="0"/>
          </a:p>
        </p:txBody>
      </p:sp>
      <p:sp>
        <p:nvSpPr>
          <p:cNvPr id="62" name="Text 58"/>
          <p:cNvSpPr txBox="1"/>
          <p:nvPr/>
        </p:nvSpPr>
        <p:spPr>
          <a:xfrm>
            <a:off x="10001707" y="398678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6801307" y="4498848"/>
            <a:ext cx="4572000" cy="0"/>
          </a:xfrm>
          <a:prstGeom prst="line">
            <a:avLst/>
          </a:prstGeom>
          <a:noFill/>
          <a:ln w="6350">
            <a:solidFill>
              <a:srgbClr val="3A4A8C">
                <a:alpha val="4500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801307" y="449884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clause, no exclusion</a:t>
            </a:r>
            <a:endParaRPr lang="en-US" sz="950" dirty="0"/>
          </a:p>
        </p:txBody>
      </p:sp>
      <p:sp>
        <p:nvSpPr>
          <p:cNvPr id="65" name="Text 61"/>
          <p:cNvSpPr txBox="1"/>
          <p:nvPr/>
        </p:nvSpPr>
        <p:spPr>
          <a:xfrm>
            <a:off x="10001707" y="44988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950" dirty="0"/>
          </a:p>
        </p:txBody>
      </p:sp>
      <p:sp>
        <p:nvSpPr>
          <p:cNvPr id="66" name="Text 62"/>
          <p:cNvSpPr txBox="1"/>
          <p:nvPr/>
        </p:nvSpPr>
        <p:spPr>
          <a:xfrm>
            <a:off x="6801307" y="486460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₹50,000 a survey is not mandatory. That makes a claim a candidate, not an automatic pass.</a:t>
            </a:r>
            <a:endParaRPr lang="en-US" sz="850" dirty="0"/>
          </a:p>
        </p:txBody>
      </p:sp>
      <p:sp>
        <p:nvSpPr>
          <p:cNvPr id="67" name="Shape 63"/>
          <p:cNvSpPr/>
          <p:nvPr/>
        </p:nvSpPr>
        <p:spPr>
          <a:xfrm>
            <a:off x="674827" y="5662879"/>
            <a:ext cx="10863072" cy="384048"/>
          </a:xfrm>
          <a:prstGeom prst="roundRect">
            <a:avLst>
              <a:gd name="adj" fmla="val 23810"/>
            </a:avLst>
          </a:prstGeom>
          <a:solidFill>
            <a:srgbClr val="0A1550">
              <a:alpha val="86000"/>
            </a:srgbClr>
          </a:solidFill>
          <a:ln w="9525">
            <a:solidFill>
              <a:srgbClr val="ED7D31">
                <a:alpha val="5500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02843" y="5745175"/>
            <a:ext cx="45720" cy="21945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69" name="Text 65"/>
          <p:cNvSpPr txBox="1"/>
          <p:nvPr/>
        </p:nvSpPr>
        <p:spPr>
          <a:xfrm>
            <a:off x="949147" y="5662879"/>
            <a:ext cx="10442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part of a claim is the wait, not the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02 / 02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fabrication is the trend that can end straight-through settlement.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Key Insights/Opportunities/Challenges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Master Circular on Protection of Policyholders’ Interests 2024  ·  Digital Personal Data Protection Act 2023  ·  ClaimPulse primary research, August 2026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3486912" cy="1975104"/>
          </a:xfrm>
          <a:prstGeom prst="roundRect">
            <a:avLst>
              <a:gd name="adj" fmla="val 4630"/>
            </a:avLst>
          </a:prstGeom>
          <a:solidFill>
            <a:srgbClr val="111C55">
              <a:alpha val="76000"/>
            </a:srgbClr>
          </a:solidFill>
          <a:ln w="12700">
            <a:solidFill>
              <a:srgbClr val="9CC3E8">
                <a:alpha val="8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1987" y="1779422"/>
            <a:ext cx="45720" cy="182880"/>
          </a:xfrm>
          <a:prstGeom prst="roundRect">
            <a:avLst>
              <a:gd name="adj" fmla="val 50000"/>
            </a:avLst>
          </a:prstGeom>
          <a:solidFill>
            <a:srgbClr val="9CC3E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985723" y="1751990"/>
            <a:ext cx="302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39419" y="2136038"/>
            <a:ext cx="3157728" cy="621792"/>
          </a:xfrm>
          <a:prstGeom prst="roundRect">
            <a:avLst>
              <a:gd name="adj" fmla="val 11765"/>
            </a:avLst>
          </a:prstGeom>
          <a:solidFill>
            <a:srgbClr val="0A1550">
              <a:alpha val="70000"/>
            </a:srgbClr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85723" y="2136038"/>
            <a:ext cx="286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dominate the book, and the pool keeps growing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39419" y="2849270"/>
            <a:ext cx="3157728" cy="621792"/>
          </a:xfrm>
          <a:prstGeom prst="roundRect">
            <a:avLst>
              <a:gd name="adj" fmla="val 11765"/>
            </a:avLst>
          </a:prstGeom>
          <a:solidFill>
            <a:srgbClr val="0A1550">
              <a:alpha val="70000"/>
            </a:srgb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5723" y="2849270"/>
            <a:ext cx="286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comfort with a decision no person saw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362907" y="1678838"/>
            <a:ext cx="3486912" cy="1975104"/>
          </a:xfrm>
          <a:prstGeom prst="roundRect">
            <a:avLst>
              <a:gd name="adj" fmla="val 4630"/>
            </a:avLst>
          </a:prstGeom>
          <a:solidFill>
            <a:srgbClr val="111C55">
              <a:alpha val="76000"/>
            </a:srgbClr>
          </a:solidFill>
          <a:ln w="12700">
            <a:solidFill>
              <a:srgbClr val="9085E9">
                <a:alpha val="8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00067" y="1779422"/>
            <a:ext cx="45720" cy="182880"/>
          </a:xfrm>
          <a:prstGeom prst="roundRect">
            <a:avLst>
              <a:gd name="adj" fmla="val 50000"/>
            </a:avLst>
          </a:prstGeom>
          <a:solidFill>
            <a:srgbClr val="9085E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673803" y="1751990"/>
            <a:ext cx="302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527499" y="2136038"/>
            <a:ext cx="3157728" cy="621792"/>
          </a:xfrm>
          <a:prstGeom prst="roundRect">
            <a:avLst>
              <a:gd name="adj" fmla="val 11765"/>
            </a:avLst>
          </a:prstGeom>
          <a:solidFill>
            <a:srgbClr val="0A1550">
              <a:alpha val="70000"/>
            </a:srgbClr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673803" y="2136038"/>
            <a:ext cx="286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 is cheap to fabricate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527499" y="2849270"/>
            <a:ext cx="3157728" cy="621792"/>
          </a:xfrm>
          <a:prstGeom prst="roundRect">
            <a:avLst>
              <a:gd name="adj" fmla="val 11765"/>
            </a:avLst>
          </a:prstGeom>
          <a:solidFill>
            <a:srgbClr val="0A1550">
              <a:alpha val="70000"/>
            </a:srgbClr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673803" y="2849270"/>
            <a:ext cx="286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priced per token, and rates move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050987" y="1678838"/>
            <a:ext cx="3486912" cy="1975104"/>
          </a:xfrm>
          <a:prstGeom prst="roundRect">
            <a:avLst>
              <a:gd name="adj" fmla="val 4630"/>
            </a:avLst>
          </a:prstGeom>
          <a:solidFill>
            <a:srgbClr val="111C55">
              <a:alpha val="76000"/>
            </a:srgbClr>
          </a:solidFill>
          <a:ln w="12700">
            <a:solidFill>
              <a:srgbClr val="F5D076">
                <a:alpha val="80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188147" y="1779422"/>
            <a:ext cx="45720" cy="182880"/>
          </a:xfrm>
          <a:prstGeom prst="roundRect">
            <a:avLst>
              <a:gd name="adj" fmla="val 50000"/>
            </a:avLst>
          </a:prstGeom>
          <a:solidFill>
            <a:srgbClr val="F5D076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8361883" y="1751990"/>
            <a:ext cx="302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F5D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8215579" y="2136038"/>
            <a:ext cx="3157728" cy="621792"/>
          </a:xfrm>
          <a:prstGeom prst="roundRect">
            <a:avLst>
              <a:gd name="adj" fmla="val 11765"/>
            </a:avLst>
          </a:prstGeom>
          <a:solidFill>
            <a:srgbClr val="0A1550">
              <a:alpha val="70000"/>
            </a:srgbClr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361883" y="2136038"/>
            <a:ext cx="286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Soft-market pricing, stressed underwriting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8215579" y="2849270"/>
            <a:ext cx="3157728" cy="621792"/>
          </a:xfrm>
          <a:prstGeom prst="roundRect">
            <a:avLst>
              <a:gd name="adj" fmla="val 11765"/>
            </a:avLst>
          </a:prstGeom>
          <a:solidFill>
            <a:srgbClr val="0A1550">
              <a:alpha val="70000"/>
            </a:srgbClr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361883" y="2849270"/>
            <a:ext cx="286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sits in the mid-ticket band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74827" y="3855110"/>
            <a:ext cx="5760720" cy="1517904"/>
          </a:xfrm>
          <a:prstGeom prst="roundRect">
            <a:avLst>
              <a:gd name="adj" fmla="val 6024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9085E9">
                <a:alpha val="80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11987" y="3955694"/>
            <a:ext cx="45720" cy="182880"/>
          </a:xfrm>
          <a:prstGeom prst="roundRect">
            <a:avLst>
              <a:gd name="adj" fmla="val 50000"/>
            </a:avLst>
          </a:prstGeom>
          <a:solidFill>
            <a:srgbClr val="9085E9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985723" y="392826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THREATENS US</a:t>
            </a:r>
            <a:endParaRPr lang="en-US" sz="850" dirty="0"/>
          </a:p>
        </p:txBody>
      </p:sp>
      <p:sp>
        <p:nvSpPr>
          <p:cNvPr id="39" name="Text 35"/>
          <p:cNvSpPr txBox="1"/>
          <p:nvPr/>
        </p:nvSpPr>
        <p:spPr>
          <a:xfrm>
            <a:off x="839419" y="4239158"/>
            <a:ext cx="5431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incidence of synthetic claim media exists anywhere.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839419" y="4696358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build against it instead of pricing it — live capture only, gallery uploads to amber, an artefact screen on every image.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636715" y="3855110"/>
            <a:ext cx="4901184" cy="1517904"/>
          </a:xfrm>
          <a:prstGeom prst="roundRect">
            <a:avLst>
              <a:gd name="adj" fmla="val 6024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F5D076">
                <a:alpha val="8000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773875" y="3955694"/>
            <a:ext cx="45720" cy="182880"/>
          </a:xfrm>
          <a:prstGeom prst="roundRect">
            <a:avLst>
              <a:gd name="adj" fmla="val 50000"/>
            </a:avLst>
          </a:prstGeom>
          <a:solidFill>
            <a:srgbClr val="F5D076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6947611" y="3928262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F5D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ALREADY IN FORCE</a:t>
            </a:r>
            <a:endParaRPr lang="en-US" sz="850" dirty="0"/>
          </a:p>
        </p:txBody>
      </p:sp>
      <p:sp>
        <p:nvSpPr>
          <p:cNvPr id="44" name="Text 40"/>
          <p:cNvSpPr txBox="1"/>
          <p:nvPr/>
        </p:nvSpPr>
        <p:spPr>
          <a:xfrm>
            <a:off x="6801307" y="427573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Master Circular 2024</a:t>
            </a:r>
            <a:endParaRPr lang="en-US" sz="950" dirty="0"/>
          </a:p>
        </p:txBody>
      </p:sp>
      <p:sp>
        <p:nvSpPr>
          <p:cNvPr id="45" name="Text 41"/>
          <p:cNvSpPr txBox="1"/>
          <p:nvPr/>
        </p:nvSpPr>
        <p:spPr>
          <a:xfrm>
            <a:off x="9727387" y="427573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D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clocks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6801307" y="4586630"/>
            <a:ext cx="4572000" cy="0"/>
          </a:xfrm>
          <a:prstGeom prst="line">
            <a:avLst/>
          </a:prstGeom>
          <a:noFill/>
          <a:ln w="6350">
            <a:solidFill>
              <a:srgbClr val="3A4A8C">
                <a:alpha val="4500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801307" y="458663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 2023</a:t>
            </a:r>
            <a:endParaRPr lang="en-US" sz="950" dirty="0"/>
          </a:p>
        </p:txBody>
      </p:sp>
      <p:sp>
        <p:nvSpPr>
          <p:cNvPr id="48" name="Text 44"/>
          <p:cNvSpPr txBox="1"/>
          <p:nvPr/>
        </p:nvSpPr>
        <p:spPr>
          <a:xfrm>
            <a:off x="9727387" y="458663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D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audit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6801307" y="4897526"/>
            <a:ext cx="4572000" cy="0"/>
          </a:xfrm>
          <a:prstGeom prst="line">
            <a:avLst/>
          </a:prstGeom>
          <a:noFill/>
          <a:ln w="6350">
            <a:solidFill>
              <a:srgbClr val="3A4A8C">
                <a:alpha val="4500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801307" y="489752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Working Group on fraud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9727387" y="489752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D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duty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674827" y="5662879"/>
            <a:ext cx="10863072" cy="384048"/>
          </a:xfrm>
          <a:prstGeom prst="roundRect">
            <a:avLst>
              <a:gd name="adj" fmla="val 23810"/>
            </a:avLst>
          </a:prstGeom>
          <a:solidFill>
            <a:srgbClr val="0A1550">
              <a:alpha val="86000"/>
            </a:srgbClr>
          </a:solidFill>
          <a:ln w="9525">
            <a:solidFill>
              <a:srgbClr val="ED7D31">
                <a:alpha val="55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02843" y="5745175"/>
            <a:ext cx="45720" cy="21945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949147" y="5662879"/>
            <a:ext cx="10442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integrity first. Speed is only bankable after that.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01 / 03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signals, one routing decision — 65% green, 25% amber, 10% red.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Proposed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Investor Model R6, Lanes and Engines sheets  ·  band cut-points are calibrated on live claims during the 90-day pilot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10863072" cy="4368089"/>
          </a:xfrm>
          <a:prstGeom prst="roundRect">
            <a:avLst>
              <a:gd name="adj" fmla="val 2721"/>
            </a:avLst>
          </a:prstGeom>
          <a:solidFill>
            <a:srgbClr val="09122C"/>
          </a:solidFill>
          <a:ln w="9525">
            <a:solidFill>
              <a:srgbClr val="9CC3E8">
                <a:alpha val="45000"/>
              </a:srgbClr>
            </a:solidFill>
            <a:prstDash val="solid"/>
          </a:ln>
        </p:spPr>
      </p:sp>
      <p:pic>
        <p:nvPicPr>
          <p:cNvPr id="16" name="Image 2" descr="media/05_trust_score_fusion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492" y="1761134"/>
            <a:ext cx="9307743" cy="42034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02 / 03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00 screens the evidence before any model runs.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Proposed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primary research on metadata survival through gallery and messaging pipelines, August 2026  ·  Investor Model R6, Engines sheet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7644384" cy="4368089"/>
          </a:xfrm>
          <a:prstGeom prst="roundRect">
            <a:avLst>
              <a:gd name="adj" fmla="val 2721"/>
            </a:avLst>
          </a:prstGeom>
          <a:solidFill>
            <a:srgbClr val="09122C"/>
          </a:solidFill>
          <a:ln w="9525">
            <a:solidFill>
              <a:srgbClr val="9CC3E8">
                <a:alpha val="45000"/>
              </a:srgbClr>
            </a:solidFill>
            <a:prstDash val="solid"/>
          </a:ln>
        </p:spPr>
      </p:sp>
      <p:pic>
        <p:nvPicPr>
          <p:cNvPr id="16" name="Image 2" descr="media/04_gate00_forensics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" y="2053256"/>
            <a:ext cx="7479792" cy="361925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538667" y="1678838"/>
            <a:ext cx="2999232" cy="1225296"/>
          </a:xfrm>
          <a:prstGeom prst="roundRect">
            <a:avLst>
              <a:gd name="adj" fmla="val 7463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9CC3E8">
                <a:alpha val="8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675827" y="1779422"/>
            <a:ext cx="45720" cy="182880"/>
          </a:xfrm>
          <a:prstGeom prst="roundRect">
            <a:avLst>
              <a:gd name="adj" fmla="val 50000"/>
            </a:avLst>
          </a:prstGeom>
          <a:solidFill>
            <a:srgbClr val="9CC3E8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849563" y="175199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FNOL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8703259" y="2062886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notice of loss. ClaimPulse starts here — in the app, with the camera.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538667" y="3250235"/>
            <a:ext cx="2999232" cy="1225296"/>
          </a:xfrm>
          <a:prstGeom prst="roundRect">
            <a:avLst>
              <a:gd name="adj" fmla="val 7463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9AD672">
                <a:alpha val="8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675827" y="3350819"/>
            <a:ext cx="45720" cy="182880"/>
          </a:xfrm>
          <a:prstGeom prst="roundRect">
            <a:avLst>
              <a:gd name="adj" fmla="val 50000"/>
            </a:avLst>
          </a:prstGeom>
          <a:solidFill>
            <a:srgbClr val="9AD67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49563" y="3323387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IN TOKENS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8703259" y="3634283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is deterministic. No model is called, so the screen costs nothing.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538667" y="4821631"/>
            <a:ext cx="2999232" cy="1225296"/>
          </a:xfrm>
          <a:prstGeom prst="roundRect">
            <a:avLst>
              <a:gd name="adj" fmla="val 7463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9085E9">
                <a:alpha val="8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675827" y="4922215"/>
            <a:ext cx="45720" cy="182880"/>
          </a:xfrm>
          <a:prstGeom prst="roundRect">
            <a:avLst>
              <a:gd name="adj" fmla="val 50000"/>
            </a:avLst>
          </a:prstGeom>
          <a:solidFill>
            <a:srgbClr val="9085E9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849563" y="4894783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THE GATE</a:t>
            </a:r>
            <a:endParaRPr lang="en-US" sz="850" dirty="0"/>
          </a:p>
        </p:txBody>
      </p:sp>
      <p:sp>
        <p:nvSpPr>
          <p:cNvPr id="28" name="Text 23"/>
          <p:cNvSpPr txBox="1"/>
          <p:nvPr/>
        </p:nvSpPr>
        <p:spPr>
          <a:xfrm>
            <a:off x="8703259" y="5205679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a person. Metadata, GPS, device fingerprint and artefact screen pass, or they do not.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03 / 03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priced per token, so the case is built on a range.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Proposed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published pricing pages retrieved 12 Aug 2026, batch and cached-input discounts withheld  ·  ClaimPulse Investor Model R6, Cost sheet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7644384" cy="4368089"/>
          </a:xfrm>
          <a:prstGeom prst="roundRect">
            <a:avLst>
              <a:gd name="adj" fmla="val 2721"/>
            </a:avLst>
          </a:prstGeom>
          <a:solidFill>
            <a:srgbClr val="09122C"/>
          </a:solidFill>
          <a:ln w="9525">
            <a:solidFill>
              <a:srgbClr val="9CC3E8">
                <a:alpha val="45000"/>
              </a:srgbClr>
            </a:solidFill>
            <a:prstDash val="solid"/>
          </a:ln>
        </p:spPr>
      </p:sp>
      <p:pic>
        <p:nvPicPr>
          <p:cNvPr id="16" name="Image 2" descr="media/06_token_economics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" y="1932614"/>
            <a:ext cx="7479792" cy="386053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538667" y="1678838"/>
            <a:ext cx="2999232" cy="1225296"/>
          </a:xfrm>
          <a:prstGeom prst="roundRect">
            <a:avLst>
              <a:gd name="adj" fmla="val 7463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70AD47">
                <a:alpha val="8000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703259" y="177027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PAYBACK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8703259" y="1989734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pPr indent="0" marL="0">
              <a:buNone/>
            </a:pPr>
            <a:r>
              <a:rPr lang="en-US" sz="1196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months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703259" y="239207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net annual benefit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8538667" y="3250235"/>
            <a:ext cx="2999232" cy="1225296"/>
          </a:xfrm>
          <a:prstGeom prst="roundRect">
            <a:avLst>
              <a:gd name="adj" fmla="val 7463"/>
            </a:avLst>
          </a:prstGeom>
          <a:solidFill>
            <a:srgbClr val="111C55">
              <a:alpha val="78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703259" y="3341675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 COST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703259" y="3561131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₹3.90</a:t>
            </a:r>
            <a:pPr indent="0" marL="0">
              <a:buNone/>
            </a:pPr>
            <a:r>
              <a:rPr lang="en-US" sz="1196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 a year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8703259" y="3963467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plan, 60% rollout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8538667" y="4821631"/>
            <a:ext cx="2999232" cy="1225296"/>
          </a:xfrm>
          <a:prstGeom prst="roundRect">
            <a:avLst>
              <a:gd name="adj" fmla="val 7463"/>
            </a:avLst>
          </a:prstGeom>
          <a:solidFill>
            <a:srgbClr val="111C55">
              <a:alpha val="78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703259" y="4913071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BUILD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8703259" y="5132527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₹9.89</a:t>
            </a:r>
            <a:pPr indent="0" marL="0">
              <a:buNone/>
            </a:pPr>
            <a:r>
              <a:rPr lang="en-US" sz="1196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</a:t>
            </a:r>
            <a:endParaRPr lang="en-US" sz="2600" dirty="0"/>
          </a:p>
        </p:txBody>
      </p:sp>
      <p:sp>
        <p:nvSpPr>
          <p:cNvPr id="28" name="Text 23"/>
          <p:cNvSpPr txBox="1"/>
          <p:nvPr/>
        </p:nvSpPr>
        <p:spPr>
          <a:xfrm>
            <a:off x="8703259" y="5534863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months, five phases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01 / 03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is reduced. Resources are redeployed, not displaced.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Proposed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Investor Model R6, working notes W-61 to W-73  ·  1,800 productive hours per FTE a year  ·  70% realisation applied to released capacity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6784848" cy="2395728"/>
          </a:xfrm>
          <a:prstGeom prst="roundRect">
            <a:avLst>
              <a:gd name="adj" fmla="val 4962"/>
            </a:avLst>
          </a:prstGeom>
          <a:solidFill>
            <a:srgbClr val="09122C"/>
          </a:solidFill>
          <a:ln w="9525">
            <a:solidFill>
              <a:srgbClr val="9CC3E8">
                <a:alpha val="45000"/>
              </a:srgbClr>
            </a:solidFill>
            <a:prstDash val="solid"/>
          </a:ln>
        </p:spPr>
      </p:sp>
      <p:pic>
        <p:nvPicPr>
          <p:cNvPr id="16" name="Image 2" descr="media/07_hours_derivation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51" y="1761134"/>
            <a:ext cx="5886401" cy="223113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660843" y="1678838"/>
            <a:ext cx="3877056" cy="2395728"/>
          </a:xfrm>
          <a:prstGeom prst="roundRect">
            <a:avLst>
              <a:gd name="adj" fmla="val 4962"/>
            </a:avLst>
          </a:prstGeom>
          <a:solidFill>
            <a:srgbClr val="09122C"/>
          </a:solidFill>
          <a:ln w="9525">
            <a:solidFill>
              <a:srgbClr val="9CC3E8">
                <a:alpha val="45000"/>
              </a:srgbClr>
            </a:solidFill>
            <a:prstDash val="solid"/>
          </a:ln>
        </p:spPr>
      </p:sp>
      <p:pic>
        <p:nvPicPr>
          <p:cNvPr id="18" name="Image 3" descr="media/03_surveys_current_vs_proposed.gi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926" y="1761134"/>
            <a:ext cx="3260891" cy="223113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74827" y="4257446"/>
            <a:ext cx="6784848" cy="1789481"/>
          </a:xfrm>
          <a:prstGeom prst="roundRect">
            <a:avLst>
              <a:gd name="adj" fmla="val 5110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70AD47">
                <a:alpha val="8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11987" y="4358030"/>
            <a:ext cx="45720" cy="18288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985723" y="433059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176 RELEASED FTE GO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higher-judgement work, same people</a:t>
            </a:r>
            <a:endParaRPr lang="en-US" sz="850" dirty="0"/>
          </a:p>
        </p:txBody>
      </p:sp>
      <p:sp>
        <p:nvSpPr>
          <p:cNvPr id="22" name="Text 16"/>
          <p:cNvSpPr txBox="1"/>
          <p:nvPr/>
        </p:nvSpPr>
        <p:spPr>
          <a:xfrm>
            <a:off x="839419" y="466892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and disputed claims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765499" y="4714646"/>
            <a:ext cx="2615184" cy="146304"/>
          </a:xfrm>
          <a:prstGeom prst="roundRect">
            <a:avLst>
              <a:gd name="adj" fmla="val 50000"/>
            </a:avLst>
          </a:prstGeom>
          <a:solidFill>
            <a:srgbClr val="0A1550">
              <a:alpha val="58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3765499" y="4714646"/>
            <a:ext cx="915314" cy="146304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72123" y="466892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FTE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839419" y="497982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above ₹50,000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765499" y="5025542"/>
            <a:ext cx="2615184" cy="146304"/>
          </a:xfrm>
          <a:prstGeom prst="roundRect">
            <a:avLst>
              <a:gd name="adj" fmla="val 50000"/>
            </a:avLst>
          </a:prstGeom>
          <a:solidFill>
            <a:srgbClr val="0A1550">
              <a:alpha val="58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3765499" y="5025542"/>
            <a:ext cx="653796" cy="146304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472123" y="497982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FTE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839419" y="529071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investigation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765499" y="5336438"/>
            <a:ext cx="2615184" cy="146304"/>
          </a:xfrm>
          <a:prstGeom prst="roundRect">
            <a:avLst>
              <a:gd name="adj" fmla="val 50000"/>
            </a:avLst>
          </a:prstGeom>
          <a:solidFill>
            <a:srgbClr val="0A1550">
              <a:alpha val="58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3765499" y="5336438"/>
            <a:ext cx="575340" cy="146304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6472123" y="529071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FTE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839419" y="560161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recovery and renewal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765499" y="5647334"/>
            <a:ext cx="2615184" cy="146304"/>
          </a:xfrm>
          <a:prstGeom prst="roundRect">
            <a:avLst>
              <a:gd name="adj" fmla="val 50000"/>
            </a:avLst>
          </a:prstGeom>
          <a:solidFill>
            <a:srgbClr val="0A1550">
              <a:alpha val="58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3765499" y="5647334"/>
            <a:ext cx="470733" cy="146304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6472123" y="560161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FTE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660843" y="4257446"/>
            <a:ext cx="3877056" cy="1789481"/>
          </a:xfrm>
          <a:prstGeom prst="roundRect">
            <a:avLst>
              <a:gd name="adj" fmla="val 5110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9CC3E8">
                <a:alpha val="8000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798003" y="4358030"/>
            <a:ext cx="45720" cy="182880"/>
          </a:xfrm>
          <a:prstGeom prst="roundRect">
            <a:avLst>
              <a:gd name="adj" fmla="val 50000"/>
            </a:avLst>
          </a:prstGeom>
          <a:solidFill>
            <a:srgbClr val="9CC3E8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7971739" y="433059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STAKEHOLDERS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7825435" y="4659782"/>
            <a:ext cx="21287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Surveyor  ·  visits a year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9954158" y="4659782"/>
            <a:ext cx="1419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90,521 → 16,458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7825435" y="5025542"/>
            <a:ext cx="3547872" cy="0"/>
          </a:xfrm>
          <a:prstGeom prst="line">
            <a:avLst/>
          </a:prstGeom>
          <a:noFill/>
          <a:ln w="6350">
            <a:solidFill>
              <a:srgbClr val="3A4A8C">
                <a:alpha val="4500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825435" y="5025542"/>
            <a:ext cx="21287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 ·  estimate to approval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9954158" y="5025542"/>
            <a:ext cx="1419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→ 1 day</a:t>
            </a:r>
            <a:endParaRPr lang="en-US" sz="950" dirty="0"/>
          </a:p>
        </p:txBody>
      </p:sp>
      <p:sp>
        <p:nvSpPr>
          <p:cNvPr id="46" name="Text 40"/>
          <p:cNvSpPr txBox="1"/>
          <p:nvPr/>
        </p:nvSpPr>
        <p:spPr>
          <a:xfrm>
            <a:off x="7825435" y="5498287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Surveyors move above the exemption corridor.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02 / 03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₹30.95 crore a year, and the build is back inside four months.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Proposed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Investor Model R6, working notes W-19 to W-38  ·  ₹ crore a year, steady state, Base plan at 60% rollout  ·  discount rate 12%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7059168" cy="3017520"/>
          </a:xfrm>
          <a:prstGeom prst="roundRect">
            <a:avLst>
              <a:gd name="adj" fmla="val 3030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9419" y="1751990"/>
            <a:ext cx="672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ANNUAL BENEFIT COMES FROM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₹ Cr a year  ·  Base plan, 60% rollout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947099" y="3698334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1620097" y="3428308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2293096" y="3151244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2966094" y="2420325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3639093" y="2394818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4312091" y="2420765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4985089" y="2651211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5658088" y="2651651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25" name="Shape 21"/>
          <p:cNvSpPr/>
          <p:nvPr/>
        </p:nvSpPr>
        <p:spPr>
          <a:xfrm>
            <a:off x="6331086" y="2822727"/>
            <a:ext cx="672998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dash"/>
          </a:ln>
        </p:spPr>
      </p:sp>
      <p:sp>
        <p:nvSpPr>
          <p:cNvPr id="26" name="Shape 22"/>
          <p:cNvSpPr/>
          <p:nvPr/>
        </p:nvSpPr>
        <p:spPr>
          <a:xfrm>
            <a:off x="947099" y="3698334"/>
            <a:ext cx="457639" cy="485960"/>
          </a:xfrm>
          <a:prstGeom prst="roundRect">
            <a:avLst>
              <a:gd name="adj" fmla="val 6993"/>
            </a:avLst>
          </a:prstGeom>
          <a:solidFill>
            <a:srgbClr val="70AD47">
              <a:alpha val="78000"/>
            </a:srgbClr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52879" y="3506310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11.05</a:t>
            </a:r>
            <a:endParaRPr lang="en-US" sz="750" dirty="0"/>
          </a:p>
        </p:txBody>
      </p:sp>
      <p:sp>
        <p:nvSpPr>
          <p:cNvPr id="28" name="Text 24"/>
          <p:cNvSpPr txBox="1"/>
          <p:nvPr/>
        </p:nvSpPr>
        <p:spPr>
          <a:xfrm>
            <a:off x="839419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avoided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</a:t>
            </a:r>
            <a:endParaRPr lang="en-US" sz="650" dirty="0"/>
          </a:p>
        </p:txBody>
      </p:sp>
      <p:sp>
        <p:nvSpPr>
          <p:cNvPr id="29" name="Shape 25"/>
          <p:cNvSpPr/>
          <p:nvPr/>
        </p:nvSpPr>
        <p:spPr>
          <a:xfrm>
            <a:off x="1620097" y="3428308"/>
            <a:ext cx="457639" cy="270027"/>
          </a:xfrm>
          <a:prstGeom prst="roundRect">
            <a:avLst>
              <a:gd name="adj" fmla="val 11852"/>
            </a:avLst>
          </a:prstGeom>
          <a:solidFill>
            <a:srgbClr val="70AD47">
              <a:alpha val="78000"/>
            </a:srgbClr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525878" y="3236284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6.14</a:t>
            </a:r>
            <a:endParaRPr lang="en-US" sz="750" dirty="0"/>
          </a:p>
        </p:txBody>
      </p:sp>
      <p:sp>
        <p:nvSpPr>
          <p:cNvPr id="31" name="Text 27"/>
          <p:cNvSpPr txBox="1"/>
          <p:nvPr/>
        </p:nvSpPr>
        <p:spPr>
          <a:xfrm>
            <a:off x="1512418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avoided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gate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2293096" y="3151244"/>
            <a:ext cx="457639" cy="277063"/>
          </a:xfrm>
          <a:prstGeom prst="roundRect">
            <a:avLst>
              <a:gd name="adj" fmla="val 11551"/>
            </a:avLst>
          </a:prstGeom>
          <a:solidFill>
            <a:srgbClr val="70AD47">
              <a:alpha val="78000"/>
            </a:srgbClr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198876" y="2959220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6.30</a:t>
            </a:r>
            <a:endParaRPr lang="en-US" sz="750" dirty="0"/>
          </a:p>
        </p:txBody>
      </p:sp>
      <p:sp>
        <p:nvSpPr>
          <p:cNvPr id="34" name="Text 30"/>
          <p:cNvSpPr txBox="1"/>
          <p:nvPr/>
        </p:nvSpPr>
        <p:spPr>
          <a:xfrm>
            <a:off x="2185416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media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2966094" y="2420325"/>
            <a:ext cx="457639" cy="730919"/>
          </a:xfrm>
          <a:prstGeom prst="roundRect">
            <a:avLst>
              <a:gd name="adj" fmla="val 6993"/>
            </a:avLst>
          </a:prstGeom>
          <a:solidFill>
            <a:srgbClr val="70AD47">
              <a:alpha val="78000"/>
            </a:srgbClr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871874" y="2228301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16.62</a:t>
            </a:r>
            <a:endParaRPr lang="en-US" sz="750" dirty="0"/>
          </a:p>
        </p:txBody>
      </p:sp>
      <p:sp>
        <p:nvSpPr>
          <p:cNvPr id="37" name="Text 33"/>
          <p:cNvSpPr txBox="1"/>
          <p:nvPr/>
        </p:nvSpPr>
        <p:spPr>
          <a:xfrm>
            <a:off x="2858414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redeployed</a:t>
            </a:r>
            <a:endParaRPr lang="en-US" sz="650" dirty="0"/>
          </a:p>
        </p:txBody>
      </p:sp>
      <p:sp>
        <p:nvSpPr>
          <p:cNvPr id="38" name="Shape 34"/>
          <p:cNvSpPr/>
          <p:nvPr/>
        </p:nvSpPr>
        <p:spPr>
          <a:xfrm>
            <a:off x="3639093" y="2394818"/>
            <a:ext cx="457639" cy="45720"/>
          </a:xfrm>
          <a:prstGeom prst="roundRect">
            <a:avLst>
              <a:gd name="adj" fmla="val 70000"/>
            </a:avLst>
          </a:prstGeom>
          <a:solidFill>
            <a:srgbClr val="70AD47">
              <a:alpha val="78000"/>
            </a:srgbClr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544873" y="2202794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750" dirty="0"/>
          </a:p>
        </p:txBody>
      </p:sp>
      <p:sp>
        <p:nvSpPr>
          <p:cNvPr id="40" name="Text 36"/>
          <p:cNvSpPr txBox="1"/>
          <p:nvPr/>
        </p:nvSpPr>
        <p:spPr>
          <a:xfrm>
            <a:off x="3531413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4312091" y="2394818"/>
            <a:ext cx="457639" cy="45720"/>
          </a:xfrm>
          <a:prstGeom prst="roundRect">
            <a:avLst>
              <a:gd name="adj" fmla="val 70000"/>
            </a:avLst>
          </a:prstGeom>
          <a:solidFill>
            <a:srgbClr val="E06666">
              <a:alpha val="78000"/>
            </a:srgbClr>
          </a:solidFill>
          <a:ln w="9525">
            <a:solidFill>
              <a:srgbClr val="E06666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217871" y="2202794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−0.59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4204411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capture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4985089" y="2420765"/>
            <a:ext cx="457639" cy="230446"/>
          </a:xfrm>
          <a:prstGeom prst="roundRect">
            <a:avLst>
              <a:gd name="adj" fmla="val 13888"/>
            </a:avLst>
          </a:prstGeom>
          <a:solidFill>
            <a:srgbClr val="E06666">
              <a:alpha val="78000"/>
            </a:srgbClr>
          </a:solidFill>
          <a:ln w="9525">
            <a:solidFill>
              <a:srgbClr val="E0666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890870" y="2228741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−5.24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4877410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marketing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5658088" y="2651651"/>
            <a:ext cx="457639" cy="1532643"/>
          </a:xfrm>
          <a:prstGeom prst="roundRect">
            <a:avLst>
              <a:gd name="adj" fmla="val 6993"/>
            </a:avLst>
          </a:prstGeom>
          <a:solidFill>
            <a:srgbClr val="5B9BD5">
              <a:alpha val="92000"/>
            </a:srgbClr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563868" y="2459627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34.85</a:t>
            </a:r>
            <a:endParaRPr lang="en-US" sz="750" dirty="0"/>
          </a:p>
        </p:txBody>
      </p:sp>
      <p:sp>
        <p:nvSpPr>
          <p:cNvPr id="49" name="Text 45"/>
          <p:cNvSpPr txBox="1"/>
          <p:nvPr/>
        </p:nvSpPr>
        <p:spPr>
          <a:xfrm>
            <a:off x="5550408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650" dirty="0"/>
          </a:p>
        </p:txBody>
      </p:sp>
      <p:sp>
        <p:nvSpPr>
          <p:cNvPr id="50" name="Shape 46"/>
          <p:cNvSpPr/>
          <p:nvPr/>
        </p:nvSpPr>
        <p:spPr>
          <a:xfrm>
            <a:off x="6331086" y="2651211"/>
            <a:ext cx="457639" cy="171515"/>
          </a:xfrm>
          <a:prstGeom prst="roundRect">
            <a:avLst>
              <a:gd name="adj" fmla="val 18660"/>
            </a:avLst>
          </a:prstGeom>
          <a:solidFill>
            <a:srgbClr val="E06666">
              <a:alpha val="78000"/>
            </a:srgbClr>
          </a:solidFill>
          <a:ln w="9525">
            <a:solidFill>
              <a:srgbClr val="E06666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236866" y="2459187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−3.90</a:t>
            </a:r>
            <a:endParaRPr lang="en-US" sz="750" dirty="0"/>
          </a:p>
        </p:txBody>
      </p:sp>
      <p:sp>
        <p:nvSpPr>
          <p:cNvPr id="52" name="Text 48"/>
          <p:cNvSpPr txBox="1"/>
          <p:nvPr/>
        </p:nvSpPr>
        <p:spPr>
          <a:xfrm>
            <a:off x="6223406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annual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cost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7004085" y="2823166"/>
            <a:ext cx="457639" cy="1361128"/>
          </a:xfrm>
          <a:prstGeom prst="roundRect">
            <a:avLst>
              <a:gd name="adj" fmla="val 6993"/>
            </a:avLst>
          </a:prstGeom>
          <a:solidFill>
            <a:srgbClr val="5B9BD5">
              <a:alpha val="92000"/>
            </a:srgbClr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909865" y="2631142"/>
            <a:ext cx="64607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30.95</a:t>
            </a:r>
            <a:endParaRPr lang="en-US" sz="750" dirty="0"/>
          </a:p>
        </p:txBody>
      </p:sp>
      <p:sp>
        <p:nvSpPr>
          <p:cNvPr id="55" name="Text 51"/>
          <p:cNvSpPr txBox="1"/>
          <p:nvPr/>
        </p:nvSpPr>
        <p:spPr>
          <a:xfrm>
            <a:off x="6896405" y="4239158"/>
            <a:ext cx="6729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839419" y="4184294"/>
            <a:ext cx="6729984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935163" y="1678838"/>
            <a:ext cx="3602736" cy="3017520"/>
          </a:xfrm>
          <a:prstGeom prst="roundRect">
            <a:avLst>
              <a:gd name="adj" fmla="val 3030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5B9BD5">
                <a:alpha val="8000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072323" y="1779422"/>
            <a:ext cx="45720" cy="182880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8246059" y="175199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ROLLOUT SCENARIOS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plan is the middle one</a:t>
            </a:r>
            <a:endParaRPr lang="en-US" sz="850" dirty="0"/>
          </a:p>
        </p:txBody>
      </p:sp>
      <p:sp>
        <p:nvSpPr>
          <p:cNvPr id="60" name="Text 56"/>
          <p:cNvSpPr txBox="1"/>
          <p:nvPr/>
        </p:nvSpPr>
        <p:spPr>
          <a:xfrm>
            <a:off x="8099755" y="2136038"/>
            <a:ext cx="11651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750" dirty="0"/>
          </a:p>
        </p:txBody>
      </p:sp>
      <p:sp>
        <p:nvSpPr>
          <p:cNvPr id="61" name="Text 57"/>
          <p:cNvSpPr txBox="1"/>
          <p:nvPr/>
        </p:nvSpPr>
        <p:spPr>
          <a:xfrm>
            <a:off x="9264918" y="2136038"/>
            <a:ext cx="7212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9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/ YR</a:t>
            </a:r>
            <a:endParaRPr lang="en-US" sz="750" dirty="0"/>
          </a:p>
        </p:txBody>
      </p:sp>
      <p:sp>
        <p:nvSpPr>
          <p:cNvPr id="62" name="Text 58"/>
          <p:cNvSpPr txBox="1"/>
          <p:nvPr/>
        </p:nvSpPr>
        <p:spPr>
          <a:xfrm>
            <a:off x="9986209" y="2136038"/>
            <a:ext cx="6658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9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</a:t>
            </a:r>
            <a:endParaRPr lang="en-US" sz="750" dirty="0"/>
          </a:p>
        </p:txBody>
      </p:sp>
      <p:sp>
        <p:nvSpPr>
          <p:cNvPr id="63" name="Text 59"/>
          <p:cNvSpPr txBox="1"/>
          <p:nvPr/>
        </p:nvSpPr>
        <p:spPr>
          <a:xfrm>
            <a:off x="10652016" y="2136038"/>
            <a:ext cx="7212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9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8099755" y="2373782"/>
            <a:ext cx="3273552" cy="0"/>
          </a:xfrm>
          <a:prstGeom prst="line">
            <a:avLst/>
          </a:prstGeom>
          <a:noFill/>
          <a:ln w="9525">
            <a:solidFill>
              <a:srgbClr val="3A4A8C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099755" y="2419502"/>
            <a:ext cx="11651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rollout</a:t>
            </a:r>
            <a:endParaRPr lang="en-US" sz="850" dirty="0"/>
          </a:p>
        </p:txBody>
      </p:sp>
      <p:sp>
        <p:nvSpPr>
          <p:cNvPr id="66" name="Text 62"/>
          <p:cNvSpPr txBox="1"/>
          <p:nvPr/>
        </p:nvSpPr>
        <p:spPr>
          <a:xfrm>
            <a:off x="9264918" y="2419502"/>
            <a:ext cx="721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₹10.18 Cr</a:t>
            </a:r>
            <a:endParaRPr lang="en-US" sz="900" dirty="0"/>
          </a:p>
        </p:txBody>
      </p:sp>
      <p:sp>
        <p:nvSpPr>
          <p:cNvPr id="67" name="Text 63"/>
          <p:cNvSpPr txBox="1"/>
          <p:nvPr/>
        </p:nvSpPr>
        <p:spPr>
          <a:xfrm>
            <a:off x="9986209" y="2419502"/>
            <a:ext cx="665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₹25.18 Cr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10652016" y="2419502"/>
            <a:ext cx="721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 mo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8099755" y="2968142"/>
            <a:ext cx="3273552" cy="0"/>
          </a:xfrm>
          <a:prstGeom prst="line">
            <a:avLst/>
          </a:prstGeom>
          <a:noFill/>
          <a:ln w="6350">
            <a:solidFill>
              <a:srgbClr val="3A4A8C">
                <a:alpha val="40000"/>
              </a:srgbClr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8099755" y="2968142"/>
            <a:ext cx="11651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rollout</a:t>
            </a:r>
            <a:endParaRPr lang="en-US" sz="850" dirty="0"/>
          </a:p>
        </p:txBody>
      </p:sp>
      <p:sp>
        <p:nvSpPr>
          <p:cNvPr id="71" name="Text 67"/>
          <p:cNvSpPr txBox="1"/>
          <p:nvPr/>
        </p:nvSpPr>
        <p:spPr>
          <a:xfrm>
            <a:off x="9264918" y="2968142"/>
            <a:ext cx="721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₹30.95 Cr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9986209" y="2968142"/>
            <a:ext cx="665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₹78.97 Cr</a:t>
            </a:r>
            <a:endParaRPr lang="en-US" sz="900" dirty="0"/>
          </a:p>
        </p:txBody>
      </p:sp>
      <p:sp>
        <p:nvSpPr>
          <p:cNvPr id="73" name="Text 69"/>
          <p:cNvSpPr txBox="1"/>
          <p:nvPr/>
        </p:nvSpPr>
        <p:spPr>
          <a:xfrm>
            <a:off x="10652016" y="2968142"/>
            <a:ext cx="721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mo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8099755" y="3516782"/>
            <a:ext cx="3273552" cy="0"/>
          </a:xfrm>
          <a:prstGeom prst="line">
            <a:avLst/>
          </a:prstGeom>
          <a:noFill/>
          <a:ln w="6350">
            <a:solidFill>
              <a:srgbClr val="3A4A8C">
                <a:alpha val="40000"/>
              </a:srgbClr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8099755" y="3516782"/>
            <a:ext cx="11651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rollout</a:t>
            </a:r>
            <a:endParaRPr lang="en-US" sz="850" dirty="0"/>
          </a:p>
        </p:txBody>
      </p:sp>
      <p:sp>
        <p:nvSpPr>
          <p:cNvPr id="76" name="Text 72"/>
          <p:cNvSpPr txBox="1"/>
          <p:nvPr/>
        </p:nvSpPr>
        <p:spPr>
          <a:xfrm>
            <a:off x="9264918" y="3516782"/>
            <a:ext cx="721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₹47.45 Cr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9986209" y="3516782"/>
            <a:ext cx="665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₹121.51 Cr</a:t>
            </a:r>
            <a:endParaRPr lang="en-US" sz="900" dirty="0"/>
          </a:p>
        </p:txBody>
      </p:sp>
      <p:sp>
        <p:nvSpPr>
          <p:cNvPr id="78" name="Text 74"/>
          <p:cNvSpPr txBox="1"/>
          <p:nvPr/>
        </p:nvSpPr>
        <p:spPr>
          <a:xfrm>
            <a:off x="10652016" y="3516782"/>
            <a:ext cx="7212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mo</a:t>
            </a:r>
            <a:endParaRPr lang="en-US" sz="900" dirty="0"/>
          </a:p>
        </p:txBody>
      </p:sp>
      <p:sp>
        <p:nvSpPr>
          <p:cNvPr id="79" name="Text 75"/>
          <p:cNvSpPr txBox="1"/>
          <p:nvPr/>
        </p:nvSpPr>
        <p:spPr>
          <a:xfrm>
            <a:off x="8099755" y="422087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falls 9.8 → 8.4 / 5.5 / 2.7 days.</a:t>
            </a:r>
            <a:endParaRPr lang="en-US" sz="850" dirty="0"/>
          </a:p>
        </p:txBody>
      </p:sp>
      <p:sp>
        <p:nvSpPr>
          <p:cNvPr id="80" name="Shape 76"/>
          <p:cNvSpPr/>
          <p:nvPr/>
        </p:nvSpPr>
        <p:spPr>
          <a:xfrm>
            <a:off x="674827" y="4879238"/>
            <a:ext cx="2578608" cy="1167689"/>
          </a:xfrm>
          <a:prstGeom prst="roundRect">
            <a:avLst>
              <a:gd name="adj" fmla="val 7831"/>
            </a:avLst>
          </a:prstGeom>
          <a:solidFill>
            <a:srgbClr val="111C55">
              <a:alpha val="78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839419" y="497067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</a:t>
            </a:r>
            <a:endParaRPr lang="en-US" sz="850" dirty="0"/>
          </a:p>
        </p:txBody>
      </p:sp>
      <p:sp>
        <p:nvSpPr>
          <p:cNvPr id="82" name="Text 78"/>
          <p:cNvSpPr txBox="1"/>
          <p:nvPr/>
        </p:nvSpPr>
        <p:spPr>
          <a:xfrm>
            <a:off x="839419" y="519013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₹30.95</a:t>
            </a:r>
            <a:pPr indent="0" marL="0">
              <a:buNone/>
            </a:pPr>
            <a:r>
              <a:rPr lang="en-US" sz="1104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 a year</a:t>
            </a:r>
            <a:endParaRPr lang="en-US" sz="2400" dirty="0"/>
          </a:p>
        </p:txBody>
      </p:sp>
      <p:sp>
        <p:nvSpPr>
          <p:cNvPr id="83" name="Text 79"/>
          <p:cNvSpPr txBox="1"/>
          <p:nvPr/>
        </p:nvSpPr>
        <p:spPr>
          <a:xfrm>
            <a:off x="839419" y="5592470"/>
            <a:ext cx="224942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state, Base plan</a:t>
            </a:r>
            <a:endParaRPr lang="en-US" sz="800" dirty="0"/>
          </a:p>
        </p:txBody>
      </p:sp>
      <p:sp>
        <p:nvSpPr>
          <p:cNvPr id="84" name="Shape 80"/>
          <p:cNvSpPr/>
          <p:nvPr/>
        </p:nvSpPr>
        <p:spPr>
          <a:xfrm>
            <a:off x="3436315" y="4879238"/>
            <a:ext cx="2578608" cy="1167689"/>
          </a:xfrm>
          <a:prstGeom prst="roundRect">
            <a:avLst>
              <a:gd name="adj" fmla="val 7831"/>
            </a:avLst>
          </a:prstGeom>
          <a:solidFill>
            <a:srgbClr val="111C55">
              <a:alpha val="78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3600907" y="497067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PAYBACK</a:t>
            </a:r>
            <a:endParaRPr lang="en-US" sz="850" dirty="0"/>
          </a:p>
        </p:txBody>
      </p:sp>
      <p:sp>
        <p:nvSpPr>
          <p:cNvPr id="86" name="Text 82"/>
          <p:cNvSpPr txBox="1"/>
          <p:nvPr/>
        </p:nvSpPr>
        <p:spPr>
          <a:xfrm>
            <a:off x="3600907" y="519013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pPr indent="0" marL="0">
              <a:buNone/>
            </a:pPr>
            <a:r>
              <a:rPr lang="en-US" sz="1104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months</a:t>
            </a:r>
            <a:endParaRPr lang="en-US" sz="2400" dirty="0"/>
          </a:p>
        </p:txBody>
      </p:sp>
      <p:sp>
        <p:nvSpPr>
          <p:cNvPr id="87" name="Text 83"/>
          <p:cNvSpPr txBox="1"/>
          <p:nvPr/>
        </p:nvSpPr>
        <p:spPr>
          <a:xfrm>
            <a:off x="3600907" y="5592470"/>
            <a:ext cx="224942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₹9.89 Cr build</a:t>
            </a:r>
            <a:endParaRPr lang="en-US" sz="800" dirty="0"/>
          </a:p>
        </p:txBody>
      </p:sp>
      <p:sp>
        <p:nvSpPr>
          <p:cNvPr id="88" name="Shape 84"/>
          <p:cNvSpPr/>
          <p:nvPr/>
        </p:nvSpPr>
        <p:spPr>
          <a:xfrm>
            <a:off x="6197803" y="4879238"/>
            <a:ext cx="2578608" cy="1167689"/>
          </a:xfrm>
          <a:prstGeom prst="roundRect">
            <a:avLst>
              <a:gd name="adj" fmla="val 7831"/>
            </a:avLst>
          </a:prstGeom>
          <a:solidFill>
            <a:srgbClr val="111C55">
              <a:alpha val="78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6362395" y="497067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NPV</a:t>
            </a:r>
            <a:endParaRPr lang="en-US" sz="850" dirty="0"/>
          </a:p>
        </p:txBody>
      </p:sp>
      <p:sp>
        <p:nvSpPr>
          <p:cNvPr id="90" name="Text 86"/>
          <p:cNvSpPr txBox="1"/>
          <p:nvPr/>
        </p:nvSpPr>
        <p:spPr>
          <a:xfrm>
            <a:off x="6362395" y="519013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₹51.06</a:t>
            </a:r>
            <a:pPr indent="0" marL="0">
              <a:buNone/>
            </a:pPr>
            <a:r>
              <a:rPr lang="en-US" sz="1104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</a:t>
            </a:r>
            <a:endParaRPr lang="en-US" sz="2400" dirty="0"/>
          </a:p>
        </p:txBody>
      </p:sp>
      <p:sp>
        <p:nvSpPr>
          <p:cNvPr id="91" name="Text 87"/>
          <p:cNvSpPr txBox="1"/>
          <p:nvPr/>
        </p:nvSpPr>
        <p:spPr>
          <a:xfrm>
            <a:off x="6362395" y="5592470"/>
            <a:ext cx="224942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12% discount rate</a:t>
            </a:r>
            <a:endParaRPr lang="en-US" sz="800" dirty="0"/>
          </a:p>
        </p:txBody>
      </p:sp>
      <p:sp>
        <p:nvSpPr>
          <p:cNvPr id="92" name="Shape 88"/>
          <p:cNvSpPr/>
          <p:nvPr/>
        </p:nvSpPr>
        <p:spPr>
          <a:xfrm>
            <a:off x="8959291" y="4879238"/>
            <a:ext cx="2578608" cy="1167689"/>
          </a:xfrm>
          <a:prstGeom prst="roundRect">
            <a:avLst>
              <a:gd name="adj" fmla="val 7831"/>
            </a:avLst>
          </a:prstGeom>
          <a:solidFill>
            <a:srgbClr val="111C55">
              <a:alpha val="78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9123883" y="497067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</a:t>
            </a:r>
            <a:endParaRPr lang="en-US" sz="850" dirty="0"/>
          </a:p>
        </p:txBody>
      </p:sp>
      <p:sp>
        <p:nvSpPr>
          <p:cNvPr id="94" name="Text 90"/>
          <p:cNvSpPr txBox="1"/>
          <p:nvPr/>
        </p:nvSpPr>
        <p:spPr>
          <a:xfrm>
            <a:off x="9123883" y="519013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−1.15</a:t>
            </a:r>
            <a:pPr indent="0" marL="0">
              <a:buNone/>
            </a:pPr>
            <a:r>
              <a:rPr lang="en-US" sz="1104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pp</a:t>
            </a:r>
            <a:endParaRPr lang="en-US" sz="2400" dirty="0"/>
          </a:p>
        </p:txBody>
      </p:sp>
      <p:sp>
        <p:nvSpPr>
          <p:cNvPr id="95" name="Text 91"/>
          <p:cNvSpPr txBox="1"/>
          <p:nvPr/>
        </p:nvSpPr>
        <p:spPr>
          <a:xfrm>
            <a:off x="9123883" y="5592470"/>
            <a:ext cx="224942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Motor OD book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03 / 03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gates. Each one can stop the spend.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Proposed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Investor Model R6, Roadmap and Assumptions sheets  ·  cost of waiting is the Base plan net benefit divided across twelve months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10863072" cy="1170432"/>
          </a:xfrm>
          <a:prstGeom prst="roundRect">
            <a:avLst>
              <a:gd name="adj" fmla="val 7813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9419" y="1751990"/>
            <a:ext cx="10533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MONTHS TO BUILD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capital released against measurement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39419" y="2081174"/>
            <a:ext cx="1989734" cy="621792"/>
          </a:xfrm>
          <a:prstGeom prst="roundRect">
            <a:avLst>
              <a:gd name="adj" fmla="val 13235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67435" y="2117750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967435" y="2300630"/>
            <a:ext cx="1733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00 and capture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67435" y="2520086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₹1.44 Cr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829154" y="2392070"/>
            <a:ext cx="146304" cy="0"/>
          </a:xfrm>
          <a:prstGeom prst="line">
            <a:avLst/>
          </a:prstGeom>
          <a:noFill/>
          <a:ln w="12700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975458" y="2081174"/>
            <a:ext cx="1989734" cy="621792"/>
          </a:xfrm>
          <a:prstGeom prst="roundRect">
            <a:avLst>
              <a:gd name="adj" fmla="val 13235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103474" y="2117750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750" dirty="0"/>
          </a:p>
        </p:txBody>
      </p:sp>
      <p:sp>
        <p:nvSpPr>
          <p:cNvPr id="24" name="Text 20"/>
          <p:cNvSpPr txBox="1"/>
          <p:nvPr/>
        </p:nvSpPr>
        <p:spPr>
          <a:xfrm>
            <a:off x="3103474" y="2300630"/>
            <a:ext cx="1733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and damage CV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3103474" y="2520086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₹2.72 Cr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965192" y="2392070"/>
            <a:ext cx="146304" cy="0"/>
          </a:xfrm>
          <a:prstGeom prst="line">
            <a:avLst/>
          </a:prstGeom>
          <a:noFill/>
          <a:ln w="12700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111496" y="2081174"/>
            <a:ext cx="1989734" cy="621792"/>
          </a:xfrm>
          <a:prstGeom prst="roundRect">
            <a:avLst>
              <a:gd name="adj" fmla="val 13235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239512" y="2117750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750" dirty="0"/>
          </a:p>
        </p:txBody>
      </p:sp>
      <p:sp>
        <p:nvSpPr>
          <p:cNvPr id="29" name="Text 25"/>
          <p:cNvSpPr txBox="1"/>
          <p:nvPr/>
        </p:nvSpPr>
        <p:spPr>
          <a:xfrm>
            <a:off x="5239512" y="2300630"/>
            <a:ext cx="1733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graph and repair cost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5239512" y="2520086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101230" y="2392070"/>
            <a:ext cx="146304" cy="0"/>
          </a:xfrm>
          <a:prstGeom prst="line">
            <a:avLst/>
          </a:prstGeom>
          <a:noFill/>
          <a:ln w="12700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247534" y="2081174"/>
            <a:ext cx="1989734" cy="621792"/>
          </a:xfrm>
          <a:prstGeom prst="roundRect">
            <a:avLst>
              <a:gd name="adj" fmla="val 13235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375550" y="2117750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7–8</a:t>
            </a:r>
            <a:endParaRPr lang="en-US" sz="750" dirty="0"/>
          </a:p>
        </p:txBody>
      </p:sp>
      <p:sp>
        <p:nvSpPr>
          <p:cNvPr id="34" name="Text 30"/>
          <p:cNvSpPr txBox="1"/>
          <p:nvPr/>
        </p:nvSpPr>
        <p:spPr>
          <a:xfrm>
            <a:off x="7375550" y="2300630"/>
            <a:ext cx="1733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and orchestration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7375550" y="2520086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₹3.07 Cr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9237269" y="2392070"/>
            <a:ext cx="146304" cy="0"/>
          </a:xfrm>
          <a:prstGeom prst="line">
            <a:avLst/>
          </a:prstGeom>
          <a:noFill/>
          <a:ln w="12700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383573" y="2081174"/>
            <a:ext cx="1989734" cy="621792"/>
          </a:xfrm>
          <a:prstGeom prst="roundRect">
            <a:avLst>
              <a:gd name="adj" fmla="val 13235"/>
            </a:avLst>
          </a:prstGeom>
          <a:solidFill>
            <a:srgbClr val="0A1550">
              <a:alpha val="74000"/>
            </a:srgbClr>
          </a:solidFill>
          <a:ln w="9525">
            <a:solidFill>
              <a:srgbClr val="5B9BD5">
                <a:alpha val="7000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511589" y="2117750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9–10</a:t>
            </a:r>
            <a:endParaRPr lang="en-US" sz="750" dirty="0"/>
          </a:p>
        </p:txBody>
      </p:sp>
      <p:sp>
        <p:nvSpPr>
          <p:cNvPr id="39" name="Text 35"/>
          <p:cNvSpPr txBox="1"/>
          <p:nvPr/>
        </p:nvSpPr>
        <p:spPr>
          <a:xfrm>
            <a:off x="9511589" y="2300630"/>
            <a:ext cx="1733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and rollout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9511589" y="2520086"/>
            <a:ext cx="17337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₹1.65 Cr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74827" y="3032150"/>
            <a:ext cx="7059168" cy="2468880"/>
          </a:xfrm>
          <a:prstGeom prst="roundRect">
            <a:avLst>
              <a:gd name="adj" fmla="val 3704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11987" y="3132734"/>
            <a:ext cx="45720" cy="18288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985723" y="3105302"/>
            <a:ext cx="6601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90-DAY PILOT GATES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each carries a kill criterion, stated in advance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39419" y="3507638"/>
            <a:ext cx="237744" cy="237744"/>
          </a:xfrm>
          <a:prstGeom prst="ellipse">
            <a:avLst/>
          </a:prstGeom>
          <a:solidFill>
            <a:srgbClr val="ED7D31">
              <a:alpha val="42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839419" y="350763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1186891" y="3471062"/>
            <a:ext cx="6382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GPU-seconds per claim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1186891" y="3663086"/>
            <a:ext cx="6382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buNone/>
            </a:pPr>
            <a:r>
              <a:rPr lang="en-US" sz="7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77-second breakeven        </a:t>
            </a:r>
            <a:pPr indent="0" marL="0">
              <a:buNone/>
            </a:pPr>
            <a:r>
              <a:rPr lang="en-US" sz="750" b="1" dirty="0">
                <a:solidFill>
                  <a:srgbClr val="F0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7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it, GenAI is bought, not built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839419" y="3983126"/>
            <a:ext cx="237744" cy="237744"/>
          </a:xfrm>
          <a:prstGeom prst="ellipse">
            <a:avLst/>
          </a:prstGeom>
          <a:solidFill>
            <a:srgbClr val="ED7D31">
              <a:alpha val="42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839419" y="398312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1186891" y="3946550"/>
            <a:ext cx="6382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fraud detection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1186891" y="4138574"/>
            <a:ext cx="6382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buNone/>
            </a:pPr>
            <a:r>
              <a:rPr lang="en-US" sz="7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or better, held-out claims        </a:t>
            </a:r>
            <a:pPr indent="0" marL="0">
              <a:buNone/>
            </a:pPr>
            <a:r>
              <a:rPr lang="en-US" sz="750" b="1" dirty="0">
                <a:solidFill>
                  <a:srgbClr val="F0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7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82%, the fraud lines are rebuilt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839419" y="4458614"/>
            <a:ext cx="237744" cy="237744"/>
          </a:xfrm>
          <a:prstGeom prst="ellipse">
            <a:avLst/>
          </a:prstGeom>
          <a:solidFill>
            <a:srgbClr val="ED7D31">
              <a:alpha val="42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839419" y="445861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4" name="Text 50"/>
          <p:cNvSpPr txBox="1"/>
          <p:nvPr/>
        </p:nvSpPr>
        <p:spPr>
          <a:xfrm>
            <a:off x="1186891" y="4422038"/>
            <a:ext cx="6382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Green-lane share on live claims</a:t>
            </a:r>
            <a:endParaRPr lang="en-US" sz="950" dirty="0"/>
          </a:p>
        </p:txBody>
      </p:sp>
      <p:sp>
        <p:nvSpPr>
          <p:cNvPr id="55" name="Text 51"/>
          <p:cNvSpPr txBox="1"/>
          <p:nvPr/>
        </p:nvSpPr>
        <p:spPr>
          <a:xfrm>
            <a:off x="1186891" y="4614062"/>
            <a:ext cx="6382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buNone/>
            </a:pPr>
            <a:r>
              <a:rPr lang="en-US" sz="7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or better        </a:t>
            </a:r>
            <a:pPr indent="0" marL="0">
              <a:buNone/>
            </a:pPr>
            <a:r>
              <a:rPr lang="en-US" sz="750" b="1" dirty="0">
                <a:solidFill>
                  <a:srgbClr val="F0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7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50%, rollout pauses</a:t>
            </a:r>
            <a:endParaRPr lang="en-US" sz="750" dirty="0"/>
          </a:p>
        </p:txBody>
      </p:sp>
      <p:sp>
        <p:nvSpPr>
          <p:cNvPr id="56" name="Shape 52"/>
          <p:cNvSpPr/>
          <p:nvPr/>
        </p:nvSpPr>
        <p:spPr>
          <a:xfrm>
            <a:off x="839419" y="4934102"/>
            <a:ext cx="237744" cy="237744"/>
          </a:xfrm>
          <a:prstGeom prst="ellipse">
            <a:avLst/>
          </a:prstGeom>
          <a:solidFill>
            <a:srgbClr val="ED7D31">
              <a:alpha val="42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839419" y="49341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8" name="Text 54"/>
          <p:cNvSpPr txBox="1"/>
          <p:nvPr/>
        </p:nvSpPr>
        <p:spPr>
          <a:xfrm>
            <a:off x="1186891" y="4897526"/>
            <a:ext cx="6382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queue and P90 turnaround</a:t>
            </a:r>
            <a:endParaRPr lang="en-US" sz="950" dirty="0"/>
          </a:p>
        </p:txBody>
      </p:sp>
      <p:sp>
        <p:nvSpPr>
          <p:cNvPr id="59" name="Text 55"/>
          <p:cNvSpPr txBox="1"/>
          <p:nvPr/>
        </p:nvSpPr>
        <p:spPr>
          <a:xfrm>
            <a:off x="1186891" y="5089550"/>
            <a:ext cx="6382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buNone/>
            </a:pPr>
            <a:r>
              <a:rPr lang="en-US" sz="7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operations capacity        </a:t>
            </a:r>
            <a:pPr indent="0" marL="0">
              <a:buNone/>
            </a:pPr>
            <a:r>
              <a:rPr lang="en-US" sz="750" b="1" dirty="0">
                <a:solidFill>
                  <a:srgbClr val="F096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 </a:t>
            </a:r>
            <a:pPr indent="0" marL="0">
              <a:buNone/>
            </a:pPr>
            <a:r>
              <a:rPr lang="en-US" sz="7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P90 slips, rollout holds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7935163" y="3032150"/>
            <a:ext cx="3602736" cy="1078992"/>
          </a:xfrm>
          <a:prstGeom prst="roundRect">
            <a:avLst>
              <a:gd name="adj" fmla="val 8475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8099755" y="3123590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WAITING</a:t>
            </a:r>
            <a:endParaRPr lang="en-US" sz="850" dirty="0"/>
          </a:p>
        </p:txBody>
      </p:sp>
      <p:sp>
        <p:nvSpPr>
          <p:cNvPr id="62" name="Text 58"/>
          <p:cNvSpPr txBox="1"/>
          <p:nvPr/>
        </p:nvSpPr>
        <p:spPr>
          <a:xfrm>
            <a:off x="8099755" y="3343046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₹2.58</a:t>
            </a:r>
            <a:pPr indent="0" marL="0">
              <a:buNone/>
            </a:pPr>
            <a:r>
              <a:rPr lang="en-US" sz="1196" b="1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 a month</a:t>
            </a:r>
            <a:endParaRPr lang="en-US" sz="2600" dirty="0"/>
          </a:p>
        </p:txBody>
      </p:sp>
      <p:sp>
        <p:nvSpPr>
          <p:cNvPr id="63" name="Text 59"/>
          <p:cNvSpPr txBox="1"/>
          <p:nvPr/>
        </p:nvSpPr>
        <p:spPr>
          <a:xfrm>
            <a:off x="8099755" y="3745382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6E7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plan benefit, not earned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7935163" y="4275734"/>
            <a:ext cx="3602736" cy="1225296"/>
          </a:xfrm>
          <a:prstGeom prst="roundRect">
            <a:avLst>
              <a:gd name="adj" fmla="val 7463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9085E9">
                <a:alpha val="8000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072323" y="4376318"/>
            <a:ext cx="45720" cy="182880"/>
          </a:xfrm>
          <a:prstGeom prst="roundRect">
            <a:avLst>
              <a:gd name="adj" fmla="val 50000"/>
            </a:avLst>
          </a:prstGeom>
          <a:solidFill>
            <a:srgbClr val="9085E9"/>
          </a:solidFill>
          <a:ln/>
        </p:spPr>
      </p:sp>
      <p:sp>
        <p:nvSpPr>
          <p:cNvPr id="66" name="Text 62"/>
          <p:cNvSpPr txBox="1"/>
          <p:nvPr/>
        </p:nvSpPr>
        <p:spPr>
          <a:xfrm>
            <a:off x="8246059" y="4348886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ARE YOURS</a:t>
            </a:r>
            <a:endParaRPr lang="en-US" sz="850" dirty="0"/>
          </a:p>
        </p:txBody>
      </p:sp>
      <p:sp>
        <p:nvSpPr>
          <p:cNvPr id="67" name="Text 63"/>
          <p:cNvSpPr txBox="1"/>
          <p:nvPr/>
        </p:nvSpPr>
        <p:spPr>
          <a:xfrm>
            <a:off x="8099755" y="4696358"/>
            <a:ext cx="2291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region and claim band</a:t>
            </a:r>
            <a:endParaRPr 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10391242" y="4696358"/>
            <a:ext cx="982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8099755" y="4970678"/>
            <a:ext cx="3273552" cy="0"/>
          </a:xfrm>
          <a:prstGeom prst="line">
            <a:avLst/>
          </a:prstGeom>
          <a:noFill/>
          <a:ln w="6350">
            <a:solidFill>
              <a:srgbClr val="3A4A8C">
                <a:alpha val="45000"/>
              </a:srgbClr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8099755" y="4970678"/>
            <a:ext cx="2291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buy the GenAI layer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10391242" y="4970678"/>
            <a:ext cx="982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900" dirty="0"/>
          </a:p>
        </p:txBody>
      </p:sp>
      <p:sp>
        <p:nvSpPr>
          <p:cNvPr id="72" name="Shape 68"/>
          <p:cNvSpPr/>
          <p:nvPr/>
        </p:nvSpPr>
        <p:spPr>
          <a:xfrm>
            <a:off x="8099755" y="5244998"/>
            <a:ext cx="3273552" cy="0"/>
          </a:xfrm>
          <a:prstGeom prst="line">
            <a:avLst/>
          </a:prstGeom>
          <a:noFill/>
          <a:ln w="6350">
            <a:solidFill>
              <a:srgbClr val="3A4A8C">
                <a:alpha val="45000"/>
              </a:srgbClr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8099755" y="5244998"/>
            <a:ext cx="2291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Green-lane authority limit</a:t>
            </a:r>
            <a:endParaRPr lang="en-US" sz="900" dirty="0"/>
          </a:p>
        </p:txBody>
      </p:sp>
      <p:sp>
        <p:nvSpPr>
          <p:cNvPr id="74" name="Text 70"/>
          <p:cNvSpPr txBox="1"/>
          <p:nvPr/>
        </p:nvSpPr>
        <p:spPr>
          <a:xfrm>
            <a:off x="10391242" y="5244998"/>
            <a:ext cx="982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674827" y="5662879"/>
            <a:ext cx="10863072" cy="384048"/>
          </a:xfrm>
          <a:prstGeom prst="roundRect">
            <a:avLst>
              <a:gd name="adj" fmla="val 23810"/>
            </a:avLst>
          </a:prstGeom>
          <a:solidFill>
            <a:srgbClr val="0A1550">
              <a:alpha val="86000"/>
            </a:srgbClr>
          </a:solidFill>
          <a:ln w="9525">
            <a:solidFill>
              <a:srgbClr val="70AD47">
                <a:alpha val="55000"/>
              </a:srgbClr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02843" y="5745175"/>
            <a:ext cx="45720" cy="219456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77" name="Text 73"/>
          <p:cNvSpPr txBox="1"/>
          <p:nvPr/>
        </p:nvSpPr>
        <p:spPr>
          <a:xfrm>
            <a:off x="949147" y="5662879"/>
            <a:ext cx="10442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days, five data points, four gates.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083" y="146304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1B2A63">
              <a:alpha val="84000"/>
            </a:srgbClr>
          </a:solidFill>
          <a:ln w="9525">
            <a:solidFill>
              <a:srgbClr val="9CC3E8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37083" y="146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000" dirty="0"/>
          </a:p>
        </p:txBody>
      </p:sp>
      <p:pic>
        <p:nvPicPr>
          <p:cNvPr id="4" name="Image 0" descr="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618" y="-40234"/>
            <a:ext cx="1198778" cy="1196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54" y="172822"/>
            <a:ext cx="0" cy="701345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</p:sp>
      <p:pic>
        <p:nvPicPr>
          <p:cNvPr id="6" name="Image 1" descr="media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84048"/>
            <a:ext cx="1225296" cy="329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7083" y="530352"/>
            <a:ext cx="50292" cy="457200"/>
          </a:xfrm>
          <a:prstGeom prst="roundRect">
            <a:avLst>
              <a:gd name="adj" fmla="val 49091"/>
            </a:avLst>
          </a:prstGeom>
          <a:solidFill>
            <a:srgbClr val="ED7D3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0819" y="493776"/>
            <a:ext cx="8275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tools each answer one question. We make the routing decision.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083" y="1093622"/>
            <a:ext cx="113385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3387" y="1093622"/>
            <a:ext cx="11045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Solution’s USP / Value Proposition: Why should we consider you?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7083" y="1441094"/>
            <a:ext cx="11338560" cy="4843577"/>
          </a:xfrm>
          <a:prstGeom prst="roundRect">
            <a:avLst>
              <a:gd name="adj" fmla="val 1038"/>
            </a:avLst>
          </a:prstGeom>
          <a:solidFill>
            <a:srgbClr val="C3C8DC">
              <a:alpha val="28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6373368"/>
            <a:ext cx="8485632" cy="256032"/>
          </a:xfrm>
          <a:prstGeom prst="roundRect">
            <a:avLst>
              <a:gd name="adj" fmla="val 50000"/>
            </a:avLst>
          </a:prstGeom>
          <a:solidFill>
            <a:srgbClr val="0A1550">
              <a:alpha val="84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19856" y="6355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8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algn="r" indent="0" marL="0">
              <a:buNone/>
            </a:pPr>
            <a:r>
              <a:rPr lang="en-US" sz="70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Investor Dashboard R6 — the complete workbook, the detailed report and the running simulator are all part of this submission.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09651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LTD.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74827" y="1678838"/>
            <a:ext cx="7059168" cy="2724912"/>
          </a:xfrm>
          <a:prstGeom prst="roundRect">
            <a:avLst>
              <a:gd name="adj" fmla="val 3356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39419" y="1751990"/>
            <a:ext cx="6729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SOLUTIONS  vs  ONE ROUTING DECISION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39419" y="2099462"/>
            <a:ext cx="1559052" cy="566928"/>
          </a:xfrm>
          <a:prstGeom prst="roundRect">
            <a:avLst>
              <a:gd name="adj" fmla="val 14516"/>
            </a:avLst>
          </a:prstGeom>
          <a:solidFill>
            <a:srgbClr val="0A1550">
              <a:alpha val="70000"/>
            </a:srgbClr>
          </a:solidFill>
          <a:ln w="9525">
            <a:solidFill>
              <a:srgbClr val="3A4A8C">
                <a:alpha val="8000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9419" y="2099462"/>
            <a:ext cx="1559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18945" y="2666390"/>
            <a:ext cx="0" cy="356616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563063" y="2099462"/>
            <a:ext cx="1559052" cy="566928"/>
          </a:xfrm>
          <a:prstGeom prst="roundRect">
            <a:avLst>
              <a:gd name="adj" fmla="val 14516"/>
            </a:avLst>
          </a:prstGeom>
          <a:solidFill>
            <a:srgbClr val="0A1550">
              <a:alpha val="70000"/>
            </a:srgbClr>
          </a:solidFill>
          <a:ln w="9525">
            <a:solidFill>
              <a:srgbClr val="3A4A8C">
                <a:alpha val="8000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563063" y="2099462"/>
            <a:ext cx="1559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CV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342589" y="2666390"/>
            <a:ext cx="0" cy="356616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86707" y="2099462"/>
            <a:ext cx="1559052" cy="566928"/>
          </a:xfrm>
          <a:prstGeom prst="roundRect">
            <a:avLst>
              <a:gd name="adj" fmla="val 14516"/>
            </a:avLst>
          </a:prstGeom>
          <a:solidFill>
            <a:srgbClr val="0A1550">
              <a:alpha val="70000"/>
            </a:srgbClr>
          </a:solidFill>
          <a:ln w="9525">
            <a:solidFill>
              <a:srgbClr val="3A4A8C">
                <a:alpha val="8000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286707" y="2099462"/>
            <a:ext cx="1559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AI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066233" y="2666390"/>
            <a:ext cx="0" cy="356616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10351" y="2099462"/>
            <a:ext cx="1559052" cy="566928"/>
          </a:xfrm>
          <a:prstGeom prst="roundRect">
            <a:avLst>
              <a:gd name="adj" fmla="val 14516"/>
            </a:avLst>
          </a:prstGeom>
          <a:solidFill>
            <a:srgbClr val="0A1550">
              <a:alpha val="70000"/>
            </a:srgbClr>
          </a:solidFill>
          <a:ln w="9525">
            <a:solidFill>
              <a:srgbClr val="3A4A8C">
                <a:alpha val="8000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010351" y="2099462"/>
            <a:ext cx="1559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789877" y="2666390"/>
            <a:ext cx="0" cy="356616"/>
          </a:xfrm>
          <a:prstGeom prst="line">
            <a:avLst/>
          </a:prstGeom>
          <a:noFill/>
          <a:ln w="12700">
            <a:solidFill>
              <a:srgbClr val="3A4A8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9419" y="3013862"/>
            <a:ext cx="6729984" cy="658368"/>
          </a:xfrm>
          <a:prstGeom prst="roundRect">
            <a:avLst>
              <a:gd name="adj" fmla="val 15278"/>
            </a:avLst>
          </a:prstGeom>
          <a:solidFill>
            <a:srgbClr val="70AD47">
              <a:alpha val="26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39419" y="3013862"/>
            <a:ext cx="6729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D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ClaimPulse  ·  Trust Score fusion  ·  one lane, one clock, one audit trail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39419" y="3836822"/>
            <a:ext cx="1559052" cy="347472"/>
          </a:xfrm>
          <a:prstGeom prst="roundRect">
            <a:avLst>
              <a:gd name="adj" fmla="val 50000"/>
            </a:avLst>
          </a:prstGeom>
          <a:solidFill>
            <a:srgbClr val="9CC3E8">
              <a:alpha val="26000"/>
            </a:srgbClr>
          </a:solidFill>
          <a:ln w="9525">
            <a:solidFill>
              <a:srgbClr val="9CC3E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39419" y="3836822"/>
            <a:ext cx="15590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integrity at capture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2563063" y="3836822"/>
            <a:ext cx="1559052" cy="347472"/>
          </a:xfrm>
          <a:prstGeom prst="roundRect">
            <a:avLst>
              <a:gd name="adj" fmla="val 50000"/>
            </a:avLst>
          </a:prstGeom>
          <a:solidFill>
            <a:srgbClr val="9CC3E8">
              <a:alpha val="26000"/>
            </a:srgbClr>
          </a:solidFill>
          <a:ln w="9525">
            <a:solidFill>
              <a:srgbClr val="9CC3E8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2563063" y="3836822"/>
            <a:ext cx="15590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claim media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4286707" y="3836822"/>
            <a:ext cx="1559052" cy="347472"/>
          </a:xfrm>
          <a:prstGeom prst="roundRect">
            <a:avLst>
              <a:gd name="adj" fmla="val 50000"/>
            </a:avLst>
          </a:prstGeom>
          <a:solidFill>
            <a:srgbClr val="9CC3E8">
              <a:alpha val="26000"/>
            </a:srgbClr>
          </a:solidFill>
          <a:ln w="9525">
            <a:solidFill>
              <a:srgbClr val="9CC3E8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286707" y="3836822"/>
            <a:ext cx="15590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Orchestration, not a model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6010351" y="3836822"/>
            <a:ext cx="1559052" cy="347472"/>
          </a:xfrm>
          <a:prstGeom prst="roundRect">
            <a:avLst>
              <a:gd name="adj" fmla="val 50000"/>
            </a:avLst>
          </a:prstGeom>
          <a:solidFill>
            <a:srgbClr val="9CC3E8">
              <a:alpha val="26000"/>
            </a:srgbClr>
          </a:solidFill>
          <a:ln w="9525">
            <a:solidFill>
              <a:srgbClr val="9CC3E8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010351" y="3836822"/>
            <a:ext cx="15590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by regulation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7935163" y="1678838"/>
            <a:ext cx="3602736" cy="2724912"/>
          </a:xfrm>
          <a:prstGeom prst="roundRect">
            <a:avLst>
              <a:gd name="adj" fmla="val 3356"/>
            </a:avLst>
          </a:prstGeom>
          <a:solidFill>
            <a:srgbClr val="111C55">
              <a:alpha val="78000"/>
            </a:srgbClr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072323" y="1779422"/>
            <a:ext cx="45720" cy="18288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8246059" y="175199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 ·  RUN  ·  BREAK IT</a:t>
            </a:r>
            <a:endParaRPr lang="en-US" sz="850" dirty="0"/>
          </a:p>
        </p:txBody>
      </p:sp>
      <p:pic>
        <p:nvPicPr>
          <p:cNvPr id="42" name="Image 2" descr="media/image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755" y="2209190"/>
            <a:ext cx="1335024" cy="1335024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9581083" y="2209190"/>
            <a:ext cx="17922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6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simulator, the R6 workbook, the detailed report. Move any assumption yourself.</a:t>
            </a:r>
            <a:endParaRPr lang="en-US" sz="950" dirty="0"/>
          </a:p>
        </p:txBody>
      </p:sp>
      <p:sp>
        <p:nvSpPr>
          <p:cNvPr id="44" name="Text 39"/>
          <p:cNvSpPr txBox="1"/>
          <p:nvPr/>
        </p:nvSpPr>
        <p:spPr>
          <a:xfrm>
            <a:off x="8099755" y="3708806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here is a live formula over that workbook.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674827" y="4586630"/>
            <a:ext cx="10863072" cy="1460297"/>
          </a:xfrm>
          <a:prstGeom prst="roundRect">
            <a:avLst>
              <a:gd name="adj" fmla="val 6262"/>
            </a:avLst>
          </a:prstGeom>
          <a:solidFill>
            <a:srgbClr val="111C55">
              <a:alpha val="76000"/>
            </a:srgbClr>
          </a:solidFill>
          <a:ln w="9525">
            <a:solidFill>
              <a:srgbClr val="3A4A8C">
                <a:alpha val="7000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39419" y="4659782"/>
            <a:ext cx="10533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SOURCE CITATION</a:t>
            </a:r>
            <a:pPr indent="0" marL="0">
              <a:buNone/>
            </a:pPr>
            <a:r>
              <a:rPr lang="en-US" sz="8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working-note references map to the R6 workbook</a:t>
            </a:r>
            <a:endParaRPr lang="en-US" sz="850" dirty="0"/>
          </a:p>
        </p:txBody>
      </p:sp>
      <p:sp>
        <p:nvSpPr>
          <p:cNvPr id="47" name="Text 42"/>
          <p:cNvSpPr txBox="1"/>
          <p:nvPr/>
        </p:nvSpPr>
        <p:spPr>
          <a:xfrm>
            <a:off x="839419" y="4970678"/>
            <a:ext cx="10533888" cy="929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AND REGULATORY   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Council segment-wise GDPI filings Jun’25–Jun’26  ·  Bajaj Finserv Q1 FY2027 results and investor presentation, 31 Jul 2026  ·  Bajaj General FY26 investor presentation, 30 Apr 2026  ·  IRDAI Financial Highlights FY24-25  ·  IRDAI Annual Report 2024-25  ·  IRDAI (Insurance Fraud Monitoring Framework) Guidelines 2025  ·  IRDAI Master Circular on Protection of Policyholders’ Interests, 11 Jun 2024  ·  IRDAI (Insurance Surveyors and Loss Assessors) Regulations 2015  ·  IRDAI AI Working Group, 19 Jun 2026  ·  DPDP Rules 2025, notified 13 Nov 2025  ·  Bima Sugam India Federation.
</a:t>
            </a:r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VENDOR   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&amp; Medi Assist, Nov 2025  ·  Mordor Intelligence  ·  Insurity Consumer Survey, Feb 2026 fieldwork  ·  NVIDIA / ControlExpert  ·  Retently and CustomerGauge  ·  systematic review of graph and GNN fraud detection, 2025  ·  Google, OpenAI and Anthropic published pricing pages, all retrieved 12 Aug 2026.
</a:t>
            </a:r>
            <a:pPr indent="0" marL="0">
              <a:lnSpc>
                <a:spcPts val="1000"/>
              </a:lnSpc>
              <a:buNone/>
            </a:pPr>
            <a:r>
              <a:rPr lang="en-US" sz="750" b="1" dirty="0">
                <a:solidFill>
                  <a:srgbClr val="9C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   </a:t>
            </a:r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AA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Workings, assumptions, sensitivity and scenario outputs are downloadable from the ClaimPulse simulator.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ClaimPulse — PS_BFDL Motor Insurance Claims TAT Reduction</dc:title>
  <dc:subject>PptxGenJS Presentation</dc:subject>
  <dc:creator>Team Finsighters · NMIMS Mumbai</dc:creator>
  <cp:lastModifiedBy>Team Finsighters · NMIMS Mumbai</cp:lastModifiedBy>
  <cp:revision>1</cp:revision>
  <dcterms:created xsi:type="dcterms:W3CDTF">2026-08-30T06:52:43Z</dcterms:created>
  <dcterms:modified xsi:type="dcterms:W3CDTF">2026-08-30T06:52:43Z</dcterms:modified>
</cp:coreProperties>
</file>